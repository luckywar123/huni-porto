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Maintenance</c:v>
                </c:pt>
              </c:strCache>
            </c:strRef>
          </c:tx>
          <c:spPr>
            <a:solidFill>
              <a:srgbClr val="2F5D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Sheet1!$B$2:$B$4</c:f>
              <c:numCache>
                <c:formatCode>General</c:formatCode>
                <c:ptCount val="3"/>
                <c:pt idx="0">
                  <c:v>1.008</c:v>
                </c:pt>
                <c:pt idx="1">
                  <c:v>1.344</c:v>
                </c:pt>
                <c:pt idx="2">
                  <c:v>1.68</c:v>
                </c:pt>
              </c:numCache>
            </c:numRef>
          </c:val>
        </c:ser>
        <c:ser>
          <c:idx val="1"/>
          <c:order val="1"/>
          <c:tx>
            <c:strRef>
              <c:f>Sheet1!$C$1</c:f>
              <c:strCache>
                <c:ptCount val="1"/>
                <c:pt idx="0">
                  <c:v>Event</c:v>
                </c:pt>
              </c:strCache>
            </c:strRef>
          </c:tx>
          <c:spPr>
            <a:solidFill>
              <a:srgbClr val="C462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Sheet1!$C$2:$C$4</c:f>
              <c:numCache>
                <c:formatCode>General</c:formatCode>
                <c:ptCount val="3"/>
                <c:pt idx="0">
                  <c:v>0.8064</c:v>
                </c:pt>
                <c:pt idx="1">
                  <c:v>1.0752</c:v>
                </c:pt>
                <c:pt idx="2">
                  <c:v>1.344</c:v>
                </c:pt>
              </c:numCache>
            </c:numRef>
          </c:val>
        </c:ser>
        <c:ser>
          <c:idx val="2"/>
          <c:order val="2"/>
          <c:tx>
            <c:strRef>
              <c:f>Sheet1!$D$1</c:f>
              <c:strCache>
                <c:ptCount val="1"/>
                <c:pt idx="0">
                  <c:v>Marketing</c:v>
                </c:pt>
              </c:strCache>
            </c:strRef>
          </c:tx>
          <c:spPr>
            <a:solidFill>
              <a:srgbClr val="E0A45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Sheet1!$D$2:$D$4</c:f>
              <c:numCache>
                <c:formatCode>General</c:formatCode>
                <c:ptCount val="3"/>
                <c:pt idx="0">
                  <c:v>0.7056000000000001</c:v>
                </c:pt>
                <c:pt idx="1">
                  <c:v>0.9408000000000001</c:v>
                </c:pt>
                <c:pt idx="2">
                  <c:v>1.176</c:v>
                </c:pt>
              </c:numCache>
            </c:numRef>
          </c:val>
        </c:ser>
        <c:ser>
          <c:idx val="3"/>
          <c:order val="3"/>
          <c:tx>
            <c:strRef>
              <c:f>Sheet1!$E$1</c:f>
              <c:strCache>
                <c:ptCount val="1"/>
                <c:pt idx="0">
                  <c:v>Fee</c:v>
                </c:pt>
              </c:strCache>
            </c:strRef>
          </c:tx>
          <c:spPr>
            <a:solidFill>
              <a:srgbClr val="6F67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Sheet1!$E$2:$E$4</c:f>
              <c:numCache>
                <c:formatCode>General</c:formatCode>
                <c:ptCount val="3"/>
                <c:pt idx="0">
                  <c:v>0.504</c:v>
                </c:pt>
                <c:pt idx="1">
                  <c:v>0.672</c:v>
                </c:pt>
                <c:pt idx="2">
                  <c:v>0.84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CFB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Gaji</c:v>
                </c:pt>
              </c:strCache>
            </c:strRef>
          </c:tx>
          <c:spPr>
            <a:solidFill>
              <a:srgbClr val="2F5D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Sheet1!$B$2:$B$4</c:f>
              <c:numCache>
                <c:formatCode>General</c:formatCode>
                <c:ptCount val="3"/>
                <c:pt idx="0">
                  <c:v>8.47</c:v>
                </c:pt>
                <c:pt idx="1">
                  <c:v>8.47</c:v>
                </c:pt>
                <c:pt idx="2">
                  <c:v>8.47</c:v>
                </c:pt>
              </c:numCache>
            </c:numRef>
          </c:val>
        </c:ser>
        <c:ser>
          <c:idx val="1"/>
          <c:order val="1"/>
          <c:tx>
            <c:strRef>
              <c:f>Sheet1!$C$1</c:f>
              <c:strCache>
                <c:ptCount val="1"/>
                <c:pt idx="0">
                  <c:v>Marketing</c:v>
                </c:pt>
              </c:strCache>
            </c:strRef>
          </c:tx>
          <c:spPr>
            <a:solidFill>
              <a:srgbClr val="C462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Sheet1!$C$2:$C$4</c:f>
              <c:numCache>
                <c:formatCode>General</c:formatCode>
                <c:ptCount val="3"/>
                <c:pt idx="0">
                  <c:v>3.24</c:v>
                </c:pt>
                <c:pt idx="1">
                  <c:v>5.544</c:v>
                </c:pt>
                <c:pt idx="2">
                  <c:v>8.4</c:v>
                </c:pt>
              </c:numCache>
            </c:numRef>
          </c:val>
        </c:ser>
        <c:ser>
          <c:idx val="2"/>
          <c:order val="2"/>
          <c:tx>
            <c:strRef>
              <c:f>Sheet1!$D$1</c:f>
              <c:strCache>
                <c:ptCount val="1"/>
                <c:pt idx="0">
                  <c:v>Event</c:v>
                </c:pt>
              </c:strCache>
            </c:strRef>
          </c:tx>
          <c:spPr>
            <a:solidFill>
              <a:srgbClr val="E0A45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Sheet1!$D$2:$D$4</c:f>
              <c:numCache>
                <c:formatCode>General</c:formatCode>
                <c:ptCount val="3"/>
                <c:pt idx="0">
                  <c:v>2.025</c:v>
                </c:pt>
                <c:pt idx="1">
                  <c:v>3.465</c:v>
                </c:pt>
                <c:pt idx="2">
                  <c:v>5.25</c:v>
                </c:pt>
              </c:numCache>
            </c:numRef>
          </c:val>
        </c:ser>
        <c:ser>
          <c:idx val="3"/>
          <c:order val="3"/>
          <c:tx>
            <c:strRef>
              <c:f>Sheet1!$E$1</c:f>
              <c:strCache>
                <c:ptCount val="1"/>
                <c:pt idx="0">
                  <c:v>Maintenance</c:v>
                </c:pt>
              </c:strCache>
            </c:strRef>
          </c:tx>
          <c:spPr>
            <a:solidFill>
              <a:srgbClr val="6F67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Sheet1!$E$2:$E$4</c:f>
              <c:numCache>
                <c:formatCode>General</c:formatCode>
                <c:ptCount val="3"/>
                <c:pt idx="0">
                  <c:v>2.025</c:v>
                </c:pt>
                <c:pt idx="1">
                  <c:v>3.465</c:v>
                </c:pt>
                <c:pt idx="2">
                  <c:v>5.25</c:v>
                </c:pt>
              </c:numCache>
            </c:numRef>
          </c:val>
        </c:ser>
        <c:ser>
          <c:idx val="4"/>
          <c:order val="4"/>
          <c:tx>
            <c:strRef>
              <c:f>Sheet1!$F$1</c:f>
              <c:strCache>
                <c:ptCount val="1"/>
                <c:pt idx="0">
                  <c:v>Fee</c:v>
                </c:pt>
              </c:strCache>
            </c:strRef>
          </c:tx>
          <c:spPr>
            <a:solidFill>
              <a:srgbClr val="9A451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Konservatif</c:v>
                  </c:pt>
                  <c:pt idx="1">
                    <c:v>Realistis</c:v>
                  </c:pt>
                  <c:pt idx="2">
                    <c:v>Optimis</c:v>
                  </c:pt>
                </c:lvl>
              </c:multiLvlStrCache>
            </c:multiLvlStrRef>
          </c:cat>
          <c:val>
            <c:numRef>
              <c:f>Sheet1!$F$2:$F$4</c:f>
              <c:numCache>
                <c:formatCode>General</c:formatCode>
                <c:ptCount val="3"/>
                <c:pt idx="0">
                  <c:v>4.49</c:v>
                </c:pt>
                <c:pt idx="1">
                  <c:v>13.706</c:v>
                </c:pt>
                <c:pt idx="2">
                  <c:v>25.13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CFB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demo hidup, baru masuk ke harga. Jangan mulai dari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hero dan cari.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jalan di peramban.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sudah diuji.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Pengajuan dari form muncul di sini.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a:ln/>
        </p:spPr>
      </p:sp>
      <p:pic>
        <p:nvPicPr>
          <p:cNvPr id="3" name="Image 0" descr="/home/claude/ws/public/media/ext.jpg">    </p:cNvPr>
          <p:cNvPicPr>
            <a:picLocks noChangeAspect="1"/>
          </p:cNvPicPr>
          <p:nvPr/>
        </p:nvPicPr>
        <p:blipFill>
          <a:blip r:embed="rId1"/>
          <a:srcRect l="0" r="0" t="0" b="0"/>
          <a:stretch/>
        </p:blipFill>
        <p:spPr>
          <a:xfrm>
            <a:off x="7452360" y="0"/>
            <a:ext cx="4739335" cy="6858000"/>
          </a:xfrm>
          <a:prstGeom prst="rect">
            <a:avLst/>
          </a:prstGeom>
        </p:spPr>
      </p:pic>
      <p:sp>
        <p:nvSpPr>
          <p:cNvPr id="4" name="Shape 1"/>
          <p:cNvSpPr/>
          <p:nvPr/>
        </p:nvSpPr>
        <p:spPr>
          <a:xfrm>
            <a:off x="438912" y="438912"/>
            <a:ext cx="640080" cy="73152"/>
          </a:xfrm>
          <a:prstGeom prst="rect">
            <a:avLst/>
          </a:prstGeom>
          <a:solidFill>
            <a:srgbClr val="C4622D"/>
          </a:solidFill>
          <a:ln/>
        </p:spPr>
      </p:sp>
      <p:sp>
        <p:nvSpPr>
          <p:cNvPr id="5" name="Text 2"/>
          <p:cNvSpPr/>
          <p:nvPr/>
        </p:nvSpPr>
        <p:spPr>
          <a:xfrm>
            <a:off x="438912" y="1371600"/>
            <a:ext cx="6583680" cy="1051560"/>
          </a:xfrm>
          <a:prstGeom prst="rect">
            <a:avLst/>
          </a:prstGeom>
          <a:noFill/>
          <a:ln/>
        </p:spPr>
        <p:txBody>
          <a:bodyPr wrap="square" lIns="0" tIns="0" rIns="0" bIns="0" rtlCol="0" anchor="ctr"/>
          <a:lstStyle/>
          <a:p>
            <a:pPr indent="0" marL="0">
              <a:buNone/>
            </a:pPr>
            <a:r>
              <a:rPr lang="en-US" sz="8000" dirty="0">
                <a:solidFill>
                  <a:srgbClr val="F4EFE6"/>
                </a:solidFill>
                <a:latin typeface="Georgia" pitchFamily="34" charset="0"/>
                <a:ea typeface="Georgia" pitchFamily="34" charset="-122"/>
                <a:cs typeface="Georgia" pitchFamily="34" charset="-120"/>
              </a:rPr>
              <a:t>HUNI</a:t>
            </a:r>
            <a:endParaRPr lang="en-US" sz="8000" dirty="0"/>
          </a:p>
        </p:txBody>
      </p:sp>
      <p:sp>
        <p:nvSpPr>
          <p:cNvPr id="6" name="Text 3"/>
          <p:cNvSpPr/>
          <p:nvPr/>
        </p:nvSpPr>
        <p:spPr>
          <a:xfrm>
            <a:off x="438912" y="2560320"/>
            <a:ext cx="6583680" cy="1234440"/>
          </a:xfrm>
          <a:prstGeom prst="rect">
            <a:avLst/>
          </a:prstGeom>
          <a:noFill/>
          <a:ln/>
        </p:spPr>
        <p:txBody>
          <a:bodyPr wrap="square" lIns="0" tIns="0" rIns="0" bIns="0" rtlCol="0" anchor="ctr"/>
          <a:lstStyle/>
          <a:p>
            <a:pPr indent="0" marL="0">
              <a:buNone/>
            </a:pPr>
            <a:r>
              <a:rPr lang="en-US" sz="2800" dirty="0">
                <a:solidFill>
                  <a:srgbClr val="E7DCC8"/>
                </a:solidFill>
                <a:latin typeface="Georgia" pitchFamily="34" charset="0"/>
                <a:ea typeface="Georgia" pitchFamily="34" charset="-122"/>
                <a:cs typeface="Georgia" pitchFamily="34" charset="-120"/>
              </a:rPr>
              <a:t>Website kos dan kontrakan,</a:t>
            </a:r>
            <a:endParaRPr lang="en-US" sz="2800" dirty="0"/>
          </a:p>
          <a:p>
            <a:pPr indent="0" marL="0">
              <a:buNone/>
            </a:pPr>
            <a:r>
              <a:rPr lang="en-US" sz="2800" dirty="0">
                <a:solidFill>
                  <a:srgbClr val="E7DCC8"/>
                </a:solidFill>
                <a:latin typeface="Georgia" pitchFamily="34" charset="0"/>
                <a:ea typeface="Georgia" pitchFamily="34" charset="-122"/>
                <a:cs typeface="Georgia" pitchFamily="34" charset="-120"/>
              </a:rPr>
              <a:t>end to end.</a:t>
            </a:r>
            <a:endParaRPr lang="en-US" sz="2800" dirty="0"/>
          </a:p>
        </p:txBody>
      </p:sp>
      <p:sp>
        <p:nvSpPr>
          <p:cNvPr id="7" name="Text 4"/>
          <p:cNvSpPr/>
          <p:nvPr/>
        </p:nvSpPr>
        <p:spPr>
          <a:xfrm>
            <a:off x="438912" y="4069080"/>
            <a:ext cx="6400800" cy="731520"/>
          </a:xfrm>
          <a:prstGeom prst="rect">
            <a:avLst/>
          </a:prstGeom>
          <a:noFill/>
          <a:ln/>
        </p:spPr>
        <p:txBody>
          <a:bodyPr wrap="square" lIns="0" tIns="0" rIns="0" bIns="0" rtlCol="0" anchor="ctr"/>
          <a:lstStyle/>
          <a:p>
            <a:pPr indent="0" marL="0">
              <a:buNone/>
            </a:pPr>
            <a:r>
              <a:rPr lang="en-US" sz="1600" dirty="0">
                <a:solidFill>
                  <a:srgbClr val="C8BBA8"/>
                </a:solidFill>
                <a:latin typeface="Calibri" pitchFamily="34" charset="0"/>
                <a:ea typeface="Calibri" pitchFamily="34" charset="-122"/>
                <a:cs typeface="Calibri" pitchFamily="34" charset="-120"/>
              </a:rPr>
              <a:t>Proposal untuk pemilik yang mau punya situs sendiri:</a:t>
            </a:r>
            <a:endParaRPr lang="en-US" sz="1600" dirty="0"/>
          </a:p>
          <a:p>
            <a:pPr indent="0" marL="0">
              <a:buNone/>
            </a:pPr>
            <a:r>
              <a:rPr lang="en-US" sz="1600" dirty="0">
                <a:solidFill>
                  <a:srgbClr val="C8BBA8"/>
                </a:solidFill>
                <a:latin typeface="Calibri" pitchFamily="34" charset="0"/>
                <a:ea typeface="Calibri" pitchFamily="34" charset="-122"/>
                <a:cs typeface="Calibri" pitchFamily="34" charset="-120"/>
              </a:rPr>
              <a:t>desain, proof of concept, dan model bagi hasil.</a:t>
            </a:r>
            <a:endParaRPr lang="en-US" sz="1600" dirty="0"/>
          </a:p>
        </p:txBody>
      </p:sp>
      <p:sp>
        <p:nvSpPr>
          <p:cNvPr id="8" name="Text 5"/>
          <p:cNvSpPr/>
          <p:nvPr/>
        </p:nvSpPr>
        <p:spPr>
          <a:xfrm>
            <a:off x="438912" y="5989320"/>
            <a:ext cx="6400800" cy="292608"/>
          </a:xfrm>
          <a:prstGeom prst="rect">
            <a:avLst/>
          </a:prstGeom>
          <a:noFill/>
          <a:ln/>
        </p:spPr>
        <p:txBody>
          <a:bodyPr wrap="square" lIns="0" tIns="0" rIns="0" bIns="0" rtlCol="0" anchor="ctr"/>
          <a:lstStyle/>
          <a:p>
            <a:pPr indent="0" marL="0">
              <a:buNone/>
            </a:pPr>
            <a:r>
              <a:rPr lang="en-US" sz="1300" dirty="0">
                <a:solidFill>
                  <a:srgbClr val="C4622D"/>
                </a:solidFill>
                <a:latin typeface="Calibri" pitchFamily="34" charset="0"/>
                <a:ea typeface="Calibri" pitchFamily="34" charset="-122"/>
                <a:cs typeface="Calibri" pitchFamily="34" charset="-120"/>
              </a:rPr>
              <a:t>Oktober 2026   ·   Penawaran ilustrasi, belum mengikat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02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Kamar kosong sunyi. Chat-nya tidak.</a:t>
            </a:r>
            <a:endParaRPr lang="en-US" sz="2800" dirty="0"/>
          </a:p>
        </p:txBody>
      </p:sp>
      <p:sp>
        <p:nvSpPr>
          <p:cNvPr id="8" name="Text 6"/>
          <p:cNvSpPr/>
          <p:nvPr/>
        </p:nvSpPr>
        <p:spPr>
          <a:xfrm>
            <a:off x="384048" y="786384"/>
            <a:ext cx="10972800" cy="310896"/>
          </a:xfrm>
          <a:prstGeom prst="rect">
            <a:avLst/>
          </a:prstGeom>
          <a:noFill/>
          <a:ln/>
        </p:spPr>
        <p:txBody>
          <a:bodyPr wrap="square" lIns="0" tIns="0" rIns="0" bIns="0" rtlCol="0" anchor="ctr"/>
          <a:lstStyle/>
          <a:p>
            <a:pPr indent="0" marL="0">
              <a:buNone/>
            </a:pPr>
            <a:r>
              <a:rPr lang="en-US" sz="1500" dirty="0">
                <a:solidFill>
                  <a:srgbClr val="6F675C"/>
                </a:solidFill>
                <a:latin typeface="Calibri" pitchFamily="34" charset="0"/>
                <a:ea typeface="Calibri" pitchFamily="34" charset="-122"/>
                <a:cs typeface="Calibri" pitchFamily="34" charset="-120"/>
              </a:rPr>
              <a:t>Empat kebiasaan yang bikin unit sulit disewakan tanpa menambah kamar.</a:t>
            </a:r>
            <a:endParaRPr lang="en-US" sz="1500" dirty="0"/>
          </a:p>
        </p:txBody>
      </p:sp>
      <p:sp>
        <p:nvSpPr>
          <p:cNvPr id="9" name="Shape 7"/>
          <p:cNvSpPr/>
          <p:nvPr/>
        </p:nvSpPr>
        <p:spPr>
          <a:xfrm>
            <a:off x="384048" y="1280160"/>
            <a:ext cx="5623560" cy="2331720"/>
          </a:xfrm>
          <a:prstGeom prst="roundRect">
            <a:avLst>
              <a:gd name="adj" fmla="val 3137"/>
            </a:avLst>
          </a:prstGeom>
          <a:solidFill>
            <a:srgbClr val="FBF8F3"/>
          </a:solidFill>
          <a:ln w="12700">
            <a:solidFill>
              <a:srgbClr val="D9CFBF"/>
            </a:solidFill>
            <a:prstDash val="solid"/>
          </a:ln>
        </p:spPr>
      </p:sp>
      <p:sp>
        <p:nvSpPr>
          <p:cNvPr id="10" name="Text 8"/>
          <p:cNvSpPr/>
          <p:nvPr/>
        </p:nvSpPr>
        <p:spPr>
          <a:xfrm>
            <a:off x="640080" y="14813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01   Grup chat</a:t>
            </a:r>
            <a:endParaRPr lang="en-US" sz="2000" dirty="0"/>
          </a:p>
        </p:txBody>
      </p:sp>
      <p:sp>
        <p:nvSpPr>
          <p:cNvPr id="11" name="Text 9"/>
          <p:cNvSpPr/>
          <p:nvPr/>
        </p:nvSpPr>
        <p:spPr>
          <a:xfrm>
            <a:off x="640080" y="19019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Foto tenggelam besoknya.</a:t>
            </a:r>
            <a:endParaRPr lang="en-US" sz="1400" dirty="0"/>
          </a:p>
        </p:txBody>
      </p:sp>
      <p:sp>
        <p:nvSpPr>
          <p:cNvPr id="12" name="Text 10"/>
          <p:cNvSpPr/>
          <p:nvPr/>
        </p:nvSpPr>
        <p:spPr>
          <a:xfrm>
            <a:off x="640080" y="22860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Harga di caption sering beda dengan harga yang diucap pengelola. Calon penyewa harus bertanya ulang.</a:t>
            </a:r>
            <a:endParaRPr lang="en-US" sz="1500" dirty="0"/>
          </a:p>
        </p:txBody>
      </p:sp>
      <p:sp>
        <p:nvSpPr>
          <p:cNvPr id="13" name="Shape 11"/>
          <p:cNvSpPr/>
          <p:nvPr/>
        </p:nvSpPr>
        <p:spPr>
          <a:xfrm>
            <a:off x="6236208" y="1280160"/>
            <a:ext cx="5623560" cy="2331720"/>
          </a:xfrm>
          <a:prstGeom prst="roundRect">
            <a:avLst>
              <a:gd name="adj" fmla="val 3137"/>
            </a:avLst>
          </a:prstGeom>
          <a:solidFill>
            <a:srgbClr val="FBF8F3"/>
          </a:solidFill>
          <a:ln w="12700">
            <a:solidFill>
              <a:srgbClr val="D9CFBF"/>
            </a:solidFill>
            <a:prstDash val="solid"/>
          </a:ln>
        </p:spPr>
      </p:sp>
      <p:sp>
        <p:nvSpPr>
          <p:cNvPr id="14" name="Text 12"/>
          <p:cNvSpPr/>
          <p:nvPr/>
        </p:nvSpPr>
        <p:spPr>
          <a:xfrm>
            <a:off x="6492240" y="14813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02   Marketplace umum</a:t>
            </a:r>
            <a:endParaRPr lang="en-US" sz="2000" dirty="0"/>
          </a:p>
        </p:txBody>
      </p:sp>
      <p:sp>
        <p:nvSpPr>
          <p:cNvPr id="15" name="Text 13"/>
          <p:cNvSpPr/>
          <p:nvPr/>
        </p:nvSpPr>
        <p:spPr>
          <a:xfrm>
            <a:off x="6492240" y="19019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Iklan, bukan operasional.</a:t>
            </a:r>
            <a:endParaRPr lang="en-US" sz="1400" dirty="0"/>
          </a:p>
        </p:txBody>
      </p:sp>
      <p:sp>
        <p:nvSpPr>
          <p:cNvPr id="16" name="Text 14"/>
          <p:cNvSpPr/>
          <p:nvPr/>
        </p:nvSpPr>
        <p:spPr>
          <a:xfrm>
            <a:off x="6492240" y="22860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Unit tercampur dengan rumah dijual. Status kamar hari ini tidak ada. Begitu tersewa, iklannya tetap nongol.</a:t>
            </a:r>
            <a:endParaRPr lang="en-US" sz="1500" dirty="0"/>
          </a:p>
        </p:txBody>
      </p:sp>
      <p:sp>
        <p:nvSpPr>
          <p:cNvPr id="17" name="Shape 15"/>
          <p:cNvSpPr/>
          <p:nvPr/>
        </p:nvSpPr>
        <p:spPr>
          <a:xfrm>
            <a:off x="384048" y="3794760"/>
            <a:ext cx="5623560" cy="2331720"/>
          </a:xfrm>
          <a:prstGeom prst="roundRect">
            <a:avLst>
              <a:gd name="adj" fmla="val 3137"/>
            </a:avLst>
          </a:prstGeom>
          <a:solidFill>
            <a:srgbClr val="FBF8F3"/>
          </a:solidFill>
          <a:ln w="12700">
            <a:solidFill>
              <a:srgbClr val="D9CFBF"/>
            </a:solidFill>
            <a:prstDash val="solid"/>
          </a:ln>
        </p:spPr>
      </p:sp>
      <p:sp>
        <p:nvSpPr>
          <p:cNvPr id="18" name="Text 16"/>
          <p:cNvSpPr/>
          <p:nvPr/>
        </p:nvSpPr>
        <p:spPr>
          <a:xfrm>
            <a:off x="640080" y="39959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03   Calo</a:t>
            </a:r>
            <a:endParaRPr lang="en-US" sz="2000" dirty="0"/>
          </a:p>
        </p:txBody>
      </p:sp>
      <p:sp>
        <p:nvSpPr>
          <p:cNvPr id="19" name="Text 17"/>
          <p:cNvSpPr/>
          <p:nvPr/>
        </p:nvSpPr>
        <p:spPr>
          <a:xfrm>
            <a:off x="640080" y="44165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Satu bulan sewa per orang.</a:t>
            </a:r>
            <a:endParaRPr lang="en-US" sz="1400" dirty="0"/>
          </a:p>
        </p:txBody>
      </p:sp>
      <p:sp>
        <p:nvSpPr>
          <p:cNvPr id="20" name="Text 18"/>
          <p:cNvSpPr/>
          <p:nvPr/>
        </p:nvSpPr>
        <p:spPr>
          <a:xfrm>
            <a:off x="640080" y="48006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Enam penempatan setahun pada kamar Rp1,2 juta berarti sekitar Rp7,2 juta yang tidak masuk ke pemilik.</a:t>
            </a:r>
            <a:endParaRPr lang="en-US" sz="1500" dirty="0"/>
          </a:p>
        </p:txBody>
      </p:sp>
      <p:sp>
        <p:nvSpPr>
          <p:cNvPr id="21" name="Shape 19"/>
          <p:cNvSpPr/>
          <p:nvPr/>
        </p:nvSpPr>
        <p:spPr>
          <a:xfrm>
            <a:off x="6236208" y="3794760"/>
            <a:ext cx="5623560" cy="2331720"/>
          </a:xfrm>
          <a:prstGeom prst="roundRect">
            <a:avLst>
              <a:gd name="adj" fmla="val 3137"/>
            </a:avLst>
          </a:prstGeom>
          <a:solidFill>
            <a:srgbClr val="FBF8F3"/>
          </a:solidFill>
          <a:ln w="12700">
            <a:solidFill>
              <a:srgbClr val="D9CFBF"/>
            </a:solidFill>
            <a:prstDash val="solid"/>
          </a:ln>
        </p:spPr>
      </p:sp>
      <p:sp>
        <p:nvSpPr>
          <p:cNvPr id="22" name="Text 20"/>
          <p:cNvSpPr/>
          <p:nvPr/>
        </p:nvSpPr>
        <p:spPr>
          <a:xfrm>
            <a:off x="6492240" y="39959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04   Catatan di kepala</a:t>
            </a:r>
            <a:endParaRPr lang="en-US" sz="2000" dirty="0"/>
          </a:p>
        </p:txBody>
      </p:sp>
      <p:sp>
        <p:nvSpPr>
          <p:cNvPr id="23" name="Text 21"/>
          <p:cNvSpPr/>
          <p:nvPr/>
        </p:nvSpPr>
        <p:spPr>
          <a:xfrm>
            <a:off x="6492240" y="44165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Pengganti tidak bisa nerusin.</a:t>
            </a:r>
            <a:endParaRPr lang="en-US" sz="1400" dirty="0"/>
          </a:p>
        </p:txBody>
      </p:sp>
      <p:sp>
        <p:nvSpPr>
          <p:cNvPr id="24" name="Text 22"/>
          <p:cNvSpPr/>
          <p:nvPr/>
        </p:nvSpPr>
        <p:spPr>
          <a:xfrm>
            <a:off x="6492240" y="48006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Kamar mana yang booking, mana yang sudah bayar, ada di ingatan satu orang. Cuti sehari, jawabannya macet.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03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Satu situs. Dua sisi. Tidak lewat calo dulu.</a:t>
            </a:r>
            <a:endParaRPr lang="en-US" sz="2800" dirty="0"/>
          </a:p>
        </p:txBody>
      </p:sp>
      <p:sp>
        <p:nvSpPr>
          <p:cNvPr id="8" name="Text 6"/>
          <p:cNvSpPr/>
          <p:nvPr/>
        </p:nvSpPr>
        <p:spPr>
          <a:xfrm>
            <a:off x="384048" y="804672"/>
            <a:ext cx="11155680" cy="329184"/>
          </a:xfrm>
          <a:prstGeom prst="rect">
            <a:avLst/>
          </a:prstGeom>
          <a:noFill/>
          <a:ln/>
        </p:spPr>
        <p:txBody>
          <a:bodyPr wrap="square" lIns="0" tIns="0" rIns="0" bIns="0" rtlCol="0" anchor="ctr"/>
          <a:lstStyle/>
          <a:p>
            <a:pPr indent="0" marL="0">
              <a:buNone/>
            </a:pPr>
            <a:r>
              <a:rPr lang="en-US" sz="1500" dirty="0">
                <a:solidFill>
                  <a:srgbClr val="6F675C"/>
                </a:solidFill>
                <a:latin typeface="Calibri" pitchFamily="34" charset="0"/>
                <a:ea typeface="Calibri" pitchFamily="34" charset="-122"/>
                <a:cs typeface="Calibri" pitchFamily="34" charset="-120"/>
              </a:rPr>
              <a:t>HUNI diposisikan sebagai website milik pengelola, bukan aplikasi nasional yang merebut merek kos Anda.</a:t>
            </a:r>
            <a:endParaRPr lang="en-US" sz="1500" dirty="0"/>
          </a:p>
        </p:txBody>
      </p:sp>
      <p:sp>
        <p:nvSpPr>
          <p:cNvPr id="9" name="Shape 7"/>
          <p:cNvSpPr/>
          <p:nvPr/>
        </p:nvSpPr>
        <p:spPr>
          <a:xfrm>
            <a:off x="384048" y="1371600"/>
            <a:ext cx="2761488" cy="2880360"/>
          </a:xfrm>
          <a:prstGeom prst="roundRect">
            <a:avLst>
              <a:gd name="adj" fmla="val 2649"/>
            </a:avLst>
          </a:prstGeom>
          <a:solidFill>
            <a:srgbClr val="FBF8F3"/>
          </a:solidFill>
          <a:ln w="12700">
            <a:solidFill>
              <a:srgbClr val="D9CFBF"/>
            </a:solidFill>
            <a:prstDash val="solid"/>
          </a:ln>
        </p:spPr>
      </p:sp>
      <p:sp>
        <p:nvSpPr>
          <p:cNvPr id="10" name="Text 8"/>
          <p:cNvSpPr/>
          <p:nvPr/>
        </p:nvSpPr>
        <p:spPr>
          <a:xfrm>
            <a:off x="56692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01</a:t>
            </a:r>
            <a:endParaRPr lang="en-US" sz="2200" dirty="0"/>
          </a:p>
        </p:txBody>
      </p:sp>
      <p:sp>
        <p:nvSpPr>
          <p:cNvPr id="11" name="Text 9"/>
          <p:cNvSpPr/>
          <p:nvPr/>
        </p:nvSpPr>
        <p:spPr>
          <a:xfrm>
            <a:off x="56692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Pasang</a:t>
            </a:r>
            <a:endParaRPr lang="en-US" sz="2200" dirty="0"/>
          </a:p>
        </p:txBody>
      </p:sp>
      <p:sp>
        <p:nvSpPr>
          <p:cNvPr id="12" name="Text 10"/>
          <p:cNvSpPr/>
          <p:nvPr/>
        </p:nvSpPr>
        <p:spPr>
          <a:xfrm>
            <a:off x="56692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Foto, harga, fasilitas, dan aturan ditulis sekali. Tidak hilang di riwayat chat.</a:t>
            </a:r>
            <a:endParaRPr lang="en-US" sz="1400" dirty="0"/>
          </a:p>
        </p:txBody>
      </p:sp>
      <p:sp>
        <p:nvSpPr>
          <p:cNvPr id="13" name="Shape 11"/>
          <p:cNvSpPr/>
          <p:nvPr/>
        </p:nvSpPr>
        <p:spPr>
          <a:xfrm>
            <a:off x="3310128" y="1371600"/>
            <a:ext cx="2761488" cy="2880360"/>
          </a:xfrm>
          <a:prstGeom prst="roundRect">
            <a:avLst>
              <a:gd name="adj" fmla="val 2649"/>
            </a:avLst>
          </a:prstGeom>
          <a:solidFill>
            <a:srgbClr val="FBF8F3"/>
          </a:solidFill>
          <a:ln w="12700">
            <a:solidFill>
              <a:srgbClr val="D9CFBF"/>
            </a:solidFill>
            <a:prstDash val="solid"/>
          </a:ln>
        </p:spPr>
      </p:sp>
      <p:sp>
        <p:nvSpPr>
          <p:cNvPr id="14" name="Text 12"/>
          <p:cNvSpPr/>
          <p:nvPr/>
        </p:nvSpPr>
        <p:spPr>
          <a:xfrm>
            <a:off x="349300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02</a:t>
            </a:r>
            <a:endParaRPr lang="en-US" sz="2200" dirty="0"/>
          </a:p>
        </p:txBody>
      </p:sp>
      <p:sp>
        <p:nvSpPr>
          <p:cNvPr id="15" name="Text 13"/>
          <p:cNvSpPr/>
          <p:nvPr/>
        </p:nvSpPr>
        <p:spPr>
          <a:xfrm>
            <a:off x="349300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Saring</a:t>
            </a:r>
            <a:endParaRPr lang="en-US" sz="2200" dirty="0"/>
          </a:p>
        </p:txBody>
      </p:sp>
      <p:sp>
        <p:nvSpPr>
          <p:cNvPr id="16" name="Text 14"/>
          <p:cNvSpPr/>
          <p:nvPr/>
        </p:nvSpPr>
        <p:spPr>
          <a:xfrm>
            <a:off x="349300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Calon penyewa pilih kota, jenis, dan batas harga sebelum bertanya.</a:t>
            </a:r>
            <a:endParaRPr lang="en-US" sz="1400" dirty="0"/>
          </a:p>
        </p:txBody>
      </p:sp>
      <p:sp>
        <p:nvSpPr>
          <p:cNvPr id="17" name="Shape 15"/>
          <p:cNvSpPr/>
          <p:nvPr/>
        </p:nvSpPr>
        <p:spPr>
          <a:xfrm>
            <a:off x="6236208" y="1371600"/>
            <a:ext cx="2761488" cy="2880360"/>
          </a:xfrm>
          <a:prstGeom prst="roundRect">
            <a:avLst>
              <a:gd name="adj" fmla="val 2649"/>
            </a:avLst>
          </a:prstGeom>
          <a:solidFill>
            <a:srgbClr val="FBF8F3"/>
          </a:solidFill>
          <a:ln w="12700">
            <a:solidFill>
              <a:srgbClr val="D9CFBF"/>
            </a:solidFill>
            <a:prstDash val="solid"/>
          </a:ln>
        </p:spPr>
      </p:sp>
      <p:sp>
        <p:nvSpPr>
          <p:cNvPr id="18" name="Text 16"/>
          <p:cNvSpPr/>
          <p:nvPr/>
        </p:nvSpPr>
        <p:spPr>
          <a:xfrm>
            <a:off x="641908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03</a:t>
            </a:r>
            <a:endParaRPr lang="en-US" sz="2200" dirty="0"/>
          </a:p>
        </p:txBody>
      </p:sp>
      <p:sp>
        <p:nvSpPr>
          <p:cNvPr id="19" name="Text 17"/>
          <p:cNvSpPr/>
          <p:nvPr/>
        </p:nvSpPr>
        <p:spPr>
          <a:xfrm>
            <a:off x="641908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Ajukan</a:t>
            </a:r>
            <a:endParaRPr lang="en-US" sz="2200" dirty="0"/>
          </a:p>
        </p:txBody>
      </p:sp>
      <p:sp>
        <p:nvSpPr>
          <p:cNvPr id="20" name="Text 18"/>
          <p:cNvSpPr/>
          <p:nvPr/>
        </p:nvSpPr>
        <p:spPr>
          <a:xfrm>
            <a:off x="641908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Nama, nomor, tanggal masuk, dan catatan masuk ke satu daftar.</a:t>
            </a:r>
            <a:endParaRPr lang="en-US" sz="1400" dirty="0"/>
          </a:p>
        </p:txBody>
      </p:sp>
      <p:sp>
        <p:nvSpPr>
          <p:cNvPr id="21" name="Shape 19"/>
          <p:cNvSpPr/>
          <p:nvPr/>
        </p:nvSpPr>
        <p:spPr>
          <a:xfrm>
            <a:off x="9162288" y="1371600"/>
            <a:ext cx="2761488" cy="2880360"/>
          </a:xfrm>
          <a:prstGeom prst="roundRect">
            <a:avLst>
              <a:gd name="adj" fmla="val 2649"/>
            </a:avLst>
          </a:prstGeom>
          <a:solidFill>
            <a:srgbClr val="FBF8F3"/>
          </a:solidFill>
          <a:ln w="12700">
            <a:solidFill>
              <a:srgbClr val="D9CFBF"/>
            </a:solidFill>
            <a:prstDash val="solid"/>
          </a:ln>
        </p:spPr>
      </p:sp>
      <p:sp>
        <p:nvSpPr>
          <p:cNvPr id="22" name="Text 20"/>
          <p:cNvSpPr/>
          <p:nvPr/>
        </p:nvSpPr>
        <p:spPr>
          <a:xfrm>
            <a:off x="934516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04</a:t>
            </a:r>
            <a:endParaRPr lang="en-US" sz="2200" dirty="0"/>
          </a:p>
        </p:txBody>
      </p:sp>
      <p:sp>
        <p:nvSpPr>
          <p:cNvPr id="23" name="Text 21"/>
          <p:cNvSpPr/>
          <p:nvPr/>
        </p:nvSpPr>
        <p:spPr>
          <a:xfrm>
            <a:off x="934516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Catat</a:t>
            </a:r>
            <a:endParaRPr lang="en-US" sz="2200" dirty="0"/>
          </a:p>
        </p:txBody>
      </p:sp>
      <p:sp>
        <p:nvSpPr>
          <p:cNvPr id="24" name="Text 22"/>
          <p:cNvSpPr/>
          <p:nvPr/>
        </p:nvSpPr>
        <p:spPr>
          <a:xfrm>
            <a:off x="934516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Kamar ditandai isi, kosong, atau booking. Pengganti bisa membacanya.</a:t>
            </a:r>
            <a:endParaRPr lang="en-US" sz="1400" dirty="0"/>
          </a:p>
        </p:txBody>
      </p:sp>
      <p:sp>
        <p:nvSpPr>
          <p:cNvPr id="25" name="Shape 23"/>
          <p:cNvSpPr/>
          <p:nvPr/>
        </p:nvSpPr>
        <p:spPr>
          <a:xfrm>
            <a:off x="384048" y="4434840"/>
            <a:ext cx="11411712" cy="1920240"/>
          </a:xfrm>
          <a:prstGeom prst="roundRect">
            <a:avLst>
              <a:gd name="adj" fmla="val 3810"/>
            </a:avLst>
          </a:prstGeom>
          <a:solidFill>
            <a:srgbClr val="2F5D50"/>
          </a:solidFill>
          <a:ln w="12700">
            <a:solidFill>
              <a:srgbClr val="2F5D50"/>
            </a:solidFill>
            <a:prstDash val="solid"/>
          </a:ln>
        </p:spPr>
      </p:sp>
      <p:sp>
        <p:nvSpPr>
          <p:cNvPr id="26" name="Text 24"/>
          <p:cNvSpPr/>
          <p:nvPr/>
        </p:nvSpPr>
        <p:spPr>
          <a:xfrm>
            <a:off x="640080" y="4645152"/>
            <a:ext cx="10789920" cy="365760"/>
          </a:xfrm>
          <a:prstGeom prst="rect">
            <a:avLst/>
          </a:prstGeom>
          <a:noFill/>
          <a:ln/>
        </p:spPr>
        <p:txBody>
          <a:bodyPr wrap="square" lIns="0" tIns="0" rIns="0" bIns="0" rtlCol="0" anchor="ctr"/>
          <a:lstStyle/>
          <a:p>
            <a:pPr indent="0" marL="0">
              <a:buNone/>
            </a:pPr>
            <a:r>
              <a:rPr lang="en-US" sz="2000" dirty="0">
                <a:solidFill>
                  <a:srgbClr val="F4EFE6"/>
                </a:solidFill>
                <a:latin typeface="Georgia" pitchFamily="34" charset="0"/>
                <a:ea typeface="Georgia" pitchFamily="34" charset="-122"/>
                <a:cs typeface="Georgia" pitchFamily="34" charset="-120"/>
              </a:rPr>
              <a:t>Kos dan kontrakan di halaman yang sama</a:t>
            </a:r>
            <a:endParaRPr lang="en-US" sz="2000" dirty="0"/>
          </a:p>
        </p:txBody>
      </p:sp>
      <p:sp>
        <p:nvSpPr>
          <p:cNvPr id="27" name="Text 25"/>
          <p:cNvSpPr/>
          <p:nvPr/>
        </p:nvSpPr>
        <p:spPr>
          <a:xfrm>
            <a:off x="640080" y="5074920"/>
            <a:ext cx="10789920" cy="1005840"/>
          </a:xfrm>
          <a:prstGeom prst="rect">
            <a:avLst/>
          </a:prstGeom>
          <a:noFill/>
          <a:ln/>
        </p:spPr>
        <p:txBody>
          <a:bodyPr wrap="square" lIns="0" tIns="0" rIns="0" bIns="0" rtlCol="0" anchor="ctr"/>
          <a:lstStyle/>
          <a:p>
            <a:pPr indent="0" marL="0">
              <a:buNone/>
            </a:pPr>
            <a:r>
              <a:rPr lang="en-US" sz="1500" dirty="0">
                <a:solidFill>
                  <a:srgbClr val="E7DCC8"/>
                </a:solidFill>
                <a:latin typeface="Calibri" pitchFamily="34" charset="0"/>
                <a:ea typeface="Calibri" pitchFamily="34" charset="-122"/>
                <a:cs typeface="Calibri" pitchFamily="34" charset="-120"/>
              </a:rPr>
              <a:t>Kos disewa per kamar, biasanya bulanan. Kontrakan disewa per rumah, biasanya minimal setahun. Keduanya butuh foto yang jujur, harga yang satu, dan status kosong yang tidak bohong. Demo memakai contoh di Cianjur, Bandung, dan Depok.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04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Apa yang dilihat penyewa, apa yang dipegang pemilik.</a:t>
            </a:r>
            <a:endParaRPr lang="en-US" sz="2800" dirty="0"/>
          </a:p>
        </p:txBody>
      </p:sp>
      <p:sp>
        <p:nvSpPr>
          <p:cNvPr id="8" name="Shape 6"/>
          <p:cNvSpPr/>
          <p:nvPr/>
        </p:nvSpPr>
        <p:spPr>
          <a:xfrm>
            <a:off x="384048" y="1051560"/>
            <a:ext cx="5623560" cy="5257800"/>
          </a:xfrm>
          <a:prstGeom prst="roundRect">
            <a:avLst>
              <a:gd name="adj" fmla="val 1391"/>
            </a:avLst>
          </a:prstGeom>
          <a:solidFill>
            <a:srgbClr val="FBF8F3"/>
          </a:solidFill>
          <a:ln w="12700">
            <a:solidFill>
              <a:srgbClr val="D9CFBF"/>
            </a:solidFill>
            <a:prstDash val="solid"/>
          </a:ln>
        </p:spPr>
      </p:sp>
      <p:sp>
        <p:nvSpPr>
          <p:cNvPr id="9" name="Shape 7"/>
          <p:cNvSpPr/>
          <p:nvPr/>
        </p:nvSpPr>
        <p:spPr>
          <a:xfrm>
            <a:off x="6190488" y="1051560"/>
            <a:ext cx="5623560" cy="5257800"/>
          </a:xfrm>
          <a:prstGeom prst="roundRect">
            <a:avLst>
              <a:gd name="adj" fmla="val 1391"/>
            </a:avLst>
          </a:prstGeom>
          <a:solidFill>
            <a:srgbClr val="1A1814"/>
          </a:solidFill>
          <a:ln w="12700">
            <a:solidFill>
              <a:srgbClr val="1A1814"/>
            </a:solidFill>
            <a:prstDash val="solid"/>
          </a:ln>
        </p:spPr>
      </p:sp>
      <p:sp>
        <p:nvSpPr>
          <p:cNvPr id="10" name="Text 8"/>
          <p:cNvSpPr/>
          <p:nvPr/>
        </p:nvSpPr>
        <p:spPr>
          <a:xfrm>
            <a:off x="640080" y="1280160"/>
            <a:ext cx="5120640" cy="365760"/>
          </a:xfrm>
          <a:prstGeom prst="rect">
            <a:avLst/>
          </a:prstGeom>
          <a:noFill/>
          <a:ln/>
        </p:spPr>
        <p:txBody>
          <a:bodyPr wrap="square" lIns="0" tIns="0" rIns="0" bIns="0" rtlCol="0" anchor="ctr"/>
          <a:lstStyle/>
          <a:p>
            <a:pPr indent="0" marL="0">
              <a:buNone/>
            </a:pPr>
            <a:r>
              <a:rPr lang="en-US" sz="2400" dirty="0">
                <a:solidFill>
                  <a:srgbClr val="1A1814"/>
                </a:solidFill>
                <a:latin typeface="Georgia" pitchFamily="34" charset="0"/>
                <a:ea typeface="Georgia" pitchFamily="34" charset="-122"/>
                <a:cs typeface="Georgia" pitchFamily="34" charset="-120"/>
              </a:rPr>
              <a:t>Calon penghuni</a:t>
            </a:r>
            <a:endParaRPr lang="en-US" sz="2400" dirty="0"/>
          </a:p>
        </p:txBody>
      </p:sp>
      <p:sp>
        <p:nvSpPr>
          <p:cNvPr id="11" name="Text 9"/>
          <p:cNvSpPr/>
          <p:nvPr/>
        </p:nvSpPr>
        <p:spPr>
          <a:xfrm>
            <a:off x="640080" y="192024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Beranda dengan cari nama dan kota</a:t>
            </a:r>
            <a:endParaRPr lang="en-US" sz="1600" dirty="0"/>
          </a:p>
        </p:txBody>
      </p:sp>
      <p:sp>
        <p:nvSpPr>
          <p:cNvPr id="12" name="Text 10"/>
          <p:cNvSpPr/>
          <p:nvPr/>
        </p:nvSpPr>
        <p:spPr>
          <a:xfrm>
            <a:off x="640080" y="265176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Katalog: kos atau kontrakan, batas harga</a:t>
            </a:r>
            <a:endParaRPr lang="en-US" sz="1600" dirty="0"/>
          </a:p>
        </p:txBody>
      </p:sp>
      <p:sp>
        <p:nvSpPr>
          <p:cNvPr id="13" name="Text 11"/>
          <p:cNvSpPr/>
          <p:nvPr/>
        </p:nvSpPr>
        <p:spPr>
          <a:xfrm>
            <a:off x="640080" y="338328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Halaman unit: galeri, ukuran, aturan, sekitar</a:t>
            </a:r>
            <a:endParaRPr lang="en-US" sz="1600" dirty="0"/>
          </a:p>
        </p:txBody>
      </p:sp>
      <p:sp>
        <p:nvSpPr>
          <p:cNvPr id="14" name="Text 12"/>
          <p:cNvSpPr/>
          <p:nvPr/>
        </p:nvSpPr>
        <p:spPr>
          <a:xfrm>
            <a:off x="640080" y="411480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Simpan unit untuk dibandingkan</a:t>
            </a:r>
            <a:endParaRPr lang="en-US" sz="1600" dirty="0"/>
          </a:p>
        </p:txBody>
      </p:sp>
      <p:sp>
        <p:nvSpPr>
          <p:cNvPr id="15" name="Text 13"/>
          <p:cNvSpPr/>
          <p:nvPr/>
        </p:nvSpPr>
        <p:spPr>
          <a:xfrm>
            <a:off x="640080" y="484632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Form ajukan sewa, dengan cek nomor HP</a:t>
            </a:r>
            <a:endParaRPr lang="en-US" sz="1600" dirty="0"/>
          </a:p>
        </p:txBody>
      </p:sp>
      <p:sp>
        <p:nvSpPr>
          <p:cNvPr id="16" name="Text 14"/>
          <p:cNvSpPr/>
          <p:nvPr/>
        </p:nvSpPr>
        <p:spPr>
          <a:xfrm>
            <a:off x="6446520" y="1280160"/>
            <a:ext cx="5120640" cy="365760"/>
          </a:xfrm>
          <a:prstGeom prst="rect">
            <a:avLst/>
          </a:prstGeom>
          <a:noFill/>
          <a:ln/>
        </p:spPr>
        <p:txBody>
          <a:bodyPr wrap="square" lIns="0" tIns="0" rIns="0" bIns="0" rtlCol="0" anchor="ctr"/>
          <a:lstStyle/>
          <a:p>
            <a:pPr indent="0" marL="0">
              <a:buNone/>
            </a:pPr>
            <a:r>
              <a:rPr lang="en-US" sz="2400" dirty="0">
                <a:solidFill>
                  <a:srgbClr val="F4EFE6"/>
                </a:solidFill>
                <a:latin typeface="Georgia" pitchFamily="34" charset="0"/>
                <a:ea typeface="Georgia" pitchFamily="34" charset="-122"/>
                <a:cs typeface="Georgia" pitchFamily="34" charset="-120"/>
              </a:rPr>
              <a:t>Pemilik &amp; pengelola</a:t>
            </a:r>
            <a:endParaRPr lang="en-US" sz="2400" dirty="0"/>
          </a:p>
        </p:txBody>
      </p:sp>
      <p:sp>
        <p:nvSpPr>
          <p:cNvPr id="17" name="Text 15"/>
          <p:cNvSpPr/>
          <p:nvPr/>
        </p:nvSpPr>
        <p:spPr>
          <a:xfrm>
            <a:off x="6446520" y="192024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Papan kamar: ketuk untuk ganti status</a:t>
            </a:r>
            <a:endParaRPr lang="en-US" sz="1600" dirty="0"/>
          </a:p>
        </p:txBody>
      </p:sp>
      <p:sp>
        <p:nvSpPr>
          <p:cNvPr id="18" name="Text 16"/>
          <p:cNvSpPr/>
          <p:nvPr/>
        </p:nvSpPr>
        <p:spPr>
          <a:xfrm>
            <a:off x="6446520" y="265176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Hitungan isi, booking, dan kosong</a:t>
            </a:r>
            <a:endParaRPr lang="en-US" sz="1600" dirty="0"/>
          </a:p>
        </p:txBody>
      </p:sp>
      <p:sp>
        <p:nvSpPr>
          <p:cNvPr id="19" name="Text 17"/>
          <p:cNvSpPr/>
          <p:nvPr/>
        </p:nvSpPr>
        <p:spPr>
          <a:xfrm>
            <a:off x="6446520" y="338328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Daftar pengajuan beserta tanggal masuk</a:t>
            </a:r>
            <a:endParaRPr lang="en-US" sz="1600" dirty="0"/>
          </a:p>
        </p:txBody>
      </p:sp>
      <p:sp>
        <p:nvSpPr>
          <p:cNvPr id="20" name="Text 18"/>
          <p:cNvSpPr/>
          <p:nvPr/>
        </p:nvSpPr>
        <p:spPr>
          <a:xfrm>
            <a:off x="6446520" y="411480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Grafik hunian beberapa bulan</a:t>
            </a:r>
            <a:endParaRPr lang="en-US" sz="1600" dirty="0"/>
          </a:p>
        </p:txBody>
      </p:sp>
      <p:sp>
        <p:nvSpPr>
          <p:cNvPr id="21" name="Text 19"/>
          <p:cNvSpPr/>
          <p:nvPr/>
        </p:nvSpPr>
        <p:spPr>
          <a:xfrm>
            <a:off x="6446520" y="484632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Tahap lanjut: DP, invoice, laporan uang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05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Beranda</a:t>
            </a:r>
            <a:endParaRPr lang="en-US" sz="2800" dirty="0"/>
          </a:p>
        </p:txBody>
      </p:sp>
      <p:pic>
        <p:nvPicPr>
          <p:cNvPr id="8" name="Image 0" descr="/home/claude/ws/artifacts/deck/home.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Langsung cari</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Nama kos atau kota, tanpa harus daftar dulu.</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Foto sungguhan</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Bukan kotak abu-abu. Penyewa menilai dari gambar.</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Dua produk</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Kos per kamar dan kontrakan per rumah, satu merek.</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Jujur ini demo</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Pita di atas menulis bahwa datanya contoh.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06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Katalog</a:t>
            </a:r>
            <a:endParaRPr lang="en-US" sz="2800" dirty="0"/>
          </a:p>
        </p:txBody>
      </p:sp>
      <p:pic>
        <p:nvPicPr>
          <p:cNvPr id="8" name="Image 0" descr="/home/claude/ws/artifacts/deck/cari.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Filter yang dipakai</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Kata, jenis, kota, dan batas harga.</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Status kosong</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Berapa unit yang masih ada, ditulis di kartu.</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Harga sebulan</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Kontrakan pun ditampilkan per bulan agar bisa dibanding.</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Tersimpan</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Tombol untuk melihat hanya unit yang disimpan.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07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Halaman unit</a:t>
            </a:r>
            <a:endParaRPr lang="en-US" sz="2800" dirty="0"/>
          </a:p>
        </p:txBody>
      </p:sp>
      <p:pic>
        <p:nvPicPr>
          <p:cNvPr id="8" name="Image 0" descr="/home/claude/ws/artifacts/deck/unit.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Galeri</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Beberapa foto, bukan satu gambar dipaksakan.</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Aturan di depan</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Jam tamu dan larangan masak tidak disembunyikan.</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Ajukan sewa</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Nama, HP, tanggal masuk. Nomor dicek formatnya.</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Tersimpan di perangkat</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Di demo, data belum dikirim ke server.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08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Papan pemilik</a:t>
            </a:r>
            <a:endParaRPr lang="en-US" sz="2800" dirty="0"/>
          </a:p>
        </p:txBody>
      </p:sp>
      <p:pic>
        <p:nvPicPr>
          <p:cNvPr id="8" name="Image 0" descr="/home/claude/ws/artifacts/deck/pemilik-inquiry.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12 kamar contoh</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Ketuk kartu: isi, kosong, lalu booking.</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Pengajuan masuk</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Termasuk yang baru dikirim dari halaman unit.</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Grafik hunian</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Mei–Oktober. Angka contoh, bukan hitungan live.</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Kos Melati</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Satu properti dulu. Multi-properti ditambah di tahap lanjut.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09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Dipakai dari HP, karena yang cari kos jarang buka laptop.</a:t>
            </a:r>
            <a:endParaRPr lang="en-US" sz="2800" dirty="0"/>
          </a:p>
        </p:txBody>
      </p:sp>
      <p:pic>
        <p:nvPicPr>
          <p:cNvPr id="8" name="Image 0" descr="/home/claude/ws/artifacts/deck/home-mobile.png">    </p:cNvPr>
          <p:cNvPicPr>
            <a:picLocks noChangeAspect="1"/>
          </p:cNvPicPr>
          <p:nvPr/>
        </p:nvPicPr>
        <p:blipFill>
          <a:blip r:embed="rId1"/>
          <a:stretch>
            <a:fillRect/>
          </a:stretch>
        </p:blipFill>
        <p:spPr>
          <a:xfrm>
            <a:off x="3714074" y="1051560"/>
            <a:ext cx="2176034" cy="4709160"/>
          </a:xfrm>
          <a:prstGeom prst="rect">
            <a:avLst/>
          </a:prstGeom>
        </p:spPr>
      </p:pic>
      <p:pic>
        <p:nvPicPr>
          <p:cNvPr id="9" name="Image 1" descr="/home/claude/ws/artifacts/deck/unit-mobile.png">    </p:cNvPr>
          <p:cNvPicPr>
            <a:picLocks noChangeAspect="1"/>
          </p:cNvPicPr>
          <p:nvPr/>
        </p:nvPicPr>
        <p:blipFill>
          <a:blip r:embed="rId2"/>
          <a:stretch>
            <a:fillRect/>
          </a:stretch>
        </p:blipFill>
        <p:spPr>
          <a:xfrm>
            <a:off x="6301588" y="1051560"/>
            <a:ext cx="2176034" cy="4709160"/>
          </a:xfrm>
          <a:prstGeom prst="rect">
            <a:avLst/>
          </a:prstGeom>
        </p:spPr>
      </p:pic>
      <p:sp>
        <p:nvSpPr>
          <p:cNvPr id="10" name="Text 6"/>
          <p:cNvSpPr/>
          <p:nvPr/>
        </p:nvSpPr>
        <p:spPr>
          <a:xfrm>
            <a:off x="3714074" y="5852160"/>
            <a:ext cx="2176034" cy="274320"/>
          </a:xfrm>
          <a:prstGeom prst="rect">
            <a:avLst/>
          </a:prstGeom>
          <a:noFill/>
          <a:ln/>
        </p:spPr>
        <p:txBody>
          <a:bodyPr wrap="square" lIns="0" tIns="0" rIns="0" bIns="0" rtlCol="0" anchor="ctr"/>
          <a:lstStyle/>
          <a:p>
            <a:pPr algn="ctr" indent="0" marL="0">
              <a:buNone/>
            </a:pPr>
            <a:r>
              <a:rPr lang="en-US" sz="1300" dirty="0">
                <a:solidFill>
                  <a:srgbClr val="6F675C"/>
                </a:solidFill>
                <a:latin typeface="Calibri" pitchFamily="34" charset="0"/>
                <a:ea typeface="Calibri" pitchFamily="34" charset="-122"/>
                <a:cs typeface="Calibri" pitchFamily="34" charset="-120"/>
              </a:rPr>
              <a:t>Beranda</a:t>
            </a:r>
            <a:endParaRPr lang="en-US" sz="1300" dirty="0"/>
          </a:p>
        </p:txBody>
      </p:sp>
      <p:sp>
        <p:nvSpPr>
          <p:cNvPr id="11" name="Text 7"/>
          <p:cNvSpPr/>
          <p:nvPr/>
        </p:nvSpPr>
        <p:spPr>
          <a:xfrm>
            <a:off x="6301588" y="5852160"/>
            <a:ext cx="2176034" cy="274320"/>
          </a:xfrm>
          <a:prstGeom prst="rect">
            <a:avLst/>
          </a:prstGeom>
          <a:noFill/>
          <a:ln/>
        </p:spPr>
        <p:txBody>
          <a:bodyPr wrap="square" lIns="0" tIns="0" rIns="0" bIns="0" rtlCol="0" anchor="ctr"/>
          <a:lstStyle/>
          <a:p>
            <a:pPr algn="ctr" indent="0" marL="0">
              <a:buNone/>
            </a:pPr>
            <a:r>
              <a:rPr lang="en-US" sz="1300" dirty="0">
                <a:solidFill>
                  <a:srgbClr val="6F675C"/>
                </a:solidFill>
                <a:latin typeface="Calibri" pitchFamily="34" charset="0"/>
                <a:ea typeface="Calibri" pitchFamily="34" charset="-122"/>
                <a:cs typeface="Calibri" pitchFamily="34" charset="-120"/>
              </a:rPr>
              <a:t>Detail kontrakan</a:t>
            </a:r>
            <a:endParaRPr lang="en-US" sz="1300" dirty="0"/>
          </a:p>
        </p:txBody>
      </p:sp>
      <p:sp>
        <p:nvSpPr>
          <p:cNvPr id="12" name="Shape 8"/>
          <p:cNvSpPr/>
          <p:nvPr/>
        </p:nvSpPr>
        <p:spPr>
          <a:xfrm>
            <a:off x="384048" y="6199632"/>
            <a:ext cx="11430000" cy="292608"/>
          </a:xfrm>
          <a:prstGeom prst="rect">
            <a:avLst/>
          </a:prstGeom>
          <a:solidFill>
            <a:srgbClr val="F4EFE6"/>
          </a:solidFill>
          <a:ln/>
        </p:spPr>
      </p:sp>
      <p:sp>
        <p:nvSpPr>
          <p:cNvPr id="13" name="Text 9"/>
          <p:cNvSpPr/>
          <p:nvPr/>
        </p:nvSpPr>
        <p:spPr>
          <a:xfrm>
            <a:off x="384048" y="6172200"/>
            <a:ext cx="11430000" cy="292608"/>
          </a:xfrm>
          <a:prstGeom prst="rect">
            <a:avLst/>
          </a:prstGeom>
          <a:noFill/>
          <a:ln/>
        </p:spPr>
        <p:txBody>
          <a:bodyPr wrap="square" lIns="0" tIns="0" rIns="0" bIns="0" rtlCol="0" anchor="ctr"/>
          <a:lstStyle/>
          <a:p>
            <a:pPr indent="0" marL="0">
              <a:buNone/>
            </a:pPr>
            <a:r>
              <a:rPr lang="en-US" sz="1300" dirty="0">
                <a:solidFill>
                  <a:srgbClr val="6F675C"/>
                </a:solidFill>
                <a:latin typeface="Calibri" pitchFamily="34" charset="0"/>
                <a:ea typeface="Calibri" pitchFamily="34" charset="-122"/>
                <a:cs typeface="Calibri" pitchFamily="34" charset="-120"/>
              </a:rPr>
              <a:t>Tombol dan bidang isian cukup besar untuk ibu jari. Tidak ada geser kiri-kanan.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10  /  26</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Proof of concept: yang sudah bisa diklik.</a:t>
            </a:r>
            <a:endParaRPr lang="en-US" sz="2800" dirty="0"/>
          </a:p>
        </p:txBody>
      </p:sp>
      <p:sp>
        <p:nvSpPr>
          <p:cNvPr id="8" name="Text 6"/>
          <p:cNvSpPr/>
          <p:nvPr/>
        </p:nvSpPr>
        <p:spPr>
          <a:xfrm>
            <a:off x="384048" y="804672"/>
            <a:ext cx="10972800" cy="292608"/>
          </a:xfrm>
          <a:prstGeom prst="rect">
            <a:avLst/>
          </a:prstGeom>
          <a:noFill/>
          <a:ln/>
        </p:spPr>
        <p:txBody>
          <a:bodyPr wrap="square" lIns="0" tIns="0" rIns="0" bIns="0" rtlCol="0" anchor="ctr"/>
          <a:lstStyle/>
          <a:p>
            <a:pPr indent="0" marL="0">
              <a:buNone/>
            </a:pPr>
            <a:r>
              <a:rPr lang="en-US" sz="1500" dirty="0">
                <a:solidFill>
                  <a:srgbClr val="6F675C"/>
                </a:solidFill>
                <a:latin typeface="Calibri" pitchFamily="34" charset="0"/>
                <a:ea typeface="Calibri" pitchFamily="34" charset="-122"/>
                <a:cs typeface="Calibri" pitchFamily="34" charset="-120"/>
              </a:rPr>
              <a:t>Ini bukti arah produk, bukan sistem produksi. Data contoh, tanpa akun.</a:t>
            </a:r>
            <a:endParaRPr lang="en-US" sz="1500" dirty="0"/>
          </a:p>
        </p:txBody>
      </p:sp>
      <p:sp>
        <p:nvSpPr>
          <p:cNvPr id="9" name="Shape 7"/>
          <p:cNvSpPr/>
          <p:nvPr/>
        </p:nvSpPr>
        <p:spPr>
          <a:xfrm>
            <a:off x="384048" y="1280160"/>
            <a:ext cx="5623560" cy="5029200"/>
          </a:xfrm>
          <a:prstGeom prst="roundRect">
            <a:avLst>
              <a:gd name="adj" fmla="val 1455"/>
            </a:avLst>
          </a:prstGeom>
          <a:solidFill>
            <a:srgbClr val="2F5D50"/>
          </a:solidFill>
          <a:ln w="12700">
            <a:solidFill>
              <a:srgbClr val="2F5D50"/>
            </a:solidFill>
            <a:prstDash val="solid"/>
          </a:ln>
        </p:spPr>
      </p:sp>
      <p:sp>
        <p:nvSpPr>
          <p:cNvPr id="10" name="Shape 8"/>
          <p:cNvSpPr/>
          <p:nvPr/>
        </p:nvSpPr>
        <p:spPr>
          <a:xfrm>
            <a:off x="6190488" y="1280160"/>
            <a:ext cx="5623560" cy="5029200"/>
          </a:xfrm>
          <a:prstGeom prst="roundRect">
            <a:avLst>
              <a:gd name="adj" fmla="val 1455"/>
            </a:avLst>
          </a:prstGeom>
          <a:solidFill>
            <a:srgbClr val="FBF8F3"/>
          </a:solidFill>
          <a:ln w="12700">
            <a:solidFill>
              <a:srgbClr val="D9CFBF"/>
            </a:solidFill>
            <a:prstDash val="solid"/>
          </a:ln>
        </p:spPr>
      </p:sp>
      <p:sp>
        <p:nvSpPr>
          <p:cNvPr id="11" name="Text 9"/>
          <p:cNvSpPr/>
          <p:nvPr/>
        </p:nvSpPr>
        <p:spPr>
          <a:xfrm>
            <a:off x="640080" y="1481328"/>
            <a:ext cx="5120640" cy="365760"/>
          </a:xfrm>
          <a:prstGeom prst="rect">
            <a:avLst/>
          </a:prstGeom>
          <a:noFill/>
          <a:ln/>
        </p:spPr>
        <p:txBody>
          <a:bodyPr wrap="square" lIns="0" tIns="0" rIns="0" bIns="0" rtlCol="0" anchor="ctr"/>
          <a:lstStyle/>
          <a:p>
            <a:pPr indent="0" marL="0">
              <a:buNone/>
            </a:pPr>
            <a:r>
              <a:rPr lang="en-US" sz="2200" dirty="0">
                <a:solidFill>
                  <a:srgbClr val="F4EFE6"/>
                </a:solidFill>
                <a:latin typeface="Georgia" pitchFamily="34" charset="0"/>
                <a:ea typeface="Georgia" pitchFamily="34" charset="-122"/>
                <a:cs typeface="Georgia" pitchFamily="34" charset="-120"/>
              </a:rPr>
              <a:t>Sudah jalan</a:t>
            </a:r>
            <a:endParaRPr lang="en-US" sz="2200" dirty="0"/>
          </a:p>
        </p:txBody>
      </p:sp>
      <p:sp>
        <p:nvSpPr>
          <p:cNvPr id="12" name="Text 10"/>
          <p:cNvSpPr/>
          <p:nvPr/>
        </p:nvSpPr>
        <p:spPr>
          <a:xfrm>
            <a:off x="640080" y="1965960"/>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Enam unit contoh: kos dan kontrakan</a:t>
            </a:r>
            <a:endParaRPr lang="en-US" sz="1400" dirty="0"/>
          </a:p>
        </p:txBody>
      </p:sp>
      <p:sp>
        <p:nvSpPr>
          <p:cNvPr id="13" name="Text 11"/>
          <p:cNvSpPr/>
          <p:nvPr/>
        </p:nvSpPr>
        <p:spPr>
          <a:xfrm>
            <a:off x="640080" y="2404872"/>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Filter kota, jenis, harga, dan kata</a:t>
            </a:r>
            <a:endParaRPr lang="en-US" sz="1400" dirty="0"/>
          </a:p>
        </p:txBody>
      </p:sp>
      <p:sp>
        <p:nvSpPr>
          <p:cNvPr id="14" name="Text 12"/>
          <p:cNvSpPr/>
          <p:nvPr/>
        </p:nvSpPr>
        <p:spPr>
          <a:xfrm>
            <a:off x="640080" y="2843784"/>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Galeri, fasilitas, aturan, kawasan sekitar</a:t>
            </a:r>
            <a:endParaRPr lang="en-US" sz="1400" dirty="0"/>
          </a:p>
        </p:txBody>
      </p:sp>
      <p:sp>
        <p:nvSpPr>
          <p:cNvPr id="15" name="Text 13"/>
          <p:cNvSpPr/>
          <p:nvPr/>
        </p:nvSpPr>
        <p:spPr>
          <a:xfrm>
            <a:off x="640080" y="3282696"/>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Simpan unit di peramban</a:t>
            </a:r>
            <a:endParaRPr lang="en-US" sz="1400" dirty="0"/>
          </a:p>
        </p:txBody>
      </p:sp>
      <p:sp>
        <p:nvSpPr>
          <p:cNvPr id="16" name="Text 14"/>
          <p:cNvSpPr/>
          <p:nvPr/>
        </p:nvSpPr>
        <p:spPr>
          <a:xfrm>
            <a:off x="640080" y="3721608"/>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Form sewa dengan validasi nomor</a:t>
            </a:r>
            <a:endParaRPr lang="en-US" sz="1400" dirty="0"/>
          </a:p>
        </p:txBody>
      </p:sp>
      <p:sp>
        <p:nvSpPr>
          <p:cNvPr id="17" name="Text 15"/>
          <p:cNvSpPr/>
          <p:nvPr/>
        </p:nvSpPr>
        <p:spPr>
          <a:xfrm>
            <a:off x="640080" y="4160520"/>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Papan 12 kamar bisa diubah statusnya</a:t>
            </a:r>
            <a:endParaRPr lang="en-US" sz="1400" dirty="0"/>
          </a:p>
        </p:txBody>
      </p:sp>
      <p:sp>
        <p:nvSpPr>
          <p:cNvPr id="18" name="Text 16"/>
          <p:cNvSpPr/>
          <p:nvPr/>
        </p:nvSpPr>
        <p:spPr>
          <a:xfrm>
            <a:off x="640080" y="4599432"/>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Pengajuan form muncul di papan</a:t>
            </a:r>
            <a:endParaRPr lang="en-US" sz="1400" dirty="0"/>
          </a:p>
        </p:txBody>
      </p:sp>
      <p:sp>
        <p:nvSpPr>
          <p:cNvPr id="19" name="Text 17"/>
          <p:cNvSpPr/>
          <p:nvPr/>
        </p:nvSpPr>
        <p:spPr>
          <a:xfrm>
            <a:off x="640080" y="5038344"/>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Grafik hunian contoh</a:t>
            </a:r>
            <a:endParaRPr lang="en-US" sz="1400" dirty="0"/>
          </a:p>
        </p:txBody>
      </p:sp>
      <p:sp>
        <p:nvSpPr>
          <p:cNvPr id="20" name="Text 18"/>
          <p:cNvSpPr/>
          <p:nvPr/>
        </p:nvSpPr>
        <p:spPr>
          <a:xfrm>
            <a:off x="640080" y="5477256"/>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Halaman model kerja sama yang sama dengan deck ini</a:t>
            </a:r>
            <a:endParaRPr lang="en-US" sz="1400" dirty="0"/>
          </a:p>
        </p:txBody>
      </p:sp>
      <p:sp>
        <p:nvSpPr>
          <p:cNvPr id="21" name="Text 19"/>
          <p:cNvSpPr/>
          <p:nvPr/>
        </p:nvSpPr>
        <p:spPr>
          <a:xfrm>
            <a:off x="6446520" y="1481328"/>
            <a:ext cx="5120640" cy="365760"/>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Menyusul di produksi</a:t>
            </a:r>
            <a:endParaRPr lang="en-US" sz="2200" dirty="0"/>
          </a:p>
        </p:txBody>
      </p:sp>
      <p:sp>
        <p:nvSpPr>
          <p:cNvPr id="22" name="Text 20"/>
          <p:cNvSpPr/>
          <p:nvPr/>
        </p:nvSpPr>
        <p:spPr>
          <a:xfrm>
            <a:off x="6446520" y="201168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Data di server pemilik, bukan di HP pengunjung</a:t>
            </a:r>
            <a:endParaRPr lang="en-US" sz="1500" dirty="0"/>
          </a:p>
        </p:txBody>
      </p:sp>
      <p:sp>
        <p:nvSpPr>
          <p:cNvPr id="23" name="Text 21"/>
          <p:cNvSpPr/>
          <p:nvPr/>
        </p:nvSpPr>
        <p:spPr>
          <a:xfrm>
            <a:off x="6446520" y="251460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Akun pemilik dan pengelola</a:t>
            </a:r>
            <a:endParaRPr lang="en-US" sz="1500" dirty="0"/>
          </a:p>
        </p:txBody>
      </p:sp>
      <p:sp>
        <p:nvSpPr>
          <p:cNvPr id="24" name="Text 22"/>
          <p:cNvSpPr/>
          <p:nvPr/>
        </p:nvSpPr>
        <p:spPr>
          <a:xfrm>
            <a:off x="6446520" y="301752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WhatsApp atau email sungguhan saat ada pengajuan</a:t>
            </a:r>
            <a:endParaRPr lang="en-US" sz="1500" dirty="0"/>
          </a:p>
        </p:txBody>
      </p:sp>
      <p:sp>
        <p:nvSpPr>
          <p:cNvPr id="25" name="Text 23"/>
          <p:cNvSpPr/>
          <p:nvPr/>
        </p:nvSpPr>
        <p:spPr>
          <a:xfrm>
            <a:off x="6446520" y="352044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Pembayaran DP dan invoice (tahap lanjut)</a:t>
            </a:r>
            <a:endParaRPr lang="en-US" sz="1500" dirty="0"/>
          </a:p>
        </p:txBody>
      </p:sp>
      <p:sp>
        <p:nvSpPr>
          <p:cNvPr id="26" name="Text 24"/>
          <p:cNvSpPr/>
          <p:nvPr/>
        </p:nvSpPr>
        <p:spPr>
          <a:xfrm>
            <a:off x="6446520" y="402336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Kontrak yang bisa diunduh</a:t>
            </a:r>
            <a:endParaRPr lang="en-US" sz="1500" dirty="0"/>
          </a:p>
        </p:txBody>
      </p:sp>
      <p:sp>
        <p:nvSpPr>
          <p:cNvPr id="27" name="Text 25"/>
          <p:cNvSpPr/>
          <p:nvPr/>
        </p:nvSpPr>
        <p:spPr>
          <a:xfrm>
            <a:off x="6446520" y="452628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Foto dan harga dari properti klien</a:t>
            </a:r>
            <a:endParaRPr lang="en-US" sz="1500" dirty="0"/>
          </a:p>
        </p:txBody>
      </p:sp>
      <p:sp>
        <p:nvSpPr>
          <p:cNvPr id="28" name="Text 26"/>
          <p:cNvSpPr/>
          <p:nvPr/>
        </p:nvSpPr>
        <p:spPr>
          <a:xfrm>
            <a:off x="6446520" y="502920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Domain atas nama klien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11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Model kerja sama: bagi hasil, bukan paket harga</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Tidak ada pilihan paket. Pengelola dibayar dari persentase omzet.</a:t>
            </a:r>
            <a:endParaRPr lang="en-US" sz="1560" dirty="0"/>
          </a:p>
        </p:txBody>
      </p:sp>
      <p:sp>
        <p:nvSpPr>
          <p:cNvPr id="9" name="Shape 7"/>
          <p:cNvSpPr/>
          <p:nvPr/>
        </p:nvSpPr>
        <p:spPr>
          <a:xfrm>
            <a:off x="426709" y="1828754"/>
            <a:ext cx="3657509" cy="3901342"/>
          </a:xfrm>
          <a:prstGeom prst="roundRect">
            <a:avLst>
              <a:gd name="adj" fmla="val 2000"/>
            </a:avLst>
          </a:prstGeom>
          <a:solidFill>
            <a:srgbClr val="FBF8F3"/>
          </a:solidFill>
          <a:ln w="9525">
            <a:solidFill>
              <a:srgbClr val="D9CFBF"/>
            </a:solidFill>
            <a:prstDash val="solid"/>
          </a:ln>
        </p:spPr>
      </p:sp>
      <p:sp>
        <p:nvSpPr>
          <p:cNvPr id="10" name="Text 8"/>
          <p:cNvSpPr/>
          <p:nvPr/>
        </p:nvSpPr>
        <p:spPr>
          <a:xfrm>
            <a:off x="609585" y="1950671"/>
            <a:ext cx="3291758"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Kos &amp; kontrakan</a:t>
            </a:r>
            <a:endParaRPr lang="en-US" sz="1680" dirty="0"/>
          </a:p>
        </p:txBody>
      </p:sp>
      <p:sp>
        <p:nvSpPr>
          <p:cNvPr id="11" name="Text 9"/>
          <p:cNvSpPr/>
          <p:nvPr/>
        </p:nvSpPr>
        <p:spPr>
          <a:xfrm>
            <a:off x="609585" y="2438339"/>
            <a:ext cx="3291758" cy="316984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30% dari pendapatan sewa</a:t>
            </a:r>
            <a:endParaRPr lang="en-US" sz="1380" dirty="0"/>
          </a:p>
          <a:p>
            <a:pPr marL="342900" indent="-342900">
              <a:spcAft>
                <a:spcPts val="400"/>
              </a:spcAft>
              <a:buSzPct val="100000"/>
              <a:buChar char="•"/>
            </a:pPr>
            <a:r>
              <a:rPr lang="en-US" sz="1380" dirty="0">
                <a:solidFill>
                  <a:srgbClr val="3F382F"/>
                </a:solidFill>
              </a:rPr>
              <a:t>15% System &amp; Marketing</a:t>
            </a:r>
            <a:endParaRPr lang="en-US" sz="1380" dirty="0"/>
          </a:p>
          <a:p>
            <a:pPr marL="342900" indent="-342900">
              <a:spcAft>
                <a:spcPts val="400"/>
              </a:spcAft>
              <a:buSzPct val="100000"/>
              <a:buChar char="•"/>
            </a:pPr>
            <a:r>
              <a:rPr lang="en-US" sz="1380" dirty="0">
                <a:solidFill>
                  <a:srgbClr val="3F382F"/>
                </a:solidFill>
              </a:rPr>
              <a:t>15% Perawatan &amp; operasional</a:t>
            </a:r>
            <a:endParaRPr lang="en-US" sz="1380" dirty="0"/>
          </a:p>
          <a:p>
            <a:pPr marL="342900" indent="-342900">
              <a:spcAft>
                <a:spcPts val="400"/>
              </a:spcAft>
              <a:buSzPct val="100000"/>
              <a:buChar char="•"/>
            </a:pPr>
            <a:r>
              <a:rPr lang="en-US" sz="1380" dirty="0">
                <a:solidFill>
                  <a:srgbClr val="3F382F"/>
                </a:solidFill>
              </a:rPr>
              <a:t>Build web diambil dari pos 15% System</a:t>
            </a:r>
            <a:endParaRPr lang="en-US" sz="1380" dirty="0"/>
          </a:p>
        </p:txBody>
      </p:sp>
      <p:sp>
        <p:nvSpPr>
          <p:cNvPr id="12" name="Shape 10"/>
          <p:cNvSpPr/>
          <p:nvPr/>
        </p:nvSpPr>
        <p:spPr>
          <a:xfrm>
            <a:off x="4267093" y="1828754"/>
            <a:ext cx="3657509" cy="3901342"/>
          </a:xfrm>
          <a:prstGeom prst="roundRect">
            <a:avLst>
              <a:gd name="adj" fmla="val 2000"/>
            </a:avLst>
          </a:prstGeom>
          <a:solidFill>
            <a:srgbClr val="2F5D50"/>
          </a:solidFill>
          <a:ln w="9525">
            <a:solidFill>
              <a:srgbClr val="D9CFBF"/>
            </a:solidFill>
            <a:prstDash val="solid"/>
          </a:ln>
        </p:spPr>
      </p:sp>
      <p:sp>
        <p:nvSpPr>
          <p:cNvPr id="13" name="Text 11"/>
          <p:cNvSpPr/>
          <p:nvPr/>
        </p:nvSpPr>
        <p:spPr>
          <a:xfrm>
            <a:off x="4449969" y="1950671"/>
            <a:ext cx="3291758"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Lapangan futsal</a:t>
            </a:r>
            <a:endParaRPr lang="en-US" sz="1680" dirty="0"/>
          </a:p>
        </p:txBody>
      </p:sp>
      <p:sp>
        <p:nvSpPr>
          <p:cNvPr id="14" name="Text 12"/>
          <p:cNvSpPr/>
          <p:nvPr/>
        </p:nvSpPr>
        <p:spPr>
          <a:xfrm>
            <a:off x="4449969" y="2438339"/>
            <a:ext cx="3291758" cy="316984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30% dari total revenue</a:t>
            </a:r>
            <a:endParaRPr lang="en-US" sz="1380" dirty="0"/>
          </a:p>
          <a:p>
            <a:pPr marL="342900" indent="-342900">
              <a:spcAft>
                <a:spcPts val="400"/>
              </a:spcAft>
              <a:buSzPct val="100000"/>
              <a:buChar char="•"/>
            </a:pPr>
            <a:r>
              <a:rPr lang="en-US" sz="1380" dirty="0">
                <a:solidFill>
                  <a:srgbClr val="E7DCC8"/>
                </a:solidFill>
              </a:rPr>
              <a:t>Maintenance 10%, event 8%</a:t>
            </a:r>
            <a:endParaRPr lang="en-US" sz="1380" dirty="0"/>
          </a:p>
          <a:p>
            <a:pPr marL="342900" indent="-342900">
              <a:spcAft>
                <a:spcPts val="400"/>
              </a:spcAft>
              <a:buSzPct val="100000"/>
              <a:buChar char="•"/>
            </a:pPr>
            <a:r>
              <a:rPr lang="en-US" sz="1380" dirty="0">
                <a:solidFill>
                  <a:srgbClr val="E7DCC8"/>
                </a:solidFill>
              </a:rPr>
              <a:t>Marketing 7%, fee pengelola 5%</a:t>
            </a:r>
            <a:endParaRPr lang="en-US" sz="1380" dirty="0"/>
          </a:p>
          <a:p>
            <a:pPr marL="342900" indent="-342900">
              <a:spcAft>
                <a:spcPts val="400"/>
              </a:spcAft>
              <a:buSzPct val="100000"/>
              <a:buChar char="•"/>
            </a:pPr>
            <a:r>
              <a:rPr lang="en-US" sz="1380" dirty="0">
                <a:solidFill>
                  <a:srgbClr val="E7DCC8"/>
                </a:solidFill>
              </a:rPr>
              <a:t>Booking lewat web HUNI</a:t>
            </a:r>
            <a:endParaRPr lang="en-US" sz="1380" dirty="0"/>
          </a:p>
        </p:txBody>
      </p:sp>
      <p:sp>
        <p:nvSpPr>
          <p:cNvPr id="15" name="Shape 13"/>
          <p:cNvSpPr/>
          <p:nvPr/>
        </p:nvSpPr>
        <p:spPr>
          <a:xfrm>
            <a:off x="8107477" y="1828754"/>
            <a:ext cx="3657509" cy="3901342"/>
          </a:xfrm>
          <a:prstGeom prst="roundRect">
            <a:avLst>
              <a:gd name="adj" fmla="val 2000"/>
            </a:avLst>
          </a:prstGeom>
          <a:solidFill>
            <a:srgbClr val="9A4518"/>
          </a:solidFill>
          <a:ln w="9525">
            <a:solidFill>
              <a:srgbClr val="D9CFBF"/>
            </a:solidFill>
            <a:prstDash val="solid"/>
          </a:ln>
        </p:spPr>
      </p:sp>
      <p:sp>
        <p:nvSpPr>
          <p:cNvPr id="16" name="Text 14"/>
          <p:cNvSpPr/>
          <p:nvPr/>
        </p:nvSpPr>
        <p:spPr>
          <a:xfrm>
            <a:off x="8290353" y="1950671"/>
            <a:ext cx="3291758"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Cafe</a:t>
            </a:r>
            <a:endParaRPr lang="en-US" sz="1680" dirty="0"/>
          </a:p>
        </p:txBody>
      </p:sp>
      <p:sp>
        <p:nvSpPr>
          <p:cNvPr id="17" name="Text 15"/>
          <p:cNvSpPr/>
          <p:nvPr/>
        </p:nvSpPr>
        <p:spPr>
          <a:xfrm>
            <a:off x="8290353" y="2438339"/>
            <a:ext cx="3291758" cy="316984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50% dari omzet</a:t>
            </a:r>
            <a:endParaRPr lang="en-US" sz="1380" dirty="0"/>
          </a:p>
          <a:p>
            <a:pPr marL="342900" indent="-342900">
              <a:spcAft>
                <a:spcPts val="400"/>
              </a:spcAft>
              <a:buSzPct val="100000"/>
              <a:buChar char="•"/>
            </a:pPr>
            <a:r>
              <a:rPr lang="en-US" sz="1380" dirty="0">
                <a:solidFill>
                  <a:srgbClr val="E7DCC8"/>
                </a:solidFill>
              </a:rPr>
              <a:t>Gaji 3 karyawan, marketing, event, maintenance</a:t>
            </a:r>
            <a:endParaRPr lang="en-US" sz="1380" dirty="0"/>
          </a:p>
          <a:p>
            <a:pPr marL="342900" indent="-342900">
              <a:spcAft>
                <a:spcPts val="400"/>
              </a:spcAft>
              <a:buSzPct val="100000"/>
              <a:buChar char="•"/>
            </a:pPr>
            <a:r>
              <a:rPr lang="en-US" sz="1380" dirty="0">
                <a:solidFill>
                  <a:srgbClr val="E7DCC8"/>
                </a:solidFill>
              </a:rPr>
              <a:t>Sisa 50% untuk pemilik: bahan baku, listrik, dll</a:t>
            </a:r>
            <a:endParaRPr lang="en-US" sz="1380" dirty="0"/>
          </a:p>
          <a:p>
            <a:pPr marL="342900" indent="-342900">
              <a:spcAft>
                <a:spcPts val="400"/>
              </a:spcAft>
              <a:buSzPct val="100000"/>
              <a:buChar char="•"/>
            </a:pPr>
            <a:r>
              <a:rPr lang="en-US" sz="1380" dirty="0">
                <a:solidFill>
                  <a:srgbClr val="E7DCC8"/>
                </a:solidFill>
              </a:rPr>
              <a:t>Fee pengelola = sisa dari 50%</a:t>
            </a:r>
            <a:endParaRPr lang="en-US" sz="1380" dirty="0"/>
          </a:p>
        </p:txBody>
      </p:sp>
      <p:sp>
        <p:nvSpPr>
          <p:cNvPr id="18" name="Text 16"/>
          <p:cNvSpPr/>
          <p:nvPr/>
        </p:nvSpPr>
        <p:spPr>
          <a:xfrm>
            <a:off x="426709" y="5912972"/>
            <a:ext cx="11338277" cy="426709"/>
          </a:xfrm>
          <a:prstGeom prst="rect">
            <a:avLst/>
          </a:prstGeom>
          <a:noFill/>
          <a:ln/>
        </p:spPr>
        <p:txBody>
          <a:bodyPr wrap="square" lIns="0" tIns="0" rIns="0" bIns="0" rtlCol="0" anchor="ctr"/>
          <a:lstStyle/>
          <a:p>
            <a:pPr indent="0" marL="0">
              <a:buNone/>
            </a:pPr>
            <a:r>
              <a:rPr lang="en-US" sz="1440" dirty="0">
                <a:solidFill>
                  <a:srgbClr val="6F675C"/>
                </a:solidFill>
                <a:latin typeface="Calibri" pitchFamily="34" charset="0"/>
                <a:ea typeface="Calibri" pitchFamily="34" charset="-122"/>
                <a:cs typeface="Calibri" pitchFamily="34" charset="-120"/>
              </a:rPr>
              <a:t>Angka dasar: file Cafe_Futsall_Kosan.xlsx. Hunian kos 80%, futsal Rp120 rb x 112 jam.</a:t>
            </a:r>
            <a:endParaRPr lang="en-US" sz="14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12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Kos: potensi pendapatan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20 unit contoh, hunian target 80%.</a:t>
            </a:r>
            <a:endParaRPr lang="en-US" sz="156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4023259"/>
                <a:gridCol w="1828754"/>
                <a:gridCol w="2804090"/>
                <a:gridCol w="2682173"/>
              </a:tblGrid>
              <a:tr h="548626">
                <a:tc>
                  <a:txBody>
                    <a:bodyPr/>
                    <a:lstStyle/>
                    <a:p>
                      <a:pPr algn="l" indent="0" marL="0">
                        <a:buNone/>
                      </a:pPr>
                      <a:r>
                        <a:rPr lang="en-US" sz="1320" b="1" dirty="0">
                          <a:solidFill>
                            <a:srgbClr val="F4EFE6"/>
                          </a:solidFill>
                        </a:rPr>
                        <a:t>Kelompok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Jumlah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Sewa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Subtotal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Unit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Unit 2–13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Rp2.300.000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Rp27.600.000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Unit 14–20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Rp14.000.000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jika penuh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Rp44.400.000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algn="l" indent="0" marL="0">
                        <a:buNone/>
                      </a:pPr>
                      <a:r>
                        <a:rPr lang="en-US" sz="1320" b="1" dirty="0">
                          <a:solidFill>
                            <a:srgbClr val="1A1814"/>
                          </a:solidFill>
                        </a:rPr>
                        <a:t>Target income (80%)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13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Kos: biaya dan sisa pemilik per bulan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30% dari target income menjadi bagian pengelola.</a:t>
            </a:r>
            <a:endParaRPr lang="en-US" sz="156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6461598"/>
                <a:gridCol w="1828754"/>
                <a:gridCol w="3047924"/>
              </a:tblGrid>
              <a:tr h="548626">
                <a:tc>
                  <a:txBody>
                    <a:bodyPr/>
                    <a:lstStyle/>
                    <a:p>
                      <a:pPr algn="l" indent="0" marL="0">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Target income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System &amp; Marketing (termasuk build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Perawatan &amp;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biaya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Rp10.656.000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algn="l" indent="0" marL="0">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Rp24.864.000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608180"/>
            <a:ext cx="11338277" cy="487668"/>
          </a:xfrm>
          <a:prstGeom prst="rect">
            <a:avLst/>
          </a:prstGeom>
          <a:noFill/>
          <a:ln/>
        </p:spPr>
        <p:txBody>
          <a:bodyPr wrap="square" lIns="0" tIns="0" rIns="0" bIns="0" rtlCol="0" anchor="ctr"/>
          <a:lstStyle/>
          <a:p>
            <a:pPr indent="0" marL="0">
              <a:buNone/>
            </a:pPr>
            <a:r>
              <a:rPr lang="en-US" sz="1680" b="1" dirty="0">
                <a:solidFill>
                  <a:srgbClr val="2F5D50"/>
                </a:solidFill>
                <a:latin typeface="Calibri" pitchFamily="34" charset="0"/>
                <a:ea typeface="Calibri" pitchFamily="34" charset="-122"/>
                <a:cs typeface="Calibri" pitchFamily="34" charset="-120"/>
              </a:rPr>
              <a:t>Setahun: net owner 298,37 jt pada hunian 80%.</a:t>
            </a:r>
            <a:endParaRPr lang="en-US" sz="1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14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Biaya bangun web diambil dari pos maintenance</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Tidak ditagih terpisah di depan. Dicicil dari 15% System &amp; Marketing.</a:t>
            </a:r>
            <a:endParaRPr lang="en-US" sz="156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6461598"/>
                <a:gridCol w="1828754"/>
                <a:gridCol w="3047924"/>
              </a:tblGrid>
              <a:tr h="548626">
                <a:tc>
                  <a:txBody>
                    <a:bodyPr/>
                    <a:lstStyle/>
                    <a:p>
                      <a:pPr algn="l" indent="0" marL="0">
                        <a:buNone/>
                      </a:pPr>
                      <a:r>
                        <a:rPr lang="en-US" sz="1320" b="1" dirty="0">
                          <a:solidFill>
                            <a:srgbClr val="F4EFE6"/>
                          </a:solidFill>
                        </a:rPr>
                        <a:t>Pembagian 15% System &amp; Marketing (usulan)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Bangun web (dicicil)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Hosting, domain, maintenance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Rp1.065.600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Marketing &amp; iklan unit kosong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pos System &amp;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
        <p:nvSpPr>
          <p:cNvPr id="10" name="Shape 7"/>
          <p:cNvSpPr/>
          <p:nvPr/>
        </p:nvSpPr>
        <p:spPr>
          <a:xfrm>
            <a:off x="426709" y="4754761"/>
            <a:ext cx="11338277" cy="1584920"/>
          </a:xfrm>
          <a:prstGeom prst="roundRect">
            <a:avLst>
              <a:gd name="adj" fmla="val 4616"/>
            </a:avLst>
          </a:prstGeom>
          <a:solidFill>
            <a:srgbClr val="FBF8F3"/>
          </a:solidFill>
          <a:ln w="9525">
            <a:solidFill>
              <a:srgbClr val="D9CFBF"/>
            </a:solidFill>
            <a:prstDash val="solid"/>
          </a:ln>
        </p:spPr>
      </p:sp>
      <p:sp>
        <p:nvSpPr>
          <p:cNvPr id="11" name="Text 8"/>
          <p:cNvSpPr/>
          <p:nvPr/>
        </p:nvSpPr>
        <p:spPr>
          <a:xfrm>
            <a:off x="609585" y="4876678"/>
            <a:ext cx="10972526"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Catatan</a:t>
            </a:r>
            <a:endParaRPr lang="en-US" sz="1680" dirty="0"/>
          </a:p>
        </p:txBody>
      </p:sp>
      <p:sp>
        <p:nvSpPr>
          <p:cNvPr id="12" name="Text 9"/>
          <p:cNvSpPr/>
          <p:nvPr/>
        </p:nvSpPr>
        <p:spPr>
          <a:xfrm>
            <a:off x="609585" y="5364346"/>
            <a:ext cx="10972526" cy="853419"/>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Total biaya bangun ditetapkan setelah ruang lingkup final, lalu dicicil dari pos ini</a:t>
            </a:r>
            <a:endParaRPr lang="en-US" sz="1380" dirty="0"/>
          </a:p>
          <a:p>
            <a:pPr marL="342900" indent="-342900">
              <a:spcAft>
                <a:spcPts val="400"/>
              </a:spcAft>
              <a:buSzPct val="100000"/>
              <a:buChar char="•"/>
            </a:pPr>
            <a:r>
              <a:rPr lang="en-US" sz="1380" dirty="0">
                <a:solidFill>
                  <a:srgbClr val="3F382F"/>
                </a:solidFill>
              </a:rPr>
              <a:t>Pembagian 40/20/40 adalah usulan, bisa diubah</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15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Enam minggu sampai tayang</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Tanpa pembayaran di muka; bangun web masuk ke pos System &amp; Marketing.</a:t>
            </a:r>
            <a:endParaRPr lang="en-US" sz="156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1828754"/>
                <a:gridCol w="9509522"/>
              </a:tblGrid>
              <a:tr h="609585">
                <a:tc>
                  <a:txBody>
                    <a:bodyPr/>
                    <a:lstStyle/>
                    <a:p>
                      <a:pPr algn="l" indent="0" marL="0">
                        <a:buNone/>
                      </a:pPr>
                      <a:r>
                        <a:rPr lang="en-US" sz="1320" b="1" dirty="0">
                          <a:solidFill>
                            <a:srgbClr val="F4EFE6"/>
                          </a:solidFill>
                        </a:rPr>
                        <a:t>Minggu</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Pekerjaan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algn="l" indent="0" marL="0">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Riset alur, peta halaman, kumpulkan foto dan data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algn="l" indent="0" marL="0">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r>
                        <a:rPr lang="en-US" sz="1320" dirty="0">
                          <a:solidFill>
                            <a:srgbClr val="1A1814"/>
                          </a:solidFill>
                        </a:rPr>
                        <a:t>Desain layar utama dan ponsel, revisi dua putaran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algn="l" indent="0" marL="0">
                        <a:buNone/>
                      </a:pPr>
                      <a:r>
                        <a:rPr lang="en-US" sz="1320" dirty="0">
                          <a:solidFill>
                            <a:srgbClr val="1A1814"/>
                          </a:solidFill>
                        </a:rPr>
                        <a:t>3–4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Katalog, pencarian, halaman unit, form sewa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algn="l" indent="0" marL="0">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r>
                        <a:rPr lang="en-US" sz="1320" dirty="0">
                          <a:solidFill>
                            <a:srgbClr val="1A1814"/>
                          </a:solidFill>
                        </a:rPr>
                        <a:t>Papan kamar, grafik hunian, modul booking futsal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algn="l" indent="0" marL="0">
                        <a:buNone/>
                      </a:pPr>
                      <a:r>
                        <a:rPr lang="en-US" sz="1320" b="1" dirty="0">
                          <a:solidFill>
                            <a:srgbClr val="1A1814"/>
                          </a:solidFill>
                        </a:rPr>
                        <a:t>6</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b="1" dirty="0">
                          <a:solidFill>
                            <a:srgbClr val="1A1814"/>
                          </a:solidFill>
                        </a:rPr>
                        <a:t>Isi data awal, training, domain &amp; hosting, tayang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a:ln/>
        </p:spPr>
      </p:sp>
      <p:sp>
        <p:nvSpPr>
          <p:cNvPr id="3" name="Text 1"/>
          <p:cNvSpPr/>
          <p:nvPr/>
        </p:nvSpPr>
        <p:spPr>
          <a:xfrm>
            <a:off x="640080" y="1737360"/>
            <a:ext cx="10972800" cy="914400"/>
          </a:xfrm>
          <a:prstGeom prst="rect">
            <a:avLst/>
          </a:prstGeom>
          <a:noFill/>
          <a:ln/>
        </p:spPr>
        <p:txBody>
          <a:bodyPr wrap="square" lIns="0" tIns="0" rIns="0" bIns="0" rtlCol="0" anchor="ctr"/>
          <a:lstStyle/>
          <a:p>
            <a:pPr indent="0" marL="0">
              <a:buNone/>
            </a:pPr>
            <a:r>
              <a:rPr lang="en-US" sz="4400" b="1" dirty="0">
                <a:solidFill>
                  <a:srgbClr val="F4EFE6"/>
                </a:solidFill>
                <a:latin typeface="Georgia" pitchFamily="34" charset="0"/>
                <a:ea typeface="Georgia" pitchFamily="34" charset="-122"/>
                <a:cs typeface="Georgia" pitchFamily="34" charset="-120"/>
              </a:rPr>
              <a:t>Futsal &amp; Cafe</a:t>
            </a:r>
            <a:endParaRPr lang="en-US" sz="4400" dirty="0"/>
          </a:p>
        </p:txBody>
      </p:sp>
      <p:sp>
        <p:nvSpPr>
          <p:cNvPr id="4" name="Text 2"/>
          <p:cNvSpPr/>
          <p:nvPr/>
        </p:nvSpPr>
        <p:spPr>
          <a:xfrm>
            <a:off x="640080" y="2834640"/>
            <a:ext cx="10972800" cy="914400"/>
          </a:xfrm>
          <a:prstGeom prst="rect">
            <a:avLst/>
          </a:prstGeom>
          <a:noFill/>
          <a:ln/>
        </p:spPr>
        <p:txBody>
          <a:bodyPr wrap="square" lIns="0" tIns="0" rIns="0" bIns="0" rtlCol="0" anchor="ctr"/>
          <a:lstStyle/>
          <a:p>
            <a:pPr indent="0" marL="0">
              <a:buNone/>
            </a:pPr>
            <a:r>
              <a:rPr lang="en-US" sz="2000" dirty="0">
                <a:solidFill>
                  <a:srgbClr val="E7DCC8"/>
                </a:solidFill>
                <a:latin typeface="Calibri" pitchFamily="34" charset="0"/>
                <a:ea typeface="Calibri" pitchFamily="34" charset="-122"/>
                <a:cs typeface="Calibri" pitchFamily="34" charset="-120"/>
              </a:rPr>
              <a:t>Estimasi pendapatan dan bagi hasil. Pengelola memegang manajemen penuh:</a:t>
            </a:r>
            <a:endParaRPr lang="en-US" sz="2000" dirty="0"/>
          </a:p>
          <a:p>
            <a:pPr indent="0" marL="0">
              <a:buNone/>
            </a:pPr>
            <a:r>
              <a:rPr lang="en-US" sz="2000" dirty="0">
                <a:solidFill>
                  <a:srgbClr val="E7DCC8"/>
                </a:solidFill>
                <a:latin typeface="Calibri" pitchFamily="34" charset="0"/>
                <a:ea typeface="Calibri" pitchFamily="34" charset="-122"/>
                <a:cs typeface="Calibri" pitchFamily="34" charset="-120"/>
              </a:rPr>
              <a:t>maintenance, event, marketing, karyawan, dan penggajian.</a:t>
            </a:r>
            <a:endParaRPr lang="en-US" sz="2000" dirty="0"/>
          </a:p>
        </p:txBody>
      </p:sp>
      <p:sp>
        <p:nvSpPr>
          <p:cNvPr id="5" name="Shape 3"/>
          <p:cNvSpPr/>
          <p:nvPr/>
        </p:nvSpPr>
        <p:spPr>
          <a:xfrm>
            <a:off x="640080" y="4023360"/>
            <a:ext cx="1463040" cy="73152"/>
          </a:xfrm>
          <a:prstGeom prst="rect">
            <a:avLst/>
          </a:prstGeom>
          <a:solidFill>
            <a:srgbClr val="C4622D"/>
          </a:solidFill>
          <a:ln/>
        </p:spPr>
      </p:sp>
      <p:sp>
        <p:nvSpPr>
          <p:cNvPr id="6" name="Text 4"/>
          <p:cNvSpPr/>
          <p:nvPr/>
        </p:nvSpPr>
        <p:spPr>
          <a:xfrm>
            <a:off x="640080" y="4297680"/>
            <a:ext cx="10972800" cy="457200"/>
          </a:xfrm>
          <a:prstGeom prst="rect">
            <a:avLst/>
          </a:prstGeom>
          <a:noFill/>
          <a:ln/>
        </p:spPr>
        <p:txBody>
          <a:bodyPr wrap="square" lIns="0" tIns="0" rIns="0" bIns="0" rtlCol="0" anchor="ctr"/>
          <a:lstStyle/>
          <a:p>
            <a:pPr indent="0" marL="0">
              <a:buNone/>
            </a:pPr>
            <a:r>
              <a:rPr lang="en-US" sz="1400" dirty="0">
                <a:solidFill>
                  <a:srgbClr val="D9CFBF"/>
                </a:solidFill>
                <a:latin typeface="Calibri" pitchFamily="34" charset="0"/>
                <a:ea typeface="Calibri" pitchFamily="34" charset="-122"/>
                <a:cs typeface="Calibri" pitchFamily="34" charset="-120"/>
              </a:rPr>
              <a:t>Futsal: 30% dari revenue   ·   Cafe: 50% dari omzet   ·   Angka asumsi, wajib divalidasi dengan data lokasi</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17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Futsal: pendapatan per bulan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Rate Rp120 rb per jam. Skenario realistis = 4 jam x 28 hari (sama dengan Excel).</a:t>
            </a:r>
            <a:endParaRPr lang="en-US" sz="156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4389010"/>
                <a:gridCol w="2316422"/>
                <a:gridCol w="2316422"/>
                <a:gridCol w="2316422"/>
              </a:tblGrid>
              <a:tr h="548626">
                <a:tc>
                  <a:txBody>
                    <a:bodyPr/>
                    <a:lstStyle/>
                    <a:p>
                      <a:pPr algn="l" indent="0" marL="0">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Konservatif</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Optimis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Jam terjual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112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Total revenue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10,08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13,44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16,80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Bagian pengelola 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3,02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4,03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Net income owner 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7,06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9,41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11,76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bl>
          </a:graphicData>
        </a:graphic>
      </p:graphicFrame>
      <p:sp>
        <p:nvSpPr>
          <p:cNvPr id="10" name="Text 7"/>
          <p:cNvSpPr/>
          <p:nvPr/>
        </p:nvSpPr>
        <p:spPr>
          <a:xfrm>
            <a:off x="426709" y="4876678"/>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Setahun (realistis): revenue 161,28 jt. Pendapatan kantin dan event belum dihitung.</a:t>
            </a:r>
            <a:endParaRPr lang="en-US" sz="1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18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Futsal: 30% dipakai untuk apa</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Usulan: maintenance 10 · event 8 · marketing 7 · fee pengelola 5.</a:t>
            </a:r>
            <a:endParaRPr lang="en-US" sz="156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26709" y="1767796"/>
          <a:ext cx="11338277" cy="914400"/>
        </p:xfrm>
        <a:graphic>
          <a:graphicData uri="http://schemas.openxmlformats.org/drawingml/2006/table">
            <a:tbl>
              <a:tblPr/>
              <a:tblGrid>
                <a:gridCol w="4023259"/>
                <a:gridCol w="1219170"/>
                <a:gridCol w="2036013"/>
                <a:gridCol w="2036013"/>
                <a:gridCol w="2023821"/>
              </a:tblGrid>
              <a:tr h="487668">
                <a:tc>
                  <a:txBody>
                    <a:bodyPr/>
                    <a:lstStyle/>
                    <a:p>
                      <a:pPr algn="l" indent="0" marL="0">
                        <a:buNone/>
                      </a:pPr>
                      <a:r>
                        <a:rPr lang="en-US" sz="1320" b="1" dirty="0">
                          <a:solidFill>
                            <a:srgbClr val="F4EFE6"/>
                          </a:solidFill>
                        </a:rPr>
                        <a:t>Pos (dari 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Konservatif</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Optimis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487668">
                <a:tc>
                  <a:txBody>
                    <a:bodyPr/>
                    <a:lstStyle/>
                    <a:p>
                      <a:pPr algn="l" indent="0" marL="0">
                        <a:buNone/>
                      </a:pPr>
                      <a:r>
                        <a:rPr lang="en-US" sz="1320" dirty="0">
                          <a:solidFill>
                            <a:srgbClr val="1A1814"/>
                          </a:solidFill>
                        </a:rPr>
                        <a:t>Maintenance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1,01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1,34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487668">
                <a:tc>
                  <a:txBody>
                    <a:bodyPr/>
                    <a:lstStyle/>
                    <a:p>
                      <a:pPr algn="l" indent="0" marL="0">
                        <a:buNone/>
                      </a:pPr>
                      <a:r>
                        <a:rPr lang="en-US" sz="1320" dirty="0">
                          <a:solidFill>
                            <a:srgbClr val="1A1814"/>
                          </a:solidFill>
                        </a:rPr>
                        <a:t>Event management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0,81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1,34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487668">
                <a:tc>
                  <a:txBody>
                    <a:bodyPr/>
                    <a:lstStyle/>
                    <a:p>
                      <a:pPr algn="l" indent="0" marL="0">
                        <a:buNone/>
                      </a:pPr>
                      <a:r>
                        <a:rPr lang="en-US" sz="1320" dirty="0">
                          <a:solidFill>
                            <a:srgbClr val="1A1814"/>
                          </a:solidFill>
                        </a:rPr>
                        <a:t>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0,71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0,94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1,18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487668">
                <a:tc>
                  <a:txBody>
                    <a:bodyPr/>
                    <a:lstStyle/>
                    <a:p>
                      <a:pPr algn="l" indent="0" marL="0">
                        <a:buNone/>
                      </a:pPr>
                      <a:r>
                        <a:rPr lang="en-US" sz="1320" dirty="0">
                          <a:solidFill>
                            <a:srgbClr val="1A1814"/>
                          </a:solidFill>
                        </a:rPr>
                        <a:t>Fee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0,67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0,84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487668">
                <a:tc>
                  <a:txBody>
                    <a:bodyPr/>
                    <a:lstStyle/>
                    <a:p>
                      <a:pPr algn="l" indent="0" marL="0">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3,02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4,03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5,04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descr=""/>
          <p:cNvGraphicFramePr/>
          <p:nvPr/>
        </p:nvGraphicFramePr>
        <p:xfrm>
          <a:off x="426709" y="4815720"/>
          <a:ext cx="11338277" cy="1645879"/>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19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Futsal: event &amp; marketing</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Dibiayai dari porsi event 8% dan marketing 7%.</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Event management</a:t>
            </a:r>
            <a:endParaRPr lang="en-US" sz="1680" dirty="0"/>
          </a:p>
        </p:txBody>
      </p:sp>
      <p:sp>
        <p:nvSpPr>
          <p:cNvPr id="11" name="Text 9"/>
          <p:cNvSpPr/>
          <p:nvPr/>
        </p:nvSpPr>
        <p:spPr>
          <a:xfrm>
            <a:off x="609585"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Mini-league bulanan 8 tim</a:t>
            </a:r>
            <a:endParaRPr lang="en-US" sz="1380" dirty="0"/>
          </a:p>
          <a:p>
            <a:pPr marL="342900" indent="-342900">
              <a:spcAft>
                <a:spcPts val="400"/>
              </a:spcAft>
              <a:buSzPct val="100000"/>
              <a:buChar char="•"/>
            </a:pPr>
            <a:r>
              <a:rPr lang="en-US" sz="1380" dirty="0">
                <a:solidFill>
                  <a:srgbClr val="3F382F"/>
                </a:solidFill>
              </a:rPr>
              <a:t>Turnamen antar kantor / sekolah tiap kuartal</a:t>
            </a:r>
            <a:endParaRPr lang="en-US" sz="1380" dirty="0"/>
          </a:p>
          <a:p>
            <a:pPr marL="342900" indent="-342900">
              <a:spcAft>
                <a:spcPts val="400"/>
              </a:spcAft>
              <a:buSzPct val="100000"/>
              <a:buChar char="•"/>
            </a:pPr>
            <a:r>
              <a:rPr lang="en-US" sz="1380" dirty="0">
                <a:solidFill>
                  <a:srgbClr val="3F382F"/>
                </a:solidFill>
              </a:rPr>
              <a:t>Nobar pertandingan besar</a:t>
            </a:r>
            <a:endParaRPr lang="en-US" sz="1380" dirty="0"/>
          </a:p>
          <a:p>
            <a:pPr marL="342900" indent="-342900">
              <a:spcAft>
                <a:spcPts val="400"/>
              </a:spcAft>
              <a:buSzPct val="100000"/>
              <a:buChar char="•"/>
            </a:pPr>
            <a:r>
              <a:rPr lang="en-US" sz="1380" dirty="0">
                <a:solidFill>
                  <a:srgbClr val="3F382F"/>
                </a:solidFill>
              </a:rPr>
              <a:t>Sparring &amp; open play untuk jam sepi</a:t>
            </a:r>
            <a:endParaRPr lang="en-US" sz="1380" dirty="0"/>
          </a:p>
          <a:p>
            <a:pPr marL="342900" indent="-342900">
              <a:spcAft>
                <a:spcPts val="400"/>
              </a:spcAft>
              <a:buSzPct val="100000"/>
              <a:buChar char="•"/>
            </a:pPr>
            <a:r>
              <a:rPr lang="en-US" sz="1380" dirty="0">
                <a:solidFill>
                  <a:srgbClr val="3F382F"/>
                </a:solidFill>
              </a:rPr>
              <a:t>Tugas: jadwal, wasit, hadiah, laporan</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Marketing</a:t>
            </a:r>
            <a:endParaRPr lang="en-US" sz="1680" dirty="0"/>
          </a:p>
        </p:txBody>
      </p:sp>
      <p:sp>
        <p:nvSpPr>
          <p:cNvPr id="14" name="Text 12"/>
          <p:cNvSpPr/>
          <p:nvPr/>
        </p:nvSpPr>
        <p:spPr>
          <a:xfrm>
            <a:off x="6400640"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Instagram &amp; TikTok: highlight match, slot kosong harian</a:t>
            </a:r>
            <a:endParaRPr lang="en-US" sz="1380" dirty="0"/>
          </a:p>
          <a:p>
            <a:pPr marL="342900" indent="-342900">
              <a:spcAft>
                <a:spcPts val="400"/>
              </a:spcAft>
              <a:buSzPct val="100000"/>
              <a:buChar char="•"/>
            </a:pPr>
            <a:r>
              <a:rPr lang="en-US" sz="1380" dirty="0">
                <a:solidFill>
                  <a:srgbClr val="E7DCC8"/>
                </a:solidFill>
              </a:rPr>
              <a:t>Broadcast WhatsApp ke komunitas dan pemesan lama</a:t>
            </a:r>
            <a:endParaRPr lang="en-US" sz="1380" dirty="0"/>
          </a:p>
          <a:p>
            <a:pPr marL="342900" indent="-342900">
              <a:spcAft>
                <a:spcPts val="400"/>
              </a:spcAft>
              <a:buSzPct val="100000"/>
              <a:buChar char="•"/>
            </a:pPr>
            <a:r>
              <a:rPr lang="en-US" sz="1380" dirty="0">
                <a:solidFill>
                  <a:srgbClr val="E7DCC8"/>
                </a:solidFill>
              </a:rPr>
              <a:t>Promo jam sepi (hari kerja 16.00–18.00)</a:t>
            </a:r>
            <a:endParaRPr lang="en-US" sz="1380" dirty="0"/>
          </a:p>
          <a:p>
            <a:pPr marL="342900" indent="-342900">
              <a:spcAft>
                <a:spcPts val="400"/>
              </a:spcAft>
              <a:buSzPct val="100000"/>
              <a:buChar char="•"/>
            </a:pPr>
            <a:r>
              <a:rPr lang="en-US" sz="1380" dirty="0">
                <a:solidFill>
                  <a:srgbClr val="E7DCC8"/>
                </a:solidFill>
              </a:rPr>
              <a:t>Booking lewat web (halaman /futsal HUNI)</a:t>
            </a:r>
            <a:endParaRPr lang="en-US" sz="1380" dirty="0"/>
          </a:p>
          <a:p>
            <a:pPr marL="342900" indent="-342900">
              <a:spcAft>
                <a:spcPts val="400"/>
              </a:spcAft>
              <a:buSzPct val="100000"/>
              <a:buChar char="•"/>
            </a:pPr>
            <a:r>
              <a:rPr lang="en-US" sz="1380" dirty="0">
                <a:solidFill>
                  <a:srgbClr val="E7DCC8"/>
                </a:solidFill>
              </a:rPr>
              <a:t>Kerja sama komunitas, sekolah, kantor sekitar</a:t>
            </a:r>
            <a:endParaRPr lang="en-US" sz="13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20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dasar hitungan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Tiga skenario omzet, 3 karyawan tetap.</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Omzet</a:t>
            </a:r>
            <a:endParaRPr lang="en-US" sz="1680" dirty="0"/>
          </a:p>
        </p:txBody>
      </p:sp>
      <p:sp>
        <p:nvSpPr>
          <p:cNvPr id="11" name="Text 9"/>
          <p:cNvSpPr/>
          <p:nvPr/>
        </p:nvSpPr>
        <p:spPr>
          <a:xfrm>
            <a:off x="609585"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Pelanggan per hari: 45 / 70 / 100</a:t>
            </a:r>
            <a:endParaRPr lang="en-US" sz="1380" dirty="0"/>
          </a:p>
          <a:p>
            <a:pPr marL="342900" indent="-342900">
              <a:spcAft>
                <a:spcPts val="400"/>
              </a:spcAft>
              <a:buSzPct val="100000"/>
              <a:buChar char="•"/>
            </a:pPr>
            <a:r>
              <a:rPr lang="en-US" sz="1380" dirty="0">
                <a:solidFill>
                  <a:srgbClr val="3F382F"/>
                </a:solidFill>
              </a:rPr>
              <a:t>Belanja rata-rata Rp30 rb / 33 rb / 35 rb</a:t>
            </a:r>
            <a:endParaRPr lang="en-US" sz="1380" dirty="0"/>
          </a:p>
          <a:p>
            <a:pPr marL="342900" indent="-342900">
              <a:spcAft>
                <a:spcPts val="400"/>
              </a:spcAft>
              <a:buSzPct val="100000"/>
              <a:buChar char="•"/>
            </a:pPr>
            <a:r>
              <a:rPr lang="en-US" sz="1380" dirty="0">
                <a:solidFill>
                  <a:srgbClr val="3F382F"/>
                </a:solidFill>
              </a:rPr>
              <a:t>Buka 30 hari per bulan, 10.00–21.00</a:t>
            </a:r>
            <a:endParaRPr lang="en-US" sz="1380" dirty="0"/>
          </a:p>
          <a:p>
            <a:pPr marL="342900" indent="-342900">
              <a:spcAft>
                <a:spcPts val="400"/>
              </a:spcAft>
              <a:buSzPct val="100000"/>
              <a:buChar char="•"/>
            </a:pPr>
            <a:r>
              <a:rPr lang="en-US" sz="1380" dirty="0">
                <a:solidFill>
                  <a:srgbClr val="3F382F"/>
                </a:solidFill>
              </a:rPr>
              <a:t>Omzet: 40,50 jt / 69,30 jt / 105,00 jt</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Karyawan &amp; bagi hasil</a:t>
            </a:r>
            <a:endParaRPr lang="en-US" sz="1680" dirty="0"/>
          </a:p>
        </p:txBody>
      </p:sp>
      <p:sp>
        <p:nvSpPr>
          <p:cNvPr id="14" name="Text 12"/>
          <p:cNvSpPr/>
          <p:nvPr/>
        </p:nvSpPr>
        <p:spPr>
          <a:xfrm>
            <a:off x="6400640"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3 orang: waiters, cooks, kasir</a:t>
            </a:r>
            <a:endParaRPr lang="en-US" sz="1380" dirty="0"/>
          </a:p>
          <a:p>
            <a:pPr marL="342900" indent="-342900">
              <a:spcAft>
                <a:spcPts val="400"/>
              </a:spcAft>
              <a:buSzPct val="100000"/>
              <a:buChar char="•"/>
            </a:pPr>
            <a:r>
              <a:rPr lang="en-US" sz="1380" dirty="0">
                <a:solidFill>
                  <a:srgbClr val="E7DCC8"/>
                </a:solidFill>
              </a:rPr>
              <a:t>Bagian pengelola 50% dari omzet</a:t>
            </a:r>
            <a:endParaRPr lang="en-US" sz="1380" dirty="0"/>
          </a:p>
          <a:p>
            <a:pPr marL="342900" indent="-342900">
              <a:spcAft>
                <a:spcPts val="400"/>
              </a:spcAft>
              <a:buSzPct val="100000"/>
              <a:buChar char="•"/>
            </a:pPr>
            <a:r>
              <a:rPr lang="en-US" sz="1380" dirty="0">
                <a:solidFill>
                  <a:srgbClr val="E7DCC8"/>
                </a:solidFill>
              </a:rPr>
              <a:t>Gaji, marketing, event, maintenance keluar dari 50% ini</a:t>
            </a:r>
            <a:endParaRPr lang="en-US" sz="1380" dirty="0"/>
          </a:p>
          <a:p>
            <a:pPr marL="342900" indent="-342900">
              <a:spcAft>
                <a:spcPts val="400"/>
              </a:spcAft>
              <a:buSzPct val="100000"/>
              <a:buChar char="•"/>
            </a:pPr>
            <a:r>
              <a:rPr lang="en-US" sz="1380" dirty="0">
                <a:solidFill>
                  <a:srgbClr val="E7DCC8"/>
                </a:solidFill>
              </a:rPr>
              <a:t>Bahan baku, listrik, air, gas, internet: ditanggung pemilik dari 50% sisanya</a:t>
            </a:r>
            <a:endParaRPr lang="en-US" sz="13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21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omzet dan bagi hasil</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Bulanan, juta rupiah.</a:t>
            </a:r>
            <a:endParaRPr lang="en-US" sz="156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4389010"/>
                <a:gridCol w="2316422"/>
                <a:gridCol w="2316422"/>
                <a:gridCol w="2316422"/>
              </a:tblGrid>
              <a:tr h="512051">
                <a:tc>
                  <a:txBody>
                    <a:bodyPr/>
                    <a:lstStyle/>
                    <a:p>
                      <a:pPr algn="l" indent="0" marL="0">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Konservatif</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Optimis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algn="l" indent="0" marL="0">
                        <a:buNone/>
                      </a:pPr>
                      <a:r>
                        <a:rPr lang="en-US" sz="1320" dirty="0">
                          <a:solidFill>
                            <a:srgbClr val="1A1814"/>
                          </a:solidFill>
                        </a:rPr>
                        <a:t>Pelanggan / hari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Belanja rata-rata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Rp30.000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Rp33.000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Rp35.000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Omzet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40,50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69,30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105,00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12051">
                <a:tc>
                  <a:txBody>
                    <a:bodyPr/>
                    <a:lstStyle/>
                    <a:p>
                      <a:pPr algn="l" indent="0" marL="0">
                        <a:buNone/>
                      </a:pPr>
                      <a:r>
                        <a:rPr lang="en-US" sz="1320" dirty="0">
                          <a:solidFill>
                            <a:srgbClr val="1A1814"/>
                          </a:solidFill>
                        </a:rPr>
                        <a:t>Bagian pengelola 50%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20,25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34,65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52,50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Sisa untuk pemilik 50%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20,25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34,65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52,50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242429"/>
            <a:ext cx="11338277" cy="487668"/>
          </a:xfrm>
          <a:prstGeom prst="rect">
            <a:avLst/>
          </a:prstGeom>
          <a:noFill/>
          <a:ln/>
        </p:spPr>
        <p:txBody>
          <a:bodyPr wrap="square" lIns="0" tIns="0" rIns="0" bIns="0" rtlCol="0" anchor="ctr"/>
          <a:lstStyle/>
          <a:p>
            <a:pPr indent="0" marL="0">
              <a:buNone/>
            </a:pPr>
            <a:r>
              <a:rPr lang="en-US" sz="1680" b="1" dirty="0">
                <a:solidFill>
                  <a:srgbClr val="2F5D50"/>
                </a:solidFill>
                <a:latin typeface="Calibri" pitchFamily="34" charset="0"/>
                <a:ea typeface="Calibri" pitchFamily="34" charset="-122"/>
                <a:cs typeface="Calibri" pitchFamily="34" charset="-120"/>
              </a:rPr>
              <a:t>Setahun (realistis): omzet 831,60 jt</a:t>
            </a:r>
            <a:endParaRPr lang="en-US" sz="16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22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biaya ditanggung pemilik</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Dari sisa 50% omzet.</a:t>
            </a:r>
            <a:endParaRPr lang="en-US" sz="156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4754761"/>
                <a:gridCol w="2194505"/>
                <a:gridCol w="2194505"/>
                <a:gridCol w="2194505"/>
              </a:tblGrid>
              <a:tr h="512051">
                <a:tc>
                  <a:txBody>
                    <a:bodyPr/>
                    <a:lstStyle/>
                    <a:p>
                      <a:pPr algn="l" indent="0" marL="0">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Konservatif</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Optimis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algn="l" indent="0" marL="0">
                        <a:buNone/>
                      </a:pPr>
                      <a:r>
                        <a:rPr lang="en-US" sz="1320" dirty="0">
                          <a:solidFill>
                            <a:srgbClr val="1A1814"/>
                          </a:solidFill>
                        </a:rPr>
                        <a:t>Sisa 50% untuk pemilik</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20,25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34,65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52,50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Bahan baku (35%)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14,18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24,25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36,75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dirty="0">
                          <a:solidFill>
                            <a:srgbClr val="1A1814"/>
                          </a:solidFill>
                        </a:rPr>
                        <a:t>Packaging &amp; habis pakai (3%)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1,22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3,15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Listrik 2,5 · air 0,4 · gas 0,5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dirty="0">
                          <a:solidFill>
                            <a:srgbClr val="1A1814"/>
                          </a:solidFill>
                        </a:rPr>
                        <a:t>Internet 0,4 · kebersihan 0,3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Sewa tempat (0 = milik sendiri)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Sisa pemilik setelah biaya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0,76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4,22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8,50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23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50% pengelola dipakai untuk apa</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Karyawan dulu, lalu marketing, event, maintenance; sisanya fee pengelola.</a:t>
            </a:r>
            <a:endParaRPr lang="en-US" sz="156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26709" y="1767796"/>
          <a:ext cx="11338277" cy="914400"/>
        </p:xfrm>
        <a:graphic>
          <a:graphicData uri="http://schemas.openxmlformats.org/drawingml/2006/table">
            <a:tbl>
              <a:tblPr/>
              <a:tblGrid>
                <a:gridCol w="4754761"/>
                <a:gridCol w="2194505"/>
                <a:gridCol w="2194505"/>
                <a:gridCol w="2194505"/>
              </a:tblGrid>
              <a:tr h="487668">
                <a:tc>
                  <a:txBody>
                    <a:bodyPr/>
                    <a:lstStyle/>
                    <a:p>
                      <a:pPr algn="l" indent="0" marL="0">
                        <a:buNone/>
                      </a:pPr>
                      <a:r>
                        <a:rPr lang="en-US" sz="1320" b="1" dirty="0">
                          <a:solidFill>
                            <a:srgbClr val="F4EFE6"/>
                          </a:solidFill>
                        </a:rPr>
                        <a:t>Pos (dari 50%)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Konservatif</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Optimis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487668">
                <a:tc>
                  <a:txBody>
                    <a:bodyPr/>
                    <a:lstStyle/>
                    <a:p>
                      <a:pPr algn="l" indent="0" marL="0">
                        <a:buNone/>
                      </a:pPr>
                      <a:r>
                        <a:rPr lang="en-US" sz="1320" dirty="0">
                          <a:solidFill>
                            <a:srgbClr val="1A1814"/>
                          </a:solidFill>
                        </a:rPr>
                        <a:t>Bagian pengelola 50%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20,25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34,65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52,50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487668">
                <a:tc>
                  <a:txBody>
                    <a:bodyPr/>
                    <a:lstStyle/>
                    <a:p>
                      <a:pPr algn="l" indent="0" marL="0">
                        <a:buNone/>
                      </a:pPr>
                      <a:r>
                        <a:rPr lang="en-US" sz="1320" dirty="0">
                          <a:solidFill>
                            <a:srgbClr val="1A1814"/>
                          </a:solidFill>
                        </a:rPr>
                        <a:t>Gaji 3 karyawan + BPJS/THR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487668">
                <a:tc>
                  <a:txBody>
                    <a:bodyPr/>
                    <a:lstStyle/>
                    <a:p>
                      <a:pPr algn="l" indent="0" marL="0">
                        <a:buNone/>
                      </a:pPr>
                      <a:r>
                        <a:rPr lang="en-US" sz="1320" dirty="0">
                          <a:solidFill>
                            <a:srgbClr val="1A1814"/>
                          </a:solidFill>
                        </a:rPr>
                        <a:t>Marketing (8%)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3,24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487668">
                <a:tc>
                  <a:txBody>
                    <a:bodyPr/>
                    <a:lstStyle/>
                    <a:p>
                      <a:pPr algn="l" indent="0" marL="0">
                        <a:buNone/>
                      </a:pPr>
                      <a:r>
                        <a:rPr lang="en-US" sz="1320" dirty="0">
                          <a:solidFill>
                            <a:srgbClr val="1A1814"/>
                          </a:solidFill>
                        </a:rPr>
                        <a:t>Event (5%)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2,02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3,46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5,25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487668">
                <a:tc>
                  <a:txBody>
                    <a:bodyPr/>
                    <a:lstStyle/>
                    <a:p>
                      <a:pPr algn="l" indent="0" marL="0">
                        <a:buNone/>
                      </a:pPr>
                      <a:r>
                        <a:rPr lang="en-US" sz="1320" dirty="0">
                          <a:solidFill>
                            <a:srgbClr val="1A1814"/>
                          </a:solidFill>
                        </a:rPr>
                        <a:t>Maintenance alat &amp; tempat (5%)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2,02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3,46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487668">
                <a:tc>
                  <a:txBody>
                    <a:bodyPr/>
                    <a:lstStyle/>
                    <a:p>
                      <a:pPr algn="l" indent="0" marL="0">
                        <a:buNone/>
                      </a:pPr>
                      <a:r>
                        <a:rPr lang="en-US" sz="1320" b="1" dirty="0">
                          <a:solidFill>
                            <a:srgbClr val="1A1814"/>
                          </a:solidFill>
                        </a:rPr>
                        <a:t>Fee pengelola (sisa)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4,49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13,71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25,13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graphicFrame>
        <p:nvGraphicFramePr>
          <p:cNvPr id="10" name="Chart 0" descr=""/>
          <p:cNvGraphicFramePr/>
          <p:nvPr/>
        </p:nvGraphicFramePr>
        <p:xfrm>
          <a:off x="426709" y="4998595"/>
          <a:ext cx="11338277" cy="1523962"/>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24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3 karyawan dan penggajian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Gaji pokok asumsi, cek UMK setempat.</a:t>
            </a:r>
            <a:endParaRPr lang="en-US" sz="156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3657509"/>
                <a:gridCol w="2682173"/>
                <a:gridCol w="4998595"/>
              </a:tblGrid>
              <a:tr h="548626">
                <a:tc>
                  <a:txBody>
                    <a:bodyPr/>
                    <a:lstStyle/>
                    <a:p>
                      <a:pPr algn="l" indent="0" marL="0">
                        <a:buNone/>
                      </a:pPr>
                      <a:r>
                        <a:rPr lang="en-US" sz="1320" b="1" dirty="0">
                          <a:solidFill>
                            <a:srgbClr val="F4EFE6"/>
                          </a:solidFill>
                        </a:rPr>
                        <a:t>Posisi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Gaji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Tugas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Waiters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Antar pesanan, bersih meja, layani pelanggan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Cooks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r>
                        <a:rPr lang="en-US" sz="1320" dirty="0">
                          <a:solidFill>
                            <a:srgbClr val="1A1814"/>
                          </a:solidFill>
                        </a:rPr>
                        <a:t>Masak, siapkan bahan, jaga stok dapur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Kasir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Rp2.500.000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Transaksi, catat penjualan, tutup kas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BPJS / THR cadangan 10%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Rp770.000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b="1" dirty="0">
                          <a:solidFill>
                            <a:srgbClr val="1A1814"/>
                          </a:solidFill>
                        </a:rPr>
                        <a:t>Total 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Rp8.470.000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486263"/>
            <a:ext cx="11338277" cy="731502"/>
          </a:xfrm>
          <a:prstGeom prst="rect">
            <a:avLst/>
          </a:prstGeom>
          <a:noFill/>
          <a:ln/>
        </p:spPr>
        <p:txBody>
          <a:bodyPr wrap="square" lIns="0" tIns="0" rIns="0" bIns="0" rtlCol="0" anchor="ctr"/>
          <a:lstStyle/>
          <a:p>
            <a:pPr indent="0" marL="0">
              <a:buNone/>
            </a:pPr>
            <a:r>
              <a:rPr lang="en-US" sz="1440" dirty="0">
                <a:solidFill>
                  <a:srgbClr val="6F675C"/>
                </a:solidFill>
                <a:latin typeface="Calibri" pitchFamily="34" charset="0"/>
                <a:ea typeface="Calibri" pitchFamily="34" charset="-122"/>
                <a:cs typeface="Calibri" pitchFamily="34" charset="-120"/>
              </a:rPr>
              <a:t>Catatan: dengan 3 orang tanpa pengganti, hari libur harus ditutup pengelola atau jam buka dipendekkan. Gaji dibayar tanggal 1.</a:t>
            </a:r>
            <a:endParaRPr lang="en-US" sz="144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25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event &amp; marketing</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Dibiayai dari porsi marketing 8% dan event 5%.</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Event</a:t>
            </a:r>
            <a:endParaRPr lang="en-US" sz="1680" dirty="0"/>
          </a:p>
        </p:txBody>
      </p:sp>
      <p:sp>
        <p:nvSpPr>
          <p:cNvPr id="11" name="Text 9"/>
          <p:cNvSpPr/>
          <p:nvPr/>
        </p:nvSpPr>
        <p:spPr>
          <a:xfrm>
            <a:off x="609585"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Live music akustik tiap Jumat malam</a:t>
            </a:r>
            <a:endParaRPr lang="en-US" sz="1380" dirty="0"/>
          </a:p>
          <a:p>
            <a:pPr marL="342900" indent="-342900">
              <a:spcAft>
                <a:spcPts val="400"/>
              </a:spcAft>
              <a:buSzPct val="100000"/>
              <a:buChar char="•"/>
            </a:pPr>
            <a:r>
              <a:rPr lang="en-US" sz="1380" dirty="0">
                <a:solidFill>
                  <a:srgbClr val="3F382F"/>
                </a:solidFill>
              </a:rPr>
              <a:t>Nobar &amp; kuis mingguan</a:t>
            </a:r>
            <a:endParaRPr lang="en-US" sz="1380" dirty="0"/>
          </a:p>
          <a:p>
            <a:pPr marL="342900" indent="-342900">
              <a:spcAft>
                <a:spcPts val="400"/>
              </a:spcAft>
              <a:buSzPct val="100000"/>
              <a:buChar char="•"/>
            </a:pPr>
            <a:r>
              <a:rPr lang="en-US" sz="1380" dirty="0">
                <a:solidFill>
                  <a:srgbClr val="3F382F"/>
                </a:solidFill>
              </a:rPr>
              <a:t>Kelas kopi dan workshop komunitas</a:t>
            </a:r>
            <a:endParaRPr lang="en-US" sz="1380" dirty="0"/>
          </a:p>
          <a:p>
            <a:pPr marL="342900" indent="-342900">
              <a:spcAft>
                <a:spcPts val="400"/>
              </a:spcAft>
              <a:buSzPct val="100000"/>
              <a:buChar char="•"/>
            </a:pPr>
            <a:r>
              <a:rPr lang="en-US" sz="1380" dirty="0">
                <a:solidFill>
                  <a:srgbClr val="3F382F"/>
                </a:solidFill>
              </a:rPr>
              <a:t>Paket ulang tahun / arisan / rapat kecil</a:t>
            </a:r>
            <a:endParaRPr lang="en-US" sz="1380" dirty="0"/>
          </a:p>
          <a:p>
            <a:pPr marL="342900" indent="-342900">
              <a:spcAft>
                <a:spcPts val="400"/>
              </a:spcAft>
              <a:buSzPct val="100000"/>
              <a:buChar char="•"/>
            </a:pPr>
            <a:r>
              <a:rPr lang="en-US" sz="1380" dirty="0">
                <a:solidFill>
                  <a:srgbClr val="3F382F"/>
                </a:solidFill>
              </a:rPr>
              <a:t>Paket gabungan main futsal + ngopi</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Marketing</a:t>
            </a:r>
            <a:endParaRPr lang="en-US" sz="1680" dirty="0"/>
          </a:p>
        </p:txBody>
      </p:sp>
      <p:sp>
        <p:nvSpPr>
          <p:cNvPr id="14" name="Text 12"/>
          <p:cNvSpPr/>
          <p:nvPr/>
        </p:nvSpPr>
        <p:spPr>
          <a:xfrm>
            <a:off x="6400640"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Konten harian IG/TikTok: menu baru, suasana, promo</a:t>
            </a:r>
            <a:endParaRPr lang="en-US" sz="1380" dirty="0"/>
          </a:p>
          <a:p>
            <a:pPr marL="342900" indent="-342900">
              <a:spcAft>
                <a:spcPts val="400"/>
              </a:spcAft>
              <a:buSzPct val="100000"/>
              <a:buChar char="•"/>
            </a:pPr>
            <a:r>
              <a:rPr lang="en-US" sz="1380" dirty="0">
                <a:solidFill>
                  <a:srgbClr val="E7DCC8"/>
                </a:solidFill>
              </a:rPr>
              <a:t>Kartu loyalitas / stempel digital</a:t>
            </a:r>
            <a:endParaRPr lang="en-US" sz="1380" dirty="0"/>
          </a:p>
          <a:p>
            <a:pPr marL="342900" indent="-342900">
              <a:spcAft>
                <a:spcPts val="400"/>
              </a:spcAft>
              <a:buSzPct val="100000"/>
              <a:buChar char="•"/>
            </a:pPr>
            <a:r>
              <a:rPr lang="en-US" sz="1380" dirty="0">
                <a:solidFill>
                  <a:srgbClr val="E7DCC8"/>
                </a:solidFill>
              </a:rPr>
              <a:t>Promo jam sepi (14.00–17.00)</a:t>
            </a:r>
            <a:endParaRPr lang="en-US" sz="1380" dirty="0"/>
          </a:p>
          <a:p>
            <a:pPr marL="342900" indent="-342900">
              <a:spcAft>
                <a:spcPts val="400"/>
              </a:spcAft>
              <a:buSzPct val="100000"/>
              <a:buChar char="•"/>
            </a:pPr>
            <a:r>
              <a:rPr lang="en-US" sz="1380" dirty="0">
                <a:solidFill>
                  <a:srgbClr val="E7DCC8"/>
                </a:solidFill>
              </a:rPr>
              <a:t>Pre-order &amp; pesan antar lewat WhatsApp</a:t>
            </a:r>
            <a:endParaRPr lang="en-US" sz="1380" dirty="0"/>
          </a:p>
          <a:p>
            <a:pPr marL="342900" indent="-342900">
              <a:spcAft>
                <a:spcPts val="400"/>
              </a:spcAft>
              <a:buSzPct val="100000"/>
              <a:buChar char="•"/>
            </a:pPr>
            <a:r>
              <a:rPr lang="en-US" sz="1380" dirty="0">
                <a:solidFill>
                  <a:srgbClr val="E7DCC8"/>
                </a:solidFill>
              </a:rPr>
              <a:t>Google Maps: foto, ulasan, jam buka terbaru</a:t>
            </a:r>
            <a:endParaRPr lang="en-US" sz="13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26  /  26</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Yang perlu diputuskan sebelum diajukan</a:t>
            </a:r>
            <a:endParaRPr lang="en-US" sz="3120" dirty="0"/>
          </a:p>
        </p:txBody>
      </p:sp>
      <p:sp>
        <p:nvSpPr>
          <p:cNvPr id="8" name="Shape 6"/>
          <p:cNvSpPr/>
          <p:nvPr/>
        </p:nvSpPr>
        <p:spPr>
          <a:xfrm>
            <a:off x="426709" y="1463003"/>
            <a:ext cx="11338277" cy="2316422"/>
          </a:xfrm>
          <a:prstGeom prst="roundRect">
            <a:avLst>
              <a:gd name="adj" fmla="val 3158"/>
            </a:avLst>
          </a:prstGeom>
          <a:solidFill>
            <a:srgbClr val="9A4518"/>
          </a:solidFill>
          <a:ln w="9525">
            <a:solidFill>
              <a:srgbClr val="D9CFBF"/>
            </a:solidFill>
            <a:prstDash val="solid"/>
          </a:ln>
        </p:spPr>
      </p:sp>
      <p:sp>
        <p:nvSpPr>
          <p:cNvPr id="9" name="Text 7"/>
          <p:cNvSpPr/>
          <p:nvPr/>
        </p:nvSpPr>
        <p:spPr>
          <a:xfrm>
            <a:off x="609585" y="1584920"/>
            <a:ext cx="10972526"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Cafe: sisa pemilik tipis</a:t>
            </a:r>
            <a:endParaRPr lang="en-US" sz="1680" dirty="0"/>
          </a:p>
        </p:txBody>
      </p:sp>
      <p:sp>
        <p:nvSpPr>
          <p:cNvPr id="10" name="Text 8"/>
          <p:cNvSpPr/>
          <p:nvPr/>
        </p:nvSpPr>
        <p:spPr>
          <a:xfrm>
            <a:off x="609585" y="2072588"/>
            <a:ext cx="10972526" cy="1584920"/>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Realistis: sisa 50% 34,65 jt, dikurangi bahan baku, packaging, dan biaya tetap, tinggal 4,22 jt. Konservatif tinggal 0,76 jt.</a:t>
            </a:r>
            <a:endParaRPr lang="en-US" sz="1380" dirty="0"/>
          </a:p>
          <a:p>
            <a:pPr marL="342900" indent="-342900">
              <a:spcAft>
                <a:spcPts val="400"/>
              </a:spcAft>
              <a:buSzPct val="100000"/>
              <a:buChar char="•"/>
            </a:pPr>
            <a:r>
              <a:rPr lang="en-US" sz="1380" dirty="0">
                <a:solidFill>
                  <a:srgbClr val="E7DCC8"/>
                </a:solidFill>
              </a:rPr>
              <a:t>Lebih mudah disetujui: 50% dari laba kotor (omzet dikurangi bahan baku), atau porsi 40%.</a:t>
            </a:r>
            <a:endParaRPr lang="en-US" sz="1380" dirty="0"/>
          </a:p>
        </p:txBody>
      </p:sp>
      <p:sp>
        <p:nvSpPr>
          <p:cNvPr id="11" name="Shape 9"/>
          <p:cNvSpPr/>
          <p:nvPr/>
        </p:nvSpPr>
        <p:spPr>
          <a:xfrm>
            <a:off x="426709" y="3962301"/>
            <a:ext cx="11338277" cy="2316422"/>
          </a:xfrm>
          <a:prstGeom prst="roundRect">
            <a:avLst>
              <a:gd name="adj" fmla="val 3158"/>
            </a:avLst>
          </a:prstGeom>
          <a:solidFill>
            <a:srgbClr val="FBF8F3"/>
          </a:solidFill>
          <a:ln w="9525">
            <a:solidFill>
              <a:srgbClr val="D9CFBF"/>
            </a:solidFill>
            <a:prstDash val="solid"/>
          </a:ln>
        </p:spPr>
      </p:sp>
      <p:sp>
        <p:nvSpPr>
          <p:cNvPr id="12" name="Text 10"/>
          <p:cNvSpPr/>
          <p:nvPr/>
        </p:nvSpPr>
        <p:spPr>
          <a:xfrm>
            <a:off x="609585" y="4084218"/>
            <a:ext cx="10972526"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Langkah berikut</a:t>
            </a:r>
            <a:endParaRPr lang="en-US" sz="1680" dirty="0"/>
          </a:p>
        </p:txBody>
      </p:sp>
      <p:sp>
        <p:nvSpPr>
          <p:cNvPr id="13" name="Text 11"/>
          <p:cNvSpPr/>
          <p:nvPr/>
        </p:nvSpPr>
        <p:spPr>
          <a:xfrm>
            <a:off x="609585" y="4571886"/>
            <a:ext cx="10972526" cy="1584920"/>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Ganti asumsi (pelanggan, gaji, listrik, sewa) dengan data lokasi di file Excel</a:t>
            </a:r>
            <a:endParaRPr lang="en-US" sz="1380" dirty="0"/>
          </a:p>
          <a:p>
            <a:pPr marL="342900" indent="-342900">
              <a:spcAft>
                <a:spcPts val="400"/>
              </a:spcAft>
              <a:buSzPct val="100000"/>
              <a:buChar char="•"/>
            </a:pPr>
            <a:r>
              <a:rPr lang="en-US" sz="1380" dirty="0">
                <a:solidFill>
                  <a:srgbClr val="3F382F"/>
                </a:solidFill>
              </a:rPr>
              <a:t>Tulis kontrak: dasar hitung, laporan bulanan, cek kas</a:t>
            </a:r>
            <a:endParaRPr lang="en-US" sz="1380" dirty="0"/>
          </a:p>
          <a:p>
            <a:pPr marL="342900" indent="-342900">
              <a:spcAft>
                <a:spcPts val="400"/>
              </a:spcAft>
              <a:buSzPct val="100000"/>
              <a:buChar char="•"/>
            </a:pPr>
            <a:r>
              <a:rPr lang="en-US" sz="1380" dirty="0">
                <a:solidFill>
                  <a:srgbClr val="3F382F"/>
                </a:solidFill>
              </a:rPr>
              <a:t>Uji 3 bulan pertama, lalu evaluasi porsi 30% / 50%</a:t>
            </a:r>
            <a:endParaRPr lang="en-US" sz="13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HUNI — Proposal website kos dan kontrakan</dc:title>
  <dc:subject>Desain, proof of concept, model bagi hasil</dc:subject>
  <dc:creator>HUNI</dc:creator>
  <cp:lastModifiedBy>HUNI</cp:lastModifiedBy>
  <cp:revision>1</cp:revision>
  <dcterms:created xsi:type="dcterms:W3CDTF">2026-10-24T04:02:59Z</dcterms:created>
  <dcterms:modified xsi:type="dcterms:W3CDTF">2026-10-24T04:02:59Z</dcterms:modified>
</cp:coreProperties>
</file>