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 id="2147483650" r:id="rId3"/>
  </p:sldMasterIdLst>
  <p:notesMasterIdLst>
    <p:notesMasterId r:id="rId5"/>
  </p:notesMasterIdLst>
  <p:sldIdLst>
    <p:sldId id="256" r:id="rId4"/>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86" r:id="rId37"/>
    <p:sldId id="287" r:id="rId38"/>
    <p:sldId id="288" r:id="rId39"/>
    <p:sldId id="289" r:id="rId40"/>
    <p:sldId id="273" r:id="rId22"/>
    <p:sldId id="274" r:id="rId23"/>
    <p:sldId id="275" r:id="rId24"/>
    <p:sldId id="276" r:id="rId25"/>
    <p:sldId id="277" r:id="rId26"/>
    <p:sldId id="278" r:id="rId27"/>
    <p:sldId id="279" r:id="rId28"/>
    <p:sldId id="280" r:id="rId29"/>
    <p:sldId id="281" r:id="rId30"/>
    <p:sldId id="285" r:id="rId31"/>
    <p:sldId id="282" r:id="rId32"/>
    <p:sldId id="283" r:id="rId33"/>
  </p:sldIdLst>
  <p:sldSz cx="12191365" cy="6858000"/>
  <p:notesSz cx="6858000" cy="1219136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Master" Target="slideMasters/slideMaster2.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ableStyles" Target="tableStyles.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Workbook1.xlsx"/></Relationships>
</file>

<file path=ppt/charts/_rels/chart2.xml.rels><?xml version='1.0' encoding='UTF-8' standalone='yes'?>
<Relationships xmlns="http://schemas.openxmlformats.org/package/2006/relationships"><Relationship Id="rId1" Type="http://schemas.openxmlformats.org/officeDocument/2006/relationships/package" Target="../embeddings/Workbook2.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stacked"/>
        <c:varyColors val="0"/>
        <c:ser>
          <c:idx val="0"/>
          <c:order val="0"/>
          <c:tx>
            <c:strRef>
              <c:f>Sheet1!$B$1</c:f>
              <c:strCache>
                <c:ptCount val="1"/>
                <c:pt idx="0">
                  <c:v>Maintenance</c:v>
                </c:pt>
              </c:strCache>
            </c:strRef>
          </c:tx>
          <c:spPr>
            <a:solidFill>
              <a:srgbClr val="2F5D50"/>
            </a:solidFill>
            <a:effectLst/>
          </c:spPr>
          <c:invertIfNegative val="0"/>
          <c:dLbls>
            <c:dLbl>
              <c:idx val="0"/>
              <c:delete val="1"/>
            </c:dLbl>
            <c:dLbl>
              <c:idx val="1"/>
              <c:delete val="1"/>
            </c:dLbl>
            <c:numFmt formatCode="#,##0" sourceLinked="0"/>
            <c:spPr>
              <a:noFill/>
              <a:ln>
                <a:noFill/>
              </a:ln>
              <a:effectLst/>
            </c:spPr>
            <c:txPr>
              <a:bodyPr rot="0" spcFirstLastPara="0" vertOverflow="ellipsis" vert="horz" wrap="square" lIns="38100" tIns="19050" rIns="38100" bIns="19050" anchor="ctr" anchorCtr="1"/>
              <a:lstStyle/>
              <a:p>
                <a:pPr>
                  <a:defRPr lang="en-US" sz="1200" b="0" i="0" u="none" strike="noStrike" kern="1200" baseline="0">
                    <a:solidFill>
                      <a:srgbClr val="000000"/>
                    </a:solidFill>
                    <a:latin typeface="Arial" panose="020B0604020202020204"/>
                    <a:ea typeface="+mn-ea"/>
                    <a:cs typeface="+mn-cs"/>
                  </a:defRPr>
                </a:pPr>
              </a:p>
            </c:txPr>
            <c:dLblPos val="ctr"/>
            <c:showLegendKey val="0"/>
            <c:showVal val="0"/>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Sheet1!$A$2:$A$3</c:f>
              <c:strCache>
                <c:ptCount val="2"/>
                <c:pt idx="0">
                  <c:v>Realistis</c:v>
                </c:pt>
                <c:pt idx="1">
                  <c:v>Target</c:v>
                </c:pt>
              </c:strCache>
            </c:strRef>
          </c:cat>
          <c:val>
            <c:numRef>
              <c:f>Sheet1!$B$2:$B$3</c:f>
              <c:numCache>
                <c:formatCode>General</c:formatCode>
                <c:ptCount val="2"/>
                <c:pt idx="0">
                  <c:v>2.928</c:v>
                </c:pt>
                <c:pt idx="1">
                  <c:v>4.1632</c:v>
                </c:pt>
              </c:numCache>
            </c:numRef>
          </c:val>
        </c:ser>
        <c:ser>
          <c:idx val="1"/>
          <c:order val="1"/>
          <c:tx>
            <c:strRef>
              <c:f>Sheet1!$C$1</c:f>
              <c:strCache>
                <c:ptCount val="1"/>
                <c:pt idx="0">
                  <c:v>Event</c:v>
                </c:pt>
              </c:strCache>
            </c:strRef>
          </c:tx>
          <c:spPr>
            <a:solidFill>
              <a:srgbClr val="C4622D"/>
            </a:solidFill>
            <a:effectLst/>
          </c:spPr>
          <c:invertIfNegative val="0"/>
          <c:dLbls>
            <c:dLbl>
              <c:idx val="0"/>
              <c:delete val="1"/>
            </c:dLbl>
            <c:dLbl>
              <c:idx val="1"/>
              <c:delete val="1"/>
            </c:dLbl>
            <c:numFmt formatCode="#,##0" sourceLinked="0"/>
            <c:spPr>
              <a:noFill/>
              <a:ln>
                <a:noFill/>
              </a:ln>
              <a:effectLst/>
            </c:spPr>
            <c:txPr>
              <a:bodyPr rot="0" spcFirstLastPara="0" vertOverflow="ellipsis" vert="horz" wrap="square" lIns="38100" tIns="19050" rIns="38100" bIns="19050" anchor="ctr" anchorCtr="1"/>
              <a:lstStyle/>
              <a:p>
                <a:pPr>
                  <a:defRPr lang="en-US" sz="1200" b="0" i="0" u="none" strike="noStrike" kern="1200" baseline="0">
                    <a:solidFill>
                      <a:srgbClr val="000000"/>
                    </a:solidFill>
                    <a:latin typeface="Arial" panose="020B0604020202020204"/>
                    <a:ea typeface="+mn-ea"/>
                    <a:cs typeface="+mn-cs"/>
                  </a:defRPr>
                </a:pPr>
              </a:p>
            </c:txPr>
            <c:dLblPos val="ctr"/>
            <c:showLegendKey val="0"/>
            <c:showVal val="0"/>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Sheet1!$A$2:$A$3</c:f>
              <c:strCache>
                <c:ptCount val="2"/>
                <c:pt idx="0">
                  <c:v>Realistis</c:v>
                </c:pt>
                <c:pt idx="1">
                  <c:v>Target</c:v>
                </c:pt>
              </c:strCache>
            </c:strRef>
          </c:cat>
          <c:val>
            <c:numRef>
              <c:f>Sheet1!$C$2:$C$3</c:f>
              <c:numCache>
                <c:formatCode>General</c:formatCode>
                <c:ptCount val="2"/>
                <c:pt idx="0">
                  <c:v>3.294</c:v>
                </c:pt>
                <c:pt idx="1">
                  <c:v>4.6836</c:v>
                </c:pt>
              </c:numCache>
            </c:numRef>
          </c:val>
        </c:ser>
        <c:ser>
          <c:idx val="2"/>
          <c:order val="2"/>
          <c:tx>
            <c:strRef>
              <c:f>Sheet1!$D$1</c:f>
              <c:strCache>
                <c:ptCount val="1"/>
                <c:pt idx="0">
                  <c:v>Marketing</c:v>
                </c:pt>
              </c:strCache>
            </c:strRef>
          </c:tx>
          <c:spPr>
            <a:solidFill>
              <a:srgbClr val="E0A458"/>
            </a:solidFill>
            <a:effectLst/>
          </c:spPr>
          <c:invertIfNegative val="0"/>
          <c:dLbls>
            <c:dLbl>
              <c:idx val="0"/>
              <c:delete val="1"/>
            </c:dLbl>
            <c:dLbl>
              <c:idx val="1"/>
              <c:delete val="1"/>
            </c:dLbl>
            <c:numFmt formatCode="#,##0" sourceLinked="0"/>
            <c:spPr>
              <a:noFill/>
              <a:ln>
                <a:noFill/>
              </a:ln>
              <a:effectLst/>
            </c:spPr>
            <c:txPr>
              <a:bodyPr rot="0" spcFirstLastPara="0" vertOverflow="ellipsis" vert="horz" wrap="square" lIns="38100" tIns="19050" rIns="38100" bIns="19050" anchor="ctr" anchorCtr="1"/>
              <a:lstStyle/>
              <a:p>
                <a:pPr>
                  <a:defRPr lang="en-US" sz="1200" b="0" i="0" u="none" strike="noStrike" kern="1200" baseline="0">
                    <a:solidFill>
                      <a:srgbClr val="000000"/>
                    </a:solidFill>
                    <a:latin typeface="Arial" panose="020B0604020202020204"/>
                    <a:ea typeface="+mn-ea"/>
                    <a:cs typeface="+mn-cs"/>
                  </a:defRPr>
                </a:pPr>
              </a:p>
            </c:txPr>
            <c:dLblPos val="ctr"/>
            <c:showLegendKey val="0"/>
            <c:showVal val="0"/>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Sheet1!$A$2:$A$3</c:f>
              <c:strCache>
                <c:ptCount val="2"/>
                <c:pt idx="0">
                  <c:v>Realistis</c:v>
                </c:pt>
                <c:pt idx="1">
                  <c:v>Target</c:v>
                </c:pt>
              </c:strCache>
            </c:strRef>
          </c:cat>
          <c:val>
            <c:numRef>
              <c:f>Sheet1!$D$2:$D$3</c:f>
              <c:numCache>
                <c:formatCode>General</c:formatCode>
                <c:ptCount val="2"/>
                <c:pt idx="0">
                  <c:v>3.294</c:v>
                </c:pt>
                <c:pt idx="1">
                  <c:v>4.6836</c:v>
                </c:pt>
              </c:numCache>
            </c:numRef>
          </c:val>
        </c:ser>
        <c:ser>
          <c:idx val="3"/>
          <c:order val="3"/>
          <c:tx>
            <c:strRef>
              <c:f>Sheet1!$E$1</c:f>
              <c:strCache>
                <c:ptCount val="1"/>
                <c:pt idx="0">
                  <c:v>Fee</c:v>
                </c:pt>
              </c:strCache>
            </c:strRef>
          </c:tx>
          <c:spPr>
            <a:solidFill>
              <a:srgbClr val="6F675C"/>
            </a:solidFill>
            <a:effectLst/>
          </c:spPr>
          <c:invertIfNegative val="0"/>
          <c:dLbls>
            <c:dLbl>
              <c:idx val="0"/>
              <c:delete val="1"/>
            </c:dLbl>
            <c:dLbl>
              <c:idx val="1"/>
              <c:delete val="1"/>
            </c:dLbl>
            <c:numFmt formatCode="#,##0" sourceLinked="0"/>
            <c:spPr>
              <a:noFill/>
              <a:ln>
                <a:noFill/>
              </a:ln>
              <a:effectLst/>
            </c:spPr>
            <c:txPr>
              <a:bodyPr rot="0" spcFirstLastPara="0" vertOverflow="ellipsis" vert="horz" wrap="square" lIns="38100" tIns="19050" rIns="38100" bIns="19050" anchor="ctr" anchorCtr="1"/>
              <a:lstStyle/>
              <a:p>
                <a:pPr>
                  <a:defRPr lang="en-US" sz="1200" b="0" i="0" u="none" strike="noStrike" kern="1200" baseline="0">
                    <a:solidFill>
                      <a:srgbClr val="000000"/>
                    </a:solidFill>
                    <a:latin typeface="Arial" panose="020B0604020202020204"/>
                    <a:ea typeface="+mn-ea"/>
                    <a:cs typeface="+mn-cs"/>
                  </a:defRPr>
                </a:pPr>
              </a:p>
            </c:txPr>
            <c:dLblPos val="ctr"/>
            <c:showLegendKey val="0"/>
            <c:showVal val="0"/>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Sheet1!$A$2:$A$3</c:f>
              <c:strCache>
                <c:ptCount val="2"/>
                <c:pt idx="0">
                  <c:v>Realistis</c:v>
                </c:pt>
                <c:pt idx="1">
                  <c:v>Target</c:v>
                </c:pt>
              </c:strCache>
            </c:strRef>
          </c:cat>
          <c:val>
            <c:numRef>
              <c:f>Sheet1!$E$2:$E$3</c:f>
              <c:numCache>
                <c:formatCode>General</c:formatCode>
                <c:ptCount val="2"/>
                <c:pt idx="0">
                  <c:v>1.464</c:v>
                </c:pt>
                <c:pt idx="1">
                  <c:v>2.0816</c:v>
                </c:pt>
              </c:numCache>
            </c:numRef>
          </c:val>
        </c:ser>
        <c:dLbls>
          <c:showLegendKey val="0"/>
          <c:showVal val="0"/>
          <c:showCatName val="0"/>
          <c:showSerName val="0"/>
          <c:showPercent val="0"/>
          <c:showBubbleSize val="0"/>
        </c:dLbls>
        <c:gapWidth val="50"/>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cmpd="sng" algn="ctr">
            <a:solidFill>
              <a:srgbClr val="888888"/>
            </a:solidFill>
            <a:prstDash val="solid"/>
            <a:round/>
          </a:ln>
        </c:spPr>
        <c:txPr>
          <a:bodyPr rot="-60000000" spcFirstLastPara="0" vertOverflow="ellipsis" vert="horz" wrap="square" anchor="ctr" anchorCtr="1"/>
          <a:lstStyle/>
          <a:p>
            <a:pPr>
              <a:defRPr lang="en-US" sz="1000" b="0" i="0" u="none" strike="noStrike" kern="1200" baseline="0">
                <a:solidFill>
                  <a:srgbClr val="000000"/>
                </a:solidFill>
                <a:latin typeface="Arial" panose="020B0604020202020204"/>
                <a:ea typeface="+mn-ea"/>
                <a:cs typeface="+mn-cs"/>
              </a:defRPr>
            </a:pPr>
          </a:p>
        </c:txPr>
        <c:crossAx val="2094734552"/>
        <c:crosses val="autoZero"/>
        <c:auto val="1"/>
        <c:lblAlgn val="ctr"/>
        <c:lblOffset val="100"/>
        <c:noMultiLvlLbl val="1"/>
      </c:catAx>
      <c:valAx>
        <c:axId val="2094734552"/>
        <c:scaling>
          <c:orientation val="minMax"/>
        </c:scaling>
        <c:delete val="0"/>
        <c:axPos val="b"/>
        <c:majorGridlines>
          <c:spPr>
            <a:ln w="6350" cap="flat" cmpd="sng" algn="ctr">
              <a:solidFill>
                <a:srgbClr val="D9CFBF"/>
              </a:solidFill>
              <a:prstDash val="solid"/>
              <a:round/>
            </a:ln>
          </c:spPr>
        </c:majorGridlines>
        <c:numFmt formatCode="General" sourceLinked="0"/>
        <c:majorTickMark val="out"/>
        <c:minorTickMark val="none"/>
        <c:tickLblPos val="low"/>
        <c:spPr>
          <a:ln w="12700" cap="flat" cmpd="sng" algn="ctr">
            <a:solidFill>
              <a:srgbClr val="888888"/>
            </a:solidFill>
            <a:prstDash val="solid"/>
            <a:round/>
          </a:ln>
        </c:spPr>
        <c:txPr>
          <a:bodyPr rot="-60000000" spcFirstLastPara="0" vertOverflow="ellipsis" vert="horz" wrap="square" anchor="ctr" anchorCtr="1"/>
          <a:lstStyle/>
          <a:p>
            <a:pPr>
              <a:defRPr lang="en-US" sz="1000" b="0" i="0" u="none" strike="noStrike" kern="1200" baseline="0">
                <a:solidFill>
                  <a:srgbClr val="000000"/>
                </a:solidFill>
                <a:latin typeface="Arial" panose="020B0604020202020204"/>
                <a:ea typeface="+mn-ea"/>
                <a:cs typeface="+mn-cs"/>
              </a:defRPr>
            </a:pPr>
          </a:p>
        </c:txPr>
        <c:crossAx val="2094734554"/>
        <c:crosses val="autoZero"/>
        <c:crossBetween val="between"/>
      </c:valAx>
      <c:spPr>
        <a:noFill/>
        <a:ln>
          <a:noFill/>
        </a:ln>
        <a:effectLst/>
      </c:spPr>
    </c:plotArea>
    <c:legend>
      <c:legendPos val="r"/>
      <c:layout/>
      <c:overlay val="0"/>
      <c:txPr>
        <a:bodyPr rot="0" spcFirstLastPara="0" vertOverflow="ellipsis" vert="horz" wrap="square" anchor="ctr" anchorCtr="1"/>
        <a:lstStyle/>
        <a:p>
          <a:pPr>
            <a:defRPr lang="en-US" sz="1000" b="0" i="0" u="none" strike="noStrike" kern="1200" baseline="0">
              <a:solidFill>
                <a:schemeClr val="tx1"/>
              </a:solidFill>
              <a:latin typeface="+mn-lt"/>
              <a:ea typeface="+mn-ea"/>
              <a:cs typeface="+mn-cs"/>
            </a:defRPr>
          </a:pPr>
        </a:p>
      </c:txPr>
    </c:legend>
    <c:plotVisOnly val="1"/>
    <c:dispBlanksAs val="span"/>
    <c:showDLblsOverMax val="0"/>
    <c:extLst>
      <c:ext uri="{0b15fc19-7d7d-44ad-8c2d-2c3a37ce22c3}">
        <chartProps xmlns="https://web.wps.cn/et/2018/main" chartId="{a66c885e-1b67-4587-bb85-6a4d083bd3ea}"/>
      </c:ext>
    </c:extLst>
  </c:chart>
  <c:spPr>
    <a:noFill/>
    <a:ln>
      <a:noFill/>
    </a:ln>
    <a:effectLst/>
  </c:spPr>
  <c:txPr>
    <a:bodyPr/>
    <a:lstStyle/>
    <a:p>
      <a:pPr>
        <a:defRPr lang="en-US"/>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stacked"/>
        <c:varyColors val="0"/>
        <c:ser>
          <c:idx val="0"/>
          <c:order val="0"/>
          <c:tx>
            <c:strRef>
              <c:f>Sheet1!$B$1</c:f>
              <c:strCache>
                <c:ptCount val="1"/>
                <c:pt idx="0">
                  <c:v>Operasional</c:v>
                </c:pt>
              </c:strCache>
            </c:strRef>
          </c:tx>
          <c:spPr>
            <a:solidFill>
              <a:srgbClr val="2F5D50"/>
            </a:solidFill>
            <a:effectLst/>
          </c:spPr>
          <c:invertIfNegative val="0"/>
          <c:dLbls>
            <c:dLbl>
              <c:idx val="0"/>
              <c:delete val="1"/>
            </c:dLbl>
            <c:dLbl>
              <c:idx val="1"/>
              <c:delete val="1"/>
            </c:dLbl>
            <c:numFmt formatCode="#,##0" sourceLinked="0"/>
            <c:spPr>
              <a:noFill/>
              <a:ln>
                <a:noFill/>
              </a:ln>
              <a:effectLst/>
            </c:spPr>
            <c:txPr>
              <a:bodyPr rot="0" spcFirstLastPara="0" vertOverflow="ellipsis" vert="horz" wrap="square" lIns="38100" tIns="19050" rIns="38100" bIns="19050" anchor="ctr" anchorCtr="1"/>
              <a:lstStyle/>
              <a:p>
                <a:pPr>
                  <a:defRPr lang="en-US" sz="1200" b="0" i="0" u="none" strike="noStrike" kern="1200" baseline="0">
                    <a:solidFill>
                      <a:srgbClr val="000000"/>
                    </a:solidFill>
                    <a:latin typeface="Arial" panose="020B0604020202020204"/>
                    <a:ea typeface="+mn-ea"/>
                    <a:cs typeface="+mn-cs"/>
                  </a:defRPr>
                </a:pPr>
              </a:p>
            </c:txPr>
            <c:dLblPos val="ctr"/>
            <c:showLegendKey val="0"/>
            <c:showVal val="0"/>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Sheet1!$A$2:$A$3</c:f>
              <c:strCache>
                <c:ptCount val="2"/>
                <c:pt idx="0">
                  <c:v>Realistis</c:v>
                </c:pt>
                <c:pt idx="1">
                  <c:v>Target</c:v>
                </c:pt>
              </c:strCache>
            </c:strRef>
          </c:cat>
          <c:val>
            <c:numRef>
              <c:f>Sheet1!$B$2:$B$3</c:f>
              <c:numCache>
                <c:formatCode>General</c:formatCode>
                <c:ptCount val="2"/>
                <c:pt idx="0">
                  <c:v>5.544</c:v>
                </c:pt>
                <c:pt idx="1">
                  <c:v>6.399936</c:v>
                </c:pt>
              </c:numCache>
            </c:numRef>
          </c:val>
        </c:ser>
        <c:ser>
          <c:idx val="1"/>
          <c:order val="1"/>
          <c:tx>
            <c:strRef>
              <c:f>Sheet1!$C$1</c:f>
              <c:strCache>
                <c:ptCount val="1"/>
                <c:pt idx="0">
                  <c:v>Marketing &amp; event</c:v>
                </c:pt>
              </c:strCache>
            </c:strRef>
          </c:tx>
          <c:spPr>
            <a:solidFill>
              <a:srgbClr val="C4622D"/>
            </a:solidFill>
            <a:effectLst/>
          </c:spPr>
          <c:invertIfNegative val="0"/>
          <c:dLbls>
            <c:dLbl>
              <c:idx val="0"/>
              <c:delete val="1"/>
            </c:dLbl>
            <c:dLbl>
              <c:idx val="1"/>
              <c:delete val="1"/>
            </c:dLbl>
            <c:numFmt formatCode="#,##0" sourceLinked="0"/>
            <c:spPr>
              <a:noFill/>
              <a:ln>
                <a:noFill/>
              </a:ln>
              <a:effectLst/>
            </c:spPr>
            <c:txPr>
              <a:bodyPr rot="0" spcFirstLastPara="0" vertOverflow="ellipsis" vert="horz" wrap="square" lIns="38100" tIns="19050" rIns="38100" bIns="19050" anchor="ctr" anchorCtr="1"/>
              <a:lstStyle/>
              <a:p>
                <a:pPr>
                  <a:defRPr lang="en-US" sz="1200" b="0" i="0" u="none" strike="noStrike" kern="1200" baseline="0">
                    <a:solidFill>
                      <a:srgbClr val="000000"/>
                    </a:solidFill>
                    <a:latin typeface="Arial" panose="020B0604020202020204"/>
                    <a:ea typeface="+mn-ea"/>
                    <a:cs typeface="+mn-cs"/>
                  </a:defRPr>
                </a:pPr>
              </a:p>
            </c:txPr>
            <c:dLblPos val="ctr"/>
            <c:showLegendKey val="0"/>
            <c:showVal val="0"/>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Sheet1!$A$2:$A$3</c:f>
              <c:strCache>
                <c:ptCount val="2"/>
                <c:pt idx="0">
                  <c:v>Realistis</c:v>
                </c:pt>
                <c:pt idx="1">
                  <c:v>Target</c:v>
                </c:pt>
              </c:strCache>
            </c:strRef>
          </c:cat>
          <c:val>
            <c:numRef>
              <c:f>Sheet1!$C$2:$C$3</c:f>
              <c:numCache>
                <c:formatCode>General</c:formatCode>
                <c:ptCount val="2"/>
                <c:pt idx="0">
                  <c:v>4.851</c:v>
                </c:pt>
                <c:pt idx="1">
                  <c:v>5.599944</c:v>
                </c:pt>
              </c:numCache>
            </c:numRef>
          </c:val>
        </c:ser>
        <c:ser>
          <c:idx val="2"/>
          <c:order val="2"/>
          <c:tx>
            <c:strRef>
              <c:f>Sheet1!$D$1</c:f>
              <c:strCache>
                <c:ptCount val="1"/>
                <c:pt idx="0">
                  <c:v>Branding</c:v>
                </c:pt>
              </c:strCache>
            </c:strRef>
          </c:tx>
          <c:spPr>
            <a:solidFill>
              <a:srgbClr val="E0A458"/>
            </a:solidFill>
            <a:effectLst/>
          </c:spPr>
          <c:invertIfNegative val="0"/>
          <c:dLbls>
            <c:dLbl>
              <c:idx val="0"/>
              <c:delete val="1"/>
            </c:dLbl>
            <c:dLbl>
              <c:idx val="1"/>
              <c:delete val="1"/>
            </c:dLbl>
            <c:numFmt formatCode="#,##0" sourceLinked="0"/>
            <c:spPr>
              <a:noFill/>
              <a:ln>
                <a:noFill/>
              </a:ln>
              <a:effectLst/>
            </c:spPr>
            <c:txPr>
              <a:bodyPr rot="0" spcFirstLastPara="0" vertOverflow="ellipsis" vert="horz" wrap="square" lIns="38100" tIns="19050" rIns="38100" bIns="19050" anchor="ctr" anchorCtr="1"/>
              <a:lstStyle/>
              <a:p>
                <a:pPr>
                  <a:defRPr lang="en-US" sz="1200" b="0" i="0" u="none" strike="noStrike" kern="1200" baseline="0">
                    <a:solidFill>
                      <a:srgbClr val="000000"/>
                    </a:solidFill>
                    <a:latin typeface="Arial" panose="020B0604020202020204"/>
                    <a:ea typeface="+mn-ea"/>
                    <a:cs typeface="+mn-cs"/>
                  </a:defRPr>
                </a:pPr>
              </a:p>
            </c:txPr>
            <c:dLblPos val="ctr"/>
            <c:showLegendKey val="0"/>
            <c:showVal val="0"/>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Sheet1!$A$2:$A$3</c:f>
              <c:strCache>
                <c:ptCount val="2"/>
                <c:pt idx="0">
                  <c:v>Realistis</c:v>
                </c:pt>
                <c:pt idx="1">
                  <c:v>Target</c:v>
                </c:pt>
              </c:strCache>
            </c:strRef>
          </c:cat>
          <c:val>
            <c:numRef>
              <c:f>Sheet1!$D$2:$D$3</c:f>
              <c:numCache>
                <c:formatCode>General</c:formatCode>
                <c:ptCount val="2"/>
                <c:pt idx="0">
                  <c:v>2.079</c:v>
                </c:pt>
                <c:pt idx="1">
                  <c:v>2.399976</c:v>
                </c:pt>
              </c:numCache>
            </c:numRef>
          </c:val>
        </c:ser>
        <c:ser>
          <c:idx val="3"/>
          <c:order val="3"/>
          <c:tx>
            <c:strRef>
              <c:f>Sheet1!$E$1</c:f>
              <c:strCache>
                <c:ptCount val="1"/>
                <c:pt idx="0">
                  <c:v>POS</c:v>
                </c:pt>
              </c:strCache>
            </c:strRef>
          </c:tx>
          <c:spPr>
            <a:solidFill>
              <a:srgbClr val="6F675C"/>
            </a:solidFill>
            <a:effectLst/>
          </c:spPr>
          <c:invertIfNegative val="0"/>
          <c:dLbls>
            <c:dLbl>
              <c:idx val="0"/>
              <c:delete val="1"/>
            </c:dLbl>
            <c:dLbl>
              <c:idx val="1"/>
              <c:delete val="1"/>
            </c:dLbl>
            <c:numFmt formatCode="#,##0" sourceLinked="0"/>
            <c:spPr>
              <a:noFill/>
              <a:ln>
                <a:noFill/>
              </a:ln>
              <a:effectLst/>
            </c:spPr>
            <c:txPr>
              <a:bodyPr rot="0" spcFirstLastPara="0" vertOverflow="ellipsis" vert="horz" wrap="square" lIns="38100" tIns="19050" rIns="38100" bIns="19050" anchor="ctr" anchorCtr="1"/>
              <a:lstStyle/>
              <a:p>
                <a:pPr>
                  <a:defRPr lang="en-US" sz="1200" b="0" i="0" u="none" strike="noStrike" kern="1200" baseline="0">
                    <a:solidFill>
                      <a:srgbClr val="000000"/>
                    </a:solidFill>
                    <a:latin typeface="Arial" panose="020B0604020202020204"/>
                    <a:ea typeface="+mn-ea"/>
                    <a:cs typeface="+mn-cs"/>
                  </a:defRPr>
                </a:pPr>
              </a:p>
            </c:txPr>
            <c:dLblPos val="ctr"/>
            <c:showLegendKey val="0"/>
            <c:showVal val="0"/>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Sheet1!$A$2:$A$3</c:f>
              <c:strCache>
                <c:ptCount val="2"/>
                <c:pt idx="0">
                  <c:v>Realistis</c:v>
                </c:pt>
                <c:pt idx="1">
                  <c:v>Target</c:v>
                </c:pt>
              </c:strCache>
            </c:strRef>
          </c:cat>
          <c:val>
            <c:numRef>
              <c:f>Sheet1!$E$2:$E$3</c:f>
              <c:numCache>
                <c:formatCode>General</c:formatCode>
                <c:ptCount val="2"/>
                <c:pt idx="0">
                  <c:v>1.386</c:v>
                </c:pt>
                <c:pt idx="1">
                  <c:v>1.599984</c:v>
                </c:pt>
              </c:numCache>
            </c:numRef>
          </c:val>
        </c:ser>
        <c:dLbls>
          <c:showLegendKey val="0"/>
          <c:showVal val="0"/>
          <c:showCatName val="0"/>
          <c:showSerName val="0"/>
          <c:showPercent val="0"/>
          <c:showBubbleSize val="0"/>
        </c:dLbls>
        <c:gapWidth val="50"/>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cmpd="sng" algn="ctr">
            <a:solidFill>
              <a:srgbClr val="888888"/>
            </a:solidFill>
            <a:prstDash val="solid"/>
            <a:round/>
          </a:ln>
        </c:spPr>
        <c:txPr>
          <a:bodyPr rot="-60000000" spcFirstLastPara="0" vertOverflow="ellipsis" vert="horz" wrap="square" anchor="ctr" anchorCtr="1"/>
          <a:lstStyle/>
          <a:p>
            <a:pPr>
              <a:defRPr lang="en-US" sz="1000" b="0" i="0" u="none" strike="noStrike" kern="1200" baseline="0">
                <a:solidFill>
                  <a:srgbClr val="000000"/>
                </a:solidFill>
                <a:latin typeface="Arial" panose="020B0604020202020204"/>
                <a:ea typeface="+mn-ea"/>
                <a:cs typeface="+mn-cs"/>
              </a:defRPr>
            </a:pPr>
          </a:p>
        </c:txPr>
        <c:crossAx val="2094734552"/>
        <c:crosses val="autoZero"/>
        <c:auto val="1"/>
        <c:lblAlgn val="ctr"/>
        <c:lblOffset val="100"/>
        <c:noMultiLvlLbl val="1"/>
      </c:catAx>
      <c:valAx>
        <c:axId val="2094734552"/>
        <c:scaling>
          <c:orientation val="minMax"/>
        </c:scaling>
        <c:delete val="0"/>
        <c:axPos val="b"/>
        <c:majorGridlines>
          <c:spPr>
            <a:ln w="6350" cap="flat" cmpd="sng" algn="ctr">
              <a:solidFill>
                <a:srgbClr val="D9CFBF"/>
              </a:solidFill>
              <a:prstDash val="solid"/>
              <a:round/>
            </a:ln>
          </c:spPr>
        </c:majorGridlines>
        <c:numFmt formatCode="General" sourceLinked="0"/>
        <c:majorTickMark val="out"/>
        <c:minorTickMark val="none"/>
        <c:tickLblPos val="low"/>
        <c:spPr>
          <a:ln w="12700" cap="flat" cmpd="sng" algn="ctr">
            <a:solidFill>
              <a:srgbClr val="888888"/>
            </a:solidFill>
            <a:prstDash val="solid"/>
            <a:round/>
          </a:ln>
        </c:spPr>
        <c:txPr>
          <a:bodyPr rot="-60000000" spcFirstLastPara="0" vertOverflow="ellipsis" vert="horz" wrap="square" anchor="ctr" anchorCtr="1"/>
          <a:lstStyle/>
          <a:p>
            <a:pPr>
              <a:defRPr lang="en-US" sz="1000" b="0" i="0" u="none" strike="noStrike" kern="1200" baseline="0">
                <a:solidFill>
                  <a:srgbClr val="000000"/>
                </a:solidFill>
                <a:latin typeface="Arial" panose="020B0604020202020204"/>
                <a:ea typeface="+mn-ea"/>
                <a:cs typeface="+mn-cs"/>
              </a:defRPr>
            </a:pPr>
          </a:p>
        </c:txPr>
        <c:crossAx val="2094734554"/>
        <c:crosses val="autoZero"/>
        <c:crossBetween val="between"/>
      </c:valAx>
      <c:spPr>
        <a:noFill/>
        <a:ln>
          <a:noFill/>
        </a:ln>
        <a:effectLst/>
      </c:spPr>
    </c:plotArea>
    <c:legend>
      <c:legendPos val="r"/>
      <c:layout/>
      <c:overlay val="0"/>
      <c:txPr>
        <a:bodyPr rot="0" spcFirstLastPara="0" vertOverflow="ellipsis" vert="horz" wrap="square" anchor="ctr" anchorCtr="1"/>
        <a:lstStyle/>
        <a:p>
          <a:pPr>
            <a:defRPr lang="en-US" sz="1000" b="0" i="0" u="none" strike="noStrike" kern="1200" baseline="0">
              <a:solidFill>
                <a:schemeClr val="tx1"/>
              </a:solidFill>
              <a:latin typeface="+mn-lt"/>
              <a:ea typeface="+mn-ea"/>
              <a:cs typeface="+mn-cs"/>
            </a:defRPr>
          </a:pPr>
        </a:p>
      </c:txPr>
    </c:legend>
    <c:plotVisOnly val="1"/>
    <c:dispBlanksAs val="span"/>
    <c:showDLblsOverMax val="0"/>
    <c:extLst>
      <c:ext uri="{0b15fc19-7d7d-44ad-8c2d-2c3a37ce22c3}">
        <chartProps xmlns="https://web.wps.cn/et/2018/main" chartId="{aaf882bc-6aeb-442a-96c2-7699673daa59}"/>
      </c:ext>
    </c:extLst>
  </c:chart>
  <c:spPr>
    <a:noFill/>
    <a:ln>
      <a:noFill/>
    </a:ln>
    <a:effectLst/>
  </c:spPr>
  <c:txPr>
    <a:bodyPr/>
    <a:lstStyle/>
    <a:p>
      <a:pPr>
        <a:defRPr lang="en-US"/>
      </a:p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dengan demo hidup, baru masuk ke harga. Jangan mulai dari angka.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hero dan cari.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Filter jalan di peramban.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 sudah diuji.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Pengajuan dari form muncul di sini.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A1814"/>
          </a:solidFill>
        </p:spPr>
        <p:txBody>
          <a:bodyPr/>
          <a:p/>
        </p:txBody>
      </p:sp>
      <p:pic>
        <p:nvPicPr>
          <p:cNvPr id="3" name="Image 0" descr="/home/claude/ws/public/media/ext.jpg"/>
          <p:cNvPicPr>
            <a:picLocks noChangeAspect="1"/>
          </p:cNvPicPr>
          <p:nvPr/>
        </p:nvPicPr>
        <p:blipFill>
          <a:blip r:embed="rId1"/>
          <a:srcRect/>
          <a:stretch>
            <a:fillRect/>
          </a:stretch>
        </p:blipFill>
        <p:spPr>
          <a:xfrm>
            <a:off x="7452360" y="0"/>
            <a:ext cx="4739335" cy="6858000"/>
          </a:xfrm>
          <a:prstGeom prst="rect">
            <a:avLst/>
          </a:prstGeom>
        </p:spPr>
      </p:pic>
      <p:sp>
        <p:nvSpPr>
          <p:cNvPr id="4" name="Shape 1"/>
          <p:cNvSpPr/>
          <p:nvPr/>
        </p:nvSpPr>
        <p:spPr>
          <a:xfrm>
            <a:off x="438912" y="438912"/>
            <a:ext cx="640080" cy="73152"/>
          </a:xfrm>
          <a:prstGeom prst="rect">
            <a:avLst/>
          </a:prstGeom>
          <a:solidFill>
            <a:srgbClr val="C4622D"/>
          </a:solidFill>
        </p:spPr>
        <p:txBody>
          <a:bodyPr/>
          <a:p/>
        </p:txBody>
      </p:sp>
      <p:sp>
        <p:nvSpPr>
          <p:cNvPr id="5" name="Text 2"/>
          <p:cNvSpPr/>
          <p:nvPr/>
        </p:nvSpPr>
        <p:spPr>
          <a:xfrm>
            <a:off x="438912" y="1371600"/>
            <a:ext cx="6583680" cy="1051560"/>
          </a:xfrm>
          <a:prstGeom prst="rect">
            <a:avLst/>
          </a:prstGeom>
          <a:noFill/>
        </p:spPr>
        <p:txBody>
          <a:bodyPr wrap="square" lIns="0" tIns="0" rIns="0" bIns="0" rtlCol="0" anchor="ctr"/>
          <a:lstStyle/>
          <a:p>
            <a:pPr marL="0" indent="0">
              <a:buNone/>
            </a:pPr>
            <a:r>
              <a:rPr lang="en-US" sz="8000" dirty="0">
                <a:solidFill>
                  <a:srgbClr val="F4EFE6"/>
                </a:solidFill>
                <a:latin typeface="Georgia" panose="02040502050405020303" pitchFamily="34" charset="0"/>
                <a:ea typeface="Georgia" panose="02040502050405020303" pitchFamily="34" charset="-122"/>
                <a:cs typeface="Georgia" panose="02040502050405020303" pitchFamily="34" charset="-120"/>
              </a:rPr>
              <a:t>HUNI</a:t>
            </a:r>
            <a:endParaRPr lang="en-US" sz="8000" dirty="0"/>
          </a:p>
        </p:txBody>
      </p:sp>
      <p:sp>
        <p:nvSpPr>
          <p:cNvPr id="6" name="Text 3"/>
          <p:cNvSpPr/>
          <p:nvPr/>
        </p:nvSpPr>
        <p:spPr>
          <a:xfrm>
            <a:off x="438912" y="2560320"/>
            <a:ext cx="6583680" cy="1234440"/>
          </a:xfrm>
          <a:prstGeom prst="rect">
            <a:avLst/>
          </a:prstGeom>
          <a:noFill/>
        </p:spPr>
        <p:txBody>
          <a:bodyPr wrap="square" lIns="0" tIns="0" rIns="0" bIns="0" rtlCol="0" anchor="ctr"/>
          <a:lstStyle/>
          <a:p>
            <a:pPr marL="0" indent="0">
              <a:buNone/>
            </a:pPr>
            <a:r>
              <a:rPr lang="en-US" sz="2800" dirty="0">
                <a:solidFill>
                  <a:srgbClr val="E7DCC8"/>
                </a:solidFill>
                <a:latin typeface="Georgia" panose="02040502050405020303" pitchFamily="34" charset="0"/>
                <a:ea typeface="Georgia" panose="02040502050405020303" pitchFamily="34" charset="-122"/>
                <a:cs typeface="Georgia" panose="02040502050405020303" pitchFamily="34" charset="-120"/>
              </a:rPr>
              <a:t>Website kos dan kontrakan,</a:t>
            </a:r>
            <a:endParaRPr lang="en-US" sz="2800" dirty="0"/>
          </a:p>
          <a:p>
            <a:pPr marL="0" indent="0">
              <a:buNone/>
            </a:pPr>
            <a:r>
              <a:rPr lang="en-US" sz="2800" dirty="0">
                <a:solidFill>
                  <a:srgbClr val="E7DCC8"/>
                </a:solidFill>
                <a:latin typeface="Georgia" panose="02040502050405020303" pitchFamily="34" charset="0"/>
                <a:ea typeface="Georgia" panose="02040502050405020303" pitchFamily="34" charset="-122"/>
                <a:cs typeface="Georgia" panose="02040502050405020303" pitchFamily="34" charset="-120"/>
              </a:rPr>
              <a:t>end to end.</a:t>
            </a:r>
            <a:endParaRPr lang="en-US" sz="2800" dirty="0"/>
          </a:p>
        </p:txBody>
      </p:sp>
      <p:sp>
        <p:nvSpPr>
          <p:cNvPr id="7" name="Text 4"/>
          <p:cNvSpPr/>
          <p:nvPr/>
        </p:nvSpPr>
        <p:spPr>
          <a:xfrm>
            <a:off x="438912" y="4069080"/>
            <a:ext cx="6400800" cy="731520"/>
          </a:xfrm>
          <a:prstGeom prst="rect">
            <a:avLst/>
          </a:prstGeom>
          <a:noFill/>
        </p:spPr>
        <p:txBody>
          <a:bodyPr wrap="square" lIns="0" tIns="0" rIns="0" bIns="0" rtlCol="0" anchor="ctr"/>
          <a:lstStyle/>
          <a:p>
            <a:pPr marL="0" indent="0">
              <a:buNone/>
            </a:pPr>
            <a:r>
              <a:rPr lang="en-US" sz="1600" dirty="0">
                <a:solidFill>
                  <a:srgbClr val="C8BBA8"/>
                </a:solidFill>
                <a:latin typeface="Calibri" panose="020F0502020204030204" pitchFamily="34" charset="0"/>
                <a:ea typeface="Calibri" panose="020F0502020204030204" pitchFamily="34" charset="-122"/>
                <a:cs typeface="Calibri" panose="020F0502020204030204" pitchFamily="34" charset="-120"/>
              </a:rPr>
              <a:t>Proposal untuk pemilik yang mau punya situs sendiri:</a:t>
            </a:r>
            <a:endParaRPr lang="en-US" sz="1600" dirty="0"/>
          </a:p>
          <a:p>
            <a:pPr marL="0" indent="0">
              <a:buNone/>
            </a:pPr>
            <a:r>
              <a:rPr lang="en-US" sz="1600" dirty="0">
                <a:solidFill>
                  <a:srgbClr val="C8BBA8"/>
                </a:solidFill>
                <a:latin typeface="Calibri" panose="020F0502020204030204" pitchFamily="34" charset="0"/>
                <a:ea typeface="Calibri" panose="020F0502020204030204" pitchFamily="34" charset="-122"/>
                <a:cs typeface="Calibri" panose="020F0502020204030204" pitchFamily="34" charset="-120"/>
              </a:rPr>
              <a:t>desain, proof of concept, dan model bagi hasil.</a:t>
            </a:r>
            <a:endParaRPr lang="en-US" sz="1600" dirty="0"/>
          </a:p>
        </p:txBody>
      </p:sp>
      <p:sp>
        <p:nvSpPr>
          <p:cNvPr id="8" name="Text 5"/>
          <p:cNvSpPr/>
          <p:nvPr/>
        </p:nvSpPr>
        <p:spPr>
          <a:xfrm>
            <a:off x="438912" y="5989320"/>
            <a:ext cx="6400800" cy="292608"/>
          </a:xfrm>
          <a:prstGeom prst="rect">
            <a:avLst/>
          </a:prstGeom>
          <a:noFill/>
        </p:spPr>
        <p:txBody>
          <a:bodyPr wrap="square" lIns="0" tIns="0" rIns="0" bIns="0" rtlCol="0" anchor="ctr"/>
          <a:lstStyle/>
          <a:p>
            <a:pPr marL="0" indent="0">
              <a:buNone/>
            </a:pPr>
            <a:r>
              <a:rPr lang="en-US" sz="1300" dirty="0">
                <a:solidFill>
                  <a:srgbClr val="C4622D"/>
                </a:solidFill>
                <a:latin typeface="Calibri" panose="020F0502020204030204" pitchFamily="34" charset="0"/>
                <a:ea typeface="Calibri" panose="020F0502020204030204" pitchFamily="34" charset="-122"/>
                <a:cs typeface="Calibri" panose="020F0502020204030204" pitchFamily="34" charset="-120"/>
              </a:rPr>
              <a:t>Oktober 2026   ·   Penawaran ilustrasi, belum mengikat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02  /  33</a:t>
            </a:r>
            <a:endParaRPr lang="en-US" sz="1100" dirty="0"/>
          </a:p>
        </p:txBody>
      </p:sp>
      <p:sp>
        <p:nvSpPr>
          <p:cNvPr id="7" name="Text 5"/>
          <p:cNvSpPr/>
          <p:nvPr/>
        </p:nvSpPr>
        <p:spPr>
          <a:xfrm>
            <a:off x="384048" y="256032"/>
            <a:ext cx="11338560" cy="457200"/>
          </a:xfrm>
          <a:prstGeom prst="rect">
            <a:avLst/>
          </a:prstGeom>
          <a:noFill/>
        </p:spPr>
        <p:txBody>
          <a:bodyPr wrap="square" lIns="0" tIns="0" rIns="0" bIns="0" rtlCol="0" anchor="ctr"/>
          <a:lstStyle/>
          <a:p>
            <a:pPr marL="0" indent="0">
              <a:buNone/>
            </a:pPr>
            <a:r>
              <a:rPr lang="en-US" sz="2800" dirty="0">
                <a:solidFill>
                  <a:srgbClr val="1A1814"/>
                </a:solidFill>
                <a:latin typeface="Georgia" panose="02040502050405020303" pitchFamily="34" charset="0"/>
                <a:ea typeface="Georgia" panose="02040502050405020303" pitchFamily="34" charset="-122"/>
                <a:cs typeface="Georgia" panose="02040502050405020303" pitchFamily="34" charset="-120"/>
              </a:rPr>
              <a:t>Kamar kosong sunyi. Chat-nya tidak.</a:t>
            </a:r>
            <a:endParaRPr lang="en-US" sz="2800" dirty="0"/>
          </a:p>
        </p:txBody>
      </p:sp>
      <p:sp>
        <p:nvSpPr>
          <p:cNvPr id="8" name="Text 6"/>
          <p:cNvSpPr/>
          <p:nvPr/>
        </p:nvSpPr>
        <p:spPr>
          <a:xfrm>
            <a:off x="384048" y="786384"/>
            <a:ext cx="10972800" cy="310896"/>
          </a:xfrm>
          <a:prstGeom prst="rect">
            <a:avLst/>
          </a:prstGeom>
          <a:noFill/>
        </p:spPr>
        <p:txBody>
          <a:bodyPr wrap="square" lIns="0" tIns="0" rIns="0" bIns="0" rtlCol="0" anchor="ctr"/>
          <a:lstStyle/>
          <a:p>
            <a:pPr marL="0" indent="0">
              <a:buNone/>
            </a:pPr>
            <a:r>
              <a:rPr lang="en-US" sz="1500" dirty="0">
                <a:solidFill>
                  <a:srgbClr val="6F675C"/>
                </a:solidFill>
                <a:latin typeface="Calibri" panose="020F0502020204030204" pitchFamily="34" charset="0"/>
                <a:ea typeface="Calibri" panose="020F0502020204030204" pitchFamily="34" charset="-122"/>
                <a:cs typeface="Calibri" panose="020F0502020204030204" pitchFamily="34" charset="-120"/>
              </a:rPr>
              <a:t>Empat kebiasaan yang bikin unit sulit disewakan tanpa menambah kamar.</a:t>
            </a:r>
            <a:endParaRPr lang="en-US" sz="1500" dirty="0"/>
          </a:p>
        </p:txBody>
      </p:sp>
      <p:sp>
        <p:nvSpPr>
          <p:cNvPr id="9" name="Shape 7"/>
          <p:cNvSpPr/>
          <p:nvPr/>
        </p:nvSpPr>
        <p:spPr>
          <a:xfrm>
            <a:off x="384048" y="1280160"/>
            <a:ext cx="5623560" cy="2331720"/>
          </a:xfrm>
          <a:prstGeom prst="roundRect">
            <a:avLst>
              <a:gd name="adj" fmla="val 3137"/>
            </a:avLst>
          </a:prstGeom>
          <a:solidFill>
            <a:srgbClr val="FBF8F3"/>
          </a:solidFill>
          <a:ln w="12700">
            <a:solidFill>
              <a:srgbClr val="D9CFBF"/>
            </a:solidFill>
            <a:prstDash val="solid"/>
          </a:ln>
        </p:spPr>
        <p:txBody>
          <a:bodyPr/>
          <a:p/>
        </p:txBody>
      </p:sp>
      <p:sp>
        <p:nvSpPr>
          <p:cNvPr id="10" name="Text 8"/>
          <p:cNvSpPr/>
          <p:nvPr/>
        </p:nvSpPr>
        <p:spPr>
          <a:xfrm>
            <a:off x="640080" y="1481328"/>
            <a:ext cx="5120640" cy="329184"/>
          </a:xfrm>
          <a:prstGeom prst="rect">
            <a:avLst/>
          </a:prstGeom>
          <a:noFill/>
        </p:spPr>
        <p:txBody>
          <a:bodyPr wrap="square" lIns="0" tIns="0" rIns="0" bIns="0" rtlCol="0" anchor="ctr"/>
          <a:lstStyle/>
          <a:p>
            <a:pPr marL="0" indent="0">
              <a:buNone/>
            </a:pPr>
            <a:r>
              <a:rPr lang="en-US" sz="2000" dirty="0">
                <a:solidFill>
                  <a:srgbClr val="1A1814"/>
                </a:solidFill>
                <a:latin typeface="Georgia" panose="02040502050405020303" pitchFamily="34" charset="0"/>
                <a:ea typeface="Georgia" panose="02040502050405020303" pitchFamily="34" charset="-122"/>
                <a:cs typeface="Georgia" panose="02040502050405020303" pitchFamily="34" charset="-120"/>
              </a:rPr>
              <a:t>01   Grup chat</a:t>
            </a:r>
            <a:endParaRPr lang="en-US" sz="2000" dirty="0"/>
          </a:p>
        </p:txBody>
      </p:sp>
      <p:sp>
        <p:nvSpPr>
          <p:cNvPr id="11" name="Text 9"/>
          <p:cNvSpPr/>
          <p:nvPr/>
        </p:nvSpPr>
        <p:spPr>
          <a:xfrm>
            <a:off x="640080" y="1901952"/>
            <a:ext cx="5120640" cy="292608"/>
          </a:xfrm>
          <a:prstGeom prst="rect">
            <a:avLst/>
          </a:prstGeom>
          <a:noFill/>
        </p:spPr>
        <p:txBody>
          <a:bodyPr wrap="square" lIns="0" tIns="0" rIns="0" bIns="0" rtlCol="0" anchor="ctr"/>
          <a:lstStyle/>
          <a:p>
            <a:pPr marL="0" indent="0">
              <a:buNone/>
            </a:pPr>
            <a:r>
              <a:rPr lang="en-US" sz="1400" b="1" dirty="0">
                <a:solidFill>
                  <a:srgbClr val="9A4518"/>
                </a:solidFill>
                <a:latin typeface="Calibri" panose="020F0502020204030204" pitchFamily="34" charset="0"/>
                <a:ea typeface="Calibri" panose="020F0502020204030204" pitchFamily="34" charset="-122"/>
                <a:cs typeface="Calibri" panose="020F0502020204030204" pitchFamily="34" charset="-120"/>
              </a:rPr>
              <a:t>Foto tenggelam besoknya.</a:t>
            </a:r>
            <a:endParaRPr lang="en-US" sz="1400" dirty="0"/>
          </a:p>
        </p:txBody>
      </p:sp>
      <p:sp>
        <p:nvSpPr>
          <p:cNvPr id="12" name="Text 10"/>
          <p:cNvSpPr/>
          <p:nvPr/>
        </p:nvSpPr>
        <p:spPr>
          <a:xfrm>
            <a:off x="640080" y="2286000"/>
            <a:ext cx="5120640" cy="1051560"/>
          </a:xfrm>
          <a:prstGeom prst="rect">
            <a:avLst/>
          </a:prstGeom>
          <a:noFill/>
        </p:spPr>
        <p:txBody>
          <a:bodyPr wrap="square" lIns="0" tIns="0" rIns="0" bIns="0" rtlCol="0" anchor="ctr"/>
          <a:lstStyle/>
          <a:p>
            <a:pPr marL="0" indent="0">
              <a:buNone/>
            </a:pPr>
            <a:r>
              <a:rPr lang="en-US" sz="1500" dirty="0">
                <a:solidFill>
                  <a:srgbClr val="3F382F"/>
                </a:solidFill>
                <a:latin typeface="Calibri" panose="020F0502020204030204" pitchFamily="34" charset="0"/>
                <a:ea typeface="Calibri" panose="020F0502020204030204" pitchFamily="34" charset="-122"/>
                <a:cs typeface="Calibri" panose="020F0502020204030204" pitchFamily="34" charset="-120"/>
              </a:rPr>
              <a:t>Harga di caption sering beda dengan harga yang diucap pengelola. Calon penyewa harus bertanya ulang.</a:t>
            </a:r>
            <a:endParaRPr lang="en-US" sz="1500" dirty="0"/>
          </a:p>
        </p:txBody>
      </p:sp>
      <p:sp>
        <p:nvSpPr>
          <p:cNvPr id="13" name="Shape 11"/>
          <p:cNvSpPr/>
          <p:nvPr/>
        </p:nvSpPr>
        <p:spPr>
          <a:xfrm>
            <a:off x="6236208" y="1280160"/>
            <a:ext cx="5623560" cy="2331720"/>
          </a:xfrm>
          <a:prstGeom prst="roundRect">
            <a:avLst>
              <a:gd name="adj" fmla="val 3137"/>
            </a:avLst>
          </a:prstGeom>
          <a:solidFill>
            <a:srgbClr val="FBF8F3"/>
          </a:solidFill>
          <a:ln w="12700">
            <a:solidFill>
              <a:srgbClr val="D9CFBF"/>
            </a:solidFill>
            <a:prstDash val="solid"/>
          </a:ln>
        </p:spPr>
        <p:txBody>
          <a:bodyPr/>
          <a:p/>
        </p:txBody>
      </p:sp>
      <p:sp>
        <p:nvSpPr>
          <p:cNvPr id="14" name="Text 12"/>
          <p:cNvSpPr/>
          <p:nvPr/>
        </p:nvSpPr>
        <p:spPr>
          <a:xfrm>
            <a:off x="6492240" y="1481328"/>
            <a:ext cx="5120640" cy="329184"/>
          </a:xfrm>
          <a:prstGeom prst="rect">
            <a:avLst/>
          </a:prstGeom>
          <a:noFill/>
        </p:spPr>
        <p:txBody>
          <a:bodyPr wrap="square" lIns="0" tIns="0" rIns="0" bIns="0" rtlCol="0" anchor="ctr"/>
          <a:lstStyle/>
          <a:p>
            <a:pPr marL="0" indent="0">
              <a:buNone/>
            </a:pPr>
            <a:r>
              <a:rPr lang="en-US" sz="2000" dirty="0">
                <a:solidFill>
                  <a:srgbClr val="1A1814"/>
                </a:solidFill>
                <a:latin typeface="Georgia" panose="02040502050405020303" pitchFamily="34" charset="0"/>
                <a:ea typeface="Georgia" panose="02040502050405020303" pitchFamily="34" charset="-122"/>
                <a:cs typeface="Georgia" panose="02040502050405020303" pitchFamily="34" charset="-120"/>
              </a:rPr>
              <a:t>02   Marketplace umum</a:t>
            </a:r>
            <a:endParaRPr lang="en-US" sz="2000" dirty="0"/>
          </a:p>
        </p:txBody>
      </p:sp>
      <p:sp>
        <p:nvSpPr>
          <p:cNvPr id="15" name="Text 13"/>
          <p:cNvSpPr/>
          <p:nvPr/>
        </p:nvSpPr>
        <p:spPr>
          <a:xfrm>
            <a:off x="6492240" y="1901952"/>
            <a:ext cx="5120640" cy="292608"/>
          </a:xfrm>
          <a:prstGeom prst="rect">
            <a:avLst/>
          </a:prstGeom>
          <a:noFill/>
        </p:spPr>
        <p:txBody>
          <a:bodyPr wrap="square" lIns="0" tIns="0" rIns="0" bIns="0" rtlCol="0" anchor="ctr"/>
          <a:lstStyle/>
          <a:p>
            <a:pPr marL="0" indent="0">
              <a:buNone/>
            </a:pPr>
            <a:r>
              <a:rPr lang="en-US" sz="1400" b="1" dirty="0">
                <a:solidFill>
                  <a:srgbClr val="9A4518"/>
                </a:solidFill>
                <a:latin typeface="Calibri" panose="020F0502020204030204" pitchFamily="34" charset="0"/>
                <a:ea typeface="Calibri" panose="020F0502020204030204" pitchFamily="34" charset="-122"/>
                <a:cs typeface="Calibri" panose="020F0502020204030204" pitchFamily="34" charset="-120"/>
              </a:rPr>
              <a:t>Iklan, bukan operasional.</a:t>
            </a:r>
            <a:endParaRPr lang="en-US" sz="1400" dirty="0"/>
          </a:p>
        </p:txBody>
      </p:sp>
      <p:sp>
        <p:nvSpPr>
          <p:cNvPr id="16" name="Text 14"/>
          <p:cNvSpPr/>
          <p:nvPr/>
        </p:nvSpPr>
        <p:spPr>
          <a:xfrm>
            <a:off x="6492240" y="2286000"/>
            <a:ext cx="5120640" cy="1051560"/>
          </a:xfrm>
          <a:prstGeom prst="rect">
            <a:avLst/>
          </a:prstGeom>
          <a:noFill/>
        </p:spPr>
        <p:txBody>
          <a:bodyPr wrap="square" lIns="0" tIns="0" rIns="0" bIns="0" rtlCol="0" anchor="ctr"/>
          <a:lstStyle/>
          <a:p>
            <a:pPr marL="0" indent="0">
              <a:buNone/>
            </a:pPr>
            <a:r>
              <a:rPr lang="en-US" sz="1500" dirty="0">
                <a:solidFill>
                  <a:srgbClr val="3F382F"/>
                </a:solidFill>
                <a:latin typeface="Calibri" panose="020F0502020204030204" pitchFamily="34" charset="0"/>
                <a:ea typeface="Calibri" panose="020F0502020204030204" pitchFamily="34" charset="-122"/>
                <a:cs typeface="Calibri" panose="020F0502020204030204" pitchFamily="34" charset="-120"/>
              </a:rPr>
              <a:t>Unit tercampur dengan rumah dijual. Status kamar hari ini tidak ada. Begitu tersewa, iklannya tetap nongol.</a:t>
            </a:r>
            <a:endParaRPr lang="en-US" sz="1500" dirty="0"/>
          </a:p>
        </p:txBody>
      </p:sp>
      <p:sp>
        <p:nvSpPr>
          <p:cNvPr id="17" name="Shape 15"/>
          <p:cNvSpPr/>
          <p:nvPr/>
        </p:nvSpPr>
        <p:spPr>
          <a:xfrm>
            <a:off x="384048" y="3794760"/>
            <a:ext cx="5623560" cy="2331720"/>
          </a:xfrm>
          <a:prstGeom prst="roundRect">
            <a:avLst>
              <a:gd name="adj" fmla="val 3137"/>
            </a:avLst>
          </a:prstGeom>
          <a:solidFill>
            <a:srgbClr val="FBF8F3"/>
          </a:solidFill>
          <a:ln w="12700">
            <a:solidFill>
              <a:srgbClr val="D9CFBF"/>
            </a:solidFill>
            <a:prstDash val="solid"/>
          </a:ln>
        </p:spPr>
        <p:txBody>
          <a:bodyPr/>
          <a:p/>
        </p:txBody>
      </p:sp>
      <p:sp>
        <p:nvSpPr>
          <p:cNvPr id="18" name="Text 16"/>
          <p:cNvSpPr/>
          <p:nvPr/>
        </p:nvSpPr>
        <p:spPr>
          <a:xfrm>
            <a:off x="640080" y="3995928"/>
            <a:ext cx="5120640" cy="329184"/>
          </a:xfrm>
          <a:prstGeom prst="rect">
            <a:avLst/>
          </a:prstGeom>
          <a:noFill/>
        </p:spPr>
        <p:txBody>
          <a:bodyPr wrap="square" lIns="0" tIns="0" rIns="0" bIns="0" rtlCol="0" anchor="ctr"/>
          <a:lstStyle/>
          <a:p>
            <a:pPr marL="0" indent="0">
              <a:buNone/>
            </a:pPr>
            <a:r>
              <a:rPr lang="en-US" sz="2000" dirty="0">
                <a:solidFill>
                  <a:srgbClr val="1A1814"/>
                </a:solidFill>
                <a:latin typeface="Georgia" panose="02040502050405020303" pitchFamily="34" charset="0"/>
                <a:ea typeface="Georgia" panose="02040502050405020303" pitchFamily="34" charset="-122"/>
                <a:cs typeface="Georgia" panose="02040502050405020303" pitchFamily="34" charset="-120"/>
              </a:rPr>
              <a:t>03   Calo</a:t>
            </a:r>
            <a:endParaRPr lang="en-US" sz="2000" dirty="0"/>
          </a:p>
        </p:txBody>
      </p:sp>
      <p:sp>
        <p:nvSpPr>
          <p:cNvPr id="19" name="Text 17"/>
          <p:cNvSpPr/>
          <p:nvPr/>
        </p:nvSpPr>
        <p:spPr>
          <a:xfrm>
            <a:off x="640080" y="4416552"/>
            <a:ext cx="5120640" cy="292608"/>
          </a:xfrm>
          <a:prstGeom prst="rect">
            <a:avLst/>
          </a:prstGeom>
          <a:noFill/>
        </p:spPr>
        <p:txBody>
          <a:bodyPr wrap="square" lIns="0" tIns="0" rIns="0" bIns="0" rtlCol="0" anchor="ctr"/>
          <a:lstStyle/>
          <a:p>
            <a:pPr marL="0" indent="0">
              <a:buNone/>
            </a:pPr>
            <a:r>
              <a:rPr lang="en-US" sz="1400" b="1" dirty="0">
                <a:solidFill>
                  <a:srgbClr val="9A4518"/>
                </a:solidFill>
                <a:latin typeface="Calibri" panose="020F0502020204030204" pitchFamily="34" charset="0"/>
                <a:ea typeface="Calibri" panose="020F0502020204030204" pitchFamily="34" charset="-122"/>
                <a:cs typeface="Calibri" panose="020F0502020204030204" pitchFamily="34" charset="-120"/>
              </a:rPr>
              <a:t>Satu bulan sewa per orang.</a:t>
            </a:r>
            <a:endParaRPr lang="en-US" sz="1400" dirty="0"/>
          </a:p>
        </p:txBody>
      </p:sp>
      <p:sp>
        <p:nvSpPr>
          <p:cNvPr id="20" name="Text 18"/>
          <p:cNvSpPr/>
          <p:nvPr/>
        </p:nvSpPr>
        <p:spPr>
          <a:xfrm>
            <a:off x="640080" y="4800600"/>
            <a:ext cx="5120640" cy="1051560"/>
          </a:xfrm>
          <a:prstGeom prst="rect">
            <a:avLst/>
          </a:prstGeom>
          <a:noFill/>
        </p:spPr>
        <p:txBody>
          <a:bodyPr wrap="square" lIns="0" tIns="0" rIns="0" bIns="0" rtlCol="0" anchor="ctr"/>
          <a:lstStyle/>
          <a:p>
            <a:pPr marL="0" indent="0">
              <a:buNone/>
            </a:pPr>
            <a:r>
              <a:rPr lang="en-US" sz="1500" dirty="0">
                <a:solidFill>
                  <a:srgbClr val="3F382F"/>
                </a:solidFill>
                <a:latin typeface="Calibri" panose="020F0502020204030204" pitchFamily="34" charset="0"/>
                <a:ea typeface="Calibri" panose="020F0502020204030204" pitchFamily="34" charset="-122"/>
                <a:cs typeface="Calibri" panose="020F0502020204030204" pitchFamily="34" charset="-120"/>
              </a:rPr>
              <a:t>Enam penempatan setahun pada kamar Rp1,2 juta berarti sekitar Rp7,2 juta yang tidak masuk ke pemilik.</a:t>
            </a:r>
            <a:endParaRPr lang="en-US" sz="1500" dirty="0"/>
          </a:p>
        </p:txBody>
      </p:sp>
      <p:sp>
        <p:nvSpPr>
          <p:cNvPr id="21" name="Shape 19"/>
          <p:cNvSpPr/>
          <p:nvPr/>
        </p:nvSpPr>
        <p:spPr>
          <a:xfrm>
            <a:off x="6236208" y="3794760"/>
            <a:ext cx="5623560" cy="2331720"/>
          </a:xfrm>
          <a:prstGeom prst="roundRect">
            <a:avLst>
              <a:gd name="adj" fmla="val 3137"/>
            </a:avLst>
          </a:prstGeom>
          <a:solidFill>
            <a:srgbClr val="FBF8F3"/>
          </a:solidFill>
          <a:ln w="12700">
            <a:solidFill>
              <a:srgbClr val="D9CFBF"/>
            </a:solidFill>
            <a:prstDash val="solid"/>
          </a:ln>
        </p:spPr>
        <p:txBody>
          <a:bodyPr/>
          <a:p/>
        </p:txBody>
      </p:sp>
      <p:sp>
        <p:nvSpPr>
          <p:cNvPr id="22" name="Text 20"/>
          <p:cNvSpPr/>
          <p:nvPr/>
        </p:nvSpPr>
        <p:spPr>
          <a:xfrm>
            <a:off x="6492240" y="3995928"/>
            <a:ext cx="5120640" cy="329184"/>
          </a:xfrm>
          <a:prstGeom prst="rect">
            <a:avLst/>
          </a:prstGeom>
          <a:noFill/>
        </p:spPr>
        <p:txBody>
          <a:bodyPr wrap="square" lIns="0" tIns="0" rIns="0" bIns="0" rtlCol="0" anchor="ctr"/>
          <a:lstStyle/>
          <a:p>
            <a:pPr marL="0" indent="0">
              <a:buNone/>
            </a:pPr>
            <a:r>
              <a:rPr lang="en-US" sz="2000" dirty="0">
                <a:solidFill>
                  <a:srgbClr val="1A1814"/>
                </a:solidFill>
                <a:latin typeface="Georgia" panose="02040502050405020303" pitchFamily="34" charset="0"/>
                <a:ea typeface="Georgia" panose="02040502050405020303" pitchFamily="34" charset="-122"/>
                <a:cs typeface="Georgia" panose="02040502050405020303" pitchFamily="34" charset="-120"/>
              </a:rPr>
              <a:t>04   Catatan di kepala</a:t>
            </a:r>
            <a:endParaRPr lang="en-US" sz="2000" dirty="0"/>
          </a:p>
        </p:txBody>
      </p:sp>
      <p:sp>
        <p:nvSpPr>
          <p:cNvPr id="23" name="Text 21"/>
          <p:cNvSpPr/>
          <p:nvPr/>
        </p:nvSpPr>
        <p:spPr>
          <a:xfrm>
            <a:off x="6492240" y="4416552"/>
            <a:ext cx="5120640" cy="292608"/>
          </a:xfrm>
          <a:prstGeom prst="rect">
            <a:avLst/>
          </a:prstGeom>
          <a:noFill/>
        </p:spPr>
        <p:txBody>
          <a:bodyPr wrap="square" lIns="0" tIns="0" rIns="0" bIns="0" rtlCol="0" anchor="ctr"/>
          <a:lstStyle/>
          <a:p>
            <a:pPr marL="0" indent="0">
              <a:buNone/>
            </a:pPr>
            <a:r>
              <a:rPr lang="en-US" sz="1400" b="1" dirty="0">
                <a:solidFill>
                  <a:srgbClr val="9A4518"/>
                </a:solidFill>
                <a:latin typeface="Calibri" panose="020F0502020204030204" pitchFamily="34" charset="0"/>
                <a:ea typeface="Calibri" panose="020F0502020204030204" pitchFamily="34" charset="-122"/>
                <a:cs typeface="Calibri" panose="020F0502020204030204" pitchFamily="34" charset="-120"/>
              </a:rPr>
              <a:t>Pengganti tidak bisa nerusin.</a:t>
            </a:r>
            <a:endParaRPr lang="en-US" sz="1400" dirty="0"/>
          </a:p>
        </p:txBody>
      </p:sp>
      <p:sp>
        <p:nvSpPr>
          <p:cNvPr id="24" name="Text 22"/>
          <p:cNvSpPr/>
          <p:nvPr/>
        </p:nvSpPr>
        <p:spPr>
          <a:xfrm>
            <a:off x="6492240" y="4800600"/>
            <a:ext cx="5120640" cy="1051560"/>
          </a:xfrm>
          <a:prstGeom prst="rect">
            <a:avLst/>
          </a:prstGeom>
          <a:noFill/>
        </p:spPr>
        <p:txBody>
          <a:bodyPr wrap="square" lIns="0" tIns="0" rIns="0" bIns="0" rtlCol="0" anchor="ctr"/>
          <a:lstStyle/>
          <a:p>
            <a:pPr marL="0" indent="0">
              <a:buNone/>
            </a:pPr>
            <a:r>
              <a:rPr lang="en-US" sz="1500" dirty="0">
                <a:solidFill>
                  <a:srgbClr val="3F382F"/>
                </a:solidFill>
                <a:latin typeface="Calibri" panose="020F0502020204030204" pitchFamily="34" charset="0"/>
                <a:ea typeface="Calibri" panose="020F0502020204030204" pitchFamily="34" charset="-122"/>
                <a:cs typeface="Calibri" panose="020F0502020204030204" pitchFamily="34" charset="-120"/>
              </a:rPr>
              <a:t>Kamar mana yang booking, mana yang sudah bayar, ada di ingatan satu orang. Cuti sehari, jawabannya macet.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03  /  33</a:t>
            </a:r>
            <a:endParaRPr lang="en-US" sz="1100" dirty="0"/>
          </a:p>
        </p:txBody>
      </p:sp>
      <p:sp>
        <p:nvSpPr>
          <p:cNvPr id="7" name="Text 5"/>
          <p:cNvSpPr/>
          <p:nvPr/>
        </p:nvSpPr>
        <p:spPr>
          <a:xfrm>
            <a:off x="384048" y="256032"/>
            <a:ext cx="11338560" cy="457200"/>
          </a:xfrm>
          <a:prstGeom prst="rect">
            <a:avLst/>
          </a:prstGeom>
          <a:noFill/>
        </p:spPr>
        <p:txBody>
          <a:bodyPr wrap="square" lIns="0" tIns="0" rIns="0" bIns="0" rtlCol="0" anchor="ctr"/>
          <a:lstStyle/>
          <a:p>
            <a:pPr marL="0" indent="0">
              <a:buNone/>
            </a:pPr>
            <a:r>
              <a:rPr lang="en-US" sz="2800" dirty="0">
                <a:solidFill>
                  <a:srgbClr val="1A1814"/>
                </a:solidFill>
                <a:latin typeface="Georgia" panose="02040502050405020303" pitchFamily="34" charset="0"/>
                <a:ea typeface="Georgia" panose="02040502050405020303" pitchFamily="34" charset="-122"/>
                <a:cs typeface="Georgia" panose="02040502050405020303" pitchFamily="34" charset="-120"/>
              </a:rPr>
              <a:t>Satu situs. Dua sisi. Tidak lewat calo dulu.</a:t>
            </a:r>
            <a:endParaRPr lang="en-US" sz="2800" dirty="0"/>
          </a:p>
        </p:txBody>
      </p:sp>
      <p:sp>
        <p:nvSpPr>
          <p:cNvPr id="8" name="Text 6"/>
          <p:cNvSpPr/>
          <p:nvPr/>
        </p:nvSpPr>
        <p:spPr>
          <a:xfrm>
            <a:off x="384048" y="804672"/>
            <a:ext cx="11155680" cy="329184"/>
          </a:xfrm>
          <a:prstGeom prst="rect">
            <a:avLst/>
          </a:prstGeom>
          <a:noFill/>
        </p:spPr>
        <p:txBody>
          <a:bodyPr wrap="square" lIns="0" tIns="0" rIns="0" bIns="0" rtlCol="0" anchor="ctr"/>
          <a:lstStyle/>
          <a:p>
            <a:pPr marL="0" indent="0">
              <a:buNone/>
            </a:pPr>
            <a:r>
              <a:rPr lang="en-US" sz="1500" dirty="0">
                <a:solidFill>
                  <a:srgbClr val="6F675C"/>
                </a:solidFill>
                <a:latin typeface="Calibri" panose="020F0502020204030204" pitchFamily="34" charset="0"/>
                <a:ea typeface="Calibri" panose="020F0502020204030204" pitchFamily="34" charset="-122"/>
                <a:cs typeface="Calibri" panose="020F0502020204030204" pitchFamily="34" charset="-120"/>
              </a:rPr>
              <a:t>HUNI diposisikan sebagai website milik pengelola, bukan aplikasi nasional yang merebut merek kos Anda.</a:t>
            </a:r>
            <a:endParaRPr lang="en-US" sz="1500" dirty="0"/>
          </a:p>
        </p:txBody>
      </p:sp>
      <p:sp>
        <p:nvSpPr>
          <p:cNvPr id="9" name="Shape 7"/>
          <p:cNvSpPr/>
          <p:nvPr/>
        </p:nvSpPr>
        <p:spPr>
          <a:xfrm>
            <a:off x="384048" y="1371600"/>
            <a:ext cx="2761488" cy="2880360"/>
          </a:xfrm>
          <a:prstGeom prst="roundRect">
            <a:avLst>
              <a:gd name="adj" fmla="val 2649"/>
            </a:avLst>
          </a:prstGeom>
          <a:solidFill>
            <a:srgbClr val="FBF8F3"/>
          </a:solidFill>
          <a:ln w="12700">
            <a:solidFill>
              <a:srgbClr val="D9CFBF"/>
            </a:solidFill>
            <a:prstDash val="solid"/>
          </a:ln>
        </p:spPr>
        <p:txBody>
          <a:bodyPr/>
          <a:p/>
        </p:txBody>
      </p:sp>
      <p:sp>
        <p:nvSpPr>
          <p:cNvPr id="10" name="Text 8"/>
          <p:cNvSpPr/>
          <p:nvPr/>
        </p:nvSpPr>
        <p:spPr>
          <a:xfrm>
            <a:off x="566928" y="1554480"/>
            <a:ext cx="2377440" cy="365760"/>
          </a:xfrm>
          <a:prstGeom prst="rect">
            <a:avLst/>
          </a:prstGeom>
          <a:noFill/>
        </p:spPr>
        <p:txBody>
          <a:bodyPr wrap="square" lIns="0" tIns="0" rIns="0" bIns="0" rtlCol="0" anchor="ctr"/>
          <a:lstStyle/>
          <a:p>
            <a:pPr marL="0" indent="0">
              <a:buNone/>
            </a:pPr>
            <a:r>
              <a:rPr lang="en-US" sz="2200" dirty="0">
                <a:solidFill>
                  <a:srgbClr val="C4622D"/>
                </a:solidFill>
                <a:latin typeface="Georgia" panose="02040502050405020303" pitchFamily="34" charset="0"/>
                <a:ea typeface="Georgia" panose="02040502050405020303" pitchFamily="34" charset="-122"/>
                <a:cs typeface="Georgia" panose="02040502050405020303" pitchFamily="34" charset="-120"/>
              </a:rPr>
              <a:t>01</a:t>
            </a:r>
            <a:endParaRPr lang="en-US" sz="2200" dirty="0"/>
          </a:p>
        </p:txBody>
      </p:sp>
      <p:sp>
        <p:nvSpPr>
          <p:cNvPr id="11" name="Text 9"/>
          <p:cNvSpPr/>
          <p:nvPr/>
        </p:nvSpPr>
        <p:spPr>
          <a:xfrm>
            <a:off x="566928" y="2011680"/>
            <a:ext cx="2377440" cy="384048"/>
          </a:xfrm>
          <a:prstGeom prst="rect">
            <a:avLst/>
          </a:prstGeom>
          <a:noFill/>
        </p:spPr>
        <p:txBody>
          <a:bodyPr wrap="square" lIns="0" tIns="0" rIns="0" bIns="0" rtlCol="0" anchor="ctr"/>
          <a:lstStyle/>
          <a:p>
            <a:pPr marL="0" indent="0">
              <a:buNone/>
            </a:pPr>
            <a:r>
              <a:rPr lang="en-US" sz="2200" dirty="0">
                <a:solidFill>
                  <a:srgbClr val="1A1814"/>
                </a:solidFill>
                <a:latin typeface="Georgia" panose="02040502050405020303" pitchFamily="34" charset="0"/>
                <a:ea typeface="Georgia" panose="02040502050405020303" pitchFamily="34" charset="-122"/>
                <a:cs typeface="Georgia" panose="02040502050405020303" pitchFamily="34" charset="-120"/>
              </a:rPr>
              <a:t>Pasang</a:t>
            </a:r>
            <a:endParaRPr lang="en-US" sz="2200" dirty="0"/>
          </a:p>
        </p:txBody>
      </p:sp>
      <p:sp>
        <p:nvSpPr>
          <p:cNvPr id="12" name="Text 10"/>
          <p:cNvSpPr/>
          <p:nvPr/>
        </p:nvSpPr>
        <p:spPr>
          <a:xfrm>
            <a:off x="566928" y="2514600"/>
            <a:ext cx="2377440" cy="1463040"/>
          </a:xfrm>
          <a:prstGeom prst="rect">
            <a:avLst/>
          </a:prstGeom>
          <a:noFill/>
        </p:spPr>
        <p:txBody>
          <a:bodyPr wrap="square" lIns="0" tIns="0" rIns="0" bIns="0" rtlCol="0" anchor="ctr"/>
          <a:lstStyle/>
          <a:p>
            <a:pPr marL="0" indent="0">
              <a:buNone/>
            </a:pPr>
            <a:r>
              <a:rPr lang="en-US" sz="1400" dirty="0">
                <a:solidFill>
                  <a:srgbClr val="3F382F"/>
                </a:solidFill>
                <a:latin typeface="Calibri" panose="020F0502020204030204" pitchFamily="34" charset="0"/>
                <a:ea typeface="Calibri" panose="020F0502020204030204" pitchFamily="34" charset="-122"/>
                <a:cs typeface="Calibri" panose="020F0502020204030204" pitchFamily="34" charset="-120"/>
              </a:rPr>
              <a:t>Foto, harga, fasilitas, dan aturan ditulis sekali. Tidak hilang di riwayat chat.</a:t>
            </a:r>
            <a:endParaRPr lang="en-US" sz="1400" dirty="0"/>
          </a:p>
        </p:txBody>
      </p:sp>
      <p:sp>
        <p:nvSpPr>
          <p:cNvPr id="13" name="Shape 11"/>
          <p:cNvSpPr/>
          <p:nvPr/>
        </p:nvSpPr>
        <p:spPr>
          <a:xfrm>
            <a:off x="3310128" y="1371600"/>
            <a:ext cx="2761488" cy="2880360"/>
          </a:xfrm>
          <a:prstGeom prst="roundRect">
            <a:avLst>
              <a:gd name="adj" fmla="val 2649"/>
            </a:avLst>
          </a:prstGeom>
          <a:solidFill>
            <a:srgbClr val="FBF8F3"/>
          </a:solidFill>
          <a:ln w="12700">
            <a:solidFill>
              <a:srgbClr val="D9CFBF"/>
            </a:solidFill>
            <a:prstDash val="solid"/>
          </a:ln>
        </p:spPr>
        <p:txBody>
          <a:bodyPr/>
          <a:p/>
        </p:txBody>
      </p:sp>
      <p:sp>
        <p:nvSpPr>
          <p:cNvPr id="14" name="Text 12"/>
          <p:cNvSpPr/>
          <p:nvPr/>
        </p:nvSpPr>
        <p:spPr>
          <a:xfrm>
            <a:off x="3493008" y="1554480"/>
            <a:ext cx="2377440" cy="365760"/>
          </a:xfrm>
          <a:prstGeom prst="rect">
            <a:avLst/>
          </a:prstGeom>
          <a:noFill/>
        </p:spPr>
        <p:txBody>
          <a:bodyPr wrap="square" lIns="0" tIns="0" rIns="0" bIns="0" rtlCol="0" anchor="ctr"/>
          <a:lstStyle/>
          <a:p>
            <a:pPr marL="0" indent="0">
              <a:buNone/>
            </a:pPr>
            <a:r>
              <a:rPr lang="en-US" sz="2200" dirty="0">
                <a:solidFill>
                  <a:srgbClr val="C4622D"/>
                </a:solidFill>
                <a:latin typeface="Georgia" panose="02040502050405020303" pitchFamily="34" charset="0"/>
                <a:ea typeface="Georgia" panose="02040502050405020303" pitchFamily="34" charset="-122"/>
                <a:cs typeface="Georgia" panose="02040502050405020303" pitchFamily="34" charset="-120"/>
              </a:rPr>
              <a:t>02</a:t>
            </a:r>
            <a:endParaRPr lang="en-US" sz="2200" dirty="0"/>
          </a:p>
        </p:txBody>
      </p:sp>
      <p:sp>
        <p:nvSpPr>
          <p:cNvPr id="15" name="Text 13"/>
          <p:cNvSpPr/>
          <p:nvPr/>
        </p:nvSpPr>
        <p:spPr>
          <a:xfrm>
            <a:off x="3493008" y="2011680"/>
            <a:ext cx="2377440" cy="384048"/>
          </a:xfrm>
          <a:prstGeom prst="rect">
            <a:avLst/>
          </a:prstGeom>
          <a:noFill/>
        </p:spPr>
        <p:txBody>
          <a:bodyPr wrap="square" lIns="0" tIns="0" rIns="0" bIns="0" rtlCol="0" anchor="ctr"/>
          <a:lstStyle/>
          <a:p>
            <a:pPr marL="0" indent="0">
              <a:buNone/>
            </a:pPr>
            <a:r>
              <a:rPr lang="en-US" sz="2200" dirty="0">
                <a:solidFill>
                  <a:srgbClr val="1A1814"/>
                </a:solidFill>
                <a:latin typeface="Georgia" panose="02040502050405020303" pitchFamily="34" charset="0"/>
                <a:ea typeface="Georgia" panose="02040502050405020303" pitchFamily="34" charset="-122"/>
                <a:cs typeface="Georgia" panose="02040502050405020303" pitchFamily="34" charset="-120"/>
              </a:rPr>
              <a:t>Saring</a:t>
            </a:r>
            <a:endParaRPr lang="en-US" sz="2200" dirty="0"/>
          </a:p>
        </p:txBody>
      </p:sp>
      <p:sp>
        <p:nvSpPr>
          <p:cNvPr id="16" name="Text 14"/>
          <p:cNvSpPr/>
          <p:nvPr/>
        </p:nvSpPr>
        <p:spPr>
          <a:xfrm>
            <a:off x="3493008" y="2514600"/>
            <a:ext cx="2377440" cy="1463040"/>
          </a:xfrm>
          <a:prstGeom prst="rect">
            <a:avLst/>
          </a:prstGeom>
          <a:noFill/>
        </p:spPr>
        <p:txBody>
          <a:bodyPr wrap="square" lIns="0" tIns="0" rIns="0" bIns="0" rtlCol="0" anchor="ctr"/>
          <a:lstStyle/>
          <a:p>
            <a:pPr marL="0" indent="0">
              <a:buNone/>
            </a:pPr>
            <a:r>
              <a:rPr lang="en-US" sz="1400" dirty="0">
                <a:solidFill>
                  <a:srgbClr val="3F382F"/>
                </a:solidFill>
                <a:latin typeface="Calibri" panose="020F0502020204030204" pitchFamily="34" charset="0"/>
                <a:ea typeface="Calibri" panose="020F0502020204030204" pitchFamily="34" charset="-122"/>
                <a:cs typeface="Calibri" panose="020F0502020204030204" pitchFamily="34" charset="-120"/>
              </a:rPr>
              <a:t>Calon penyewa pilih kota, jenis, dan batas harga sebelum bertanya.</a:t>
            </a:r>
            <a:endParaRPr lang="en-US" sz="1400" dirty="0"/>
          </a:p>
        </p:txBody>
      </p:sp>
      <p:sp>
        <p:nvSpPr>
          <p:cNvPr id="17" name="Shape 15"/>
          <p:cNvSpPr/>
          <p:nvPr/>
        </p:nvSpPr>
        <p:spPr>
          <a:xfrm>
            <a:off x="6236208" y="1371600"/>
            <a:ext cx="2761488" cy="2880360"/>
          </a:xfrm>
          <a:prstGeom prst="roundRect">
            <a:avLst>
              <a:gd name="adj" fmla="val 2649"/>
            </a:avLst>
          </a:prstGeom>
          <a:solidFill>
            <a:srgbClr val="FBF8F3"/>
          </a:solidFill>
          <a:ln w="12700">
            <a:solidFill>
              <a:srgbClr val="D9CFBF"/>
            </a:solidFill>
            <a:prstDash val="solid"/>
          </a:ln>
        </p:spPr>
        <p:txBody>
          <a:bodyPr/>
          <a:p/>
        </p:txBody>
      </p:sp>
      <p:sp>
        <p:nvSpPr>
          <p:cNvPr id="18" name="Text 16"/>
          <p:cNvSpPr/>
          <p:nvPr/>
        </p:nvSpPr>
        <p:spPr>
          <a:xfrm>
            <a:off x="6419088" y="1554480"/>
            <a:ext cx="2377440" cy="365760"/>
          </a:xfrm>
          <a:prstGeom prst="rect">
            <a:avLst/>
          </a:prstGeom>
          <a:noFill/>
        </p:spPr>
        <p:txBody>
          <a:bodyPr wrap="square" lIns="0" tIns="0" rIns="0" bIns="0" rtlCol="0" anchor="ctr"/>
          <a:lstStyle/>
          <a:p>
            <a:pPr marL="0" indent="0">
              <a:buNone/>
            </a:pPr>
            <a:r>
              <a:rPr lang="en-US" sz="2200" dirty="0">
                <a:solidFill>
                  <a:srgbClr val="C4622D"/>
                </a:solidFill>
                <a:latin typeface="Georgia" panose="02040502050405020303" pitchFamily="34" charset="0"/>
                <a:ea typeface="Georgia" panose="02040502050405020303" pitchFamily="34" charset="-122"/>
                <a:cs typeface="Georgia" panose="02040502050405020303" pitchFamily="34" charset="-120"/>
              </a:rPr>
              <a:t>03</a:t>
            </a:r>
            <a:endParaRPr lang="en-US" sz="2200" dirty="0"/>
          </a:p>
        </p:txBody>
      </p:sp>
      <p:sp>
        <p:nvSpPr>
          <p:cNvPr id="19" name="Text 17"/>
          <p:cNvSpPr/>
          <p:nvPr/>
        </p:nvSpPr>
        <p:spPr>
          <a:xfrm>
            <a:off x="6419088" y="2011680"/>
            <a:ext cx="2377440" cy="384048"/>
          </a:xfrm>
          <a:prstGeom prst="rect">
            <a:avLst/>
          </a:prstGeom>
          <a:noFill/>
        </p:spPr>
        <p:txBody>
          <a:bodyPr wrap="square" lIns="0" tIns="0" rIns="0" bIns="0" rtlCol="0" anchor="ctr"/>
          <a:lstStyle/>
          <a:p>
            <a:pPr marL="0" indent="0">
              <a:buNone/>
            </a:pPr>
            <a:r>
              <a:rPr lang="en-US" sz="2200" dirty="0">
                <a:solidFill>
                  <a:srgbClr val="1A1814"/>
                </a:solidFill>
                <a:latin typeface="Georgia" panose="02040502050405020303" pitchFamily="34" charset="0"/>
                <a:ea typeface="Georgia" panose="02040502050405020303" pitchFamily="34" charset="-122"/>
                <a:cs typeface="Georgia" panose="02040502050405020303" pitchFamily="34" charset="-120"/>
              </a:rPr>
              <a:t>Ajukan</a:t>
            </a:r>
            <a:endParaRPr lang="en-US" sz="2200" dirty="0"/>
          </a:p>
        </p:txBody>
      </p:sp>
      <p:sp>
        <p:nvSpPr>
          <p:cNvPr id="20" name="Text 18"/>
          <p:cNvSpPr/>
          <p:nvPr/>
        </p:nvSpPr>
        <p:spPr>
          <a:xfrm>
            <a:off x="6419088" y="2514600"/>
            <a:ext cx="2377440" cy="1463040"/>
          </a:xfrm>
          <a:prstGeom prst="rect">
            <a:avLst/>
          </a:prstGeom>
          <a:noFill/>
        </p:spPr>
        <p:txBody>
          <a:bodyPr wrap="square" lIns="0" tIns="0" rIns="0" bIns="0" rtlCol="0" anchor="ctr"/>
          <a:lstStyle/>
          <a:p>
            <a:pPr marL="0" indent="0">
              <a:buNone/>
            </a:pPr>
            <a:r>
              <a:rPr lang="en-US" sz="1400" dirty="0">
                <a:solidFill>
                  <a:srgbClr val="3F382F"/>
                </a:solidFill>
                <a:latin typeface="Calibri" panose="020F0502020204030204" pitchFamily="34" charset="0"/>
                <a:ea typeface="Calibri" panose="020F0502020204030204" pitchFamily="34" charset="-122"/>
                <a:cs typeface="Calibri" panose="020F0502020204030204" pitchFamily="34" charset="-120"/>
              </a:rPr>
              <a:t>Nama, nomor, tanggal masuk, dan catatan masuk ke satu daftar.</a:t>
            </a:r>
            <a:endParaRPr lang="en-US" sz="1400" dirty="0"/>
          </a:p>
        </p:txBody>
      </p:sp>
      <p:sp>
        <p:nvSpPr>
          <p:cNvPr id="21" name="Shape 19"/>
          <p:cNvSpPr/>
          <p:nvPr/>
        </p:nvSpPr>
        <p:spPr>
          <a:xfrm>
            <a:off x="9162288" y="1371600"/>
            <a:ext cx="2761488" cy="2880360"/>
          </a:xfrm>
          <a:prstGeom prst="roundRect">
            <a:avLst>
              <a:gd name="adj" fmla="val 2649"/>
            </a:avLst>
          </a:prstGeom>
          <a:solidFill>
            <a:srgbClr val="FBF8F3"/>
          </a:solidFill>
          <a:ln w="12700">
            <a:solidFill>
              <a:srgbClr val="D9CFBF"/>
            </a:solidFill>
            <a:prstDash val="solid"/>
          </a:ln>
        </p:spPr>
        <p:txBody>
          <a:bodyPr/>
          <a:p/>
        </p:txBody>
      </p:sp>
      <p:sp>
        <p:nvSpPr>
          <p:cNvPr id="22" name="Text 20"/>
          <p:cNvSpPr/>
          <p:nvPr/>
        </p:nvSpPr>
        <p:spPr>
          <a:xfrm>
            <a:off x="9345168" y="1554480"/>
            <a:ext cx="2377440" cy="365760"/>
          </a:xfrm>
          <a:prstGeom prst="rect">
            <a:avLst/>
          </a:prstGeom>
          <a:noFill/>
        </p:spPr>
        <p:txBody>
          <a:bodyPr wrap="square" lIns="0" tIns="0" rIns="0" bIns="0" rtlCol="0" anchor="ctr"/>
          <a:lstStyle/>
          <a:p>
            <a:pPr marL="0" indent="0">
              <a:buNone/>
            </a:pPr>
            <a:r>
              <a:rPr lang="en-US" sz="2200" dirty="0">
                <a:solidFill>
                  <a:srgbClr val="C4622D"/>
                </a:solidFill>
                <a:latin typeface="Georgia" panose="02040502050405020303" pitchFamily="34" charset="0"/>
                <a:ea typeface="Georgia" panose="02040502050405020303" pitchFamily="34" charset="-122"/>
                <a:cs typeface="Georgia" panose="02040502050405020303" pitchFamily="34" charset="-120"/>
              </a:rPr>
              <a:t>04</a:t>
            </a:r>
            <a:endParaRPr lang="en-US" sz="2200" dirty="0"/>
          </a:p>
        </p:txBody>
      </p:sp>
      <p:sp>
        <p:nvSpPr>
          <p:cNvPr id="23" name="Text 21"/>
          <p:cNvSpPr/>
          <p:nvPr/>
        </p:nvSpPr>
        <p:spPr>
          <a:xfrm>
            <a:off x="9345168" y="2011680"/>
            <a:ext cx="2377440" cy="384048"/>
          </a:xfrm>
          <a:prstGeom prst="rect">
            <a:avLst/>
          </a:prstGeom>
          <a:noFill/>
        </p:spPr>
        <p:txBody>
          <a:bodyPr wrap="square" lIns="0" tIns="0" rIns="0" bIns="0" rtlCol="0" anchor="ctr"/>
          <a:lstStyle/>
          <a:p>
            <a:pPr marL="0" indent="0">
              <a:buNone/>
            </a:pPr>
            <a:r>
              <a:rPr lang="en-US" sz="2200" dirty="0">
                <a:solidFill>
                  <a:srgbClr val="1A1814"/>
                </a:solidFill>
                <a:latin typeface="Georgia" panose="02040502050405020303" pitchFamily="34" charset="0"/>
                <a:ea typeface="Georgia" panose="02040502050405020303" pitchFamily="34" charset="-122"/>
                <a:cs typeface="Georgia" panose="02040502050405020303" pitchFamily="34" charset="-120"/>
              </a:rPr>
              <a:t>Catat</a:t>
            </a:r>
            <a:endParaRPr lang="en-US" sz="2200" dirty="0"/>
          </a:p>
        </p:txBody>
      </p:sp>
      <p:sp>
        <p:nvSpPr>
          <p:cNvPr id="24" name="Text 22"/>
          <p:cNvSpPr/>
          <p:nvPr/>
        </p:nvSpPr>
        <p:spPr>
          <a:xfrm>
            <a:off x="9345168" y="2514600"/>
            <a:ext cx="2377440" cy="1463040"/>
          </a:xfrm>
          <a:prstGeom prst="rect">
            <a:avLst/>
          </a:prstGeom>
          <a:noFill/>
        </p:spPr>
        <p:txBody>
          <a:bodyPr wrap="square" lIns="0" tIns="0" rIns="0" bIns="0" rtlCol="0" anchor="ctr"/>
          <a:lstStyle/>
          <a:p>
            <a:pPr marL="0" indent="0">
              <a:buNone/>
            </a:pPr>
            <a:r>
              <a:rPr lang="en-US" sz="1400" dirty="0">
                <a:solidFill>
                  <a:srgbClr val="3F382F"/>
                </a:solidFill>
                <a:latin typeface="Calibri" panose="020F0502020204030204" pitchFamily="34" charset="0"/>
                <a:ea typeface="Calibri" panose="020F0502020204030204" pitchFamily="34" charset="-122"/>
                <a:cs typeface="Calibri" panose="020F0502020204030204" pitchFamily="34" charset="-120"/>
              </a:rPr>
              <a:t>Kamar ditandai isi, kosong, atau booking. Pengganti bisa membacanya.</a:t>
            </a:r>
            <a:endParaRPr lang="en-US" sz="1400" dirty="0"/>
          </a:p>
        </p:txBody>
      </p:sp>
      <p:sp>
        <p:nvSpPr>
          <p:cNvPr id="25" name="Shape 23"/>
          <p:cNvSpPr/>
          <p:nvPr/>
        </p:nvSpPr>
        <p:spPr>
          <a:xfrm>
            <a:off x="384048" y="4434840"/>
            <a:ext cx="11411712" cy="1920240"/>
          </a:xfrm>
          <a:prstGeom prst="roundRect">
            <a:avLst>
              <a:gd name="adj" fmla="val 3810"/>
            </a:avLst>
          </a:prstGeom>
          <a:solidFill>
            <a:srgbClr val="2F5D50"/>
          </a:solidFill>
          <a:ln w="12700">
            <a:solidFill>
              <a:srgbClr val="2F5D50"/>
            </a:solidFill>
            <a:prstDash val="solid"/>
          </a:ln>
        </p:spPr>
        <p:txBody>
          <a:bodyPr/>
          <a:p/>
        </p:txBody>
      </p:sp>
      <p:sp>
        <p:nvSpPr>
          <p:cNvPr id="26" name="Text 24"/>
          <p:cNvSpPr/>
          <p:nvPr/>
        </p:nvSpPr>
        <p:spPr>
          <a:xfrm>
            <a:off x="640080" y="4645152"/>
            <a:ext cx="10789920" cy="365760"/>
          </a:xfrm>
          <a:prstGeom prst="rect">
            <a:avLst/>
          </a:prstGeom>
          <a:noFill/>
        </p:spPr>
        <p:txBody>
          <a:bodyPr wrap="square" lIns="0" tIns="0" rIns="0" bIns="0" rtlCol="0" anchor="ctr"/>
          <a:lstStyle/>
          <a:p>
            <a:pPr marL="0" indent="0">
              <a:buNone/>
            </a:pPr>
            <a:r>
              <a:rPr lang="en-US" sz="2000" dirty="0">
                <a:solidFill>
                  <a:srgbClr val="F4EFE6"/>
                </a:solidFill>
                <a:latin typeface="Georgia" panose="02040502050405020303" pitchFamily="34" charset="0"/>
                <a:ea typeface="Georgia" panose="02040502050405020303" pitchFamily="34" charset="-122"/>
                <a:cs typeface="Georgia" panose="02040502050405020303" pitchFamily="34" charset="-120"/>
              </a:rPr>
              <a:t>Kos dan kontrakan di halaman yang sama</a:t>
            </a:r>
            <a:endParaRPr lang="en-US" sz="2000" dirty="0"/>
          </a:p>
        </p:txBody>
      </p:sp>
      <p:sp>
        <p:nvSpPr>
          <p:cNvPr id="27" name="Text 25"/>
          <p:cNvSpPr/>
          <p:nvPr/>
        </p:nvSpPr>
        <p:spPr>
          <a:xfrm>
            <a:off x="640080" y="5074920"/>
            <a:ext cx="10789920" cy="1005840"/>
          </a:xfrm>
          <a:prstGeom prst="rect">
            <a:avLst/>
          </a:prstGeom>
          <a:noFill/>
        </p:spPr>
        <p:txBody>
          <a:bodyPr wrap="square" lIns="0" tIns="0" rIns="0" bIns="0" rtlCol="0" anchor="ctr"/>
          <a:lstStyle/>
          <a:p>
            <a:pPr marL="0" indent="0">
              <a:buNone/>
            </a:pPr>
            <a:r>
              <a:rPr lang="en-US" sz="1500" dirty="0">
                <a:solidFill>
                  <a:srgbClr val="E7DCC8"/>
                </a:solidFill>
                <a:latin typeface="Calibri" panose="020F0502020204030204" pitchFamily="34" charset="0"/>
                <a:ea typeface="Calibri" panose="020F0502020204030204" pitchFamily="34" charset="-122"/>
                <a:cs typeface="Calibri" panose="020F0502020204030204" pitchFamily="34" charset="-120"/>
              </a:rPr>
              <a:t>Kos disewa per kamar, biasanya bulanan. Kontrakan disewa per rumah, biasanya minimal setahun. Keduanya butuh foto yang jujur, harga yang satu, dan status kosong yang tidak bohong. Demo memakai contoh di Cianjur, Bandung, dan Depok.</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04  /  33</a:t>
            </a:r>
            <a:endParaRPr lang="en-US" sz="1100" dirty="0"/>
          </a:p>
        </p:txBody>
      </p:sp>
      <p:sp>
        <p:nvSpPr>
          <p:cNvPr id="7" name="Text 5"/>
          <p:cNvSpPr/>
          <p:nvPr/>
        </p:nvSpPr>
        <p:spPr>
          <a:xfrm>
            <a:off x="384048" y="256032"/>
            <a:ext cx="11338560" cy="457200"/>
          </a:xfrm>
          <a:prstGeom prst="rect">
            <a:avLst/>
          </a:prstGeom>
          <a:noFill/>
        </p:spPr>
        <p:txBody>
          <a:bodyPr wrap="square" lIns="0" tIns="0" rIns="0" bIns="0" rtlCol="0" anchor="ctr"/>
          <a:lstStyle/>
          <a:p>
            <a:pPr marL="0" indent="0">
              <a:buNone/>
            </a:pPr>
            <a:r>
              <a:rPr lang="en-US" sz="2800" dirty="0">
                <a:solidFill>
                  <a:srgbClr val="1A1814"/>
                </a:solidFill>
                <a:latin typeface="Georgia" panose="02040502050405020303" pitchFamily="34" charset="0"/>
                <a:ea typeface="Georgia" panose="02040502050405020303" pitchFamily="34" charset="-122"/>
                <a:cs typeface="Georgia" panose="02040502050405020303" pitchFamily="34" charset="-120"/>
              </a:rPr>
              <a:t>Apa yang dilihat penyewa, apa yang dipegang pemilik.</a:t>
            </a:r>
            <a:endParaRPr lang="en-US" sz="2800" dirty="0"/>
          </a:p>
        </p:txBody>
      </p:sp>
      <p:sp>
        <p:nvSpPr>
          <p:cNvPr id="8" name="Shape 6"/>
          <p:cNvSpPr/>
          <p:nvPr/>
        </p:nvSpPr>
        <p:spPr>
          <a:xfrm>
            <a:off x="384048" y="1051560"/>
            <a:ext cx="5623560" cy="5257800"/>
          </a:xfrm>
          <a:prstGeom prst="roundRect">
            <a:avLst>
              <a:gd name="adj" fmla="val 1391"/>
            </a:avLst>
          </a:prstGeom>
          <a:solidFill>
            <a:srgbClr val="FBF8F3"/>
          </a:solidFill>
          <a:ln w="12700">
            <a:solidFill>
              <a:srgbClr val="D9CFBF"/>
            </a:solidFill>
            <a:prstDash val="solid"/>
          </a:ln>
        </p:spPr>
        <p:txBody>
          <a:bodyPr/>
          <a:p/>
        </p:txBody>
      </p:sp>
      <p:sp>
        <p:nvSpPr>
          <p:cNvPr id="9" name="Shape 7"/>
          <p:cNvSpPr/>
          <p:nvPr/>
        </p:nvSpPr>
        <p:spPr>
          <a:xfrm>
            <a:off x="6190488" y="1051560"/>
            <a:ext cx="5623560" cy="5257800"/>
          </a:xfrm>
          <a:prstGeom prst="roundRect">
            <a:avLst>
              <a:gd name="adj" fmla="val 1391"/>
            </a:avLst>
          </a:prstGeom>
          <a:solidFill>
            <a:srgbClr val="1A1814"/>
          </a:solidFill>
          <a:ln w="12700">
            <a:solidFill>
              <a:srgbClr val="1A1814"/>
            </a:solidFill>
            <a:prstDash val="solid"/>
          </a:ln>
        </p:spPr>
        <p:txBody>
          <a:bodyPr/>
          <a:p/>
        </p:txBody>
      </p:sp>
      <p:sp>
        <p:nvSpPr>
          <p:cNvPr id="10" name="Text 8"/>
          <p:cNvSpPr/>
          <p:nvPr/>
        </p:nvSpPr>
        <p:spPr>
          <a:xfrm>
            <a:off x="640080" y="1280160"/>
            <a:ext cx="5120640" cy="365760"/>
          </a:xfrm>
          <a:prstGeom prst="rect">
            <a:avLst/>
          </a:prstGeom>
          <a:noFill/>
        </p:spPr>
        <p:txBody>
          <a:bodyPr wrap="square" lIns="0" tIns="0" rIns="0" bIns="0" rtlCol="0" anchor="ctr"/>
          <a:lstStyle/>
          <a:p>
            <a:pPr marL="0" indent="0">
              <a:buNone/>
            </a:pPr>
            <a:r>
              <a:rPr lang="en-US" sz="2400" dirty="0">
                <a:solidFill>
                  <a:srgbClr val="1A1814"/>
                </a:solidFill>
                <a:latin typeface="Georgia" panose="02040502050405020303" pitchFamily="34" charset="0"/>
                <a:ea typeface="Georgia" panose="02040502050405020303" pitchFamily="34" charset="-122"/>
                <a:cs typeface="Georgia" panose="02040502050405020303" pitchFamily="34" charset="-120"/>
              </a:rPr>
              <a:t>Calon penghuni</a:t>
            </a:r>
            <a:endParaRPr lang="en-US" sz="2400" dirty="0"/>
          </a:p>
        </p:txBody>
      </p:sp>
      <p:sp>
        <p:nvSpPr>
          <p:cNvPr id="11" name="Text 9"/>
          <p:cNvSpPr/>
          <p:nvPr/>
        </p:nvSpPr>
        <p:spPr>
          <a:xfrm>
            <a:off x="640080" y="1920240"/>
            <a:ext cx="5029200" cy="594360"/>
          </a:xfrm>
          <a:prstGeom prst="rect">
            <a:avLst/>
          </a:prstGeom>
          <a:noFill/>
        </p:spPr>
        <p:txBody>
          <a:bodyPr wrap="square" lIns="0" tIns="0" rIns="0" bIns="0" rtlCol="0" anchor="ctr"/>
          <a:lstStyle/>
          <a:p>
            <a:pPr marL="0" indent="0">
              <a:buNone/>
            </a:pPr>
            <a:r>
              <a:rPr lang="en-US" sz="1600" dirty="0">
                <a:solidFill>
                  <a:srgbClr val="3F382F"/>
                </a:solidFill>
                <a:latin typeface="Calibri" panose="020F0502020204030204" pitchFamily="34" charset="0"/>
                <a:ea typeface="Calibri" panose="020F0502020204030204" pitchFamily="34" charset="-122"/>
                <a:cs typeface="Calibri" panose="020F0502020204030204" pitchFamily="34" charset="-120"/>
              </a:rPr>
              <a:t>Beranda dengan cari nama dan kota</a:t>
            </a:r>
            <a:endParaRPr lang="en-US" sz="1600" dirty="0"/>
          </a:p>
        </p:txBody>
      </p:sp>
      <p:sp>
        <p:nvSpPr>
          <p:cNvPr id="12" name="Text 10"/>
          <p:cNvSpPr/>
          <p:nvPr/>
        </p:nvSpPr>
        <p:spPr>
          <a:xfrm>
            <a:off x="640080" y="2651760"/>
            <a:ext cx="5029200" cy="594360"/>
          </a:xfrm>
          <a:prstGeom prst="rect">
            <a:avLst/>
          </a:prstGeom>
          <a:noFill/>
        </p:spPr>
        <p:txBody>
          <a:bodyPr wrap="square" lIns="0" tIns="0" rIns="0" bIns="0" rtlCol="0" anchor="ctr"/>
          <a:lstStyle/>
          <a:p>
            <a:pPr marL="0" indent="0">
              <a:buNone/>
            </a:pPr>
            <a:r>
              <a:rPr lang="en-US" sz="1600" dirty="0">
                <a:solidFill>
                  <a:srgbClr val="3F382F"/>
                </a:solidFill>
                <a:latin typeface="Calibri" panose="020F0502020204030204" pitchFamily="34" charset="0"/>
                <a:ea typeface="Calibri" panose="020F0502020204030204" pitchFamily="34" charset="-122"/>
                <a:cs typeface="Calibri" panose="020F0502020204030204" pitchFamily="34" charset="-120"/>
              </a:rPr>
              <a:t>Katalog: kos atau kontrakan, batas harga</a:t>
            </a:r>
            <a:endParaRPr lang="en-US" sz="1600" dirty="0"/>
          </a:p>
        </p:txBody>
      </p:sp>
      <p:sp>
        <p:nvSpPr>
          <p:cNvPr id="13" name="Text 11"/>
          <p:cNvSpPr/>
          <p:nvPr/>
        </p:nvSpPr>
        <p:spPr>
          <a:xfrm>
            <a:off x="640080" y="3383280"/>
            <a:ext cx="5029200" cy="594360"/>
          </a:xfrm>
          <a:prstGeom prst="rect">
            <a:avLst/>
          </a:prstGeom>
          <a:noFill/>
        </p:spPr>
        <p:txBody>
          <a:bodyPr wrap="square" lIns="0" tIns="0" rIns="0" bIns="0" rtlCol="0" anchor="ctr"/>
          <a:lstStyle/>
          <a:p>
            <a:pPr marL="0" indent="0">
              <a:buNone/>
            </a:pPr>
            <a:r>
              <a:rPr lang="en-US" sz="1600" dirty="0">
                <a:solidFill>
                  <a:srgbClr val="3F382F"/>
                </a:solidFill>
                <a:latin typeface="Calibri" panose="020F0502020204030204" pitchFamily="34" charset="0"/>
                <a:ea typeface="Calibri" panose="020F0502020204030204" pitchFamily="34" charset="-122"/>
                <a:cs typeface="Calibri" panose="020F0502020204030204" pitchFamily="34" charset="-120"/>
              </a:rPr>
              <a:t>Halaman unit: galeri, ukuran, aturan, sekitar</a:t>
            </a:r>
            <a:endParaRPr lang="en-US" sz="1600" dirty="0"/>
          </a:p>
        </p:txBody>
      </p:sp>
      <p:sp>
        <p:nvSpPr>
          <p:cNvPr id="14" name="Text 12"/>
          <p:cNvSpPr/>
          <p:nvPr/>
        </p:nvSpPr>
        <p:spPr>
          <a:xfrm>
            <a:off x="640080" y="4114800"/>
            <a:ext cx="5029200" cy="594360"/>
          </a:xfrm>
          <a:prstGeom prst="rect">
            <a:avLst/>
          </a:prstGeom>
          <a:noFill/>
        </p:spPr>
        <p:txBody>
          <a:bodyPr wrap="square" lIns="0" tIns="0" rIns="0" bIns="0" rtlCol="0" anchor="ctr"/>
          <a:lstStyle/>
          <a:p>
            <a:pPr marL="0" indent="0">
              <a:buNone/>
            </a:pPr>
            <a:r>
              <a:rPr lang="en-US" sz="1600" dirty="0">
                <a:solidFill>
                  <a:srgbClr val="3F382F"/>
                </a:solidFill>
                <a:latin typeface="Calibri" panose="020F0502020204030204" pitchFamily="34" charset="0"/>
                <a:ea typeface="Calibri" panose="020F0502020204030204" pitchFamily="34" charset="-122"/>
                <a:cs typeface="Calibri" panose="020F0502020204030204" pitchFamily="34" charset="-120"/>
              </a:rPr>
              <a:t>Simpan unit untuk dibandingkan</a:t>
            </a:r>
            <a:endParaRPr lang="en-US" sz="1600" dirty="0"/>
          </a:p>
        </p:txBody>
      </p:sp>
      <p:sp>
        <p:nvSpPr>
          <p:cNvPr id="15" name="Text 13"/>
          <p:cNvSpPr/>
          <p:nvPr/>
        </p:nvSpPr>
        <p:spPr>
          <a:xfrm>
            <a:off x="640080" y="4846320"/>
            <a:ext cx="5029200" cy="594360"/>
          </a:xfrm>
          <a:prstGeom prst="rect">
            <a:avLst/>
          </a:prstGeom>
          <a:noFill/>
        </p:spPr>
        <p:txBody>
          <a:bodyPr wrap="square" lIns="0" tIns="0" rIns="0" bIns="0" rtlCol="0" anchor="ctr"/>
          <a:lstStyle/>
          <a:p>
            <a:pPr marL="0" indent="0">
              <a:buNone/>
            </a:pPr>
            <a:r>
              <a:rPr lang="en-US" sz="1600" dirty="0">
                <a:solidFill>
                  <a:srgbClr val="3F382F"/>
                </a:solidFill>
                <a:latin typeface="Calibri" panose="020F0502020204030204" pitchFamily="34" charset="0"/>
                <a:ea typeface="Calibri" panose="020F0502020204030204" pitchFamily="34" charset="-122"/>
                <a:cs typeface="Calibri" panose="020F0502020204030204" pitchFamily="34" charset="-120"/>
              </a:rPr>
              <a:t>Form ajukan sewa, dengan cek nomor HP</a:t>
            </a:r>
            <a:endParaRPr lang="en-US" sz="1600" dirty="0"/>
          </a:p>
        </p:txBody>
      </p:sp>
      <p:sp>
        <p:nvSpPr>
          <p:cNvPr id="16" name="Text 14"/>
          <p:cNvSpPr/>
          <p:nvPr/>
        </p:nvSpPr>
        <p:spPr>
          <a:xfrm>
            <a:off x="6446520" y="1280160"/>
            <a:ext cx="5120640" cy="365760"/>
          </a:xfrm>
          <a:prstGeom prst="rect">
            <a:avLst/>
          </a:prstGeom>
          <a:noFill/>
        </p:spPr>
        <p:txBody>
          <a:bodyPr wrap="square" lIns="0" tIns="0" rIns="0" bIns="0" rtlCol="0" anchor="ctr"/>
          <a:lstStyle/>
          <a:p>
            <a:pPr marL="0" indent="0">
              <a:buNone/>
            </a:pPr>
            <a:r>
              <a:rPr lang="en-US" sz="2400" dirty="0">
                <a:solidFill>
                  <a:srgbClr val="F4EFE6"/>
                </a:solidFill>
                <a:latin typeface="Georgia" panose="02040502050405020303" pitchFamily="34" charset="0"/>
                <a:ea typeface="Georgia" panose="02040502050405020303" pitchFamily="34" charset="-122"/>
                <a:cs typeface="Georgia" panose="02040502050405020303" pitchFamily="34" charset="-120"/>
              </a:rPr>
              <a:t>Pemilik &amp; pengelola</a:t>
            </a:r>
            <a:endParaRPr lang="en-US" sz="2400" dirty="0"/>
          </a:p>
        </p:txBody>
      </p:sp>
      <p:sp>
        <p:nvSpPr>
          <p:cNvPr id="17" name="Text 15"/>
          <p:cNvSpPr/>
          <p:nvPr/>
        </p:nvSpPr>
        <p:spPr>
          <a:xfrm>
            <a:off x="6446520" y="1920240"/>
            <a:ext cx="5029200" cy="594360"/>
          </a:xfrm>
          <a:prstGeom prst="rect">
            <a:avLst/>
          </a:prstGeom>
          <a:noFill/>
        </p:spPr>
        <p:txBody>
          <a:bodyPr wrap="square" lIns="0" tIns="0" rIns="0" bIns="0" rtlCol="0" anchor="ctr"/>
          <a:lstStyle/>
          <a:p>
            <a:pPr marL="0" indent="0">
              <a:buNone/>
            </a:pPr>
            <a:r>
              <a:rPr lang="en-US" sz="1600" dirty="0">
                <a:solidFill>
                  <a:srgbClr val="E7DCC8"/>
                </a:solidFill>
                <a:latin typeface="Calibri" panose="020F0502020204030204" pitchFamily="34" charset="0"/>
                <a:ea typeface="Calibri" panose="020F0502020204030204" pitchFamily="34" charset="-122"/>
                <a:cs typeface="Calibri" panose="020F0502020204030204" pitchFamily="34" charset="-120"/>
              </a:rPr>
              <a:t>Papan kamar: ketuk untuk ganti status</a:t>
            </a:r>
            <a:endParaRPr lang="en-US" sz="1600" dirty="0"/>
          </a:p>
        </p:txBody>
      </p:sp>
      <p:sp>
        <p:nvSpPr>
          <p:cNvPr id="18" name="Text 16"/>
          <p:cNvSpPr/>
          <p:nvPr/>
        </p:nvSpPr>
        <p:spPr>
          <a:xfrm>
            <a:off x="6446520" y="2651760"/>
            <a:ext cx="5029200" cy="594360"/>
          </a:xfrm>
          <a:prstGeom prst="rect">
            <a:avLst/>
          </a:prstGeom>
          <a:noFill/>
        </p:spPr>
        <p:txBody>
          <a:bodyPr wrap="square" lIns="0" tIns="0" rIns="0" bIns="0" rtlCol="0" anchor="ctr"/>
          <a:lstStyle/>
          <a:p>
            <a:pPr marL="0" indent="0">
              <a:buNone/>
            </a:pPr>
            <a:r>
              <a:rPr lang="en-US" sz="1600" dirty="0">
                <a:solidFill>
                  <a:srgbClr val="E7DCC8"/>
                </a:solidFill>
                <a:latin typeface="Calibri" panose="020F0502020204030204" pitchFamily="34" charset="0"/>
                <a:ea typeface="Calibri" panose="020F0502020204030204" pitchFamily="34" charset="-122"/>
                <a:cs typeface="Calibri" panose="020F0502020204030204" pitchFamily="34" charset="-120"/>
              </a:rPr>
              <a:t>Hitungan isi, booking, dan kosong</a:t>
            </a:r>
            <a:endParaRPr lang="en-US" sz="1600" dirty="0"/>
          </a:p>
        </p:txBody>
      </p:sp>
      <p:sp>
        <p:nvSpPr>
          <p:cNvPr id="19" name="Text 17"/>
          <p:cNvSpPr/>
          <p:nvPr/>
        </p:nvSpPr>
        <p:spPr>
          <a:xfrm>
            <a:off x="6446520" y="3383280"/>
            <a:ext cx="5029200" cy="594360"/>
          </a:xfrm>
          <a:prstGeom prst="rect">
            <a:avLst/>
          </a:prstGeom>
          <a:noFill/>
        </p:spPr>
        <p:txBody>
          <a:bodyPr wrap="square" lIns="0" tIns="0" rIns="0" bIns="0" rtlCol="0" anchor="ctr"/>
          <a:lstStyle/>
          <a:p>
            <a:pPr marL="0" indent="0">
              <a:buNone/>
            </a:pPr>
            <a:r>
              <a:rPr lang="en-US" sz="1600" dirty="0">
                <a:solidFill>
                  <a:srgbClr val="E7DCC8"/>
                </a:solidFill>
                <a:latin typeface="Calibri" panose="020F0502020204030204" pitchFamily="34" charset="0"/>
                <a:ea typeface="Calibri" panose="020F0502020204030204" pitchFamily="34" charset="-122"/>
                <a:cs typeface="Calibri" panose="020F0502020204030204" pitchFamily="34" charset="-120"/>
              </a:rPr>
              <a:t>Daftar pengajuan beserta tanggal masuk</a:t>
            </a:r>
            <a:endParaRPr lang="en-US" sz="1600" dirty="0"/>
          </a:p>
        </p:txBody>
      </p:sp>
      <p:sp>
        <p:nvSpPr>
          <p:cNvPr id="20" name="Text 18"/>
          <p:cNvSpPr/>
          <p:nvPr/>
        </p:nvSpPr>
        <p:spPr>
          <a:xfrm>
            <a:off x="6446520" y="4114800"/>
            <a:ext cx="5029200" cy="594360"/>
          </a:xfrm>
          <a:prstGeom prst="rect">
            <a:avLst/>
          </a:prstGeom>
          <a:noFill/>
        </p:spPr>
        <p:txBody>
          <a:bodyPr wrap="square" lIns="0" tIns="0" rIns="0" bIns="0" rtlCol="0" anchor="ctr"/>
          <a:lstStyle/>
          <a:p>
            <a:pPr marL="0" indent="0">
              <a:buNone/>
            </a:pPr>
            <a:r>
              <a:rPr lang="en-US" sz="1600" dirty="0">
                <a:solidFill>
                  <a:srgbClr val="E7DCC8"/>
                </a:solidFill>
                <a:latin typeface="Calibri" panose="020F0502020204030204" pitchFamily="34" charset="0"/>
                <a:ea typeface="Calibri" panose="020F0502020204030204" pitchFamily="34" charset="-122"/>
                <a:cs typeface="Calibri" panose="020F0502020204030204" pitchFamily="34" charset="-120"/>
              </a:rPr>
              <a:t>Grafik hunian beberapa bulan</a:t>
            </a:r>
            <a:endParaRPr lang="en-US" sz="1600" dirty="0"/>
          </a:p>
        </p:txBody>
      </p:sp>
      <p:sp>
        <p:nvSpPr>
          <p:cNvPr id="21" name="Text 19"/>
          <p:cNvSpPr/>
          <p:nvPr/>
        </p:nvSpPr>
        <p:spPr>
          <a:xfrm>
            <a:off x="6446520" y="4846320"/>
            <a:ext cx="5029200" cy="594360"/>
          </a:xfrm>
          <a:prstGeom prst="rect">
            <a:avLst/>
          </a:prstGeom>
          <a:noFill/>
        </p:spPr>
        <p:txBody>
          <a:bodyPr wrap="square" lIns="0" tIns="0" rIns="0" bIns="0" rtlCol="0" anchor="ctr"/>
          <a:lstStyle/>
          <a:p>
            <a:pPr marL="0" indent="0">
              <a:buNone/>
            </a:pPr>
            <a:r>
              <a:rPr lang="en-US" sz="1600" dirty="0">
                <a:solidFill>
                  <a:srgbClr val="E7DCC8"/>
                </a:solidFill>
                <a:latin typeface="Calibri" panose="020F0502020204030204" pitchFamily="34" charset="0"/>
                <a:ea typeface="Calibri" panose="020F0502020204030204" pitchFamily="34" charset="-122"/>
                <a:cs typeface="Calibri" panose="020F0502020204030204" pitchFamily="34" charset="-120"/>
              </a:rPr>
              <a:t>Tahap lanjut: DP, invoice, laporan uang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05  /  33</a:t>
            </a:r>
            <a:endParaRPr lang="en-US" sz="1100" dirty="0"/>
          </a:p>
        </p:txBody>
      </p:sp>
      <p:sp>
        <p:nvSpPr>
          <p:cNvPr id="7" name="Text 5"/>
          <p:cNvSpPr/>
          <p:nvPr/>
        </p:nvSpPr>
        <p:spPr>
          <a:xfrm>
            <a:off x="384048" y="256032"/>
            <a:ext cx="11338560" cy="457200"/>
          </a:xfrm>
          <a:prstGeom prst="rect">
            <a:avLst/>
          </a:prstGeom>
          <a:noFill/>
        </p:spPr>
        <p:txBody>
          <a:bodyPr wrap="square" lIns="0" tIns="0" rIns="0" bIns="0" rtlCol="0" anchor="ctr"/>
          <a:lstStyle/>
          <a:p>
            <a:pPr marL="0" indent="0">
              <a:buNone/>
            </a:pPr>
            <a:r>
              <a:rPr lang="en-US" sz="2800" dirty="0">
                <a:solidFill>
                  <a:srgbClr val="1A1814"/>
                </a:solidFill>
                <a:latin typeface="Georgia" panose="02040502050405020303" pitchFamily="34" charset="0"/>
                <a:ea typeface="Georgia" panose="02040502050405020303" pitchFamily="34" charset="-122"/>
                <a:cs typeface="Georgia" panose="02040502050405020303" pitchFamily="34" charset="-120"/>
              </a:rPr>
              <a:t>Beranda</a:t>
            </a:r>
            <a:endParaRPr lang="en-US" sz="2800" dirty="0"/>
          </a:p>
        </p:txBody>
      </p:sp>
      <p:pic>
        <p:nvPicPr>
          <p:cNvPr id="8" name="Image 0" descr="/home/claude/ws/artifacts/deck/home.png"/>
          <p:cNvPicPr>
            <a:picLocks noChangeAspect="1"/>
          </p:cNvPicPr>
          <p:nvPr/>
        </p:nvPicPr>
        <p:blipFill>
          <a:blip r:embed="rId1"/>
          <a:stretch>
            <a:fillRect/>
          </a:stretch>
        </p:blipFill>
        <p:spPr>
          <a:xfrm>
            <a:off x="347472" y="960120"/>
            <a:ext cx="7452360" cy="4654296"/>
          </a:xfrm>
          <a:prstGeom prst="rect">
            <a:avLst/>
          </a:prstGeom>
        </p:spPr>
      </p:pic>
      <p:sp>
        <p:nvSpPr>
          <p:cNvPr id="9" name="Text 6"/>
          <p:cNvSpPr/>
          <p:nvPr/>
        </p:nvSpPr>
        <p:spPr>
          <a:xfrm>
            <a:off x="8001000" y="105156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Langsung cari</a:t>
            </a:r>
            <a:endParaRPr lang="en-US" sz="1600" dirty="0"/>
          </a:p>
        </p:txBody>
      </p:sp>
      <p:sp>
        <p:nvSpPr>
          <p:cNvPr id="10" name="Text 7"/>
          <p:cNvSpPr/>
          <p:nvPr/>
        </p:nvSpPr>
        <p:spPr>
          <a:xfrm>
            <a:off x="8001000" y="135331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Nama kos atau kota, tanpa harus daftar dulu.</a:t>
            </a:r>
            <a:endParaRPr lang="en-US" sz="1300" dirty="0"/>
          </a:p>
        </p:txBody>
      </p:sp>
      <p:sp>
        <p:nvSpPr>
          <p:cNvPr id="11" name="Text 8"/>
          <p:cNvSpPr/>
          <p:nvPr/>
        </p:nvSpPr>
        <p:spPr>
          <a:xfrm>
            <a:off x="8001000" y="210312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Foto sungguhan</a:t>
            </a:r>
            <a:endParaRPr lang="en-US" sz="1600" dirty="0"/>
          </a:p>
        </p:txBody>
      </p:sp>
      <p:sp>
        <p:nvSpPr>
          <p:cNvPr id="12" name="Text 9"/>
          <p:cNvSpPr/>
          <p:nvPr/>
        </p:nvSpPr>
        <p:spPr>
          <a:xfrm>
            <a:off x="8001000" y="240487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Bukan kotak abu-abu. Penyewa menilai dari gambar.</a:t>
            </a:r>
            <a:endParaRPr lang="en-US" sz="1300" dirty="0"/>
          </a:p>
        </p:txBody>
      </p:sp>
      <p:sp>
        <p:nvSpPr>
          <p:cNvPr id="13" name="Text 10"/>
          <p:cNvSpPr/>
          <p:nvPr/>
        </p:nvSpPr>
        <p:spPr>
          <a:xfrm>
            <a:off x="8001000" y="315468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Dua produk</a:t>
            </a:r>
            <a:endParaRPr lang="en-US" sz="1600" dirty="0"/>
          </a:p>
        </p:txBody>
      </p:sp>
      <p:sp>
        <p:nvSpPr>
          <p:cNvPr id="14" name="Text 11"/>
          <p:cNvSpPr/>
          <p:nvPr/>
        </p:nvSpPr>
        <p:spPr>
          <a:xfrm>
            <a:off x="8001000" y="345643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Kos per kamar dan kontrakan per rumah, satu merek.</a:t>
            </a:r>
            <a:endParaRPr lang="en-US" sz="1300" dirty="0"/>
          </a:p>
        </p:txBody>
      </p:sp>
      <p:sp>
        <p:nvSpPr>
          <p:cNvPr id="15" name="Text 12"/>
          <p:cNvSpPr/>
          <p:nvPr/>
        </p:nvSpPr>
        <p:spPr>
          <a:xfrm>
            <a:off x="8001000" y="420624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Jujur ini demo</a:t>
            </a:r>
            <a:endParaRPr lang="en-US" sz="1600" dirty="0"/>
          </a:p>
        </p:txBody>
      </p:sp>
      <p:sp>
        <p:nvSpPr>
          <p:cNvPr id="16" name="Text 13"/>
          <p:cNvSpPr/>
          <p:nvPr/>
        </p:nvSpPr>
        <p:spPr>
          <a:xfrm>
            <a:off x="8001000" y="450799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Pita di atas menulis bahwa datanya contoh.</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06  /  33</a:t>
            </a:r>
            <a:endParaRPr lang="en-US" sz="1100" dirty="0"/>
          </a:p>
        </p:txBody>
      </p:sp>
      <p:sp>
        <p:nvSpPr>
          <p:cNvPr id="7" name="Text 5"/>
          <p:cNvSpPr/>
          <p:nvPr/>
        </p:nvSpPr>
        <p:spPr>
          <a:xfrm>
            <a:off x="384048" y="256032"/>
            <a:ext cx="11338560" cy="457200"/>
          </a:xfrm>
          <a:prstGeom prst="rect">
            <a:avLst/>
          </a:prstGeom>
          <a:noFill/>
        </p:spPr>
        <p:txBody>
          <a:bodyPr wrap="square" lIns="0" tIns="0" rIns="0" bIns="0" rtlCol="0" anchor="ctr"/>
          <a:lstStyle/>
          <a:p>
            <a:pPr marL="0" indent="0">
              <a:buNone/>
            </a:pPr>
            <a:r>
              <a:rPr lang="en-US" sz="2800" dirty="0">
                <a:solidFill>
                  <a:srgbClr val="1A1814"/>
                </a:solidFill>
                <a:latin typeface="Georgia" panose="02040502050405020303" pitchFamily="34" charset="0"/>
                <a:ea typeface="Georgia" panose="02040502050405020303" pitchFamily="34" charset="-122"/>
                <a:cs typeface="Georgia" panose="02040502050405020303" pitchFamily="34" charset="-120"/>
              </a:rPr>
              <a:t>Katalog</a:t>
            </a:r>
            <a:endParaRPr lang="en-US" sz="2800" dirty="0"/>
          </a:p>
        </p:txBody>
      </p:sp>
      <p:pic>
        <p:nvPicPr>
          <p:cNvPr id="8" name="Image 0" descr="/home/claude/ws/artifacts/deck/cari.png"/>
          <p:cNvPicPr>
            <a:picLocks noChangeAspect="1"/>
          </p:cNvPicPr>
          <p:nvPr/>
        </p:nvPicPr>
        <p:blipFill>
          <a:blip r:embed="rId1"/>
          <a:stretch>
            <a:fillRect/>
          </a:stretch>
        </p:blipFill>
        <p:spPr>
          <a:xfrm>
            <a:off x="347472" y="960120"/>
            <a:ext cx="7452360" cy="4654296"/>
          </a:xfrm>
          <a:prstGeom prst="rect">
            <a:avLst/>
          </a:prstGeom>
        </p:spPr>
      </p:pic>
      <p:sp>
        <p:nvSpPr>
          <p:cNvPr id="9" name="Text 6"/>
          <p:cNvSpPr/>
          <p:nvPr/>
        </p:nvSpPr>
        <p:spPr>
          <a:xfrm>
            <a:off x="8001000" y="105156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Filter yang dipakai</a:t>
            </a:r>
            <a:endParaRPr lang="en-US" sz="1600" dirty="0"/>
          </a:p>
        </p:txBody>
      </p:sp>
      <p:sp>
        <p:nvSpPr>
          <p:cNvPr id="10" name="Text 7"/>
          <p:cNvSpPr/>
          <p:nvPr/>
        </p:nvSpPr>
        <p:spPr>
          <a:xfrm>
            <a:off x="8001000" y="135331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Kata, jenis, kota, dan batas harga.</a:t>
            </a:r>
            <a:endParaRPr lang="en-US" sz="1300" dirty="0"/>
          </a:p>
        </p:txBody>
      </p:sp>
      <p:sp>
        <p:nvSpPr>
          <p:cNvPr id="11" name="Text 8"/>
          <p:cNvSpPr/>
          <p:nvPr/>
        </p:nvSpPr>
        <p:spPr>
          <a:xfrm>
            <a:off x="8001000" y="210312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Status kosong</a:t>
            </a:r>
            <a:endParaRPr lang="en-US" sz="1600" dirty="0"/>
          </a:p>
        </p:txBody>
      </p:sp>
      <p:sp>
        <p:nvSpPr>
          <p:cNvPr id="12" name="Text 9"/>
          <p:cNvSpPr/>
          <p:nvPr/>
        </p:nvSpPr>
        <p:spPr>
          <a:xfrm>
            <a:off x="8001000" y="240487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Berapa unit yang masih ada, ditulis di kartu.</a:t>
            </a:r>
            <a:endParaRPr lang="en-US" sz="1300" dirty="0"/>
          </a:p>
        </p:txBody>
      </p:sp>
      <p:sp>
        <p:nvSpPr>
          <p:cNvPr id="13" name="Text 10"/>
          <p:cNvSpPr/>
          <p:nvPr/>
        </p:nvSpPr>
        <p:spPr>
          <a:xfrm>
            <a:off x="8001000" y="315468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Harga sebulan</a:t>
            </a:r>
            <a:endParaRPr lang="en-US" sz="1600" dirty="0"/>
          </a:p>
        </p:txBody>
      </p:sp>
      <p:sp>
        <p:nvSpPr>
          <p:cNvPr id="14" name="Text 11"/>
          <p:cNvSpPr/>
          <p:nvPr/>
        </p:nvSpPr>
        <p:spPr>
          <a:xfrm>
            <a:off x="8001000" y="345643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Kontrakan pun ditampilkan per bulan agar bisa dibanding.</a:t>
            </a:r>
            <a:endParaRPr lang="en-US" sz="1300" dirty="0"/>
          </a:p>
        </p:txBody>
      </p:sp>
      <p:sp>
        <p:nvSpPr>
          <p:cNvPr id="15" name="Text 12"/>
          <p:cNvSpPr/>
          <p:nvPr/>
        </p:nvSpPr>
        <p:spPr>
          <a:xfrm>
            <a:off x="8001000" y="420624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Tersimpan</a:t>
            </a:r>
            <a:endParaRPr lang="en-US" sz="1600" dirty="0"/>
          </a:p>
        </p:txBody>
      </p:sp>
      <p:sp>
        <p:nvSpPr>
          <p:cNvPr id="16" name="Text 13"/>
          <p:cNvSpPr/>
          <p:nvPr/>
        </p:nvSpPr>
        <p:spPr>
          <a:xfrm>
            <a:off x="8001000" y="450799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Tombol untuk melihat hanya unit yang disimpan.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07  /  33</a:t>
            </a:r>
            <a:endParaRPr lang="en-US" sz="1100" dirty="0"/>
          </a:p>
        </p:txBody>
      </p:sp>
      <p:sp>
        <p:nvSpPr>
          <p:cNvPr id="7" name="Text 5"/>
          <p:cNvSpPr/>
          <p:nvPr/>
        </p:nvSpPr>
        <p:spPr>
          <a:xfrm>
            <a:off x="384048" y="256032"/>
            <a:ext cx="11338560" cy="457200"/>
          </a:xfrm>
          <a:prstGeom prst="rect">
            <a:avLst/>
          </a:prstGeom>
          <a:noFill/>
        </p:spPr>
        <p:txBody>
          <a:bodyPr wrap="square" lIns="0" tIns="0" rIns="0" bIns="0" rtlCol="0" anchor="ctr"/>
          <a:lstStyle/>
          <a:p>
            <a:pPr marL="0" indent="0">
              <a:buNone/>
            </a:pPr>
            <a:r>
              <a:rPr lang="en-US" sz="2800" dirty="0">
                <a:solidFill>
                  <a:srgbClr val="1A1814"/>
                </a:solidFill>
                <a:latin typeface="Georgia" panose="02040502050405020303" pitchFamily="34" charset="0"/>
                <a:ea typeface="Georgia" panose="02040502050405020303" pitchFamily="34" charset="-122"/>
                <a:cs typeface="Georgia" panose="02040502050405020303" pitchFamily="34" charset="-120"/>
              </a:rPr>
              <a:t>Halaman unit</a:t>
            </a:r>
            <a:endParaRPr lang="en-US" sz="2800" dirty="0"/>
          </a:p>
        </p:txBody>
      </p:sp>
      <p:pic>
        <p:nvPicPr>
          <p:cNvPr id="8" name="Image 0" descr="/home/claude/ws/artifacts/deck/unit.png"/>
          <p:cNvPicPr>
            <a:picLocks noChangeAspect="1"/>
          </p:cNvPicPr>
          <p:nvPr/>
        </p:nvPicPr>
        <p:blipFill>
          <a:blip r:embed="rId1"/>
          <a:stretch>
            <a:fillRect/>
          </a:stretch>
        </p:blipFill>
        <p:spPr>
          <a:xfrm>
            <a:off x="347472" y="960120"/>
            <a:ext cx="7452360" cy="4654296"/>
          </a:xfrm>
          <a:prstGeom prst="rect">
            <a:avLst/>
          </a:prstGeom>
        </p:spPr>
      </p:pic>
      <p:sp>
        <p:nvSpPr>
          <p:cNvPr id="9" name="Text 6"/>
          <p:cNvSpPr/>
          <p:nvPr/>
        </p:nvSpPr>
        <p:spPr>
          <a:xfrm>
            <a:off x="8001000" y="105156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Galeri</a:t>
            </a:r>
            <a:endParaRPr lang="en-US" sz="1600" dirty="0"/>
          </a:p>
        </p:txBody>
      </p:sp>
      <p:sp>
        <p:nvSpPr>
          <p:cNvPr id="10" name="Text 7"/>
          <p:cNvSpPr/>
          <p:nvPr/>
        </p:nvSpPr>
        <p:spPr>
          <a:xfrm>
            <a:off x="8001000" y="135331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Beberapa foto, bukan satu gambar dipaksakan.</a:t>
            </a:r>
            <a:endParaRPr lang="en-US" sz="1300" dirty="0"/>
          </a:p>
        </p:txBody>
      </p:sp>
      <p:sp>
        <p:nvSpPr>
          <p:cNvPr id="11" name="Text 8"/>
          <p:cNvSpPr/>
          <p:nvPr/>
        </p:nvSpPr>
        <p:spPr>
          <a:xfrm>
            <a:off x="8001000" y="210312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Aturan di depan</a:t>
            </a:r>
            <a:endParaRPr lang="en-US" sz="1600" dirty="0"/>
          </a:p>
        </p:txBody>
      </p:sp>
      <p:sp>
        <p:nvSpPr>
          <p:cNvPr id="12" name="Text 9"/>
          <p:cNvSpPr/>
          <p:nvPr/>
        </p:nvSpPr>
        <p:spPr>
          <a:xfrm>
            <a:off x="8001000" y="240487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Jam tamu dan larangan masak tidak disembunyikan.</a:t>
            </a:r>
            <a:endParaRPr lang="en-US" sz="1300" dirty="0"/>
          </a:p>
        </p:txBody>
      </p:sp>
      <p:sp>
        <p:nvSpPr>
          <p:cNvPr id="13" name="Text 10"/>
          <p:cNvSpPr/>
          <p:nvPr/>
        </p:nvSpPr>
        <p:spPr>
          <a:xfrm>
            <a:off x="8001000" y="315468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Ajukan sewa</a:t>
            </a:r>
            <a:endParaRPr lang="en-US" sz="1600" dirty="0"/>
          </a:p>
        </p:txBody>
      </p:sp>
      <p:sp>
        <p:nvSpPr>
          <p:cNvPr id="14" name="Text 11"/>
          <p:cNvSpPr/>
          <p:nvPr/>
        </p:nvSpPr>
        <p:spPr>
          <a:xfrm>
            <a:off x="8001000" y="345643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Nama, HP, tanggal masuk. Nomor dicek formatnya.</a:t>
            </a:r>
            <a:endParaRPr lang="en-US" sz="1300" dirty="0"/>
          </a:p>
        </p:txBody>
      </p:sp>
      <p:sp>
        <p:nvSpPr>
          <p:cNvPr id="15" name="Text 12"/>
          <p:cNvSpPr/>
          <p:nvPr/>
        </p:nvSpPr>
        <p:spPr>
          <a:xfrm>
            <a:off x="8001000" y="420624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Tersimpan di perangkat</a:t>
            </a:r>
            <a:endParaRPr lang="en-US" sz="1600" dirty="0"/>
          </a:p>
        </p:txBody>
      </p:sp>
      <p:sp>
        <p:nvSpPr>
          <p:cNvPr id="16" name="Text 13"/>
          <p:cNvSpPr/>
          <p:nvPr/>
        </p:nvSpPr>
        <p:spPr>
          <a:xfrm>
            <a:off x="8001000" y="450799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Di demo, data belum dikirim ke server.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08  /  33</a:t>
            </a:r>
            <a:endParaRPr lang="en-US" sz="1100" dirty="0"/>
          </a:p>
        </p:txBody>
      </p:sp>
      <p:sp>
        <p:nvSpPr>
          <p:cNvPr id="7" name="Text 5"/>
          <p:cNvSpPr/>
          <p:nvPr/>
        </p:nvSpPr>
        <p:spPr>
          <a:xfrm>
            <a:off x="384048" y="256032"/>
            <a:ext cx="11338560" cy="457200"/>
          </a:xfrm>
          <a:prstGeom prst="rect">
            <a:avLst/>
          </a:prstGeom>
          <a:noFill/>
        </p:spPr>
        <p:txBody>
          <a:bodyPr wrap="square" lIns="0" tIns="0" rIns="0" bIns="0" rtlCol="0" anchor="ctr"/>
          <a:lstStyle/>
          <a:p>
            <a:pPr marL="0" indent="0">
              <a:buNone/>
            </a:pPr>
            <a:r>
              <a:rPr lang="en-US" sz="2800" dirty="0">
                <a:solidFill>
                  <a:srgbClr val="1A1814"/>
                </a:solidFill>
                <a:latin typeface="Georgia" panose="02040502050405020303" pitchFamily="34" charset="0"/>
                <a:ea typeface="Georgia" panose="02040502050405020303" pitchFamily="34" charset="-122"/>
                <a:cs typeface="Georgia" panose="02040502050405020303" pitchFamily="34" charset="-120"/>
              </a:rPr>
              <a:t>Papan pemilik</a:t>
            </a:r>
            <a:endParaRPr lang="en-US" sz="2800" dirty="0"/>
          </a:p>
        </p:txBody>
      </p:sp>
      <p:pic>
        <p:nvPicPr>
          <p:cNvPr id="8" name="Image 0" descr="/home/claude/ws/artifacts/deck/pemilik-inquiry.png"/>
          <p:cNvPicPr>
            <a:picLocks noChangeAspect="1"/>
          </p:cNvPicPr>
          <p:nvPr/>
        </p:nvPicPr>
        <p:blipFill>
          <a:blip r:embed="rId1"/>
          <a:stretch>
            <a:fillRect/>
          </a:stretch>
        </p:blipFill>
        <p:spPr>
          <a:xfrm>
            <a:off x="347472" y="960120"/>
            <a:ext cx="7452360" cy="4654296"/>
          </a:xfrm>
          <a:prstGeom prst="rect">
            <a:avLst/>
          </a:prstGeom>
        </p:spPr>
      </p:pic>
      <p:sp>
        <p:nvSpPr>
          <p:cNvPr id="9" name="Text 6"/>
          <p:cNvSpPr/>
          <p:nvPr/>
        </p:nvSpPr>
        <p:spPr>
          <a:xfrm>
            <a:off x="8001000" y="105156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12 kamar contoh</a:t>
            </a:r>
            <a:endParaRPr lang="en-US" sz="1600" dirty="0"/>
          </a:p>
        </p:txBody>
      </p:sp>
      <p:sp>
        <p:nvSpPr>
          <p:cNvPr id="10" name="Text 7"/>
          <p:cNvSpPr/>
          <p:nvPr/>
        </p:nvSpPr>
        <p:spPr>
          <a:xfrm>
            <a:off x="8001000" y="135331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Ketuk kartu: isi, kosong, lalu booking.</a:t>
            </a:r>
            <a:endParaRPr lang="en-US" sz="1300" dirty="0"/>
          </a:p>
        </p:txBody>
      </p:sp>
      <p:sp>
        <p:nvSpPr>
          <p:cNvPr id="11" name="Text 8"/>
          <p:cNvSpPr/>
          <p:nvPr/>
        </p:nvSpPr>
        <p:spPr>
          <a:xfrm>
            <a:off x="8001000" y="210312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Pengajuan masuk</a:t>
            </a:r>
            <a:endParaRPr lang="en-US" sz="1600" dirty="0"/>
          </a:p>
        </p:txBody>
      </p:sp>
      <p:sp>
        <p:nvSpPr>
          <p:cNvPr id="12" name="Text 9"/>
          <p:cNvSpPr/>
          <p:nvPr/>
        </p:nvSpPr>
        <p:spPr>
          <a:xfrm>
            <a:off x="8001000" y="240487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Termasuk yang baru dikirim dari halaman unit.</a:t>
            </a:r>
            <a:endParaRPr lang="en-US" sz="1300" dirty="0"/>
          </a:p>
        </p:txBody>
      </p:sp>
      <p:sp>
        <p:nvSpPr>
          <p:cNvPr id="13" name="Text 10"/>
          <p:cNvSpPr/>
          <p:nvPr/>
        </p:nvSpPr>
        <p:spPr>
          <a:xfrm>
            <a:off x="8001000" y="315468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Grafik hunian</a:t>
            </a:r>
            <a:endParaRPr lang="en-US" sz="1600" dirty="0"/>
          </a:p>
        </p:txBody>
      </p:sp>
      <p:sp>
        <p:nvSpPr>
          <p:cNvPr id="14" name="Text 11"/>
          <p:cNvSpPr/>
          <p:nvPr/>
        </p:nvSpPr>
        <p:spPr>
          <a:xfrm>
            <a:off x="8001000" y="345643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Mei–Oktober. Angka contoh, bukan hitungan live.</a:t>
            </a:r>
            <a:endParaRPr lang="en-US" sz="1300" dirty="0"/>
          </a:p>
        </p:txBody>
      </p:sp>
      <p:sp>
        <p:nvSpPr>
          <p:cNvPr id="15" name="Text 12"/>
          <p:cNvSpPr/>
          <p:nvPr/>
        </p:nvSpPr>
        <p:spPr>
          <a:xfrm>
            <a:off x="8001000" y="4206240"/>
            <a:ext cx="3840480" cy="292608"/>
          </a:xfrm>
          <a:prstGeom prst="rect">
            <a:avLst/>
          </a:prstGeom>
          <a:noFill/>
        </p:spPr>
        <p:txBody>
          <a:bodyPr wrap="square" lIns="0" tIns="0" rIns="0" bIns="0" rtlCol="0" anchor="ctr"/>
          <a:lstStyle/>
          <a:p>
            <a:pPr marL="0" indent="0">
              <a:buNone/>
            </a:pPr>
            <a:r>
              <a:rPr lang="en-US" sz="1600" dirty="0">
                <a:solidFill>
                  <a:srgbClr val="1A1814"/>
                </a:solidFill>
                <a:latin typeface="Georgia" panose="02040502050405020303" pitchFamily="34" charset="0"/>
                <a:ea typeface="Georgia" panose="02040502050405020303" pitchFamily="34" charset="-122"/>
                <a:cs typeface="Georgia" panose="02040502050405020303" pitchFamily="34" charset="-120"/>
              </a:rPr>
              <a:t>Kos Melati</a:t>
            </a:r>
            <a:endParaRPr lang="en-US" sz="1600" dirty="0"/>
          </a:p>
        </p:txBody>
      </p:sp>
      <p:sp>
        <p:nvSpPr>
          <p:cNvPr id="16" name="Text 13"/>
          <p:cNvSpPr/>
          <p:nvPr/>
        </p:nvSpPr>
        <p:spPr>
          <a:xfrm>
            <a:off x="8001000" y="4507992"/>
            <a:ext cx="3840480" cy="640080"/>
          </a:xfrm>
          <a:prstGeom prst="rect">
            <a:avLst/>
          </a:prstGeom>
          <a:noFill/>
        </p:spPr>
        <p:txBody>
          <a:bodyPr wrap="square" lIns="0" tIns="0" rIns="0" bIns="0" rtlCol="0" anchor="ctr"/>
          <a:lstStyle/>
          <a:p>
            <a:pPr marL="0" indent="0">
              <a:buNone/>
            </a:pPr>
            <a:r>
              <a:rPr lang="en-US" sz="1300" dirty="0">
                <a:solidFill>
                  <a:srgbClr val="3F382F"/>
                </a:solidFill>
                <a:latin typeface="Calibri" panose="020F0502020204030204" pitchFamily="34" charset="0"/>
                <a:ea typeface="Calibri" panose="020F0502020204030204" pitchFamily="34" charset="-122"/>
                <a:cs typeface="Calibri" panose="020F0502020204030204" pitchFamily="34" charset="-120"/>
              </a:rPr>
              <a:t>Satu properti dulu. Multi-properti ditambah di tahap lanjut.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09  /  33</a:t>
            </a:r>
            <a:endParaRPr lang="en-US" sz="1100" dirty="0"/>
          </a:p>
        </p:txBody>
      </p:sp>
      <p:sp>
        <p:nvSpPr>
          <p:cNvPr id="7" name="Text 5"/>
          <p:cNvSpPr/>
          <p:nvPr/>
        </p:nvSpPr>
        <p:spPr>
          <a:xfrm>
            <a:off x="384048" y="256032"/>
            <a:ext cx="11338560" cy="457200"/>
          </a:xfrm>
          <a:prstGeom prst="rect">
            <a:avLst/>
          </a:prstGeom>
          <a:noFill/>
        </p:spPr>
        <p:txBody>
          <a:bodyPr wrap="square" lIns="0" tIns="0" rIns="0" bIns="0" rtlCol="0" anchor="ctr"/>
          <a:lstStyle/>
          <a:p>
            <a:pPr marL="0" indent="0">
              <a:buNone/>
            </a:pPr>
            <a:r>
              <a:rPr lang="en-US" sz="2800" dirty="0">
                <a:solidFill>
                  <a:srgbClr val="1A1814"/>
                </a:solidFill>
                <a:latin typeface="Georgia" panose="02040502050405020303" pitchFamily="34" charset="0"/>
                <a:ea typeface="Georgia" panose="02040502050405020303" pitchFamily="34" charset="-122"/>
                <a:cs typeface="Georgia" panose="02040502050405020303" pitchFamily="34" charset="-120"/>
              </a:rPr>
              <a:t>Dipakai dari HP, karena yang cari kos jarang buka laptop.</a:t>
            </a:r>
            <a:endParaRPr lang="en-US" sz="2800" dirty="0"/>
          </a:p>
        </p:txBody>
      </p:sp>
      <p:pic>
        <p:nvPicPr>
          <p:cNvPr id="8" name="Image 0" descr="/home/claude/ws/artifacts/deck/home-mobile.png"/>
          <p:cNvPicPr>
            <a:picLocks noChangeAspect="1"/>
          </p:cNvPicPr>
          <p:nvPr/>
        </p:nvPicPr>
        <p:blipFill>
          <a:blip r:embed="rId1"/>
          <a:stretch>
            <a:fillRect/>
          </a:stretch>
        </p:blipFill>
        <p:spPr>
          <a:xfrm>
            <a:off x="3714074" y="1051560"/>
            <a:ext cx="2176034" cy="4709160"/>
          </a:xfrm>
          <a:prstGeom prst="rect">
            <a:avLst/>
          </a:prstGeom>
        </p:spPr>
      </p:pic>
      <p:pic>
        <p:nvPicPr>
          <p:cNvPr id="9" name="Image 1" descr="/home/claude/ws/artifacts/deck/unit-mobile.png"/>
          <p:cNvPicPr>
            <a:picLocks noChangeAspect="1"/>
          </p:cNvPicPr>
          <p:nvPr/>
        </p:nvPicPr>
        <p:blipFill>
          <a:blip r:embed="rId2"/>
          <a:stretch>
            <a:fillRect/>
          </a:stretch>
        </p:blipFill>
        <p:spPr>
          <a:xfrm>
            <a:off x="6301588" y="1051560"/>
            <a:ext cx="2176034" cy="4709160"/>
          </a:xfrm>
          <a:prstGeom prst="rect">
            <a:avLst/>
          </a:prstGeom>
        </p:spPr>
      </p:pic>
      <p:sp>
        <p:nvSpPr>
          <p:cNvPr id="10" name="Text 6"/>
          <p:cNvSpPr/>
          <p:nvPr/>
        </p:nvSpPr>
        <p:spPr>
          <a:xfrm>
            <a:off x="3714074" y="5852160"/>
            <a:ext cx="2176034" cy="274320"/>
          </a:xfrm>
          <a:prstGeom prst="rect">
            <a:avLst/>
          </a:prstGeom>
          <a:noFill/>
        </p:spPr>
        <p:txBody>
          <a:bodyPr wrap="square" lIns="0" tIns="0" rIns="0" bIns="0" rtlCol="0" anchor="ctr"/>
          <a:lstStyle/>
          <a:p>
            <a:pPr marL="0" indent="0" algn="ctr">
              <a:buNone/>
            </a:pPr>
            <a:r>
              <a:rPr lang="en-US" sz="1300" dirty="0">
                <a:solidFill>
                  <a:srgbClr val="6F675C"/>
                </a:solidFill>
                <a:latin typeface="Calibri" panose="020F0502020204030204" pitchFamily="34" charset="0"/>
                <a:ea typeface="Calibri" panose="020F0502020204030204" pitchFamily="34" charset="-122"/>
                <a:cs typeface="Calibri" panose="020F0502020204030204" pitchFamily="34" charset="-120"/>
              </a:rPr>
              <a:t>Beranda</a:t>
            </a:r>
            <a:endParaRPr lang="en-US" sz="1300" dirty="0"/>
          </a:p>
        </p:txBody>
      </p:sp>
      <p:sp>
        <p:nvSpPr>
          <p:cNvPr id="11" name="Text 7"/>
          <p:cNvSpPr/>
          <p:nvPr/>
        </p:nvSpPr>
        <p:spPr>
          <a:xfrm>
            <a:off x="6301588" y="5852160"/>
            <a:ext cx="2176034" cy="274320"/>
          </a:xfrm>
          <a:prstGeom prst="rect">
            <a:avLst/>
          </a:prstGeom>
          <a:noFill/>
        </p:spPr>
        <p:txBody>
          <a:bodyPr wrap="square" lIns="0" tIns="0" rIns="0" bIns="0" rtlCol="0" anchor="ctr"/>
          <a:lstStyle/>
          <a:p>
            <a:pPr marL="0" indent="0" algn="ctr">
              <a:buNone/>
            </a:pPr>
            <a:r>
              <a:rPr lang="en-US" sz="1300" dirty="0">
                <a:solidFill>
                  <a:srgbClr val="6F675C"/>
                </a:solidFill>
                <a:latin typeface="Calibri" panose="020F0502020204030204" pitchFamily="34" charset="0"/>
                <a:ea typeface="Calibri" panose="020F0502020204030204" pitchFamily="34" charset="-122"/>
                <a:cs typeface="Calibri" panose="020F0502020204030204" pitchFamily="34" charset="-120"/>
              </a:rPr>
              <a:t>Detail kontrakan</a:t>
            </a:r>
            <a:endParaRPr lang="en-US" sz="1300" dirty="0"/>
          </a:p>
        </p:txBody>
      </p:sp>
      <p:sp>
        <p:nvSpPr>
          <p:cNvPr id="12" name="Shape 8"/>
          <p:cNvSpPr/>
          <p:nvPr/>
        </p:nvSpPr>
        <p:spPr>
          <a:xfrm>
            <a:off x="384048" y="6199632"/>
            <a:ext cx="11430000" cy="292608"/>
          </a:xfrm>
          <a:prstGeom prst="rect">
            <a:avLst/>
          </a:prstGeom>
          <a:solidFill>
            <a:srgbClr val="F4EFE6"/>
          </a:solidFill>
        </p:spPr>
        <p:txBody>
          <a:bodyPr/>
          <a:p/>
        </p:txBody>
      </p:sp>
      <p:sp>
        <p:nvSpPr>
          <p:cNvPr id="13" name="Text 9"/>
          <p:cNvSpPr/>
          <p:nvPr/>
        </p:nvSpPr>
        <p:spPr>
          <a:xfrm>
            <a:off x="384048" y="6172200"/>
            <a:ext cx="11430000" cy="292608"/>
          </a:xfrm>
          <a:prstGeom prst="rect">
            <a:avLst/>
          </a:prstGeom>
          <a:noFill/>
        </p:spPr>
        <p:txBody>
          <a:bodyPr wrap="square" lIns="0" tIns="0" rIns="0" bIns="0" rtlCol="0" anchor="ctr"/>
          <a:lstStyle/>
          <a:p>
            <a:pPr marL="0" indent="0">
              <a:buNone/>
            </a:pPr>
            <a:r>
              <a:rPr lang="en-US" sz="1300" dirty="0">
                <a:solidFill>
                  <a:srgbClr val="6F675C"/>
                </a:solidFill>
                <a:latin typeface="Calibri" panose="020F0502020204030204" pitchFamily="34" charset="0"/>
                <a:ea typeface="Calibri" panose="020F0502020204030204" pitchFamily="34" charset="-122"/>
                <a:cs typeface="Calibri" panose="020F0502020204030204" pitchFamily="34" charset="-120"/>
              </a:rPr>
              <a:t>Tombol dan bidang isian cukup besar untuk ibu jari. Tidak ada geser kiri-kanan.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10  /  33</a:t>
            </a:r>
            <a:endParaRPr lang="en-US" sz="1100" dirty="0"/>
          </a:p>
        </p:txBody>
      </p:sp>
      <p:sp>
        <p:nvSpPr>
          <p:cNvPr id="7" name="Text 5"/>
          <p:cNvSpPr/>
          <p:nvPr/>
        </p:nvSpPr>
        <p:spPr>
          <a:xfrm>
            <a:off x="384048" y="256032"/>
            <a:ext cx="11338560" cy="457200"/>
          </a:xfrm>
          <a:prstGeom prst="rect">
            <a:avLst/>
          </a:prstGeom>
          <a:noFill/>
        </p:spPr>
        <p:txBody>
          <a:bodyPr wrap="square" lIns="0" tIns="0" rIns="0" bIns="0" rtlCol="0" anchor="ctr"/>
          <a:lstStyle/>
          <a:p>
            <a:pPr marL="0" indent="0">
              <a:buNone/>
            </a:pPr>
            <a:r>
              <a:rPr lang="en-US" sz="2800" dirty="0">
                <a:solidFill>
                  <a:srgbClr val="1A1814"/>
                </a:solidFill>
                <a:latin typeface="Georgia" panose="02040502050405020303" pitchFamily="34" charset="0"/>
                <a:ea typeface="Georgia" panose="02040502050405020303" pitchFamily="34" charset="-122"/>
                <a:cs typeface="Georgia" panose="02040502050405020303" pitchFamily="34" charset="-120"/>
              </a:rPr>
              <a:t>Proof of concept: yang sudah bisa diklik.</a:t>
            </a:r>
            <a:endParaRPr lang="en-US" sz="2800" dirty="0"/>
          </a:p>
        </p:txBody>
      </p:sp>
      <p:sp>
        <p:nvSpPr>
          <p:cNvPr id="8" name="Text 6"/>
          <p:cNvSpPr/>
          <p:nvPr/>
        </p:nvSpPr>
        <p:spPr>
          <a:xfrm>
            <a:off x="384048" y="804672"/>
            <a:ext cx="10972800" cy="292608"/>
          </a:xfrm>
          <a:prstGeom prst="rect">
            <a:avLst/>
          </a:prstGeom>
          <a:noFill/>
        </p:spPr>
        <p:txBody>
          <a:bodyPr wrap="square" lIns="0" tIns="0" rIns="0" bIns="0" rtlCol="0" anchor="ctr"/>
          <a:lstStyle/>
          <a:p>
            <a:pPr marL="0" indent="0">
              <a:buNone/>
            </a:pPr>
            <a:r>
              <a:rPr lang="en-US" sz="1500" dirty="0">
                <a:solidFill>
                  <a:srgbClr val="6F675C"/>
                </a:solidFill>
                <a:latin typeface="Calibri" panose="020F0502020204030204" pitchFamily="34" charset="0"/>
                <a:ea typeface="Calibri" panose="020F0502020204030204" pitchFamily="34" charset="-122"/>
                <a:cs typeface="Calibri" panose="020F0502020204030204" pitchFamily="34" charset="-120"/>
              </a:rPr>
              <a:t>Ini bukti arah produk, bukan sistem produksi. Data contoh, tanpa akun.</a:t>
            </a:r>
            <a:endParaRPr lang="en-US" sz="1500" dirty="0"/>
          </a:p>
        </p:txBody>
      </p:sp>
      <p:sp>
        <p:nvSpPr>
          <p:cNvPr id="9" name="Shape 7"/>
          <p:cNvSpPr/>
          <p:nvPr/>
        </p:nvSpPr>
        <p:spPr>
          <a:xfrm>
            <a:off x="384048" y="1280160"/>
            <a:ext cx="5623560" cy="5029200"/>
          </a:xfrm>
          <a:prstGeom prst="roundRect">
            <a:avLst>
              <a:gd name="adj" fmla="val 1455"/>
            </a:avLst>
          </a:prstGeom>
          <a:solidFill>
            <a:srgbClr val="2F5D50"/>
          </a:solidFill>
          <a:ln w="12700">
            <a:solidFill>
              <a:srgbClr val="2F5D50"/>
            </a:solidFill>
            <a:prstDash val="solid"/>
          </a:ln>
        </p:spPr>
        <p:txBody>
          <a:bodyPr/>
          <a:p/>
        </p:txBody>
      </p:sp>
      <p:sp>
        <p:nvSpPr>
          <p:cNvPr id="10" name="Shape 8"/>
          <p:cNvSpPr/>
          <p:nvPr/>
        </p:nvSpPr>
        <p:spPr>
          <a:xfrm>
            <a:off x="6190488" y="1280160"/>
            <a:ext cx="5623560" cy="5029200"/>
          </a:xfrm>
          <a:prstGeom prst="roundRect">
            <a:avLst>
              <a:gd name="adj" fmla="val 1455"/>
            </a:avLst>
          </a:prstGeom>
          <a:solidFill>
            <a:srgbClr val="FBF8F3"/>
          </a:solidFill>
          <a:ln w="12700">
            <a:solidFill>
              <a:srgbClr val="D9CFBF"/>
            </a:solidFill>
            <a:prstDash val="solid"/>
          </a:ln>
        </p:spPr>
        <p:txBody>
          <a:bodyPr/>
          <a:p/>
        </p:txBody>
      </p:sp>
      <p:sp>
        <p:nvSpPr>
          <p:cNvPr id="11" name="Text 9"/>
          <p:cNvSpPr/>
          <p:nvPr/>
        </p:nvSpPr>
        <p:spPr>
          <a:xfrm>
            <a:off x="640080" y="1481328"/>
            <a:ext cx="5120640" cy="365760"/>
          </a:xfrm>
          <a:prstGeom prst="rect">
            <a:avLst/>
          </a:prstGeom>
          <a:noFill/>
        </p:spPr>
        <p:txBody>
          <a:bodyPr wrap="square" lIns="0" tIns="0" rIns="0" bIns="0" rtlCol="0" anchor="ctr"/>
          <a:lstStyle/>
          <a:p>
            <a:pPr marL="0" indent="0">
              <a:buNone/>
            </a:pPr>
            <a:r>
              <a:rPr lang="en-US" sz="2200" dirty="0">
                <a:solidFill>
                  <a:srgbClr val="F4EFE6"/>
                </a:solidFill>
                <a:latin typeface="Georgia" panose="02040502050405020303" pitchFamily="34" charset="0"/>
                <a:ea typeface="Georgia" panose="02040502050405020303" pitchFamily="34" charset="-122"/>
                <a:cs typeface="Georgia" panose="02040502050405020303" pitchFamily="34" charset="-120"/>
              </a:rPr>
              <a:t>Sudah jalan</a:t>
            </a:r>
            <a:endParaRPr lang="en-US" sz="2200" dirty="0"/>
          </a:p>
        </p:txBody>
      </p:sp>
      <p:sp>
        <p:nvSpPr>
          <p:cNvPr id="12" name="Text 10"/>
          <p:cNvSpPr/>
          <p:nvPr/>
        </p:nvSpPr>
        <p:spPr>
          <a:xfrm>
            <a:off x="640080" y="1965960"/>
            <a:ext cx="5074920" cy="384048"/>
          </a:xfrm>
          <a:prstGeom prst="rect">
            <a:avLst/>
          </a:prstGeom>
          <a:noFill/>
        </p:spPr>
        <p:txBody>
          <a:bodyPr wrap="square" lIns="0" tIns="0" rIns="0" bIns="0" rtlCol="0" anchor="ctr"/>
          <a:lstStyle/>
          <a:p>
            <a:pPr marL="0" indent="0">
              <a:buNone/>
            </a:pPr>
            <a:r>
              <a:rPr lang="en-US" sz="1400" dirty="0">
                <a:solidFill>
                  <a:srgbClr val="E7DCC8"/>
                </a:solidFill>
                <a:latin typeface="Calibri" panose="020F0502020204030204" pitchFamily="34" charset="0"/>
                <a:ea typeface="Calibri" panose="020F0502020204030204" pitchFamily="34" charset="-122"/>
                <a:cs typeface="Calibri" panose="020F0502020204030204" pitchFamily="34" charset="-120"/>
              </a:rPr>
              <a:t>Enam unit contoh: kos dan kontrakan</a:t>
            </a:r>
            <a:endParaRPr lang="en-US" sz="1400" dirty="0"/>
          </a:p>
        </p:txBody>
      </p:sp>
      <p:sp>
        <p:nvSpPr>
          <p:cNvPr id="13" name="Text 11"/>
          <p:cNvSpPr/>
          <p:nvPr/>
        </p:nvSpPr>
        <p:spPr>
          <a:xfrm>
            <a:off x="640080" y="2404872"/>
            <a:ext cx="5074920" cy="384048"/>
          </a:xfrm>
          <a:prstGeom prst="rect">
            <a:avLst/>
          </a:prstGeom>
          <a:noFill/>
        </p:spPr>
        <p:txBody>
          <a:bodyPr wrap="square" lIns="0" tIns="0" rIns="0" bIns="0" rtlCol="0" anchor="ctr"/>
          <a:lstStyle/>
          <a:p>
            <a:pPr marL="0" indent="0">
              <a:buNone/>
            </a:pPr>
            <a:r>
              <a:rPr lang="en-US" sz="1400" dirty="0">
                <a:solidFill>
                  <a:srgbClr val="E7DCC8"/>
                </a:solidFill>
                <a:latin typeface="Calibri" panose="020F0502020204030204" pitchFamily="34" charset="0"/>
                <a:ea typeface="Calibri" panose="020F0502020204030204" pitchFamily="34" charset="-122"/>
                <a:cs typeface="Calibri" panose="020F0502020204030204" pitchFamily="34" charset="-120"/>
              </a:rPr>
              <a:t>Filter kota, jenis, harga, dan kata</a:t>
            </a:r>
            <a:endParaRPr lang="en-US" sz="1400" dirty="0"/>
          </a:p>
        </p:txBody>
      </p:sp>
      <p:sp>
        <p:nvSpPr>
          <p:cNvPr id="14" name="Text 12"/>
          <p:cNvSpPr/>
          <p:nvPr/>
        </p:nvSpPr>
        <p:spPr>
          <a:xfrm>
            <a:off x="640080" y="2843784"/>
            <a:ext cx="5074920" cy="384048"/>
          </a:xfrm>
          <a:prstGeom prst="rect">
            <a:avLst/>
          </a:prstGeom>
          <a:noFill/>
        </p:spPr>
        <p:txBody>
          <a:bodyPr wrap="square" lIns="0" tIns="0" rIns="0" bIns="0" rtlCol="0" anchor="ctr"/>
          <a:lstStyle/>
          <a:p>
            <a:pPr marL="0" indent="0">
              <a:buNone/>
            </a:pPr>
            <a:r>
              <a:rPr lang="en-US" sz="1400" dirty="0">
                <a:solidFill>
                  <a:srgbClr val="E7DCC8"/>
                </a:solidFill>
                <a:latin typeface="Calibri" panose="020F0502020204030204" pitchFamily="34" charset="0"/>
                <a:ea typeface="Calibri" panose="020F0502020204030204" pitchFamily="34" charset="-122"/>
                <a:cs typeface="Calibri" panose="020F0502020204030204" pitchFamily="34" charset="-120"/>
              </a:rPr>
              <a:t>Galeri, fasilitas, aturan, kawasan sekitar</a:t>
            </a:r>
            <a:endParaRPr lang="en-US" sz="1400" dirty="0"/>
          </a:p>
        </p:txBody>
      </p:sp>
      <p:sp>
        <p:nvSpPr>
          <p:cNvPr id="15" name="Text 13"/>
          <p:cNvSpPr/>
          <p:nvPr/>
        </p:nvSpPr>
        <p:spPr>
          <a:xfrm>
            <a:off x="640080" y="3282696"/>
            <a:ext cx="5074920" cy="384048"/>
          </a:xfrm>
          <a:prstGeom prst="rect">
            <a:avLst/>
          </a:prstGeom>
          <a:noFill/>
        </p:spPr>
        <p:txBody>
          <a:bodyPr wrap="square" lIns="0" tIns="0" rIns="0" bIns="0" rtlCol="0" anchor="ctr"/>
          <a:lstStyle/>
          <a:p>
            <a:pPr marL="0" indent="0">
              <a:buNone/>
            </a:pPr>
            <a:r>
              <a:rPr lang="en-US" sz="1400" dirty="0">
                <a:solidFill>
                  <a:srgbClr val="E7DCC8"/>
                </a:solidFill>
                <a:latin typeface="Calibri" panose="020F0502020204030204" pitchFamily="34" charset="0"/>
                <a:ea typeface="Calibri" panose="020F0502020204030204" pitchFamily="34" charset="-122"/>
                <a:cs typeface="Calibri" panose="020F0502020204030204" pitchFamily="34" charset="-120"/>
              </a:rPr>
              <a:t>Simpan unit di peramban</a:t>
            </a:r>
            <a:endParaRPr lang="en-US" sz="1400" dirty="0"/>
          </a:p>
        </p:txBody>
      </p:sp>
      <p:sp>
        <p:nvSpPr>
          <p:cNvPr id="16" name="Text 14"/>
          <p:cNvSpPr/>
          <p:nvPr/>
        </p:nvSpPr>
        <p:spPr>
          <a:xfrm>
            <a:off x="640080" y="3721608"/>
            <a:ext cx="5074920" cy="384048"/>
          </a:xfrm>
          <a:prstGeom prst="rect">
            <a:avLst/>
          </a:prstGeom>
          <a:noFill/>
        </p:spPr>
        <p:txBody>
          <a:bodyPr wrap="square" lIns="0" tIns="0" rIns="0" bIns="0" rtlCol="0" anchor="ctr"/>
          <a:lstStyle/>
          <a:p>
            <a:pPr marL="0" indent="0">
              <a:buNone/>
            </a:pPr>
            <a:r>
              <a:rPr lang="en-US" sz="1400" dirty="0">
                <a:solidFill>
                  <a:srgbClr val="E7DCC8"/>
                </a:solidFill>
                <a:latin typeface="Calibri" panose="020F0502020204030204" pitchFamily="34" charset="0"/>
                <a:ea typeface="Calibri" panose="020F0502020204030204" pitchFamily="34" charset="-122"/>
                <a:cs typeface="Calibri" panose="020F0502020204030204" pitchFamily="34" charset="-120"/>
              </a:rPr>
              <a:t>Form sewa dengan validasi nomor</a:t>
            </a:r>
            <a:endParaRPr lang="en-US" sz="1400" dirty="0"/>
          </a:p>
        </p:txBody>
      </p:sp>
      <p:sp>
        <p:nvSpPr>
          <p:cNvPr id="17" name="Text 15"/>
          <p:cNvSpPr/>
          <p:nvPr/>
        </p:nvSpPr>
        <p:spPr>
          <a:xfrm>
            <a:off x="640080" y="4160520"/>
            <a:ext cx="5074920" cy="384048"/>
          </a:xfrm>
          <a:prstGeom prst="rect">
            <a:avLst/>
          </a:prstGeom>
          <a:noFill/>
        </p:spPr>
        <p:txBody>
          <a:bodyPr wrap="square" lIns="0" tIns="0" rIns="0" bIns="0" rtlCol="0" anchor="ctr"/>
          <a:lstStyle/>
          <a:p>
            <a:pPr marL="0" indent="0">
              <a:buNone/>
            </a:pPr>
            <a:r>
              <a:rPr lang="en-US" sz="1400" dirty="0">
                <a:solidFill>
                  <a:srgbClr val="E7DCC8"/>
                </a:solidFill>
                <a:latin typeface="Calibri" panose="020F0502020204030204" pitchFamily="34" charset="0"/>
                <a:ea typeface="Calibri" panose="020F0502020204030204" pitchFamily="34" charset="-122"/>
                <a:cs typeface="Calibri" panose="020F0502020204030204" pitchFamily="34" charset="-120"/>
              </a:rPr>
              <a:t>Papan 12 kamar bisa diubah statusnya</a:t>
            </a:r>
            <a:endParaRPr lang="en-US" sz="1400" dirty="0"/>
          </a:p>
        </p:txBody>
      </p:sp>
      <p:sp>
        <p:nvSpPr>
          <p:cNvPr id="18" name="Text 16"/>
          <p:cNvSpPr/>
          <p:nvPr/>
        </p:nvSpPr>
        <p:spPr>
          <a:xfrm>
            <a:off x="640080" y="4599432"/>
            <a:ext cx="5074920" cy="384048"/>
          </a:xfrm>
          <a:prstGeom prst="rect">
            <a:avLst/>
          </a:prstGeom>
          <a:noFill/>
        </p:spPr>
        <p:txBody>
          <a:bodyPr wrap="square" lIns="0" tIns="0" rIns="0" bIns="0" rtlCol="0" anchor="ctr"/>
          <a:lstStyle/>
          <a:p>
            <a:pPr marL="0" indent="0">
              <a:buNone/>
            </a:pPr>
            <a:r>
              <a:rPr lang="en-US" sz="1400" dirty="0">
                <a:solidFill>
                  <a:srgbClr val="E7DCC8"/>
                </a:solidFill>
                <a:latin typeface="Calibri" panose="020F0502020204030204" pitchFamily="34" charset="0"/>
                <a:ea typeface="Calibri" panose="020F0502020204030204" pitchFamily="34" charset="-122"/>
                <a:cs typeface="Calibri" panose="020F0502020204030204" pitchFamily="34" charset="-120"/>
              </a:rPr>
              <a:t>Pengajuan form muncul di papan</a:t>
            </a:r>
            <a:endParaRPr lang="en-US" sz="1400" dirty="0"/>
          </a:p>
        </p:txBody>
      </p:sp>
      <p:sp>
        <p:nvSpPr>
          <p:cNvPr id="19" name="Text 17"/>
          <p:cNvSpPr/>
          <p:nvPr/>
        </p:nvSpPr>
        <p:spPr>
          <a:xfrm>
            <a:off x="640080" y="5038344"/>
            <a:ext cx="5074920" cy="384048"/>
          </a:xfrm>
          <a:prstGeom prst="rect">
            <a:avLst/>
          </a:prstGeom>
          <a:noFill/>
        </p:spPr>
        <p:txBody>
          <a:bodyPr wrap="square" lIns="0" tIns="0" rIns="0" bIns="0" rtlCol="0" anchor="ctr"/>
          <a:lstStyle/>
          <a:p>
            <a:pPr marL="0" indent="0">
              <a:buNone/>
            </a:pPr>
            <a:r>
              <a:rPr lang="en-US" sz="1400" dirty="0">
                <a:solidFill>
                  <a:srgbClr val="E7DCC8"/>
                </a:solidFill>
                <a:latin typeface="Calibri" panose="020F0502020204030204" pitchFamily="34" charset="0"/>
                <a:ea typeface="Calibri" panose="020F0502020204030204" pitchFamily="34" charset="-122"/>
                <a:cs typeface="Calibri" panose="020F0502020204030204" pitchFamily="34" charset="-120"/>
              </a:rPr>
              <a:t>Grafik hunian contoh</a:t>
            </a:r>
            <a:endParaRPr lang="en-US" sz="1400" dirty="0"/>
          </a:p>
        </p:txBody>
      </p:sp>
      <p:sp>
        <p:nvSpPr>
          <p:cNvPr id="20" name="Text 18"/>
          <p:cNvSpPr/>
          <p:nvPr/>
        </p:nvSpPr>
        <p:spPr>
          <a:xfrm>
            <a:off x="640080" y="5477256"/>
            <a:ext cx="5074920" cy="384048"/>
          </a:xfrm>
          <a:prstGeom prst="rect">
            <a:avLst/>
          </a:prstGeom>
          <a:noFill/>
        </p:spPr>
        <p:txBody>
          <a:bodyPr wrap="square" lIns="0" tIns="0" rIns="0" bIns="0" rtlCol="0" anchor="ctr"/>
          <a:lstStyle/>
          <a:p>
            <a:pPr marL="0" indent="0">
              <a:buNone/>
            </a:pPr>
            <a:r>
              <a:rPr lang="en-US" sz="1400" dirty="0">
                <a:solidFill>
                  <a:srgbClr val="E7DCC8"/>
                </a:solidFill>
                <a:latin typeface="Calibri" panose="020F0502020204030204" pitchFamily="34" charset="0"/>
                <a:ea typeface="Calibri" panose="020F0502020204030204" pitchFamily="34" charset="-122"/>
                <a:cs typeface="Calibri" panose="020F0502020204030204" pitchFamily="34" charset="-120"/>
              </a:rPr>
              <a:t>Halaman model kerja sama yang sama dengan deck ini</a:t>
            </a:r>
            <a:endParaRPr lang="en-US" sz="1400" dirty="0"/>
          </a:p>
        </p:txBody>
      </p:sp>
      <p:sp>
        <p:nvSpPr>
          <p:cNvPr id="21" name="Text 19"/>
          <p:cNvSpPr/>
          <p:nvPr/>
        </p:nvSpPr>
        <p:spPr>
          <a:xfrm>
            <a:off x="6446520" y="1481328"/>
            <a:ext cx="5120640" cy="365760"/>
          </a:xfrm>
          <a:prstGeom prst="rect">
            <a:avLst/>
          </a:prstGeom>
          <a:noFill/>
        </p:spPr>
        <p:txBody>
          <a:bodyPr wrap="square" lIns="0" tIns="0" rIns="0" bIns="0" rtlCol="0" anchor="ctr"/>
          <a:lstStyle/>
          <a:p>
            <a:pPr marL="0" indent="0">
              <a:buNone/>
            </a:pPr>
            <a:r>
              <a:rPr lang="en-US" sz="2200" dirty="0">
                <a:solidFill>
                  <a:srgbClr val="1A1814"/>
                </a:solidFill>
                <a:latin typeface="Georgia" panose="02040502050405020303" pitchFamily="34" charset="0"/>
                <a:ea typeface="Georgia" panose="02040502050405020303" pitchFamily="34" charset="-122"/>
                <a:cs typeface="Georgia" panose="02040502050405020303" pitchFamily="34" charset="-120"/>
              </a:rPr>
              <a:t>Menyusul di produksi</a:t>
            </a:r>
            <a:endParaRPr lang="en-US" sz="2200" dirty="0"/>
          </a:p>
        </p:txBody>
      </p:sp>
      <p:sp>
        <p:nvSpPr>
          <p:cNvPr id="22" name="Text 20"/>
          <p:cNvSpPr/>
          <p:nvPr/>
        </p:nvSpPr>
        <p:spPr>
          <a:xfrm>
            <a:off x="6446520" y="2011680"/>
            <a:ext cx="5074920" cy="438912"/>
          </a:xfrm>
          <a:prstGeom prst="rect">
            <a:avLst/>
          </a:prstGeom>
          <a:noFill/>
        </p:spPr>
        <p:txBody>
          <a:bodyPr wrap="square" lIns="0" tIns="0" rIns="0" bIns="0" rtlCol="0" anchor="ctr"/>
          <a:lstStyle/>
          <a:p>
            <a:pPr marL="0" indent="0">
              <a:buNone/>
            </a:pPr>
            <a:r>
              <a:rPr lang="en-US" sz="1500" dirty="0">
                <a:solidFill>
                  <a:srgbClr val="3F382F"/>
                </a:solidFill>
                <a:latin typeface="Calibri" panose="020F0502020204030204" pitchFamily="34" charset="0"/>
                <a:ea typeface="Calibri" panose="020F0502020204030204" pitchFamily="34" charset="-122"/>
                <a:cs typeface="Calibri" panose="020F0502020204030204" pitchFamily="34" charset="-120"/>
              </a:rPr>
              <a:t>Data di server pemilik, bukan di HP pengunjung</a:t>
            </a:r>
            <a:endParaRPr lang="en-US" sz="1500" dirty="0"/>
          </a:p>
        </p:txBody>
      </p:sp>
      <p:sp>
        <p:nvSpPr>
          <p:cNvPr id="23" name="Text 21"/>
          <p:cNvSpPr/>
          <p:nvPr/>
        </p:nvSpPr>
        <p:spPr>
          <a:xfrm>
            <a:off x="6446520" y="2514600"/>
            <a:ext cx="5074920" cy="438912"/>
          </a:xfrm>
          <a:prstGeom prst="rect">
            <a:avLst/>
          </a:prstGeom>
          <a:noFill/>
        </p:spPr>
        <p:txBody>
          <a:bodyPr wrap="square" lIns="0" tIns="0" rIns="0" bIns="0" rtlCol="0" anchor="ctr"/>
          <a:lstStyle/>
          <a:p>
            <a:pPr marL="0" indent="0">
              <a:buNone/>
            </a:pPr>
            <a:r>
              <a:rPr lang="en-US" sz="1500" dirty="0">
                <a:solidFill>
                  <a:srgbClr val="3F382F"/>
                </a:solidFill>
                <a:latin typeface="Calibri" panose="020F0502020204030204" pitchFamily="34" charset="0"/>
                <a:ea typeface="Calibri" panose="020F0502020204030204" pitchFamily="34" charset="-122"/>
                <a:cs typeface="Calibri" panose="020F0502020204030204" pitchFamily="34" charset="-120"/>
              </a:rPr>
              <a:t>Akun pemilik dan pengelola</a:t>
            </a:r>
            <a:endParaRPr lang="en-US" sz="1500" dirty="0"/>
          </a:p>
        </p:txBody>
      </p:sp>
      <p:sp>
        <p:nvSpPr>
          <p:cNvPr id="24" name="Text 22"/>
          <p:cNvSpPr/>
          <p:nvPr/>
        </p:nvSpPr>
        <p:spPr>
          <a:xfrm>
            <a:off x="6446520" y="3017520"/>
            <a:ext cx="5074920" cy="438912"/>
          </a:xfrm>
          <a:prstGeom prst="rect">
            <a:avLst/>
          </a:prstGeom>
          <a:noFill/>
        </p:spPr>
        <p:txBody>
          <a:bodyPr wrap="square" lIns="0" tIns="0" rIns="0" bIns="0" rtlCol="0" anchor="ctr"/>
          <a:lstStyle/>
          <a:p>
            <a:pPr marL="0" indent="0">
              <a:buNone/>
            </a:pPr>
            <a:r>
              <a:rPr lang="en-US" sz="1500" dirty="0">
                <a:solidFill>
                  <a:srgbClr val="3F382F"/>
                </a:solidFill>
                <a:latin typeface="Calibri" panose="020F0502020204030204" pitchFamily="34" charset="0"/>
                <a:ea typeface="Calibri" panose="020F0502020204030204" pitchFamily="34" charset="-122"/>
                <a:cs typeface="Calibri" panose="020F0502020204030204" pitchFamily="34" charset="-120"/>
              </a:rPr>
              <a:t>WhatsApp atau email sungguhan saat ada pengajuan</a:t>
            </a:r>
            <a:endParaRPr lang="en-US" sz="1500" dirty="0"/>
          </a:p>
        </p:txBody>
      </p:sp>
      <p:sp>
        <p:nvSpPr>
          <p:cNvPr id="25" name="Text 23"/>
          <p:cNvSpPr/>
          <p:nvPr/>
        </p:nvSpPr>
        <p:spPr>
          <a:xfrm>
            <a:off x="6446520" y="3520440"/>
            <a:ext cx="5074920" cy="438912"/>
          </a:xfrm>
          <a:prstGeom prst="rect">
            <a:avLst/>
          </a:prstGeom>
          <a:noFill/>
        </p:spPr>
        <p:txBody>
          <a:bodyPr wrap="square" lIns="0" tIns="0" rIns="0" bIns="0" rtlCol="0" anchor="ctr"/>
          <a:lstStyle/>
          <a:p>
            <a:pPr marL="0" indent="0">
              <a:buNone/>
            </a:pPr>
            <a:r>
              <a:rPr lang="en-US" sz="1500" dirty="0">
                <a:solidFill>
                  <a:srgbClr val="3F382F"/>
                </a:solidFill>
                <a:latin typeface="Calibri" panose="020F0502020204030204" pitchFamily="34" charset="0"/>
                <a:ea typeface="Calibri" panose="020F0502020204030204" pitchFamily="34" charset="-122"/>
                <a:cs typeface="Calibri" panose="020F0502020204030204" pitchFamily="34" charset="-120"/>
              </a:rPr>
              <a:t>Pembayaran DP dan invoice (tahap lanjut)</a:t>
            </a:r>
            <a:endParaRPr lang="en-US" sz="1500" dirty="0"/>
          </a:p>
        </p:txBody>
      </p:sp>
      <p:sp>
        <p:nvSpPr>
          <p:cNvPr id="26" name="Text 24"/>
          <p:cNvSpPr/>
          <p:nvPr/>
        </p:nvSpPr>
        <p:spPr>
          <a:xfrm>
            <a:off x="6446520" y="4023360"/>
            <a:ext cx="5074920" cy="438912"/>
          </a:xfrm>
          <a:prstGeom prst="rect">
            <a:avLst/>
          </a:prstGeom>
          <a:noFill/>
        </p:spPr>
        <p:txBody>
          <a:bodyPr wrap="square" lIns="0" tIns="0" rIns="0" bIns="0" rtlCol="0" anchor="ctr"/>
          <a:lstStyle/>
          <a:p>
            <a:pPr marL="0" indent="0">
              <a:buNone/>
            </a:pPr>
            <a:r>
              <a:rPr lang="en-US" sz="1500" dirty="0">
                <a:solidFill>
                  <a:srgbClr val="3F382F"/>
                </a:solidFill>
                <a:latin typeface="Calibri" panose="020F0502020204030204" pitchFamily="34" charset="0"/>
                <a:ea typeface="Calibri" panose="020F0502020204030204" pitchFamily="34" charset="-122"/>
                <a:cs typeface="Calibri" panose="020F0502020204030204" pitchFamily="34" charset="-120"/>
              </a:rPr>
              <a:t>Kontrak yang bisa diunduh</a:t>
            </a:r>
            <a:endParaRPr lang="en-US" sz="1500" dirty="0"/>
          </a:p>
        </p:txBody>
      </p:sp>
      <p:sp>
        <p:nvSpPr>
          <p:cNvPr id="27" name="Text 25"/>
          <p:cNvSpPr/>
          <p:nvPr/>
        </p:nvSpPr>
        <p:spPr>
          <a:xfrm>
            <a:off x="6446520" y="4526280"/>
            <a:ext cx="5074920" cy="438912"/>
          </a:xfrm>
          <a:prstGeom prst="rect">
            <a:avLst/>
          </a:prstGeom>
          <a:noFill/>
        </p:spPr>
        <p:txBody>
          <a:bodyPr wrap="square" lIns="0" tIns="0" rIns="0" bIns="0" rtlCol="0" anchor="ctr"/>
          <a:lstStyle/>
          <a:p>
            <a:pPr marL="0" indent="0">
              <a:buNone/>
            </a:pPr>
            <a:r>
              <a:rPr lang="en-US" sz="1500" dirty="0">
                <a:solidFill>
                  <a:srgbClr val="3F382F"/>
                </a:solidFill>
                <a:latin typeface="Calibri" panose="020F0502020204030204" pitchFamily="34" charset="0"/>
                <a:ea typeface="Calibri" panose="020F0502020204030204" pitchFamily="34" charset="-122"/>
                <a:cs typeface="Calibri" panose="020F0502020204030204" pitchFamily="34" charset="-120"/>
              </a:rPr>
              <a:t>Foto dan harga dari properti klien</a:t>
            </a:r>
            <a:endParaRPr lang="en-US" sz="1500" dirty="0"/>
          </a:p>
        </p:txBody>
      </p:sp>
      <p:sp>
        <p:nvSpPr>
          <p:cNvPr id="28" name="Text 26"/>
          <p:cNvSpPr/>
          <p:nvPr/>
        </p:nvSpPr>
        <p:spPr>
          <a:xfrm>
            <a:off x="6446520" y="5029200"/>
            <a:ext cx="5074920" cy="438912"/>
          </a:xfrm>
          <a:prstGeom prst="rect">
            <a:avLst/>
          </a:prstGeom>
          <a:noFill/>
        </p:spPr>
        <p:txBody>
          <a:bodyPr wrap="square" lIns="0" tIns="0" rIns="0" bIns="0" rtlCol="0" anchor="ctr"/>
          <a:lstStyle/>
          <a:p>
            <a:pPr marL="0" indent="0">
              <a:buNone/>
            </a:pPr>
            <a:r>
              <a:rPr lang="en-US" sz="1500" dirty="0">
                <a:solidFill>
                  <a:srgbClr val="3F382F"/>
                </a:solidFill>
                <a:latin typeface="Calibri" panose="020F0502020204030204" pitchFamily="34" charset="0"/>
                <a:ea typeface="Calibri" panose="020F0502020204030204" pitchFamily="34" charset="-122"/>
                <a:cs typeface="Calibri" panose="020F0502020204030204" pitchFamily="34" charset="-120"/>
              </a:rPr>
              <a:t>Domain atas nama klien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11  /  33</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Model kerja sama: bagi hasil, bukan paket harga</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Tidak ada pilihan paket. Pengelola dibayar dari persentase omzet.</a:t>
            </a:r>
            <a:endParaRPr lang="en-US" sz="1560" dirty="0"/>
          </a:p>
        </p:txBody>
      </p:sp>
      <p:sp>
        <p:nvSpPr>
          <p:cNvPr id="9" name="Shape 7"/>
          <p:cNvSpPr/>
          <p:nvPr/>
        </p:nvSpPr>
        <p:spPr>
          <a:xfrm>
            <a:off x="426709" y="1828754"/>
            <a:ext cx="3657509" cy="3901342"/>
          </a:xfrm>
          <a:prstGeom prst="roundRect">
            <a:avLst>
              <a:gd name="adj" fmla="val 2000"/>
            </a:avLst>
          </a:prstGeom>
          <a:solidFill>
            <a:srgbClr val="FBF8F3"/>
          </a:solidFill>
          <a:ln w="9525">
            <a:solidFill>
              <a:srgbClr val="D9CFBF"/>
            </a:solidFill>
            <a:prstDash val="solid"/>
          </a:ln>
        </p:spPr>
        <p:txBody>
          <a:bodyPr/>
          <a:p/>
        </p:txBody>
      </p:sp>
      <p:sp>
        <p:nvSpPr>
          <p:cNvPr id="10" name="Text 8"/>
          <p:cNvSpPr/>
          <p:nvPr/>
        </p:nvSpPr>
        <p:spPr>
          <a:xfrm>
            <a:off x="609585" y="1950671"/>
            <a:ext cx="3291758" cy="426709"/>
          </a:xfrm>
          <a:prstGeom prst="rect">
            <a:avLst/>
          </a:prstGeom>
          <a:noFill/>
        </p:spPr>
        <p:txBody>
          <a:bodyPr wrap="square" lIns="0" tIns="0" rIns="0" bIns="0" rtlCol="0" anchor="ctr"/>
          <a:lstStyle/>
          <a:p>
            <a:pPr marL="0" indent="0">
              <a:buNone/>
            </a:pPr>
            <a:r>
              <a:rPr lang="en-US" sz="1680" b="1" dirty="0">
                <a:solidFill>
                  <a:srgbClr val="1A1814"/>
                </a:solidFill>
                <a:latin typeface="Georgia" panose="02040502050405020303" pitchFamily="34" charset="0"/>
                <a:ea typeface="Georgia" panose="02040502050405020303" pitchFamily="34" charset="-122"/>
                <a:cs typeface="Georgia" panose="02040502050405020303" pitchFamily="34" charset="-120"/>
              </a:rPr>
              <a:t>Kos &amp; kontrakan</a:t>
            </a:r>
            <a:endParaRPr lang="en-US" sz="1680" dirty="0"/>
          </a:p>
        </p:txBody>
      </p:sp>
      <p:sp>
        <p:nvSpPr>
          <p:cNvPr id="11" name="Text 9"/>
          <p:cNvSpPr/>
          <p:nvPr/>
        </p:nvSpPr>
        <p:spPr>
          <a:xfrm>
            <a:off x="609585" y="2438339"/>
            <a:ext cx="3291758" cy="3169841"/>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3F382F"/>
                </a:solidFill>
              </a:rPr>
              <a:t>30% dari pendapatan sewa</a:t>
            </a:r>
            <a:endParaRPr lang="en-US" sz="1380" dirty="0"/>
          </a:p>
          <a:p>
            <a:pPr marL="342900" indent="-342900">
              <a:spcAft>
                <a:spcPts val="400"/>
              </a:spcAft>
              <a:buSzPct val="100000"/>
              <a:buChar char="•"/>
            </a:pPr>
            <a:r>
              <a:rPr lang="en-US" sz="1380" dirty="0">
                <a:solidFill>
                  <a:srgbClr val="3F382F"/>
                </a:solidFill>
              </a:rPr>
              <a:t>15% System &amp; Marketing</a:t>
            </a:r>
            <a:endParaRPr lang="en-US" sz="1380" dirty="0"/>
          </a:p>
          <a:p>
            <a:pPr marL="342900" indent="-342900">
              <a:spcAft>
                <a:spcPts val="400"/>
              </a:spcAft>
              <a:buSzPct val="100000"/>
              <a:buChar char="•"/>
            </a:pPr>
            <a:r>
              <a:rPr lang="en-US" sz="1380" dirty="0">
                <a:solidFill>
                  <a:srgbClr val="3F382F"/>
                </a:solidFill>
              </a:rPr>
              <a:t>15% Perawatan &amp; operasional</a:t>
            </a:r>
            <a:endParaRPr lang="en-US" sz="1380" dirty="0"/>
          </a:p>
          <a:p>
            <a:pPr marL="342900" indent="-342900">
              <a:spcAft>
                <a:spcPts val="400"/>
              </a:spcAft>
              <a:buSzPct val="100000"/>
              <a:buChar char="•"/>
            </a:pPr>
            <a:r>
              <a:rPr lang="en-US" sz="1380" dirty="0">
                <a:solidFill>
                  <a:srgbClr val="3F382F"/>
                </a:solidFill>
              </a:rPr>
              <a:t>Build web diambil dari pos 15% System</a:t>
            </a:r>
            <a:endParaRPr lang="en-US" sz="1380" dirty="0"/>
          </a:p>
        </p:txBody>
      </p:sp>
      <p:sp>
        <p:nvSpPr>
          <p:cNvPr id="12" name="Shape 10"/>
          <p:cNvSpPr/>
          <p:nvPr/>
        </p:nvSpPr>
        <p:spPr>
          <a:xfrm>
            <a:off x="4267093" y="1828754"/>
            <a:ext cx="3657509" cy="3901342"/>
          </a:xfrm>
          <a:prstGeom prst="roundRect">
            <a:avLst>
              <a:gd name="adj" fmla="val 2000"/>
            </a:avLst>
          </a:prstGeom>
          <a:solidFill>
            <a:srgbClr val="2F5D50"/>
          </a:solidFill>
          <a:ln w="9525">
            <a:solidFill>
              <a:srgbClr val="D9CFBF"/>
            </a:solidFill>
            <a:prstDash val="solid"/>
          </a:ln>
        </p:spPr>
        <p:txBody>
          <a:bodyPr/>
          <a:p/>
        </p:txBody>
      </p:sp>
      <p:sp>
        <p:nvSpPr>
          <p:cNvPr id="13" name="Text 11"/>
          <p:cNvSpPr/>
          <p:nvPr/>
        </p:nvSpPr>
        <p:spPr>
          <a:xfrm>
            <a:off x="4449969" y="1950671"/>
            <a:ext cx="3291758" cy="426709"/>
          </a:xfrm>
          <a:prstGeom prst="rect">
            <a:avLst/>
          </a:prstGeom>
          <a:noFill/>
        </p:spPr>
        <p:txBody>
          <a:bodyPr wrap="square" lIns="0" tIns="0" rIns="0" bIns="0" rtlCol="0" anchor="ctr"/>
          <a:lstStyle/>
          <a:p>
            <a:pPr marL="0" indent="0">
              <a:buNone/>
            </a:pPr>
            <a:r>
              <a:rPr lang="en-US" sz="1680" b="1" dirty="0">
                <a:solidFill>
                  <a:srgbClr val="F4EFE6"/>
                </a:solidFill>
                <a:latin typeface="Georgia" panose="02040502050405020303" pitchFamily="34" charset="0"/>
                <a:ea typeface="Georgia" panose="02040502050405020303" pitchFamily="34" charset="-122"/>
                <a:cs typeface="Georgia" panose="02040502050405020303" pitchFamily="34" charset="-120"/>
              </a:rPr>
              <a:t>Lapangan futsal</a:t>
            </a:r>
            <a:endParaRPr lang="en-US" sz="1680" dirty="0"/>
          </a:p>
        </p:txBody>
      </p:sp>
      <p:sp>
        <p:nvSpPr>
          <p:cNvPr id="14" name="Text 12"/>
          <p:cNvSpPr/>
          <p:nvPr/>
        </p:nvSpPr>
        <p:spPr>
          <a:xfrm>
            <a:off x="4449969" y="2438339"/>
            <a:ext cx="3291758" cy="3169841"/>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E7DCC8"/>
                </a:solidFill>
              </a:rPr>
              <a:t>30% dari total revenue</a:t>
            </a:r>
            <a:endParaRPr lang="en-US" sz="1380" dirty="0"/>
          </a:p>
          <a:p>
            <a:pPr marL="342900" indent="-342900">
              <a:spcAft>
                <a:spcPts val="400"/>
              </a:spcAft>
              <a:buSzPct val="100000"/>
              <a:buChar char="•"/>
            </a:pPr>
            <a:r>
              <a:rPr lang="en-US" sz="1380" dirty="0">
                <a:solidFill>
                  <a:srgbClr val="E7DCC8"/>
                </a:solidFill>
              </a:rPr>
              <a:t>Maintenance 10%, event 8%</a:t>
            </a:r>
            <a:endParaRPr lang="en-US" sz="1380" dirty="0"/>
          </a:p>
          <a:p>
            <a:pPr marL="342900" indent="-342900">
              <a:spcAft>
                <a:spcPts val="400"/>
              </a:spcAft>
              <a:buSzPct val="100000"/>
              <a:buChar char="•"/>
            </a:pPr>
            <a:r>
              <a:rPr lang="en-US" sz="1380" dirty="0">
                <a:solidFill>
                  <a:srgbClr val="E7DCC8"/>
                </a:solidFill>
              </a:rPr>
              <a:t>Marketing 7%, fee pengelola 5%</a:t>
            </a:r>
            <a:endParaRPr lang="en-US" sz="1380" dirty="0"/>
          </a:p>
          <a:p>
            <a:pPr marL="342900" indent="-342900">
              <a:spcAft>
                <a:spcPts val="400"/>
              </a:spcAft>
              <a:buSzPct val="100000"/>
              <a:buChar char="•"/>
            </a:pPr>
            <a:r>
              <a:rPr lang="en-US" sz="1380" dirty="0">
                <a:solidFill>
                  <a:srgbClr val="E7DCC8"/>
                </a:solidFill>
              </a:rPr>
              <a:t>Booking lewat web HUNI</a:t>
            </a:r>
            <a:endParaRPr lang="en-US" sz="1380" dirty="0"/>
          </a:p>
        </p:txBody>
      </p:sp>
      <p:sp>
        <p:nvSpPr>
          <p:cNvPr id="15" name="Shape 13"/>
          <p:cNvSpPr/>
          <p:nvPr/>
        </p:nvSpPr>
        <p:spPr>
          <a:xfrm>
            <a:off x="8107477" y="1828754"/>
            <a:ext cx="3657509" cy="3901342"/>
          </a:xfrm>
          <a:prstGeom prst="roundRect">
            <a:avLst>
              <a:gd name="adj" fmla="val 2000"/>
            </a:avLst>
          </a:prstGeom>
          <a:solidFill>
            <a:srgbClr val="9A4518"/>
          </a:solidFill>
          <a:ln w="9525">
            <a:solidFill>
              <a:srgbClr val="D9CFBF"/>
            </a:solidFill>
            <a:prstDash val="solid"/>
          </a:ln>
        </p:spPr>
        <p:txBody>
          <a:bodyPr/>
          <a:p/>
        </p:txBody>
      </p:sp>
      <p:sp>
        <p:nvSpPr>
          <p:cNvPr id="16" name="Text 14"/>
          <p:cNvSpPr/>
          <p:nvPr/>
        </p:nvSpPr>
        <p:spPr>
          <a:xfrm>
            <a:off x="8290353" y="1950671"/>
            <a:ext cx="3291758" cy="426709"/>
          </a:xfrm>
          <a:prstGeom prst="rect">
            <a:avLst/>
          </a:prstGeom>
          <a:noFill/>
        </p:spPr>
        <p:txBody>
          <a:bodyPr wrap="square" lIns="0" tIns="0" rIns="0" bIns="0" rtlCol="0" anchor="ctr"/>
          <a:lstStyle/>
          <a:p>
            <a:pPr marL="0" indent="0">
              <a:buNone/>
            </a:pPr>
            <a:r>
              <a:rPr lang="en-US" sz="1680" b="1" dirty="0">
                <a:solidFill>
                  <a:srgbClr val="F4EFE6"/>
                </a:solidFill>
                <a:latin typeface="Georgia" panose="02040502050405020303" pitchFamily="34" charset="0"/>
                <a:ea typeface="Georgia" panose="02040502050405020303" pitchFamily="34" charset="-122"/>
                <a:cs typeface="Georgia" panose="02040502050405020303" pitchFamily="34" charset="-120"/>
              </a:rPr>
              <a:t>Cafe</a:t>
            </a:r>
            <a:endParaRPr lang="en-US" sz="1680" dirty="0"/>
          </a:p>
        </p:txBody>
      </p:sp>
      <p:sp>
        <p:nvSpPr>
          <p:cNvPr id="17" name="Text 15"/>
          <p:cNvSpPr/>
          <p:nvPr/>
        </p:nvSpPr>
        <p:spPr>
          <a:xfrm>
            <a:off x="8290353" y="2438339"/>
            <a:ext cx="3291758" cy="3169841"/>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E7DCC8"/>
                </a:solidFill>
              </a:rPr>
              <a:t>20% dari omzet</a:t>
            </a:r>
            <a:endParaRPr lang="en-US" sz="1380" dirty="0"/>
          </a:p>
          <a:p>
            <a:pPr marL="342900" indent="-342900">
              <a:spcAft>
                <a:spcPts val="400"/>
              </a:spcAft>
              <a:buSzPct val="100000"/>
              <a:buChar char="•"/>
            </a:pPr>
            <a:r>
              <a:rPr lang="en-US" sz="1380" dirty="0">
                <a:solidFill>
                  <a:srgbClr val="E7DCC8"/>
                </a:solidFill>
              </a:rPr>
              <a:t>Include marketing, branding, operasional, biaya POS</a:t>
            </a:r>
            <a:endParaRPr lang="en-US" sz="1380" dirty="0"/>
          </a:p>
          <a:p>
            <a:pPr marL="342900" indent="-342900">
              <a:spcAft>
                <a:spcPts val="400"/>
              </a:spcAft>
              <a:buSzPct val="100000"/>
              <a:buChar char="•"/>
            </a:pPr>
            <a:r>
              <a:rPr lang="en-US" sz="1380" dirty="0">
                <a:solidFill>
                  <a:srgbClr val="E7DCC8"/>
                </a:solidFill>
              </a:rPr>
              <a:t>Karyawan 3 orang dihitung terpisah</a:t>
            </a:r>
            <a:endParaRPr lang="en-US" sz="1380" dirty="0"/>
          </a:p>
          <a:p>
            <a:pPr marL="342900" indent="-342900">
              <a:spcAft>
                <a:spcPts val="400"/>
              </a:spcAft>
              <a:buSzPct val="100000"/>
              <a:buChar char="•"/>
            </a:pPr>
            <a:r>
              <a:rPr lang="en-US" sz="1380" dirty="0">
                <a:solidFill>
                  <a:srgbClr val="E7DCC8"/>
                </a:solidFill>
              </a:rPr>
              <a:t>Sisanya net income owner</a:t>
            </a:r>
            <a:endParaRPr lang="en-US" sz="1380" dirty="0"/>
          </a:p>
        </p:txBody>
      </p:sp>
      <p:sp>
        <p:nvSpPr>
          <p:cNvPr id="18" name="Text 16"/>
          <p:cNvSpPr/>
          <p:nvPr/>
        </p:nvSpPr>
        <p:spPr>
          <a:xfrm>
            <a:off x="426709" y="5912972"/>
            <a:ext cx="11338277" cy="426709"/>
          </a:xfrm>
          <a:prstGeom prst="rect">
            <a:avLst/>
          </a:prstGeom>
          <a:noFill/>
        </p:spPr>
        <p:txBody>
          <a:bodyPr wrap="square" lIns="0" tIns="0" rIns="0" bIns="0" rtlCol="0" anchor="ctr"/>
          <a:lstStyle/>
          <a:p>
            <a:pPr marL="0" indent="0">
              <a:buNone/>
            </a:pPr>
            <a:r>
              <a:rPr lang="en-US" sz="1440" dirty="0">
                <a:solidFill>
                  <a:srgbClr val="6F675C"/>
                </a:solidFill>
                <a:latin typeface="Calibri" panose="020F0502020204030204" pitchFamily="34" charset="0"/>
                <a:ea typeface="Calibri" panose="020F0502020204030204" pitchFamily="34" charset="-122"/>
                <a:cs typeface="Calibri" panose="020F0502020204030204" pitchFamily="34" charset="-120"/>
              </a:rPr>
              <a:t>Angka dasar: file Cafe_Futsall_Kosan.xlsx. Hunian kos 80%, futsal Rp120 rb per jam, cafe target Rp80 jt per bulan.</a:t>
            </a:r>
            <a:endParaRPr lang="en-US" sz="144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12  /  33</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Kos: potensi pendapatan</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20 unit contoh, hunian target 80%.</a:t>
            </a:r>
            <a:endParaRPr lang="en-US" sz="1560" dirty="0"/>
          </a:p>
        </p:txBody>
      </p:sp>
      <p:graphicFrame>
        <p:nvGraphicFramePr>
          <p:cNvPr id="13" name="Table 0"/>
          <p:cNvGraphicFramePr>
            <a:graphicFrameLocks noGrp="1"/>
          </p:cNvGraphicFramePr>
          <p:nvPr/>
        </p:nvGraphicFramePr>
        <p:xfrm>
          <a:off x="426709" y="1828754"/>
          <a:ext cx="11338277" cy="3291756"/>
        </p:xfrm>
        <a:graphic>
          <a:graphicData uri="http://schemas.openxmlformats.org/drawingml/2006/table">
            <a:tbl>
              <a:tblPr/>
              <a:tblGrid>
                <a:gridCol w="4023259"/>
                <a:gridCol w="1828754"/>
                <a:gridCol w="2804090"/>
                <a:gridCol w="2682173"/>
              </a:tblGrid>
              <a:tr h="548626">
                <a:tc>
                  <a:txBody>
                    <a:bodyPr/>
                    <a:lstStyle/>
                    <a:p>
                      <a:pPr marL="0" indent="0" algn="l">
                        <a:buNone/>
                      </a:pPr>
                      <a:r>
                        <a:rPr lang="en-US" sz="1320" b="1" dirty="0">
                          <a:solidFill>
                            <a:srgbClr val="F4EFE6"/>
                          </a:solidFill>
                        </a:rPr>
                        <a:t>Kelompok unit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Jumlah</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Sewa /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Subtotal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marL="0" indent="0" algn="l">
                        <a:buNone/>
                      </a:pPr>
                      <a:r>
                        <a:rPr lang="en-US" sz="1320" dirty="0">
                          <a:solidFill>
                            <a:srgbClr val="1A1814"/>
                          </a:solidFill>
                        </a:rPr>
                        <a:t>Unit 1</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1</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Rp2.800.000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Rp2.800.000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dirty="0">
                          <a:solidFill>
                            <a:srgbClr val="1A1814"/>
                          </a:solidFill>
                        </a:rPr>
                        <a:t>Unit 2–13</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12</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Rp2.300.000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Rp27.600.000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marL="0" indent="0" algn="l">
                        <a:buNone/>
                      </a:pPr>
                      <a:r>
                        <a:rPr lang="en-US" sz="1320" dirty="0">
                          <a:solidFill>
                            <a:srgbClr val="1A1814"/>
                          </a:solidFill>
                        </a:rPr>
                        <a:t>Unit 14–20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7</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Rp2.000.000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Rp14.000.000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b="1" dirty="0">
                          <a:solidFill>
                            <a:srgbClr val="1A1814"/>
                          </a:solidFill>
                        </a:rPr>
                        <a:t>Total jika penuh</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marL="0" indent="0" algn="r">
                        <a:buNone/>
                      </a:pPr>
                      <a:r>
                        <a:rPr lang="en-US" sz="1320" b="1" dirty="0">
                          <a:solidFill>
                            <a:srgbClr val="1A1814"/>
                          </a:solidFill>
                        </a:rPr>
                        <a:t>20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marL="0" indent="0" algn="l">
                        <a:buNone/>
                      </a:pP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marL="0" indent="0" algn="r">
                        <a:buNone/>
                      </a:pPr>
                      <a:r>
                        <a:rPr lang="en-US" sz="1320" b="1" dirty="0">
                          <a:solidFill>
                            <a:srgbClr val="1A1814"/>
                          </a:solidFill>
                        </a:rPr>
                        <a:t>Rp44.400.000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r>
              <a:tr h="548626">
                <a:tc>
                  <a:txBody>
                    <a:bodyPr/>
                    <a:lstStyle/>
                    <a:p>
                      <a:pPr marL="0" indent="0" algn="l">
                        <a:buNone/>
                      </a:pPr>
                      <a:r>
                        <a:rPr lang="en-US" sz="1320" b="1" dirty="0">
                          <a:solidFill>
                            <a:srgbClr val="1A1814"/>
                          </a:solidFill>
                        </a:rPr>
                        <a:t>Target income (80%)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b="1" dirty="0">
                          <a:solidFill>
                            <a:srgbClr val="1A1814"/>
                          </a:solidFill>
                        </a:rPr>
                        <a:t>Rp35.520.000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13  /  33</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Kos: biaya dan sisa pemilik per bulan</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30% dari target income menjadi bagian pengelola.</a:t>
            </a:r>
            <a:endParaRPr lang="en-US" sz="1560" dirty="0"/>
          </a:p>
        </p:txBody>
      </p:sp>
      <p:graphicFrame>
        <p:nvGraphicFramePr>
          <p:cNvPr id="14" name="Table 0"/>
          <p:cNvGraphicFramePr>
            <a:graphicFrameLocks noGrp="1"/>
          </p:cNvGraphicFramePr>
          <p:nvPr/>
        </p:nvGraphicFramePr>
        <p:xfrm>
          <a:off x="426709" y="1828754"/>
          <a:ext cx="11338277" cy="3291756"/>
        </p:xfrm>
        <a:graphic>
          <a:graphicData uri="http://schemas.openxmlformats.org/drawingml/2006/table">
            <a:tbl>
              <a:tblPr/>
              <a:tblGrid>
                <a:gridCol w="6461598"/>
                <a:gridCol w="1828754"/>
                <a:gridCol w="3047924"/>
              </a:tblGrid>
              <a:tr h="548626">
                <a:tc>
                  <a:txBody>
                    <a:bodyPr/>
                    <a:lstStyle/>
                    <a:p>
                      <a:pPr marL="0" indent="0" algn="l">
                        <a:buNone/>
                      </a:pPr>
                      <a:r>
                        <a:rPr lang="en-US" sz="1320" b="1" dirty="0">
                          <a:solidFill>
                            <a:srgbClr val="F4EFE6"/>
                          </a:solidFill>
                        </a:rPr>
                        <a:t>Pos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Porsi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Per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marL="0" indent="0" algn="l">
                        <a:buNone/>
                      </a:pPr>
                      <a:r>
                        <a:rPr lang="en-US" sz="1320" dirty="0">
                          <a:solidFill>
                            <a:srgbClr val="1A1814"/>
                          </a:solidFill>
                        </a:rPr>
                        <a:t>Target income</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100%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Rp35.520.000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dirty="0">
                          <a:solidFill>
                            <a:srgbClr val="1A1814"/>
                          </a:solidFill>
                        </a:rPr>
                        <a:t>System &amp; Marketing (termasuk build web)</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15%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Rp5.328.000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marL="0" indent="0" algn="l">
                        <a:buNone/>
                      </a:pPr>
                      <a:r>
                        <a:rPr lang="en-US" sz="1320" dirty="0">
                          <a:solidFill>
                            <a:srgbClr val="1A1814"/>
                          </a:solidFill>
                        </a:rPr>
                        <a:t>Perawatan &amp; operasional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15%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Rp5.328.000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b="1" dirty="0">
                          <a:solidFill>
                            <a:srgbClr val="1A1814"/>
                          </a:solidFill>
                        </a:rPr>
                        <a:t>Total biaya</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marL="0" indent="0" algn="r">
                        <a:buNone/>
                      </a:pPr>
                      <a:r>
                        <a:rPr lang="en-US" sz="1320" b="1" dirty="0">
                          <a:solidFill>
                            <a:srgbClr val="1A1814"/>
                          </a:solidFill>
                        </a:rPr>
                        <a:t>30%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marL="0" indent="0" algn="r">
                        <a:buNone/>
                      </a:pPr>
                      <a:r>
                        <a:rPr lang="en-US" sz="1320" b="1" dirty="0">
                          <a:solidFill>
                            <a:srgbClr val="1A1814"/>
                          </a:solidFill>
                        </a:rPr>
                        <a:t>Rp10.656.000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r>
              <a:tr h="548626">
                <a:tc>
                  <a:txBody>
                    <a:bodyPr/>
                    <a:lstStyle/>
                    <a:p>
                      <a:pPr marL="0" indent="0" algn="l">
                        <a:buNone/>
                      </a:pPr>
                      <a:r>
                        <a:rPr lang="en-US" sz="1320" b="1" dirty="0">
                          <a:solidFill>
                            <a:srgbClr val="1A1814"/>
                          </a:solidFill>
                        </a:rPr>
                        <a:t>Net income owner</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b="1" dirty="0">
                          <a:solidFill>
                            <a:srgbClr val="1A1814"/>
                          </a:solidFill>
                        </a:rPr>
                        <a:t>70%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b="1" dirty="0">
                          <a:solidFill>
                            <a:srgbClr val="1A1814"/>
                          </a:solidFill>
                        </a:rPr>
                        <a:t>Rp24.864.000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
        <p:nvSpPr>
          <p:cNvPr id="10" name="Text 7"/>
          <p:cNvSpPr/>
          <p:nvPr/>
        </p:nvSpPr>
        <p:spPr>
          <a:xfrm>
            <a:off x="426709" y="5608180"/>
            <a:ext cx="11338277" cy="487668"/>
          </a:xfrm>
          <a:prstGeom prst="rect">
            <a:avLst/>
          </a:prstGeom>
          <a:noFill/>
        </p:spPr>
        <p:txBody>
          <a:bodyPr wrap="square" lIns="0" tIns="0" rIns="0" bIns="0" rtlCol="0" anchor="ctr"/>
          <a:lstStyle/>
          <a:p>
            <a:pPr marL="0" indent="0">
              <a:buNone/>
            </a:pPr>
            <a:r>
              <a:rPr lang="en-US" sz="1680" b="1" dirty="0">
                <a:solidFill>
                  <a:srgbClr val="2F5D50"/>
                </a:solidFill>
                <a:latin typeface="Calibri" panose="020F0502020204030204" pitchFamily="34" charset="0"/>
                <a:ea typeface="Calibri" panose="020F0502020204030204" pitchFamily="34" charset="-122"/>
                <a:cs typeface="Calibri" panose="020F0502020204030204" pitchFamily="34" charset="-120"/>
              </a:rPr>
              <a:t>Setahun: net owner 298,37 jt pada hunian 80%.</a:t>
            </a:r>
            <a:endParaRPr lang="en-US" sz="16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14  /  33</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Biaya bangun web diambil dari pos maintenance</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Tidak ditagih terpisah di depan. Dicicil dari 15% System &amp; Marketing.</a:t>
            </a:r>
            <a:endParaRPr lang="en-US" sz="1560" dirty="0"/>
          </a:p>
        </p:txBody>
      </p:sp>
      <p:graphicFrame>
        <p:nvGraphicFramePr>
          <p:cNvPr id="15" name="Table 0"/>
          <p:cNvGraphicFramePr>
            <a:graphicFrameLocks noGrp="1"/>
          </p:cNvGraphicFramePr>
          <p:nvPr/>
        </p:nvGraphicFramePr>
        <p:xfrm>
          <a:off x="426709" y="1828754"/>
          <a:ext cx="11338277" cy="2743130"/>
        </p:xfrm>
        <a:graphic>
          <a:graphicData uri="http://schemas.openxmlformats.org/drawingml/2006/table">
            <a:tbl>
              <a:tblPr/>
              <a:tblGrid>
                <a:gridCol w="6461598"/>
                <a:gridCol w="1828754"/>
                <a:gridCol w="3047924"/>
              </a:tblGrid>
              <a:tr h="548626">
                <a:tc>
                  <a:txBody>
                    <a:bodyPr/>
                    <a:lstStyle/>
                    <a:p>
                      <a:pPr marL="0" indent="0" algn="l">
                        <a:buNone/>
                      </a:pPr>
                      <a:r>
                        <a:rPr lang="en-US" sz="1320" b="1" dirty="0">
                          <a:solidFill>
                            <a:srgbClr val="F4EFE6"/>
                          </a:solidFill>
                        </a:rPr>
                        <a:t>Pembagian 15% System &amp; Marketing (usulan)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Porsi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Per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marL="0" indent="0" algn="l">
                        <a:buNone/>
                      </a:pPr>
                      <a:r>
                        <a:rPr lang="en-US" sz="1320" dirty="0">
                          <a:solidFill>
                            <a:srgbClr val="1A1814"/>
                          </a:solidFill>
                        </a:rPr>
                        <a:t>Bangun web (dicicil)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40%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Rp2.131.200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dirty="0">
                          <a:solidFill>
                            <a:srgbClr val="1A1814"/>
                          </a:solidFill>
                        </a:rPr>
                        <a:t>Hosting, domain, maintenance web</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20%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Rp1.065.600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marL="0" indent="0" algn="l">
                        <a:buNone/>
                      </a:pPr>
                      <a:r>
                        <a:rPr lang="en-US" sz="1320" dirty="0">
                          <a:solidFill>
                            <a:srgbClr val="1A1814"/>
                          </a:solidFill>
                        </a:rPr>
                        <a:t>Marketing &amp; iklan unit kosong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40%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Rp2.131.200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b="1" dirty="0">
                          <a:solidFill>
                            <a:srgbClr val="1A1814"/>
                          </a:solidFill>
                        </a:rPr>
                        <a:t>Total pos System &amp; Marketing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b="1" dirty="0">
                          <a:solidFill>
                            <a:srgbClr val="1A1814"/>
                          </a:solidFill>
                        </a:rPr>
                        <a:t>100%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b="1" dirty="0">
                          <a:solidFill>
                            <a:srgbClr val="1A1814"/>
                          </a:solidFill>
                        </a:rPr>
                        <a:t>Rp5.328.000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bl>
          </a:graphicData>
        </a:graphic>
      </p:graphicFrame>
      <p:sp>
        <p:nvSpPr>
          <p:cNvPr id="10" name="Shape 7"/>
          <p:cNvSpPr/>
          <p:nvPr/>
        </p:nvSpPr>
        <p:spPr>
          <a:xfrm>
            <a:off x="426709" y="4754761"/>
            <a:ext cx="11338277" cy="1584920"/>
          </a:xfrm>
          <a:prstGeom prst="roundRect">
            <a:avLst>
              <a:gd name="adj" fmla="val 4616"/>
            </a:avLst>
          </a:prstGeom>
          <a:solidFill>
            <a:srgbClr val="FBF8F3"/>
          </a:solidFill>
          <a:ln w="9525">
            <a:solidFill>
              <a:srgbClr val="D9CFBF"/>
            </a:solidFill>
            <a:prstDash val="solid"/>
          </a:ln>
        </p:spPr>
        <p:txBody>
          <a:bodyPr/>
          <a:p/>
        </p:txBody>
      </p:sp>
      <p:sp>
        <p:nvSpPr>
          <p:cNvPr id="11" name="Text 8"/>
          <p:cNvSpPr/>
          <p:nvPr/>
        </p:nvSpPr>
        <p:spPr>
          <a:xfrm>
            <a:off x="609585" y="4876678"/>
            <a:ext cx="10972526" cy="426709"/>
          </a:xfrm>
          <a:prstGeom prst="rect">
            <a:avLst/>
          </a:prstGeom>
          <a:noFill/>
        </p:spPr>
        <p:txBody>
          <a:bodyPr wrap="square" lIns="0" tIns="0" rIns="0" bIns="0" rtlCol="0" anchor="ctr"/>
          <a:lstStyle/>
          <a:p>
            <a:pPr marL="0" indent="0">
              <a:buNone/>
            </a:pPr>
            <a:r>
              <a:rPr lang="en-US" sz="1680" b="1" dirty="0">
                <a:solidFill>
                  <a:srgbClr val="1A1814"/>
                </a:solidFill>
                <a:latin typeface="Georgia" panose="02040502050405020303" pitchFamily="34" charset="0"/>
                <a:ea typeface="Georgia" panose="02040502050405020303" pitchFamily="34" charset="-122"/>
                <a:cs typeface="Georgia" panose="02040502050405020303" pitchFamily="34" charset="-120"/>
              </a:rPr>
              <a:t>Catatan</a:t>
            </a:r>
            <a:endParaRPr lang="en-US" sz="1680" dirty="0"/>
          </a:p>
        </p:txBody>
      </p:sp>
      <p:sp>
        <p:nvSpPr>
          <p:cNvPr id="12" name="Text 9"/>
          <p:cNvSpPr/>
          <p:nvPr/>
        </p:nvSpPr>
        <p:spPr>
          <a:xfrm>
            <a:off x="609585" y="5364346"/>
            <a:ext cx="10972526" cy="853419"/>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3F382F"/>
                </a:solidFill>
              </a:rPr>
              <a:t>Total biaya bangun ditetapkan setelah ruang lingkup final, lalu dicicil dari pos ini</a:t>
            </a:r>
            <a:endParaRPr lang="en-US" sz="1380" dirty="0"/>
          </a:p>
          <a:p>
            <a:pPr marL="342900" indent="-342900">
              <a:spcAft>
                <a:spcPts val="400"/>
              </a:spcAft>
              <a:buSzPct val="100000"/>
              <a:buChar char="•"/>
            </a:pPr>
            <a:r>
              <a:rPr lang="en-US" sz="1380" dirty="0">
                <a:solidFill>
                  <a:srgbClr val="3F382F"/>
                </a:solidFill>
              </a:rPr>
              <a:t>Pembagian 40/20/40 adalah usulan, bisa diubah</a:t>
            </a:r>
            <a:endParaRPr lang="en-US" sz="13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15  /  33</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Enam minggu sampai tayang</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Tanpa pembayaran di muka; bangun web masuk ke pos System &amp; Marketing.</a:t>
            </a:r>
            <a:endParaRPr lang="en-US" sz="1560" dirty="0"/>
          </a:p>
        </p:txBody>
      </p:sp>
      <p:graphicFrame>
        <p:nvGraphicFramePr>
          <p:cNvPr id="16" name="Table 0"/>
          <p:cNvGraphicFramePr>
            <a:graphicFrameLocks noGrp="1"/>
          </p:cNvGraphicFramePr>
          <p:nvPr/>
        </p:nvGraphicFramePr>
        <p:xfrm>
          <a:off x="426709" y="1828754"/>
          <a:ext cx="11338277" cy="3657510"/>
        </p:xfrm>
        <a:graphic>
          <a:graphicData uri="http://schemas.openxmlformats.org/drawingml/2006/table">
            <a:tbl>
              <a:tblPr/>
              <a:tblGrid>
                <a:gridCol w="1828754"/>
                <a:gridCol w="9509522"/>
              </a:tblGrid>
              <a:tr h="609585">
                <a:tc>
                  <a:txBody>
                    <a:bodyPr/>
                    <a:lstStyle/>
                    <a:p>
                      <a:pPr marL="0" indent="0" algn="l">
                        <a:buNone/>
                      </a:pPr>
                      <a:r>
                        <a:rPr lang="en-US" sz="1320" b="1" dirty="0">
                          <a:solidFill>
                            <a:srgbClr val="F4EFE6"/>
                          </a:solidFill>
                        </a:rPr>
                        <a:t>Minggu</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Pekerjaan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609585">
                <a:tc>
                  <a:txBody>
                    <a:bodyPr/>
                    <a:lstStyle/>
                    <a:p>
                      <a:pPr marL="0" indent="0" algn="l">
                        <a:buNone/>
                      </a:pPr>
                      <a:r>
                        <a:rPr lang="en-US" sz="1320" dirty="0">
                          <a:solidFill>
                            <a:srgbClr val="1A1814"/>
                          </a:solidFill>
                        </a:rPr>
                        <a:t>1</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Riset alur, peta halaman, kumpulkan foto dan data unit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609585">
                <a:tc>
                  <a:txBody>
                    <a:bodyPr/>
                    <a:lstStyle/>
                    <a:p>
                      <a:pPr marL="0" indent="0" algn="l">
                        <a:buNone/>
                      </a:pPr>
                      <a:r>
                        <a:rPr lang="en-US" sz="1320" dirty="0">
                          <a:solidFill>
                            <a:srgbClr val="1A1814"/>
                          </a:solidFill>
                        </a:rPr>
                        <a:t>2</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US" sz="1320" dirty="0">
                          <a:solidFill>
                            <a:srgbClr val="1A1814"/>
                          </a:solidFill>
                        </a:rPr>
                        <a:t>Desain layar utama dan ponsel, revisi dua putaran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609585">
                <a:tc>
                  <a:txBody>
                    <a:bodyPr/>
                    <a:lstStyle/>
                    <a:p>
                      <a:pPr marL="0" indent="0" algn="l">
                        <a:buNone/>
                      </a:pPr>
                      <a:r>
                        <a:rPr lang="en-US" sz="1320" dirty="0">
                          <a:solidFill>
                            <a:srgbClr val="1A1814"/>
                          </a:solidFill>
                        </a:rPr>
                        <a:t>3–4</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Katalog, pencarian, halaman unit, form sewa</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609585">
                <a:tc>
                  <a:txBody>
                    <a:bodyPr/>
                    <a:lstStyle/>
                    <a:p>
                      <a:pPr marL="0" indent="0" algn="l">
                        <a:buNone/>
                      </a:pPr>
                      <a:r>
                        <a:rPr lang="en-US" sz="1320" dirty="0">
                          <a:solidFill>
                            <a:srgbClr val="1A1814"/>
                          </a:solidFill>
                        </a:rPr>
                        <a:t>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US" sz="1320" dirty="0">
                          <a:solidFill>
                            <a:srgbClr val="1A1814"/>
                          </a:solidFill>
                        </a:rPr>
                        <a:t>Papan kamar, grafik hunian, modul booking futsal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609585">
                <a:tc>
                  <a:txBody>
                    <a:bodyPr/>
                    <a:lstStyle/>
                    <a:p>
                      <a:pPr marL="0" indent="0" algn="l">
                        <a:buNone/>
                      </a:pPr>
                      <a:r>
                        <a:rPr lang="en-US" sz="1320" b="1" dirty="0">
                          <a:solidFill>
                            <a:srgbClr val="1A1814"/>
                          </a:solidFill>
                        </a:rPr>
                        <a:t>6</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b="1" dirty="0">
                          <a:solidFill>
                            <a:srgbClr val="1A1814"/>
                          </a:solidFill>
                        </a:rPr>
                        <a:t>Isi data awal, training, domain &amp; hosting, tayang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16  /  33</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Struktur organisasi</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Satu pintu operasional untuk kos, futsal, dan cafe.</a:t>
            </a:r>
            <a:endParaRPr lang="en-US" sz="1560" dirty="0"/>
          </a:p>
        </p:txBody>
      </p:sp>
      <p:sp>
        <p:nvSpPr>
          <p:cNvPr id="9" name="Shape 7"/>
          <p:cNvSpPr/>
          <p:nvPr/>
        </p:nvSpPr>
        <p:spPr>
          <a:xfrm>
            <a:off x="4145176" y="1706837"/>
            <a:ext cx="3047924" cy="975336"/>
          </a:xfrm>
          <a:prstGeom prst="roundRect">
            <a:avLst>
              <a:gd name="adj" fmla="val 7500"/>
            </a:avLst>
          </a:prstGeom>
          <a:solidFill>
            <a:srgbClr val="1A1814"/>
          </a:solidFill>
          <a:ln w="9525">
            <a:solidFill>
              <a:srgbClr val="1A1814"/>
            </a:solidFill>
            <a:prstDash val="solid"/>
          </a:ln>
        </p:spPr>
        <p:txBody>
          <a:bodyPr/>
          <a:p/>
        </p:txBody>
      </p:sp>
      <p:sp>
        <p:nvSpPr>
          <p:cNvPr id="10" name="Text 8"/>
          <p:cNvSpPr/>
          <p:nvPr/>
        </p:nvSpPr>
        <p:spPr>
          <a:xfrm>
            <a:off x="4267093" y="1804371"/>
            <a:ext cx="2804090" cy="390134"/>
          </a:xfrm>
          <a:prstGeom prst="rect">
            <a:avLst/>
          </a:prstGeom>
          <a:noFill/>
        </p:spPr>
        <p:txBody>
          <a:bodyPr wrap="square" lIns="0" tIns="0" rIns="0" bIns="0" rtlCol="0" anchor="ctr"/>
          <a:lstStyle/>
          <a:p>
            <a:pPr marL="0" indent="0" algn="ctr">
              <a:buNone/>
            </a:pPr>
            <a:r>
              <a:rPr lang="en-US" sz="1560" b="1" dirty="0">
                <a:solidFill>
                  <a:srgbClr val="F4EFE6"/>
                </a:solidFill>
                <a:latin typeface="Georgia" panose="02040502050405020303" pitchFamily="34" charset="0"/>
                <a:ea typeface="Georgia" panose="02040502050405020303" pitchFamily="34" charset="-122"/>
                <a:cs typeface="Georgia" panose="02040502050405020303" pitchFamily="34" charset="-120"/>
              </a:rPr>
              <a:t>Pak Riki</a:t>
            </a:r>
            <a:endParaRPr lang="en-US" sz="1560" dirty="0"/>
          </a:p>
        </p:txBody>
      </p:sp>
      <p:sp>
        <p:nvSpPr>
          <p:cNvPr id="11" name="Text 9"/>
          <p:cNvSpPr/>
          <p:nvPr/>
        </p:nvSpPr>
        <p:spPr>
          <a:xfrm>
            <a:off x="4267093" y="2218889"/>
            <a:ext cx="2804090" cy="365751"/>
          </a:xfrm>
          <a:prstGeom prst="rect">
            <a:avLst/>
          </a:prstGeom>
          <a:noFill/>
        </p:spPr>
        <p:txBody>
          <a:bodyPr wrap="square" lIns="0" tIns="0" rIns="0" bIns="0" rtlCol="0" anchor="t"/>
          <a:lstStyle/>
          <a:p>
            <a:pPr marL="0" indent="0" algn="ctr">
              <a:buNone/>
            </a:pPr>
            <a:r>
              <a:rPr lang="en-AU" altLang="en-US" sz="1260" dirty="0">
                <a:solidFill>
                  <a:srgbClr val="E7DCC8"/>
                </a:solidFill>
                <a:latin typeface="Calibri" panose="020F0502020204030204" pitchFamily="34" charset="0"/>
                <a:ea typeface="Calibri" panose="020F0502020204030204" pitchFamily="34" charset="-122"/>
                <a:cs typeface="Calibri" panose="020F0502020204030204" pitchFamily="34" charset="-120"/>
              </a:rPr>
              <a:t>OWNER</a:t>
            </a:r>
            <a:endParaRPr lang="en-AU" altLang="en-US" sz="1260" dirty="0">
              <a:solidFill>
                <a:srgbClr val="E7DCC8"/>
              </a:solidFill>
              <a:latin typeface="Calibri" panose="020F0502020204030204" pitchFamily="34" charset="0"/>
              <a:ea typeface="Calibri" panose="020F0502020204030204" pitchFamily="34" charset="-122"/>
              <a:cs typeface="Calibri" panose="020F0502020204030204" pitchFamily="34" charset="-120"/>
            </a:endParaRPr>
          </a:p>
        </p:txBody>
      </p:sp>
      <p:sp>
        <p:nvSpPr>
          <p:cNvPr id="12" name="Shape 10"/>
          <p:cNvSpPr/>
          <p:nvPr/>
        </p:nvSpPr>
        <p:spPr>
          <a:xfrm>
            <a:off x="5669138" y="2682173"/>
            <a:ext cx="0" cy="268217"/>
          </a:xfrm>
          <a:prstGeom prst="line">
            <a:avLst/>
          </a:prstGeom>
          <a:noFill/>
          <a:ln w="15875">
            <a:solidFill>
              <a:srgbClr val="6F675C"/>
            </a:solidFill>
            <a:prstDash val="solid"/>
          </a:ln>
        </p:spPr>
        <p:txBody>
          <a:bodyPr/>
          <a:p/>
        </p:txBody>
      </p:sp>
      <p:sp>
        <p:nvSpPr>
          <p:cNvPr id="13" name="Shape 11"/>
          <p:cNvSpPr/>
          <p:nvPr/>
        </p:nvSpPr>
        <p:spPr>
          <a:xfrm>
            <a:off x="3657509" y="2950390"/>
            <a:ext cx="4876678" cy="0"/>
          </a:xfrm>
          <a:prstGeom prst="line">
            <a:avLst/>
          </a:prstGeom>
          <a:noFill/>
          <a:ln w="15875">
            <a:solidFill>
              <a:srgbClr val="6F675C"/>
            </a:solidFill>
            <a:prstDash val="solid"/>
          </a:ln>
        </p:spPr>
        <p:txBody>
          <a:bodyPr/>
          <a:p/>
        </p:txBody>
      </p:sp>
      <p:sp>
        <p:nvSpPr>
          <p:cNvPr id="14" name="Shape 12"/>
          <p:cNvSpPr/>
          <p:nvPr/>
        </p:nvSpPr>
        <p:spPr>
          <a:xfrm>
            <a:off x="3657509" y="2950390"/>
            <a:ext cx="0" cy="280409"/>
          </a:xfrm>
          <a:prstGeom prst="line">
            <a:avLst/>
          </a:prstGeom>
          <a:noFill/>
          <a:ln w="15875">
            <a:solidFill>
              <a:srgbClr val="6F675C"/>
            </a:solidFill>
            <a:prstDash val="solid"/>
          </a:ln>
        </p:spPr>
        <p:txBody>
          <a:bodyPr/>
          <a:p/>
        </p:txBody>
      </p:sp>
      <p:sp>
        <p:nvSpPr>
          <p:cNvPr id="15" name="Shape 13"/>
          <p:cNvSpPr/>
          <p:nvPr/>
        </p:nvSpPr>
        <p:spPr>
          <a:xfrm>
            <a:off x="8534187" y="2950390"/>
            <a:ext cx="0" cy="280409"/>
          </a:xfrm>
          <a:prstGeom prst="line">
            <a:avLst/>
          </a:prstGeom>
          <a:noFill/>
          <a:ln w="15875">
            <a:solidFill>
              <a:srgbClr val="6F675C"/>
            </a:solidFill>
            <a:prstDash val="solid"/>
          </a:ln>
        </p:spPr>
        <p:txBody>
          <a:bodyPr/>
          <a:p/>
        </p:txBody>
      </p:sp>
      <p:sp>
        <p:nvSpPr>
          <p:cNvPr id="16" name="Shape 14"/>
          <p:cNvSpPr/>
          <p:nvPr/>
        </p:nvSpPr>
        <p:spPr>
          <a:xfrm>
            <a:off x="1463003" y="3230799"/>
            <a:ext cx="4389010" cy="1219170"/>
          </a:xfrm>
          <a:prstGeom prst="roundRect">
            <a:avLst>
              <a:gd name="adj" fmla="val 6000"/>
            </a:avLst>
          </a:prstGeom>
          <a:solidFill>
            <a:srgbClr val="C4622D"/>
          </a:solidFill>
          <a:ln w="9525">
            <a:solidFill>
              <a:srgbClr val="C4622D"/>
            </a:solidFill>
            <a:prstDash val="solid"/>
          </a:ln>
        </p:spPr>
        <p:txBody>
          <a:bodyPr/>
          <a:p/>
        </p:txBody>
      </p:sp>
      <p:sp>
        <p:nvSpPr>
          <p:cNvPr id="17" name="Text 15"/>
          <p:cNvSpPr/>
          <p:nvPr/>
        </p:nvSpPr>
        <p:spPr>
          <a:xfrm>
            <a:off x="1584920" y="3328333"/>
            <a:ext cx="4145176" cy="390134"/>
          </a:xfrm>
          <a:prstGeom prst="rect">
            <a:avLst/>
          </a:prstGeom>
          <a:noFill/>
        </p:spPr>
        <p:txBody>
          <a:bodyPr wrap="square" lIns="0" tIns="0" rIns="0" bIns="0" rtlCol="0" anchor="ctr"/>
          <a:lstStyle/>
          <a:p>
            <a:pPr marL="0" indent="0" algn="ctr">
              <a:buNone/>
            </a:pPr>
            <a:r>
              <a:rPr lang="en-US" sz="1560" b="1" dirty="0">
                <a:solidFill>
                  <a:srgbClr val="F4EFE6"/>
                </a:solidFill>
                <a:latin typeface="Georgia" panose="02040502050405020303" pitchFamily="34" charset="0"/>
                <a:ea typeface="Georgia" panose="02040502050405020303" pitchFamily="34" charset="-122"/>
                <a:cs typeface="Georgia" panose="02040502050405020303" pitchFamily="34" charset="-120"/>
              </a:rPr>
              <a:t>Andre Luckyta</a:t>
            </a:r>
            <a:endParaRPr lang="en-US" sz="1560" dirty="0"/>
          </a:p>
        </p:txBody>
      </p:sp>
      <p:sp>
        <p:nvSpPr>
          <p:cNvPr id="18" name="Text 16"/>
          <p:cNvSpPr/>
          <p:nvPr/>
        </p:nvSpPr>
        <p:spPr>
          <a:xfrm>
            <a:off x="1584920" y="3742850"/>
            <a:ext cx="4145176" cy="609585"/>
          </a:xfrm>
          <a:prstGeom prst="rect">
            <a:avLst/>
          </a:prstGeom>
          <a:noFill/>
        </p:spPr>
        <p:txBody>
          <a:bodyPr wrap="square" lIns="0" tIns="0" rIns="0" bIns="0" rtlCol="0" anchor="t"/>
          <a:lstStyle/>
          <a:p>
            <a:pPr marL="0" indent="0" algn="ctr">
              <a:buNone/>
            </a:pPr>
            <a:r>
              <a:rPr lang="en-US" sz="1260" dirty="0">
                <a:solidFill>
                  <a:srgbClr val="E7DCC8"/>
                </a:solidFill>
                <a:latin typeface="Calibri" panose="020F0502020204030204" pitchFamily="34" charset="0"/>
                <a:ea typeface="Calibri" panose="020F0502020204030204" pitchFamily="34" charset="-122"/>
                <a:cs typeface="Calibri" panose="020F0502020204030204" pitchFamily="34" charset="-120"/>
              </a:rPr>
              <a:t>Operasional &amp; PPIC semua unit: jadwal, stok, karyawan, </a:t>
            </a:r>
            <a:r>
              <a:rPr lang="en-AU" altLang="en-US" sz="1260" dirty="0">
                <a:solidFill>
                  <a:srgbClr val="E7DCC8"/>
                </a:solidFill>
                <a:latin typeface="Calibri" panose="020F0502020204030204" pitchFamily="34" charset="0"/>
                <a:ea typeface="Calibri" panose="020F0502020204030204" pitchFamily="34" charset="-122"/>
                <a:cs typeface="Calibri" panose="020F0502020204030204" pitchFamily="34" charset="-120"/>
              </a:rPr>
              <a:t>pe</a:t>
            </a:r>
            <a:r>
              <a:rPr lang="en-US" sz="1260" dirty="0">
                <a:solidFill>
                  <a:srgbClr val="E7DCC8"/>
                </a:solidFill>
                <a:latin typeface="Calibri" panose="020F0502020204030204" pitchFamily="34" charset="0"/>
                <a:ea typeface="Calibri" panose="020F0502020204030204" pitchFamily="34" charset="-122"/>
                <a:cs typeface="Calibri" panose="020F0502020204030204" pitchFamily="34" charset="-120"/>
              </a:rPr>
              <a:t>laporan</a:t>
            </a:r>
            <a:r>
              <a:rPr lang="en-AU" altLang="en-US" sz="1260" dirty="0">
                <a:solidFill>
                  <a:srgbClr val="E7DCC8"/>
                </a:solidFill>
                <a:latin typeface="Calibri" panose="020F0502020204030204" pitchFamily="34" charset="0"/>
                <a:ea typeface="Calibri" panose="020F0502020204030204" pitchFamily="34" charset="-122"/>
                <a:cs typeface="Calibri" panose="020F0502020204030204" pitchFamily="34" charset="-120"/>
              </a:rPr>
              <a:t> &amp; approval kontrak</a:t>
            </a:r>
            <a:endParaRPr lang="en-AU" altLang="en-US" sz="1260" dirty="0">
              <a:solidFill>
                <a:srgbClr val="E7DCC8"/>
              </a:solidFill>
              <a:latin typeface="Calibri" panose="020F0502020204030204" pitchFamily="34" charset="0"/>
              <a:ea typeface="Calibri" panose="020F0502020204030204" pitchFamily="34" charset="-122"/>
              <a:cs typeface="Calibri" panose="020F0502020204030204" pitchFamily="34" charset="-120"/>
            </a:endParaRPr>
          </a:p>
        </p:txBody>
      </p:sp>
      <p:sp>
        <p:nvSpPr>
          <p:cNvPr id="19" name="Shape 17"/>
          <p:cNvSpPr/>
          <p:nvPr/>
        </p:nvSpPr>
        <p:spPr>
          <a:xfrm>
            <a:off x="6705432" y="3230799"/>
            <a:ext cx="3657509" cy="1219170"/>
          </a:xfrm>
          <a:prstGeom prst="roundRect">
            <a:avLst>
              <a:gd name="adj" fmla="val 6000"/>
            </a:avLst>
          </a:prstGeom>
          <a:solidFill>
            <a:srgbClr val="2F5D50"/>
          </a:solidFill>
          <a:ln w="9525">
            <a:solidFill>
              <a:srgbClr val="2F5D50"/>
            </a:solidFill>
            <a:prstDash val="solid"/>
          </a:ln>
        </p:spPr>
        <p:txBody>
          <a:bodyPr/>
          <a:p/>
        </p:txBody>
      </p:sp>
      <p:sp>
        <p:nvSpPr>
          <p:cNvPr id="20" name="Text 18"/>
          <p:cNvSpPr/>
          <p:nvPr/>
        </p:nvSpPr>
        <p:spPr>
          <a:xfrm>
            <a:off x="6827349" y="3328333"/>
            <a:ext cx="3413675" cy="390134"/>
          </a:xfrm>
          <a:prstGeom prst="rect">
            <a:avLst/>
          </a:prstGeom>
          <a:noFill/>
        </p:spPr>
        <p:txBody>
          <a:bodyPr wrap="square" lIns="0" tIns="0" rIns="0" bIns="0" rtlCol="0" anchor="ctr"/>
          <a:lstStyle/>
          <a:p>
            <a:pPr marL="0" indent="0" algn="ctr">
              <a:buNone/>
            </a:pPr>
            <a:r>
              <a:rPr lang="en-US" sz="1560" b="1" dirty="0">
                <a:solidFill>
                  <a:srgbClr val="F4EFE6"/>
                </a:solidFill>
                <a:latin typeface="Georgia" panose="02040502050405020303" pitchFamily="34" charset="0"/>
                <a:ea typeface="Georgia" panose="02040502050405020303" pitchFamily="34" charset="-122"/>
                <a:cs typeface="Georgia" panose="02040502050405020303" pitchFamily="34" charset="-120"/>
              </a:rPr>
              <a:t>Nana Rusyana</a:t>
            </a:r>
            <a:endParaRPr lang="en-US" sz="1560" dirty="0"/>
          </a:p>
        </p:txBody>
      </p:sp>
      <p:sp>
        <p:nvSpPr>
          <p:cNvPr id="21" name="Text 19"/>
          <p:cNvSpPr/>
          <p:nvPr/>
        </p:nvSpPr>
        <p:spPr>
          <a:xfrm>
            <a:off x="6827349" y="3742850"/>
            <a:ext cx="3413675" cy="609585"/>
          </a:xfrm>
          <a:prstGeom prst="rect">
            <a:avLst/>
          </a:prstGeom>
          <a:noFill/>
        </p:spPr>
        <p:txBody>
          <a:bodyPr wrap="square" lIns="0" tIns="0" rIns="0" bIns="0" rtlCol="0" anchor="t"/>
          <a:lstStyle/>
          <a:p>
            <a:pPr marL="0" indent="0" algn="ctr">
              <a:buNone/>
            </a:pPr>
            <a:r>
              <a:rPr lang="en-AU" altLang="en-US" sz="1260" dirty="0">
                <a:solidFill>
                  <a:srgbClr val="E7DCC8"/>
                </a:solidFill>
                <a:latin typeface="Calibri" panose="020F0502020204030204" pitchFamily="34" charset="0"/>
                <a:ea typeface="Calibri" panose="020F0502020204030204" pitchFamily="34" charset="-122"/>
                <a:cs typeface="Calibri" panose="020F0502020204030204" pitchFamily="34" charset="-120"/>
              </a:rPr>
              <a:t>Advisor, &amp; </a:t>
            </a:r>
            <a:r>
              <a:rPr lang="en-US" sz="1260" dirty="0">
                <a:solidFill>
                  <a:srgbClr val="E7DCC8"/>
                </a:solidFill>
                <a:latin typeface="Calibri" panose="020F0502020204030204" pitchFamily="34" charset="0"/>
                <a:ea typeface="Calibri" panose="020F0502020204030204" pitchFamily="34" charset="-122"/>
                <a:cs typeface="Calibri" panose="020F0502020204030204" pitchFamily="34" charset="-120"/>
              </a:rPr>
              <a:t>Pengawas</a:t>
            </a:r>
            <a:endParaRPr lang="en-US" sz="1260" dirty="0"/>
          </a:p>
        </p:txBody>
      </p:sp>
      <p:sp>
        <p:nvSpPr>
          <p:cNvPr id="22" name="Shape 20"/>
          <p:cNvSpPr/>
          <p:nvPr/>
        </p:nvSpPr>
        <p:spPr>
          <a:xfrm>
            <a:off x="3657509" y="4449969"/>
            <a:ext cx="0" cy="304792"/>
          </a:xfrm>
          <a:prstGeom prst="line">
            <a:avLst/>
          </a:prstGeom>
          <a:noFill/>
          <a:ln w="15875">
            <a:solidFill>
              <a:srgbClr val="6F675C"/>
            </a:solidFill>
            <a:prstDash val="solid"/>
          </a:ln>
        </p:spPr>
        <p:txBody>
          <a:bodyPr/>
          <a:p/>
        </p:txBody>
      </p:sp>
      <p:sp>
        <p:nvSpPr>
          <p:cNvPr id="23" name="Shape 21"/>
          <p:cNvSpPr/>
          <p:nvPr/>
        </p:nvSpPr>
        <p:spPr>
          <a:xfrm>
            <a:off x="1280128" y="4754761"/>
            <a:ext cx="8534187" cy="0"/>
          </a:xfrm>
          <a:prstGeom prst="line">
            <a:avLst/>
          </a:prstGeom>
          <a:noFill/>
          <a:ln w="15875">
            <a:solidFill>
              <a:srgbClr val="6F675C"/>
            </a:solidFill>
            <a:prstDash val="solid"/>
          </a:ln>
        </p:spPr>
        <p:txBody>
          <a:bodyPr/>
          <a:p/>
        </p:txBody>
      </p:sp>
      <p:sp>
        <p:nvSpPr>
          <p:cNvPr id="24" name="Shape 22"/>
          <p:cNvSpPr/>
          <p:nvPr/>
        </p:nvSpPr>
        <p:spPr>
          <a:xfrm>
            <a:off x="1280128" y="4754761"/>
            <a:ext cx="0" cy="243834"/>
          </a:xfrm>
          <a:prstGeom prst="line">
            <a:avLst/>
          </a:prstGeom>
          <a:noFill/>
          <a:ln w="15875">
            <a:solidFill>
              <a:srgbClr val="6F675C"/>
            </a:solidFill>
            <a:prstDash val="solid"/>
          </a:ln>
        </p:spPr>
        <p:txBody>
          <a:bodyPr/>
          <a:p/>
        </p:txBody>
      </p:sp>
      <p:sp>
        <p:nvSpPr>
          <p:cNvPr id="25" name="Shape 23"/>
          <p:cNvSpPr/>
          <p:nvPr/>
        </p:nvSpPr>
        <p:spPr>
          <a:xfrm>
            <a:off x="243834" y="4998595"/>
            <a:ext cx="2072588" cy="1219170"/>
          </a:xfrm>
          <a:prstGeom prst="roundRect">
            <a:avLst>
              <a:gd name="adj" fmla="val 6000"/>
            </a:avLst>
          </a:prstGeom>
          <a:solidFill>
            <a:srgbClr val="FBF8F3"/>
          </a:solidFill>
          <a:ln w="9525">
            <a:solidFill>
              <a:srgbClr val="D9CFBF"/>
            </a:solidFill>
            <a:prstDash val="solid"/>
          </a:ln>
        </p:spPr>
        <p:txBody>
          <a:bodyPr/>
          <a:p/>
        </p:txBody>
      </p:sp>
      <p:sp>
        <p:nvSpPr>
          <p:cNvPr id="26" name="Text 24"/>
          <p:cNvSpPr/>
          <p:nvPr/>
        </p:nvSpPr>
        <p:spPr>
          <a:xfrm>
            <a:off x="365751" y="5096129"/>
            <a:ext cx="1828754" cy="390134"/>
          </a:xfrm>
          <a:prstGeom prst="rect">
            <a:avLst/>
          </a:prstGeom>
          <a:noFill/>
        </p:spPr>
        <p:txBody>
          <a:bodyPr wrap="square" lIns="0" tIns="0" rIns="0" bIns="0" rtlCol="0" anchor="ctr"/>
          <a:lstStyle/>
          <a:p>
            <a:pPr marL="0" indent="0" algn="ctr">
              <a:buNone/>
            </a:pPr>
            <a:r>
              <a:rPr lang="en-US" sz="1560" b="1" dirty="0">
                <a:solidFill>
                  <a:srgbClr val="1A1814"/>
                </a:solidFill>
                <a:latin typeface="Georgia" panose="02040502050405020303" pitchFamily="34" charset="0"/>
                <a:ea typeface="Georgia" panose="02040502050405020303" pitchFamily="34" charset="-122"/>
                <a:cs typeface="Georgia" panose="02040502050405020303" pitchFamily="34" charset="-120"/>
              </a:rPr>
              <a:t>Tim Marketing</a:t>
            </a:r>
            <a:endParaRPr lang="en-US" sz="1560" dirty="0"/>
          </a:p>
        </p:txBody>
      </p:sp>
      <p:sp>
        <p:nvSpPr>
          <p:cNvPr id="27" name="Text 25"/>
          <p:cNvSpPr/>
          <p:nvPr/>
        </p:nvSpPr>
        <p:spPr>
          <a:xfrm>
            <a:off x="365751" y="5510646"/>
            <a:ext cx="1828754" cy="609585"/>
          </a:xfrm>
          <a:prstGeom prst="rect">
            <a:avLst/>
          </a:prstGeom>
          <a:noFill/>
        </p:spPr>
        <p:txBody>
          <a:bodyPr wrap="square" lIns="0" tIns="0" rIns="0" bIns="0" rtlCol="0" anchor="t"/>
          <a:lstStyle/>
          <a:p>
            <a:pPr marL="0" indent="0" algn="ctr">
              <a:buNone/>
            </a:pPr>
            <a:r>
              <a:rPr lang="en-US" sz="1260" dirty="0">
                <a:solidFill>
                  <a:srgbClr val="3F382F"/>
                </a:solidFill>
                <a:latin typeface="Calibri" panose="020F0502020204030204" pitchFamily="34" charset="0"/>
                <a:ea typeface="Calibri" panose="020F0502020204030204" pitchFamily="34" charset="-122"/>
                <a:cs typeface="Calibri" panose="020F0502020204030204" pitchFamily="34" charset="-120"/>
              </a:rPr>
              <a:t>sosmed, sekolah, komunitas</a:t>
            </a:r>
            <a:endParaRPr lang="en-US" sz="1260" dirty="0"/>
          </a:p>
        </p:txBody>
      </p:sp>
      <p:sp>
        <p:nvSpPr>
          <p:cNvPr id="28" name="Shape 26"/>
          <p:cNvSpPr/>
          <p:nvPr/>
        </p:nvSpPr>
        <p:spPr>
          <a:xfrm>
            <a:off x="3474633" y="4754761"/>
            <a:ext cx="0" cy="243834"/>
          </a:xfrm>
          <a:prstGeom prst="line">
            <a:avLst/>
          </a:prstGeom>
          <a:noFill/>
          <a:ln w="15875">
            <a:solidFill>
              <a:srgbClr val="6F675C"/>
            </a:solidFill>
            <a:prstDash val="solid"/>
          </a:ln>
        </p:spPr>
        <p:txBody>
          <a:bodyPr/>
          <a:p/>
        </p:txBody>
      </p:sp>
      <p:sp>
        <p:nvSpPr>
          <p:cNvPr id="29" name="Shape 27"/>
          <p:cNvSpPr/>
          <p:nvPr/>
        </p:nvSpPr>
        <p:spPr>
          <a:xfrm>
            <a:off x="2438339" y="4998595"/>
            <a:ext cx="2072588" cy="1219170"/>
          </a:xfrm>
          <a:prstGeom prst="roundRect">
            <a:avLst>
              <a:gd name="adj" fmla="val 6000"/>
            </a:avLst>
          </a:prstGeom>
          <a:solidFill>
            <a:srgbClr val="FBF8F3"/>
          </a:solidFill>
          <a:ln w="9525">
            <a:solidFill>
              <a:srgbClr val="D9CFBF"/>
            </a:solidFill>
            <a:prstDash val="solid"/>
          </a:ln>
        </p:spPr>
        <p:txBody>
          <a:bodyPr/>
          <a:p/>
        </p:txBody>
      </p:sp>
      <p:sp>
        <p:nvSpPr>
          <p:cNvPr id="30" name="Text 28"/>
          <p:cNvSpPr/>
          <p:nvPr/>
        </p:nvSpPr>
        <p:spPr>
          <a:xfrm>
            <a:off x="2560256" y="5096129"/>
            <a:ext cx="1828754" cy="390134"/>
          </a:xfrm>
          <a:prstGeom prst="rect">
            <a:avLst/>
          </a:prstGeom>
          <a:noFill/>
        </p:spPr>
        <p:txBody>
          <a:bodyPr wrap="square" lIns="0" tIns="0" rIns="0" bIns="0" rtlCol="0" anchor="ctr"/>
          <a:lstStyle/>
          <a:p>
            <a:pPr marL="0" indent="0" algn="ctr">
              <a:buNone/>
            </a:pPr>
            <a:r>
              <a:rPr lang="en-US" sz="1560" b="1" dirty="0">
                <a:solidFill>
                  <a:srgbClr val="1A1814"/>
                </a:solidFill>
                <a:latin typeface="Georgia" panose="02040502050405020303" pitchFamily="34" charset="0"/>
                <a:ea typeface="Georgia" panose="02040502050405020303" pitchFamily="34" charset="-122"/>
                <a:cs typeface="Georgia" panose="02040502050405020303" pitchFamily="34" charset="-120"/>
              </a:rPr>
              <a:t>Tim Event</a:t>
            </a:r>
            <a:endParaRPr lang="en-US" sz="1560" dirty="0"/>
          </a:p>
        </p:txBody>
      </p:sp>
      <p:sp>
        <p:nvSpPr>
          <p:cNvPr id="31" name="Text 29"/>
          <p:cNvSpPr/>
          <p:nvPr/>
        </p:nvSpPr>
        <p:spPr>
          <a:xfrm>
            <a:off x="2560256" y="5510646"/>
            <a:ext cx="1828754" cy="609585"/>
          </a:xfrm>
          <a:prstGeom prst="rect">
            <a:avLst/>
          </a:prstGeom>
          <a:noFill/>
        </p:spPr>
        <p:txBody>
          <a:bodyPr wrap="square" lIns="0" tIns="0" rIns="0" bIns="0" rtlCol="0" anchor="t"/>
          <a:lstStyle/>
          <a:p>
            <a:pPr marL="0" indent="0" algn="ctr">
              <a:buNone/>
            </a:pPr>
            <a:r>
              <a:rPr lang="en-US" sz="1260" dirty="0">
                <a:solidFill>
                  <a:srgbClr val="3F382F"/>
                </a:solidFill>
                <a:latin typeface="Calibri" panose="020F0502020204030204" pitchFamily="34" charset="0"/>
                <a:ea typeface="Calibri" panose="020F0502020204030204" pitchFamily="34" charset="-122"/>
                <a:cs typeface="Calibri" panose="020F0502020204030204" pitchFamily="34" charset="-120"/>
              </a:rPr>
              <a:t>turnamen, partner &amp; sponsor</a:t>
            </a:r>
            <a:endParaRPr lang="en-US" sz="1260" dirty="0"/>
          </a:p>
        </p:txBody>
      </p:sp>
      <p:sp>
        <p:nvSpPr>
          <p:cNvPr id="32" name="Shape 30"/>
          <p:cNvSpPr/>
          <p:nvPr/>
        </p:nvSpPr>
        <p:spPr>
          <a:xfrm>
            <a:off x="5669138" y="4754761"/>
            <a:ext cx="0" cy="243834"/>
          </a:xfrm>
          <a:prstGeom prst="line">
            <a:avLst/>
          </a:prstGeom>
          <a:noFill/>
          <a:ln w="15875">
            <a:solidFill>
              <a:srgbClr val="6F675C"/>
            </a:solidFill>
            <a:prstDash val="solid"/>
          </a:ln>
        </p:spPr>
        <p:txBody>
          <a:bodyPr/>
          <a:p/>
        </p:txBody>
      </p:sp>
      <p:sp>
        <p:nvSpPr>
          <p:cNvPr id="33" name="Shape 31"/>
          <p:cNvSpPr/>
          <p:nvPr/>
        </p:nvSpPr>
        <p:spPr>
          <a:xfrm>
            <a:off x="4632844" y="4998595"/>
            <a:ext cx="2072588" cy="1219170"/>
          </a:xfrm>
          <a:prstGeom prst="roundRect">
            <a:avLst>
              <a:gd name="adj" fmla="val 6000"/>
            </a:avLst>
          </a:prstGeom>
          <a:solidFill>
            <a:srgbClr val="FBF8F3"/>
          </a:solidFill>
          <a:ln w="9525">
            <a:solidFill>
              <a:srgbClr val="D9CFBF"/>
            </a:solidFill>
            <a:prstDash val="solid"/>
          </a:ln>
        </p:spPr>
        <p:txBody>
          <a:bodyPr/>
          <a:p/>
        </p:txBody>
      </p:sp>
      <p:sp>
        <p:nvSpPr>
          <p:cNvPr id="34" name="Text 32"/>
          <p:cNvSpPr/>
          <p:nvPr/>
        </p:nvSpPr>
        <p:spPr>
          <a:xfrm>
            <a:off x="4754761" y="5096129"/>
            <a:ext cx="1828754" cy="390134"/>
          </a:xfrm>
          <a:prstGeom prst="rect">
            <a:avLst/>
          </a:prstGeom>
          <a:noFill/>
        </p:spPr>
        <p:txBody>
          <a:bodyPr wrap="square" lIns="0" tIns="0" rIns="0" bIns="0" rtlCol="0" anchor="ctr"/>
          <a:lstStyle/>
          <a:p>
            <a:pPr marL="0" indent="0" algn="ctr">
              <a:buNone/>
            </a:pPr>
            <a:r>
              <a:rPr lang="en-US" sz="1560" b="1" dirty="0">
                <a:solidFill>
                  <a:srgbClr val="1A1814"/>
                </a:solidFill>
                <a:latin typeface="Georgia" panose="02040502050405020303" pitchFamily="34" charset="0"/>
                <a:ea typeface="Georgia" panose="02040502050405020303" pitchFamily="34" charset="-122"/>
                <a:cs typeface="Georgia" panose="02040502050405020303" pitchFamily="34" charset="-120"/>
              </a:rPr>
              <a:t>Cafe</a:t>
            </a:r>
            <a:endParaRPr lang="en-US" sz="1560" dirty="0"/>
          </a:p>
        </p:txBody>
      </p:sp>
      <p:sp>
        <p:nvSpPr>
          <p:cNvPr id="35" name="Text 33"/>
          <p:cNvSpPr/>
          <p:nvPr/>
        </p:nvSpPr>
        <p:spPr>
          <a:xfrm>
            <a:off x="4754761" y="5510646"/>
            <a:ext cx="1828754" cy="609585"/>
          </a:xfrm>
          <a:prstGeom prst="rect">
            <a:avLst/>
          </a:prstGeom>
          <a:noFill/>
        </p:spPr>
        <p:txBody>
          <a:bodyPr wrap="square" lIns="0" tIns="0" rIns="0" bIns="0" rtlCol="0" anchor="t"/>
          <a:lstStyle/>
          <a:p>
            <a:pPr marL="0" indent="0" algn="ctr">
              <a:buNone/>
            </a:pPr>
            <a:r>
              <a:rPr lang="en-US" sz="1260" dirty="0">
                <a:solidFill>
                  <a:srgbClr val="3F382F"/>
                </a:solidFill>
                <a:latin typeface="Calibri" panose="020F0502020204030204" pitchFamily="34" charset="0"/>
                <a:ea typeface="Calibri" panose="020F0502020204030204" pitchFamily="34" charset="-122"/>
                <a:cs typeface="Calibri" panose="020F0502020204030204" pitchFamily="34" charset="-120"/>
              </a:rPr>
              <a:t>waiters, cooks, kasir</a:t>
            </a:r>
            <a:endParaRPr lang="en-US" sz="1260" dirty="0"/>
          </a:p>
        </p:txBody>
      </p:sp>
      <p:sp>
        <p:nvSpPr>
          <p:cNvPr id="36" name="Shape 34"/>
          <p:cNvSpPr/>
          <p:nvPr/>
        </p:nvSpPr>
        <p:spPr>
          <a:xfrm>
            <a:off x="7863643" y="4754761"/>
            <a:ext cx="0" cy="243834"/>
          </a:xfrm>
          <a:prstGeom prst="line">
            <a:avLst/>
          </a:prstGeom>
          <a:noFill/>
          <a:ln w="15875">
            <a:solidFill>
              <a:srgbClr val="6F675C"/>
            </a:solidFill>
            <a:prstDash val="solid"/>
          </a:ln>
        </p:spPr>
        <p:txBody>
          <a:bodyPr/>
          <a:p/>
        </p:txBody>
      </p:sp>
      <p:sp>
        <p:nvSpPr>
          <p:cNvPr id="37" name="Shape 35"/>
          <p:cNvSpPr/>
          <p:nvPr/>
        </p:nvSpPr>
        <p:spPr>
          <a:xfrm>
            <a:off x="6827349" y="4998595"/>
            <a:ext cx="2072588" cy="1219170"/>
          </a:xfrm>
          <a:prstGeom prst="roundRect">
            <a:avLst>
              <a:gd name="adj" fmla="val 6000"/>
            </a:avLst>
          </a:prstGeom>
          <a:solidFill>
            <a:srgbClr val="FBF8F3"/>
          </a:solidFill>
          <a:ln w="9525">
            <a:solidFill>
              <a:srgbClr val="D9CFBF"/>
            </a:solidFill>
            <a:prstDash val="solid"/>
          </a:ln>
        </p:spPr>
        <p:txBody>
          <a:bodyPr/>
          <a:p/>
        </p:txBody>
      </p:sp>
      <p:sp>
        <p:nvSpPr>
          <p:cNvPr id="38" name="Text 36"/>
          <p:cNvSpPr/>
          <p:nvPr/>
        </p:nvSpPr>
        <p:spPr>
          <a:xfrm>
            <a:off x="6949266" y="5096129"/>
            <a:ext cx="1828754" cy="390134"/>
          </a:xfrm>
          <a:prstGeom prst="rect">
            <a:avLst/>
          </a:prstGeom>
          <a:noFill/>
        </p:spPr>
        <p:txBody>
          <a:bodyPr wrap="square" lIns="0" tIns="0" rIns="0" bIns="0" rtlCol="0" anchor="ctr"/>
          <a:lstStyle/>
          <a:p>
            <a:pPr marL="0" indent="0" algn="ctr">
              <a:buNone/>
            </a:pPr>
            <a:r>
              <a:rPr lang="en-US" sz="1560" b="1" dirty="0">
                <a:solidFill>
                  <a:srgbClr val="1A1814"/>
                </a:solidFill>
                <a:latin typeface="Georgia" panose="02040502050405020303" pitchFamily="34" charset="0"/>
                <a:ea typeface="Georgia" panose="02040502050405020303" pitchFamily="34" charset="-122"/>
                <a:cs typeface="Georgia" panose="02040502050405020303" pitchFamily="34" charset="-120"/>
              </a:rPr>
              <a:t>Futsal</a:t>
            </a:r>
            <a:endParaRPr lang="en-US" sz="1560" dirty="0"/>
          </a:p>
        </p:txBody>
      </p:sp>
      <p:sp>
        <p:nvSpPr>
          <p:cNvPr id="39" name="Text 37"/>
          <p:cNvSpPr/>
          <p:nvPr/>
        </p:nvSpPr>
        <p:spPr>
          <a:xfrm>
            <a:off x="6949266" y="5510646"/>
            <a:ext cx="1828754" cy="609585"/>
          </a:xfrm>
          <a:prstGeom prst="rect">
            <a:avLst/>
          </a:prstGeom>
          <a:noFill/>
        </p:spPr>
        <p:txBody>
          <a:bodyPr wrap="square" lIns="0" tIns="0" rIns="0" bIns="0" rtlCol="0" anchor="t"/>
          <a:lstStyle/>
          <a:p>
            <a:pPr marL="0" indent="0" algn="ctr">
              <a:buNone/>
            </a:pPr>
            <a:r>
              <a:rPr lang="en-US" sz="1260" dirty="0">
                <a:solidFill>
                  <a:srgbClr val="3F382F"/>
                </a:solidFill>
                <a:latin typeface="Calibri" panose="020F0502020204030204" pitchFamily="34" charset="0"/>
                <a:ea typeface="Calibri" panose="020F0502020204030204" pitchFamily="34" charset="-122"/>
                <a:cs typeface="Calibri" panose="020F0502020204030204" pitchFamily="34" charset="-120"/>
              </a:rPr>
              <a:t>penjaga, wasit</a:t>
            </a:r>
            <a:endParaRPr lang="en-US" sz="1260" dirty="0"/>
          </a:p>
        </p:txBody>
      </p:sp>
      <p:sp>
        <p:nvSpPr>
          <p:cNvPr id="40" name="Shape 38"/>
          <p:cNvSpPr/>
          <p:nvPr/>
        </p:nvSpPr>
        <p:spPr>
          <a:xfrm>
            <a:off x="10058149" y="4754761"/>
            <a:ext cx="0" cy="243834"/>
          </a:xfrm>
          <a:prstGeom prst="line">
            <a:avLst/>
          </a:prstGeom>
          <a:noFill/>
          <a:ln w="15875">
            <a:solidFill>
              <a:srgbClr val="6F675C"/>
            </a:solidFill>
            <a:prstDash val="solid"/>
          </a:ln>
        </p:spPr>
        <p:txBody>
          <a:bodyPr/>
          <a:p/>
        </p:txBody>
      </p:sp>
      <p:sp>
        <p:nvSpPr>
          <p:cNvPr id="41" name="Shape 39"/>
          <p:cNvSpPr/>
          <p:nvPr/>
        </p:nvSpPr>
        <p:spPr>
          <a:xfrm>
            <a:off x="9021854" y="4998595"/>
            <a:ext cx="2072588" cy="1219170"/>
          </a:xfrm>
          <a:prstGeom prst="roundRect">
            <a:avLst>
              <a:gd name="adj" fmla="val 6000"/>
            </a:avLst>
          </a:prstGeom>
          <a:solidFill>
            <a:srgbClr val="FBF8F3"/>
          </a:solidFill>
          <a:ln w="9525">
            <a:solidFill>
              <a:srgbClr val="D9CFBF"/>
            </a:solidFill>
            <a:prstDash val="solid"/>
          </a:ln>
        </p:spPr>
        <p:txBody>
          <a:bodyPr/>
          <a:p/>
        </p:txBody>
      </p:sp>
      <p:sp>
        <p:nvSpPr>
          <p:cNvPr id="42" name="Text 40"/>
          <p:cNvSpPr/>
          <p:nvPr/>
        </p:nvSpPr>
        <p:spPr>
          <a:xfrm>
            <a:off x="9143771" y="5096129"/>
            <a:ext cx="1828754" cy="390134"/>
          </a:xfrm>
          <a:prstGeom prst="rect">
            <a:avLst/>
          </a:prstGeom>
          <a:noFill/>
        </p:spPr>
        <p:txBody>
          <a:bodyPr wrap="square" lIns="0" tIns="0" rIns="0" bIns="0" rtlCol="0" anchor="ctr"/>
          <a:lstStyle/>
          <a:p>
            <a:pPr marL="0" indent="0" algn="ctr">
              <a:buNone/>
            </a:pPr>
            <a:r>
              <a:rPr lang="en-US" sz="1560" b="1" dirty="0">
                <a:solidFill>
                  <a:srgbClr val="1A1814"/>
                </a:solidFill>
                <a:latin typeface="Georgia" panose="02040502050405020303" pitchFamily="34" charset="0"/>
                <a:ea typeface="Georgia" panose="02040502050405020303" pitchFamily="34" charset="-122"/>
                <a:cs typeface="Georgia" panose="02040502050405020303" pitchFamily="34" charset="-120"/>
              </a:rPr>
              <a:t>Kos &amp; kontrakan</a:t>
            </a:r>
            <a:endParaRPr lang="en-US" sz="1560" dirty="0"/>
          </a:p>
        </p:txBody>
      </p:sp>
      <p:sp>
        <p:nvSpPr>
          <p:cNvPr id="43" name="Text 41"/>
          <p:cNvSpPr/>
          <p:nvPr/>
        </p:nvSpPr>
        <p:spPr>
          <a:xfrm>
            <a:off x="9143771" y="5510646"/>
            <a:ext cx="1828754" cy="609585"/>
          </a:xfrm>
          <a:prstGeom prst="rect">
            <a:avLst/>
          </a:prstGeom>
          <a:noFill/>
        </p:spPr>
        <p:txBody>
          <a:bodyPr wrap="square" lIns="0" tIns="0" rIns="0" bIns="0" rtlCol="0" anchor="t"/>
          <a:lstStyle/>
          <a:p>
            <a:pPr marL="0" indent="0" algn="ctr">
              <a:buNone/>
            </a:pPr>
            <a:r>
              <a:rPr lang="en-AU" altLang="en-US" sz="1260" dirty="0">
                <a:solidFill>
                  <a:srgbClr val="3F382F"/>
                </a:solidFill>
                <a:latin typeface="Calibri" panose="020F0502020204030204" pitchFamily="34" charset="0"/>
                <a:ea typeface="Calibri" panose="020F0502020204030204" pitchFamily="34" charset="-122"/>
                <a:cs typeface="Calibri" panose="020F0502020204030204" pitchFamily="34" charset="-120"/>
              </a:rPr>
              <a:t>Admin, Maintennance , Security</a:t>
            </a:r>
            <a:endParaRPr lang="en-AU" altLang="en-US" sz="1260" dirty="0">
              <a:solidFill>
                <a:srgbClr val="3F382F"/>
              </a:solidFill>
              <a:latin typeface="Calibri" panose="020F0502020204030204" pitchFamily="34" charset="0"/>
              <a:ea typeface="Calibri" panose="020F0502020204030204" pitchFamily="34" charset="-122"/>
              <a:cs typeface="Calibri" panose="020F0502020204030204" pitchFamily="34" charset="-12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17  /  33</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Pelaporan: dashboard terhubung ke POS</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Tahap berikut setelah operasional jalan. Biaya POS &amp; dashboard sudah masuk jatah 2% cafe.</a:t>
            </a:r>
            <a:endParaRPr lang="en-US" sz="1560" dirty="0"/>
          </a:p>
        </p:txBody>
      </p:sp>
      <p:sp>
        <p:nvSpPr>
          <p:cNvPr id="9" name="Shape 7"/>
          <p:cNvSpPr/>
          <p:nvPr/>
        </p:nvSpPr>
        <p:spPr>
          <a:xfrm>
            <a:off x="426709" y="1828754"/>
            <a:ext cx="3596550" cy="4145176"/>
          </a:xfrm>
          <a:prstGeom prst="roundRect">
            <a:avLst>
              <a:gd name="adj" fmla="val 2034"/>
            </a:avLst>
          </a:prstGeom>
          <a:solidFill>
            <a:srgbClr val="FBF8F3"/>
          </a:solidFill>
          <a:ln w="9525">
            <a:solidFill>
              <a:srgbClr val="D9CFBF"/>
            </a:solidFill>
            <a:prstDash val="solid"/>
          </a:ln>
        </p:spPr>
        <p:txBody>
          <a:bodyPr/>
          <a:p/>
        </p:txBody>
      </p:sp>
      <p:sp>
        <p:nvSpPr>
          <p:cNvPr id="10" name="Text 8"/>
          <p:cNvSpPr/>
          <p:nvPr/>
        </p:nvSpPr>
        <p:spPr>
          <a:xfrm>
            <a:off x="609585" y="1950671"/>
            <a:ext cx="3230799" cy="426709"/>
          </a:xfrm>
          <a:prstGeom prst="rect">
            <a:avLst/>
          </a:prstGeom>
          <a:noFill/>
        </p:spPr>
        <p:txBody>
          <a:bodyPr wrap="square" lIns="0" tIns="0" rIns="0" bIns="0" rtlCol="0" anchor="ctr"/>
          <a:lstStyle/>
          <a:p>
            <a:pPr marL="0" indent="0">
              <a:buNone/>
            </a:pPr>
            <a:r>
              <a:rPr lang="en-US" sz="1680" b="1" dirty="0">
                <a:solidFill>
                  <a:srgbClr val="1A1814"/>
                </a:solidFill>
                <a:latin typeface="Georgia" panose="02040502050405020303" pitchFamily="34" charset="0"/>
                <a:ea typeface="Georgia" panose="02040502050405020303" pitchFamily="34" charset="-122"/>
                <a:cs typeface="Georgia" panose="02040502050405020303" pitchFamily="34" charset="-120"/>
              </a:rPr>
              <a:t>1. Sumber data</a:t>
            </a:r>
            <a:endParaRPr lang="en-US" sz="1680" dirty="0"/>
          </a:p>
        </p:txBody>
      </p:sp>
      <p:sp>
        <p:nvSpPr>
          <p:cNvPr id="11" name="Text 9"/>
          <p:cNvSpPr/>
          <p:nvPr/>
        </p:nvSpPr>
        <p:spPr>
          <a:xfrm>
            <a:off x="609585" y="2438339"/>
            <a:ext cx="3230799" cy="3413675"/>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3F382F"/>
                </a:solidFill>
              </a:rPr>
              <a:t>POS cafe: transaksi, menu terjual, kasir</a:t>
            </a:r>
            <a:endParaRPr lang="en-US" sz="1380" dirty="0"/>
          </a:p>
          <a:p>
            <a:pPr marL="342900" indent="-342900">
              <a:spcAft>
                <a:spcPts val="400"/>
              </a:spcAft>
              <a:buSzPct val="100000"/>
              <a:buChar char="•"/>
            </a:pPr>
            <a:r>
              <a:rPr lang="en-US" sz="1380" dirty="0">
                <a:solidFill>
                  <a:srgbClr val="3F382F"/>
                </a:solidFill>
              </a:rPr>
              <a:t>Booking futsal dari web HUNI</a:t>
            </a:r>
            <a:endParaRPr lang="en-US" sz="1380" dirty="0"/>
          </a:p>
          <a:p>
            <a:pPr marL="342900" indent="-342900">
              <a:spcAft>
                <a:spcPts val="400"/>
              </a:spcAft>
              <a:buSzPct val="100000"/>
              <a:buChar char="•"/>
            </a:pPr>
            <a:r>
              <a:rPr lang="en-US" sz="1380" dirty="0">
                <a:solidFill>
                  <a:srgbClr val="3F382F"/>
                </a:solidFill>
              </a:rPr>
              <a:t>Catatan sewa kos dan pembayaran</a:t>
            </a:r>
            <a:endParaRPr lang="en-US" sz="1380" dirty="0"/>
          </a:p>
          <a:p>
            <a:pPr marL="342900" indent="-342900">
              <a:spcAft>
                <a:spcPts val="400"/>
              </a:spcAft>
              <a:buSzPct val="100000"/>
              <a:buChar char="•"/>
            </a:pPr>
            <a:r>
              <a:rPr lang="en-US" sz="1380" dirty="0">
                <a:solidFill>
                  <a:srgbClr val="3F382F"/>
                </a:solidFill>
              </a:rPr>
              <a:t>Input stok dan absensi karyawan</a:t>
            </a:r>
            <a:endParaRPr lang="en-US" sz="1380" dirty="0"/>
          </a:p>
        </p:txBody>
      </p:sp>
      <p:sp>
        <p:nvSpPr>
          <p:cNvPr id="12" name="Shape 10"/>
          <p:cNvSpPr/>
          <p:nvPr/>
        </p:nvSpPr>
        <p:spPr>
          <a:xfrm>
            <a:off x="4206135" y="1828754"/>
            <a:ext cx="3596550" cy="4145176"/>
          </a:xfrm>
          <a:prstGeom prst="roundRect">
            <a:avLst>
              <a:gd name="adj" fmla="val 2034"/>
            </a:avLst>
          </a:prstGeom>
          <a:solidFill>
            <a:srgbClr val="2F5D50"/>
          </a:solidFill>
          <a:ln w="9525">
            <a:solidFill>
              <a:srgbClr val="D9CFBF"/>
            </a:solidFill>
            <a:prstDash val="solid"/>
          </a:ln>
        </p:spPr>
        <p:txBody>
          <a:bodyPr/>
          <a:p/>
        </p:txBody>
      </p:sp>
      <p:sp>
        <p:nvSpPr>
          <p:cNvPr id="13" name="Text 11"/>
          <p:cNvSpPr/>
          <p:nvPr/>
        </p:nvSpPr>
        <p:spPr>
          <a:xfrm>
            <a:off x="4389010" y="1950671"/>
            <a:ext cx="3230799" cy="426709"/>
          </a:xfrm>
          <a:prstGeom prst="rect">
            <a:avLst/>
          </a:prstGeom>
          <a:noFill/>
        </p:spPr>
        <p:txBody>
          <a:bodyPr wrap="square" lIns="0" tIns="0" rIns="0" bIns="0" rtlCol="0" anchor="ctr"/>
          <a:lstStyle/>
          <a:p>
            <a:pPr marL="0" indent="0">
              <a:buNone/>
            </a:pPr>
            <a:r>
              <a:rPr lang="en-US" sz="1680" b="1" dirty="0">
                <a:solidFill>
                  <a:srgbClr val="F4EFE6"/>
                </a:solidFill>
                <a:latin typeface="Georgia" panose="02040502050405020303" pitchFamily="34" charset="0"/>
                <a:ea typeface="Georgia" panose="02040502050405020303" pitchFamily="34" charset="-122"/>
                <a:cs typeface="Georgia" panose="02040502050405020303" pitchFamily="34" charset="-120"/>
              </a:rPr>
              <a:t>2. Dashboard</a:t>
            </a:r>
            <a:endParaRPr lang="en-US" sz="1680" dirty="0"/>
          </a:p>
        </p:txBody>
      </p:sp>
      <p:sp>
        <p:nvSpPr>
          <p:cNvPr id="14" name="Text 12"/>
          <p:cNvSpPr/>
          <p:nvPr/>
        </p:nvSpPr>
        <p:spPr>
          <a:xfrm>
            <a:off x="4389010" y="2438339"/>
            <a:ext cx="3230799" cy="3413675"/>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E7DCC8"/>
                </a:solidFill>
              </a:rPr>
              <a:t>Omzet harian dan bulanan per unit</a:t>
            </a:r>
            <a:endParaRPr lang="en-US" sz="1380" dirty="0"/>
          </a:p>
          <a:p>
            <a:pPr marL="342900" indent="-342900">
              <a:spcAft>
                <a:spcPts val="400"/>
              </a:spcAft>
              <a:buSzPct val="100000"/>
              <a:buChar char="•"/>
            </a:pPr>
            <a:r>
              <a:rPr lang="en-US" sz="1380" dirty="0">
                <a:solidFill>
                  <a:srgbClr val="E7DCC8"/>
                </a:solidFill>
              </a:rPr>
              <a:t>HPP vs omzet, jam futsal terisi</a:t>
            </a:r>
            <a:endParaRPr lang="en-US" sz="1380" dirty="0"/>
          </a:p>
          <a:p>
            <a:pPr marL="342900" indent="-342900">
              <a:spcAft>
                <a:spcPts val="400"/>
              </a:spcAft>
              <a:buSzPct val="100000"/>
              <a:buChar char="•"/>
            </a:pPr>
            <a:r>
              <a:rPr lang="en-US" sz="1380" dirty="0">
                <a:solidFill>
                  <a:srgbClr val="E7DCC8"/>
                </a:solidFill>
              </a:rPr>
              <a:t>Hunian kamar kos</a:t>
            </a:r>
            <a:endParaRPr lang="en-US" sz="1380" dirty="0"/>
          </a:p>
          <a:p>
            <a:pPr marL="342900" indent="-342900">
              <a:spcAft>
                <a:spcPts val="400"/>
              </a:spcAft>
              <a:buSzPct val="100000"/>
              <a:buChar char="•"/>
            </a:pPr>
            <a:r>
              <a:rPr lang="en-US" sz="1380" dirty="0">
                <a:solidFill>
                  <a:srgbClr val="E7DCC8"/>
                </a:solidFill>
              </a:rPr>
              <a:t>Pembagian: pengelola, karyawan, owner</a:t>
            </a:r>
            <a:endParaRPr lang="en-US" sz="1380" dirty="0"/>
          </a:p>
        </p:txBody>
      </p:sp>
      <p:sp>
        <p:nvSpPr>
          <p:cNvPr id="15" name="Shape 13"/>
          <p:cNvSpPr/>
          <p:nvPr/>
        </p:nvSpPr>
        <p:spPr>
          <a:xfrm>
            <a:off x="7985560" y="1828754"/>
            <a:ext cx="3779426" cy="4145176"/>
          </a:xfrm>
          <a:prstGeom prst="roundRect">
            <a:avLst>
              <a:gd name="adj" fmla="val 1936"/>
            </a:avLst>
          </a:prstGeom>
          <a:solidFill>
            <a:srgbClr val="9A4518"/>
          </a:solidFill>
          <a:ln w="9525">
            <a:solidFill>
              <a:srgbClr val="D9CFBF"/>
            </a:solidFill>
            <a:prstDash val="solid"/>
          </a:ln>
        </p:spPr>
        <p:txBody>
          <a:bodyPr/>
          <a:p/>
        </p:txBody>
      </p:sp>
      <p:sp>
        <p:nvSpPr>
          <p:cNvPr id="16" name="Text 14"/>
          <p:cNvSpPr/>
          <p:nvPr/>
        </p:nvSpPr>
        <p:spPr>
          <a:xfrm>
            <a:off x="8168436" y="1950671"/>
            <a:ext cx="3413675" cy="426709"/>
          </a:xfrm>
          <a:prstGeom prst="rect">
            <a:avLst/>
          </a:prstGeom>
          <a:noFill/>
        </p:spPr>
        <p:txBody>
          <a:bodyPr wrap="square" lIns="0" tIns="0" rIns="0" bIns="0" rtlCol="0" anchor="ctr"/>
          <a:lstStyle/>
          <a:p>
            <a:pPr marL="0" indent="0">
              <a:buNone/>
            </a:pPr>
            <a:r>
              <a:rPr lang="en-US" sz="1680" b="1" dirty="0">
                <a:solidFill>
                  <a:srgbClr val="F4EFE6"/>
                </a:solidFill>
                <a:latin typeface="Georgia" panose="02040502050405020303" pitchFamily="34" charset="0"/>
                <a:ea typeface="Georgia" panose="02040502050405020303" pitchFamily="34" charset="-122"/>
                <a:cs typeface="Georgia" panose="02040502050405020303" pitchFamily="34" charset="-120"/>
              </a:rPr>
              <a:t>3. Laporan &amp; approval</a:t>
            </a:r>
            <a:endParaRPr lang="en-US" sz="1680" dirty="0"/>
          </a:p>
        </p:txBody>
      </p:sp>
      <p:sp>
        <p:nvSpPr>
          <p:cNvPr id="17" name="Text 15"/>
          <p:cNvSpPr/>
          <p:nvPr/>
        </p:nvSpPr>
        <p:spPr>
          <a:xfrm>
            <a:off x="8168436" y="2438339"/>
            <a:ext cx="3413675" cy="3413675"/>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E7DCC8"/>
                </a:solidFill>
              </a:rPr>
              <a:t>Laporan mingguan dan bulanan otomatis</a:t>
            </a:r>
            <a:endParaRPr lang="en-US" sz="1380" dirty="0"/>
          </a:p>
          <a:p>
            <a:pPr marL="342900" indent="-342900">
              <a:spcAft>
                <a:spcPts val="400"/>
              </a:spcAft>
              <a:buSzPct val="100000"/>
              <a:buChar char="•"/>
            </a:pPr>
            <a:r>
              <a:rPr lang="en-US" sz="1380" dirty="0">
                <a:solidFill>
                  <a:srgbClr val="E7DCC8"/>
                </a:solidFill>
              </a:rPr>
              <a:t>Pak Riki: lihat ringkasan semua unit</a:t>
            </a:r>
            <a:endParaRPr lang="en-US" sz="1380" dirty="0"/>
          </a:p>
          <a:p>
            <a:pPr marL="342900" indent="-342900">
              <a:spcAft>
                <a:spcPts val="400"/>
              </a:spcAft>
              <a:buSzPct val="100000"/>
              <a:buChar char="•"/>
            </a:pPr>
            <a:r>
              <a:rPr lang="en-US" sz="1380" dirty="0">
                <a:solidFill>
                  <a:srgbClr val="E7DCC8"/>
                </a:solidFill>
              </a:rPr>
              <a:t>Pak Nana: approval pengeluaran dan laporan</a:t>
            </a:r>
            <a:endParaRPr lang="en-US" sz="1380" dirty="0"/>
          </a:p>
          <a:p>
            <a:pPr marL="342900" indent="-342900">
              <a:spcAft>
                <a:spcPts val="400"/>
              </a:spcAft>
              <a:buSzPct val="100000"/>
              <a:buChar char="•"/>
            </a:pPr>
            <a:r>
              <a:rPr lang="en-US" sz="1380" dirty="0">
                <a:solidFill>
                  <a:srgbClr val="E7DCC8"/>
                </a:solidFill>
              </a:rPr>
              <a:t>Andre: input dan tindak lanjut</a:t>
            </a:r>
            <a:endParaRPr lang="en-US" sz="13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A1814"/>
          </a:solidFill>
        </p:spPr>
        <p:txBody>
          <a:bodyPr/>
          <a:p/>
        </p:txBody>
      </p:sp>
      <p:sp>
        <p:nvSpPr>
          <p:cNvPr id="3" name="Text 1"/>
          <p:cNvSpPr/>
          <p:nvPr/>
        </p:nvSpPr>
        <p:spPr>
          <a:xfrm>
            <a:off x="640080" y="1737360"/>
            <a:ext cx="10972800" cy="914400"/>
          </a:xfrm>
          <a:prstGeom prst="rect">
            <a:avLst/>
          </a:prstGeom>
          <a:noFill/>
        </p:spPr>
        <p:txBody>
          <a:bodyPr wrap="square" lIns="0" tIns="0" rIns="0" bIns="0" rtlCol="0" anchor="ctr"/>
          <a:lstStyle/>
          <a:p>
            <a:pPr marL="0" indent="0">
              <a:buNone/>
            </a:pPr>
            <a:r>
              <a:rPr lang="en-US" sz="4400" b="1" dirty="0">
                <a:solidFill>
                  <a:srgbClr val="F4EFE6"/>
                </a:solidFill>
                <a:latin typeface="Georgia" panose="02040502050405020303" pitchFamily="34" charset="0"/>
                <a:ea typeface="Georgia" panose="02040502050405020303" pitchFamily="34" charset="-122"/>
                <a:cs typeface="Georgia" panose="02040502050405020303" pitchFamily="34" charset="-120"/>
              </a:rPr>
              <a:t>Futsal &amp; Cafe</a:t>
            </a:r>
            <a:endParaRPr lang="en-US" sz="4400" dirty="0"/>
          </a:p>
        </p:txBody>
      </p:sp>
      <p:sp>
        <p:nvSpPr>
          <p:cNvPr id="4" name="Text 2"/>
          <p:cNvSpPr/>
          <p:nvPr/>
        </p:nvSpPr>
        <p:spPr>
          <a:xfrm>
            <a:off x="640080" y="2834640"/>
            <a:ext cx="10972800" cy="914400"/>
          </a:xfrm>
          <a:prstGeom prst="rect">
            <a:avLst/>
          </a:prstGeom>
          <a:noFill/>
        </p:spPr>
        <p:txBody>
          <a:bodyPr wrap="square" lIns="0" tIns="0" rIns="0" bIns="0" rtlCol="0" anchor="ctr"/>
          <a:lstStyle/>
          <a:p>
            <a:pPr marL="0" indent="0">
              <a:buNone/>
            </a:pPr>
            <a:r>
              <a:rPr lang="en-US" sz="2000" dirty="0">
                <a:solidFill>
                  <a:srgbClr val="E7DCC8"/>
                </a:solidFill>
                <a:latin typeface="Calibri" panose="020F0502020204030204" pitchFamily="34" charset="0"/>
                <a:ea typeface="Calibri" panose="020F0502020204030204" pitchFamily="34" charset="-122"/>
                <a:cs typeface="Calibri" panose="020F0502020204030204" pitchFamily="34" charset="-120"/>
              </a:rPr>
              <a:t>Dua skenario: Realistis dan Target. Futsal didorong turnamen sekolah dan tim marketing,</a:t>
            </a:r>
            <a:endParaRPr lang="en-US" sz="2000" dirty="0"/>
          </a:p>
          <a:p>
            <a:pPr marL="0" indent="0">
              <a:buNone/>
            </a:pPr>
            <a:r>
              <a:rPr lang="en-US" sz="2000" dirty="0">
                <a:solidFill>
                  <a:srgbClr val="E7DCC8"/>
                </a:solidFill>
                <a:latin typeface="Calibri" panose="020F0502020204030204" pitchFamily="34" charset="0"/>
                <a:ea typeface="Calibri" panose="020F0502020204030204" pitchFamily="34" charset="-122"/>
                <a:cs typeface="Calibri" panose="020F0502020204030204" pitchFamily="34" charset="-120"/>
              </a:rPr>
              <a:t>cafe ditargetkan Rp80 jt per bulan lewat marketing dan kerja sama event.</a:t>
            </a:r>
            <a:endParaRPr lang="en-US" sz="2000" dirty="0"/>
          </a:p>
        </p:txBody>
      </p:sp>
      <p:sp>
        <p:nvSpPr>
          <p:cNvPr id="5" name="Shape 3"/>
          <p:cNvSpPr/>
          <p:nvPr/>
        </p:nvSpPr>
        <p:spPr>
          <a:xfrm>
            <a:off x="640080" y="4023360"/>
            <a:ext cx="1463040" cy="73152"/>
          </a:xfrm>
          <a:prstGeom prst="rect">
            <a:avLst/>
          </a:prstGeom>
          <a:solidFill>
            <a:srgbClr val="C4622D"/>
          </a:solidFill>
        </p:spPr>
        <p:txBody>
          <a:bodyPr/>
          <a:p/>
        </p:txBody>
      </p:sp>
      <p:sp>
        <p:nvSpPr>
          <p:cNvPr id="6" name="Text 4"/>
          <p:cNvSpPr/>
          <p:nvPr/>
        </p:nvSpPr>
        <p:spPr>
          <a:xfrm>
            <a:off x="640080" y="4297680"/>
            <a:ext cx="10972800" cy="457200"/>
          </a:xfrm>
          <a:prstGeom prst="rect">
            <a:avLst/>
          </a:prstGeom>
          <a:noFill/>
        </p:spPr>
        <p:txBody>
          <a:bodyPr wrap="square" lIns="0" tIns="0" rIns="0" bIns="0" rtlCol="0" anchor="ctr"/>
          <a:lstStyle/>
          <a:p>
            <a:pPr marL="0" indent="0">
              <a:buNone/>
            </a:pPr>
            <a:r>
              <a:rPr lang="en-US" sz="1400" dirty="0">
                <a:solidFill>
                  <a:srgbClr val="D9CFBF"/>
                </a:solidFill>
                <a:latin typeface="Calibri" panose="020F0502020204030204" pitchFamily="34" charset="0"/>
                <a:ea typeface="Calibri" panose="020F0502020204030204" pitchFamily="34" charset="-122"/>
                <a:cs typeface="Calibri" panose="020F0502020204030204" pitchFamily="34" charset="-120"/>
              </a:rPr>
              <a:t>Futsal: 30% dari revenue   ·   Cafe: 20% dari omzet   ·   Angka asumsi, divalidasi lewat dashboard POS</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23  /  33</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Futsal: pendapatan per bulan</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2 lapangan, rate Rp120 rb per jam. Target didorong turnamen sekolah dan tim marketing.</a:t>
            </a:r>
            <a:endParaRPr lang="en-US" sz="1560" dirty="0"/>
          </a:p>
        </p:txBody>
      </p:sp>
      <p:graphicFrame>
        <p:nvGraphicFramePr>
          <p:cNvPr id="20" name="Table 0"/>
          <p:cNvGraphicFramePr>
            <a:graphicFrameLocks noGrp="1"/>
          </p:cNvGraphicFramePr>
          <p:nvPr/>
        </p:nvGraphicFramePr>
        <p:xfrm>
          <a:off x="426709" y="1767796"/>
          <a:ext cx="11338277" cy="4096408"/>
        </p:xfrm>
        <a:graphic>
          <a:graphicData uri="http://schemas.openxmlformats.org/drawingml/2006/table">
            <a:tbl>
              <a:tblPr/>
              <a:tblGrid>
                <a:gridCol w="5486263"/>
                <a:gridCol w="2926007"/>
                <a:gridCol w="2926007"/>
              </a:tblGrid>
              <a:tr h="512051">
                <a:tc>
                  <a:txBody>
                    <a:bodyPr/>
                    <a:lstStyle/>
                    <a:p>
                      <a:pPr marL="0" indent="0" algn="l">
                        <a:buNone/>
                      </a:pPr>
                      <a:r>
                        <a:rPr lang="en-US" sz="1320" b="1" dirty="0">
                          <a:solidFill>
                            <a:srgbClr val="F4EFE6"/>
                          </a:solidFill>
                        </a:rPr>
                        <a:t>Komponen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Realistis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Target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12051">
                <a:tc>
                  <a:txBody>
                    <a:bodyPr/>
                    <a:lstStyle/>
                    <a:p>
                      <a:pPr marL="0" indent="0" algn="l">
                        <a:buNone/>
                      </a:pPr>
                      <a:r>
                        <a:rPr lang="en-US" sz="1320" dirty="0">
                          <a:solidFill>
                            <a:srgbClr val="1A1814"/>
                          </a:solidFill>
                        </a:rPr>
                        <a:t>Jam terjual / hari / lapangan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7</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12051">
                <a:tc>
                  <a:txBody>
                    <a:bodyPr/>
                    <a:lstStyle/>
                    <a:p>
                      <a:pPr marL="0" indent="0" algn="l">
                        <a:buNone/>
                      </a:pPr>
                      <a:r>
                        <a:rPr lang="en-US" sz="1320" dirty="0">
                          <a:solidFill>
                            <a:srgbClr val="1A1814"/>
                          </a:solidFill>
                        </a:rPr>
                        <a:t>Total jam terjual /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280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392</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marL="0" indent="0" algn="l">
                        <a:buNone/>
                      </a:pPr>
                      <a:r>
                        <a:rPr lang="en-US" sz="1320" dirty="0">
                          <a:solidFill>
                            <a:srgbClr val="1A1814"/>
                          </a:solidFill>
                        </a:rPr>
                        <a:t>Sewa lapangan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33,60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47,04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12051">
                <a:tc>
                  <a:txBody>
                    <a:bodyPr/>
                    <a:lstStyle/>
                    <a:p>
                      <a:pPr marL="0" indent="0" algn="l">
                        <a:buNone/>
                      </a:pPr>
                      <a:r>
                        <a:rPr lang="en-US" sz="1320" dirty="0">
                          <a:solidFill>
                            <a:srgbClr val="1A1814"/>
                          </a:solidFill>
                        </a:rPr>
                        <a:t>Turnamen sekolah / event (bersih)</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3,00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5,00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marL="0" indent="0" algn="l">
                        <a:buNone/>
                      </a:pPr>
                      <a:r>
                        <a:rPr lang="en-US" sz="1320" b="1" dirty="0">
                          <a:solidFill>
                            <a:srgbClr val="1A1814"/>
                          </a:solidFill>
                        </a:rPr>
                        <a:t>Total </a:t>
                      </a:r>
                      <a:r>
                        <a:rPr lang="en-AU" altLang="en-US" sz="1320" b="1" dirty="0">
                          <a:solidFill>
                            <a:srgbClr val="1A1814"/>
                          </a:solidFill>
                        </a:rPr>
                        <a:t>gross </a:t>
                      </a:r>
                      <a:r>
                        <a:rPr lang="en-US" sz="1320" b="1" dirty="0">
                          <a:solidFill>
                            <a:srgbClr val="1A1814"/>
                          </a:solidFill>
                        </a:rPr>
                        <a:t>revenue</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marL="0" indent="0" algn="r">
                        <a:buNone/>
                      </a:pPr>
                      <a:r>
                        <a:rPr lang="en-US" sz="1320" b="1" dirty="0">
                          <a:solidFill>
                            <a:srgbClr val="1A1814"/>
                          </a:solidFill>
                        </a:rPr>
                        <a:t>36,60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marL="0" indent="0" algn="r">
                        <a:buNone/>
                      </a:pPr>
                      <a:r>
                        <a:rPr lang="en-US" sz="1320" b="1" dirty="0">
                          <a:solidFill>
                            <a:srgbClr val="1A1814"/>
                          </a:solidFill>
                        </a:rPr>
                        <a:t>52,04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r>
              <a:tr h="512051">
                <a:tc>
                  <a:txBody>
                    <a:bodyPr/>
                    <a:lstStyle/>
                    <a:p>
                      <a:pPr marL="0" indent="0" algn="l">
                        <a:buNone/>
                      </a:pPr>
                      <a:r>
                        <a:rPr lang="en-AU" altLang="en-US" sz="1320" dirty="0">
                          <a:solidFill>
                            <a:srgbClr val="1A1814"/>
                          </a:solidFill>
                        </a:rPr>
                        <a:t>Total biaya pengelolaan </a:t>
                      </a:r>
                      <a:r>
                        <a:rPr lang="en-US" sz="1320" dirty="0">
                          <a:solidFill>
                            <a:srgbClr val="1A1814"/>
                          </a:solidFill>
                        </a:rPr>
                        <a:t>30%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10,98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15,61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marL="0" indent="0" algn="l">
                        <a:buNone/>
                      </a:pPr>
                      <a:r>
                        <a:rPr lang="en-US" sz="1320" b="1" dirty="0">
                          <a:solidFill>
                            <a:srgbClr val="1A1814"/>
                          </a:solidFill>
                        </a:rPr>
                        <a:t>Net income owner 70%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marL="0" indent="0" algn="r">
                        <a:buNone/>
                      </a:pPr>
                      <a:r>
                        <a:rPr lang="en-US" sz="1320" b="1" dirty="0">
                          <a:solidFill>
                            <a:srgbClr val="1A1814"/>
                          </a:solidFill>
                        </a:rPr>
                        <a:t>25,62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marL="0" indent="0" algn="r">
                        <a:buNone/>
                      </a:pPr>
                      <a:r>
                        <a:rPr lang="en-US" sz="1320" b="1" dirty="0">
                          <a:solidFill>
                            <a:srgbClr val="1A1814"/>
                          </a:solidFill>
                        </a:rPr>
                        <a:t>36,43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r>
            </a:tbl>
          </a:graphicData>
        </a:graphic>
      </p:graphicFrame>
      <p:sp>
        <p:nvSpPr>
          <p:cNvPr id="10" name="Text 7"/>
          <p:cNvSpPr/>
          <p:nvPr/>
        </p:nvSpPr>
        <p:spPr>
          <a:xfrm>
            <a:off x="426709" y="6034889"/>
            <a:ext cx="11338277" cy="365751"/>
          </a:xfrm>
          <a:prstGeom prst="rect">
            <a:avLst/>
          </a:prstGeom>
          <a:noFill/>
        </p:spPr>
        <p:txBody>
          <a:bodyPr wrap="square" lIns="0" tIns="0" rIns="0" bIns="0" rtlCol="0" anchor="ctr"/>
          <a:lstStyle/>
          <a:p>
            <a:pPr marL="0" indent="0">
              <a:buNone/>
            </a:pPr>
            <a:r>
              <a:rPr lang="en-US" sz="1440" dirty="0">
                <a:solidFill>
                  <a:srgbClr val="6F675C"/>
                </a:solidFill>
                <a:latin typeface="Calibri" panose="020F0502020204030204" pitchFamily="34" charset="0"/>
                <a:ea typeface="Calibri" panose="020F0502020204030204" pitchFamily="34" charset="-122"/>
                <a:cs typeface="Calibri" panose="020F0502020204030204" pitchFamily="34" charset="-120"/>
              </a:rPr>
              <a:t>Setahun: revenue 439,20 jt (realistis) / 624,48 jt (target).</a:t>
            </a:r>
            <a:endParaRPr lang="en-US" sz="144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24  /  33</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Futsal: 30% dipakai untuk apa</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Maintenance 8 · event 9 · marketing 9 · fee pengelola 4.</a:t>
            </a:r>
            <a:endParaRPr lang="en-US" sz="1560" dirty="0"/>
          </a:p>
        </p:txBody>
      </p:sp>
      <p:graphicFrame>
        <p:nvGraphicFramePr>
          <p:cNvPr id="21" name="Table 0"/>
          <p:cNvGraphicFramePr>
            <a:graphicFrameLocks noGrp="1"/>
          </p:cNvGraphicFramePr>
          <p:nvPr/>
        </p:nvGraphicFramePr>
        <p:xfrm>
          <a:off x="426709" y="1767796"/>
          <a:ext cx="11338277" cy="3072306"/>
        </p:xfrm>
        <a:graphic>
          <a:graphicData uri="http://schemas.openxmlformats.org/drawingml/2006/table">
            <a:tbl>
              <a:tblPr/>
              <a:tblGrid>
                <a:gridCol w="5242429"/>
                <a:gridCol w="1463003"/>
                <a:gridCol w="2316422"/>
                <a:gridCol w="2316422"/>
              </a:tblGrid>
              <a:tr h="512051">
                <a:tc>
                  <a:txBody>
                    <a:bodyPr/>
                    <a:lstStyle/>
                    <a:p>
                      <a:pPr marL="0" indent="0" algn="l">
                        <a:buNone/>
                      </a:pPr>
                      <a:r>
                        <a:rPr lang="en-US" sz="1320" b="1" dirty="0">
                          <a:solidFill>
                            <a:srgbClr val="F4EFE6"/>
                          </a:solidFill>
                        </a:rPr>
                        <a:t>Pos (dari 30%)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Porsi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Realistis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Target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12051">
                <a:tc>
                  <a:txBody>
                    <a:bodyPr/>
                    <a:lstStyle/>
                    <a:p>
                      <a:pPr marL="0" indent="0" algn="l">
                        <a:buNone/>
                      </a:pPr>
                      <a:r>
                        <a:rPr lang="en-US" sz="1320" dirty="0">
                          <a:solidFill>
                            <a:srgbClr val="1A1814"/>
                          </a:solidFill>
                        </a:rPr>
                        <a:t>Maintenance lapangan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8%</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2,93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4,16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12051">
                <a:tc>
                  <a:txBody>
                    <a:bodyPr/>
                    <a:lstStyle/>
                    <a:p>
                      <a:pPr marL="0" indent="0" algn="l">
                        <a:buNone/>
                      </a:pPr>
                      <a:r>
                        <a:rPr lang="en-US" sz="1320" dirty="0">
                          <a:solidFill>
                            <a:srgbClr val="1A1814"/>
                          </a:solidFill>
                        </a:rPr>
                        <a:t>Event management (turnamen sekolah)</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9%</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3,29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4,68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marL="0" indent="0" algn="l">
                        <a:buNone/>
                      </a:pPr>
                      <a:r>
                        <a:rPr lang="en-US" sz="1320" dirty="0">
                          <a:solidFill>
                            <a:srgbClr val="1A1814"/>
                          </a:solidFill>
                        </a:rPr>
                        <a:t>Marketing (tim marketing)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9%</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3,29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4,68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12051">
                <a:tc>
                  <a:txBody>
                    <a:bodyPr/>
                    <a:lstStyle/>
                    <a:p>
                      <a:pPr marL="0" indent="0" algn="l">
                        <a:buNone/>
                      </a:pPr>
                      <a:r>
                        <a:rPr lang="en-US" sz="1320" dirty="0">
                          <a:solidFill>
                            <a:srgbClr val="1A1814"/>
                          </a:solidFill>
                        </a:rPr>
                        <a:t>Fee pengelola / operasional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4%</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1,46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2,08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marL="0" indent="0" algn="l">
                        <a:buNone/>
                      </a:pPr>
                      <a:r>
                        <a:rPr lang="en-US" sz="1320" b="1" dirty="0">
                          <a:solidFill>
                            <a:srgbClr val="1A1814"/>
                          </a:solidFill>
                        </a:rPr>
                        <a:t>Total bagian pengelola</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b="1" dirty="0">
                          <a:solidFill>
                            <a:srgbClr val="1A1814"/>
                          </a:solidFill>
                        </a:rPr>
                        <a:t>30%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b="1" dirty="0">
                          <a:solidFill>
                            <a:srgbClr val="1A1814"/>
                          </a:solidFill>
                        </a:rPr>
                        <a:t>10,98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b="1" dirty="0">
                          <a:solidFill>
                            <a:srgbClr val="1A1814"/>
                          </a:solidFill>
                        </a:rPr>
                        <a:t>15,61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graphicFrame>
        <p:nvGraphicFramePr>
          <p:cNvPr id="10" name="Chart 0"/>
          <p:cNvGraphicFramePr/>
          <p:nvPr/>
        </p:nvGraphicFramePr>
        <p:xfrm>
          <a:off x="426709" y="4998595"/>
          <a:ext cx="11338277" cy="1402045"/>
        </p:xfrm>
        <a:graphic>
          <a:graphicData uri="http://schemas.openxmlformats.org/drawingml/2006/chart">
            <c:chart xmlns:c="http://schemas.openxmlformats.org/drawingml/2006/chart" xmlns:r="http://schemas.openxmlformats.org/officeDocument/2006/relationships" r:id="rId1"/>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25  /  33</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Futsal: turnamen sekolah &amp; tim marketing</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Dibiayai dari porsi event 9% dan marketing 9%.</a:t>
            </a:r>
            <a:endParaRPr lang="en-US" sz="1560" dirty="0"/>
          </a:p>
        </p:txBody>
      </p:sp>
      <p:sp>
        <p:nvSpPr>
          <p:cNvPr id="9" name="Shape 7"/>
          <p:cNvSpPr/>
          <p:nvPr/>
        </p:nvSpPr>
        <p:spPr>
          <a:xfrm>
            <a:off x="426709" y="1828754"/>
            <a:ext cx="5547221" cy="4267093"/>
          </a:xfrm>
          <a:prstGeom prst="roundRect">
            <a:avLst>
              <a:gd name="adj" fmla="val 1714"/>
            </a:avLst>
          </a:prstGeom>
          <a:solidFill>
            <a:srgbClr val="FBF8F3"/>
          </a:solidFill>
          <a:ln w="9525">
            <a:solidFill>
              <a:srgbClr val="D9CFBF"/>
            </a:solidFill>
            <a:prstDash val="solid"/>
          </a:ln>
        </p:spPr>
        <p:txBody>
          <a:bodyPr/>
          <a:p/>
        </p:txBody>
      </p:sp>
      <p:sp>
        <p:nvSpPr>
          <p:cNvPr id="10" name="Text 8"/>
          <p:cNvSpPr/>
          <p:nvPr/>
        </p:nvSpPr>
        <p:spPr>
          <a:xfrm>
            <a:off x="609585" y="1950671"/>
            <a:ext cx="5181470" cy="426709"/>
          </a:xfrm>
          <a:prstGeom prst="rect">
            <a:avLst/>
          </a:prstGeom>
          <a:noFill/>
        </p:spPr>
        <p:txBody>
          <a:bodyPr wrap="square" lIns="0" tIns="0" rIns="0" bIns="0" rtlCol="0" anchor="ctr"/>
          <a:lstStyle/>
          <a:p>
            <a:pPr marL="0" indent="0">
              <a:buNone/>
            </a:pPr>
            <a:r>
              <a:rPr lang="en-US" sz="1680" b="1" dirty="0">
                <a:solidFill>
                  <a:srgbClr val="1A1814"/>
                </a:solidFill>
                <a:latin typeface="Georgia" panose="02040502050405020303" pitchFamily="34" charset="0"/>
                <a:ea typeface="Georgia" panose="02040502050405020303" pitchFamily="34" charset="-122"/>
                <a:cs typeface="Georgia" panose="02040502050405020303" pitchFamily="34" charset="-120"/>
              </a:rPr>
              <a:t>Turnamen antar sekolah</a:t>
            </a:r>
            <a:endParaRPr lang="en-US" sz="1680" dirty="0"/>
          </a:p>
        </p:txBody>
      </p:sp>
      <p:sp>
        <p:nvSpPr>
          <p:cNvPr id="11" name="Text 9"/>
          <p:cNvSpPr/>
          <p:nvPr/>
        </p:nvSpPr>
        <p:spPr>
          <a:xfrm>
            <a:off x="609585" y="2438339"/>
            <a:ext cx="5181470" cy="3535592"/>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3F382F"/>
                </a:solidFill>
              </a:rPr>
              <a:t>Liga pelajar SMP/SMA tiap bulan atau kuartal</a:t>
            </a:r>
            <a:endParaRPr lang="en-US" sz="1380" dirty="0"/>
          </a:p>
          <a:p>
            <a:pPr marL="342900" indent="-342900">
              <a:spcAft>
                <a:spcPts val="400"/>
              </a:spcAft>
              <a:buSzPct val="100000"/>
              <a:buChar char="•"/>
            </a:pPr>
            <a:r>
              <a:rPr lang="en-US" sz="1380" dirty="0">
                <a:solidFill>
                  <a:srgbClr val="3F382F"/>
                </a:solidFill>
              </a:rPr>
              <a:t>Biaya daftar per tim, sponsor lokal, kantin</a:t>
            </a:r>
            <a:endParaRPr lang="en-US" sz="1380" dirty="0"/>
          </a:p>
          <a:p>
            <a:pPr marL="342900" indent="-342900">
              <a:spcAft>
                <a:spcPts val="400"/>
              </a:spcAft>
              <a:buSzPct val="100000"/>
              <a:buChar char="•"/>
            </a:pPr>
            <a:r>
              <a:rPr lang="en-US" sz="1380" dirty="0">
                <a:solidFill>
                  <a:srgbClr val="3F382F"/>
                </a:solidFill>
              </a:rPr>
              <a:t>Final di lapangan sendiri, dokumentasi untuk konten</a:t>
            </a:r>
            <a:endParaRPr lang="en-US" sz="1380" dirty="0"/>
          </a:p>
          <a:p>
            <a:pPr marL="342900" indent="-342900">
              <a:spcAft>
                <a:spcPts val="400"/>
              </a:spcAft>
              <a:buSzPct val="100000"/>
              <a:buChar char="•"/>
            </a:pPr>
            <a:r>
              <a:rPr lang="en-US" sz="1380" dirty="0">
                <a:solidFill>
                  <a:srgbClr val="3F382F"/>
                </a:solidFill>
              </a:rPr>
              <a:t>Tugas: jadwal, wasit, hadiah, laporan hasil</a:t>
            </a:r>
            <a:endParaRPr lang="en-US" sz="1380" dirty="0"/>
          </a:p>
        </p:txBody>
      </p:sp>
      <p:sp>
        <p:nvSpPr>
          <p:cNvPr id="12" name="Shape 10"/>
          <p:cNvSpPr/>
          <p:nvPr/>
        </p:nvSpPr>
        <p:spPr>
          <a:xfrm>
            <a:off x="6217765" y="1828754"/>
            <a:ext cx="5547221" cy="4267093"/>
          </a:xfrm>
          <a:prstGeom prst="roundRect">
            <a:avLst>
              <a:gd name="adj" fmla="val 1714"/>
            </a:avLst>
          </a:prstGeom>
          <a:solidFill>
            <a:srgbClr val="2F5D50"/>
          </a:solidFill>
          <a:ln w="9525">
            <a:solidFill>
              <a:srgbClr val="D9CFBF"/>
            </a:solidFill>
            <a:prstDash val="solid"/>
          </a:ln>
        </p:spPr>
        <p:txBody>
          <a:bodyPr/>
          <a:p/>
        </p:txBody>
      </p:sp>
      <p:sp>
        <p:nvSpPr>
          <p:cNvPr id="13" name="Text 11"/>
          <p:cNvSpPr/>
          <p:nvPr/>
        </p:nvSpPr>
        <p:spPr>
          <a:xfrm>
            <a:off x="6400640" y="1950671"/>
            <a:ext cx="5181470" cy="426709"/>
          </a:xfrm>
          <a:prstGeom prst="rect">
            <a:avLst/>
          </a:prstGeom>
          <a:noFill/>
        </p:spPr>
        <p:txBody>
          <a:bodyPr wrap="square" lIns="0" tIns="0" rIns="0" bIns="0" rtlCol="0" anchor="ctr"/>
          <a:lstStyle/>
          <a:p>
            <a:pPr marL="0" indent="0">
              <a:buNone/>
            </a:pPr>
            <a:r>
              <a:rPr lang="en-US" sz="1680" b="1" dirty="0">
                <a:solidFill>
                  <a:srgbClr val="F4EFE6"/>
                </a:solidFill>
                <a:latin typeface="Georgia" panose="02040502050405020303" pitchFamily="34" charset="0"/>
                <a:ea typeface="Georgia" panose="02040502050405020303" pitchFamily="34" charset="-122"/>
                <a:cs typeface="Georgia" panose="02040502050405020303" pitchFamily="34" charset="-120"/>
              </a:rPr>
              <a:t>Tim marketing bergerak</a:t>
            </a:r>
            <a:endParaRPr lang="en-US" sz="1680" dirty="0"/>
          </a:p>
        </p:txBody>
      </p:sp>
      <p:sp>
        <p:nvSpPr>
          <p:cNvPr id="14" name="Text 12"/>
          <p:cNvSpPr/>
          <p:nvPr/>
        </p:nvSpPr>
        <p:spPr>
          <a:xfrm>
            <a:off x="6400640" y="2438339"/>
            <a:ext cx="5181470" cy="3535592"/>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E7DCC8"/>
                </a:solidFill>
              </a:rPr>
              <a:t>Kunjungan ke sekolah dan guru olahraga</a:t>
            </a:r>
            <a:endParaRPr lang="en-US" sz="1380" dirty="0"/>
          </a:p>
          <a:p>
            <a:pPr marL="342900" indent="-342900">
              <a:spcAft>
                <a:spcPts val="400"/>
              </a:spcAft>
              <a:buSzPct val="100000"/>
              <a:buChar char="•"/>
            </a:pPr>
            <a:r>
              <a:rPr lang="en-US" sz="1380" dirty="0">
                <a:solidFill>
                  <a:srgbClr val="E7DCC8"/>
                </a:solidFill>
              </a:rPr>
              <a:t>IG/TikTok: highlight match, slot kosong harian</a:t>
            </a:r>
            <a:endParaRPr lang="en-US" sz="1380" dirty="0"/>
          </a:p>
          <a:p>
            <a:pPr marL="342900" indent="-342900">
              <a:spcAft>
                <a:spcPts val="400"/>
              </a:spcAft>
              <a:buSzPct val="100000"/>
              <a:buChar char="•"/>
            </a:pPr>
            <a:r>
              <a:rPr lang="en-US" sz="1380" dirty="0">
                <a:solidFill>
                  <a:srgbClr val="E7DCC8"/>
                </a:solidFill>
              </a:rPr>
              <a:t>Broadcast WhatsApp ke komunitas dan kantor</a:t>
            </a:r>
            <a:endParaRPr lang="en-US" sz="1380" dirty="0"/>
          </a:p>
          <a:p>
            <a:pPr marL="342900" indent="-342900">
              <a:spcAft>
                <a:spcPts val="400"/>
              </a:spcAft>
              <a:buSzPct val="100000"/>
              <a:buChar char="•"/>
            </a:pPr>
            <a:r>
              <a:rPr lang="en-US" sz="1380" dirty="0">
                <a:solidFill>
                  <a:srgbClr val="E7DCC8"/>
                </a:solidFill>
              </a:rPr>
              <a:t>Promo jam sepi hari kerja</a:t>
            </a:r>
            <a:endParaRPr lang="en-US" sz="1380" dirty="0"/>
          </a:p>
          <a:p>
            <a:pPr marL="342900" indent="-342900">
              <a:spcAft>
                <a:spcPts val="400"/>
              </a:spcAft>
              <a:buSzPct val="100000"/>
              <a:buChar char="•"/>
            </a:pPr>
            <a:r>
              <a:rPr lang="en-US" sz="1380" dirty="0">
                <a:solidFill>
                  <a:srgbClr val="E7DCC8"/>
                </a:solidFill>
              </a:rPr>
              <a:t>Booking lewat web (halaman /futsal HUNI)</a:t>
            </a:r>
            <a:endParaRPr lang="en-US" sz="13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26  /  33</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Cafe: dasar hitungan</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Dua skenario. Target omzet Rp80 jt per bulan.</a:t>
            </a:r>
            <a:endParaRPr lang="en-US" sz="1560" dirty="0"/>
          </a:p>
        </p:txBody>
      </p:sp>
      <p:sp>
        <p:nvSpPr>
          <p:cNvPr id="9" name="Shape 7"/>
          <p:cNvSpPr/>
          <p:nvPr/>
        </p:nvSpPr>
        <p:spPr>
          <a:xfrm>
            <a:off x="426709" y="1828754"/>
            <a:ext cx="5547221" cy="4267093"/>
          </a:xfrm>
          <a:prstGeom prst="roundRect">
            <a:avLst>
              <a:gd name="adj" fmla="val 1714"/>
            </a:avLst>
          </a:prstGeom>
          <a:solidFill>
            <a:srgbClr val="FBF8F3"/>
          </a:solidFill>
          <a:ln w="9525">
            <a:solidFill>
              <a:srgbClr val="D9CFBF"/>
            </a:solidFill>
            <a:prstDash val="solid"/>
          </a:ln>
        </p:spPr>
        <p:txBody>
          <a:bodyPr/>
          <a:p/>
        </p:txBody>
      </p:sp>
      <p:sp>
        <p:nvSpPr>
          <p:cNvPr id="10" name="Text 8"/>
          <p:cNvSpPr/>
          <p:nvPr/>
        </p:nvSpPr>
        <p:spPr>
          <a:xfrm>
            <a:off x="609585" y="1950671"/>
            <a:ext cx="5181470" cy="426709"/>
          </a:xfrm>
          <a:prstGeom prst="rect">
            <a:avLst/>
          </a:prstGeom>
          <a:noFill/>
        </p:spPr>
        <p:txBody>
          <a:bodyPr wrap="square" lIns="0" tIns="0" rIns="0" bIns="0" rtlCol="0" anchor="ctr"/>
          <a:lstStyle/>
          <a:p>
            <a:pPr marL="0" indent="0">
              <a:buNone/>
            </a:pPr>
            <a:r>
              <a:rPr lang="en-US" sz="1680" b="1" dirty="0">
                <a:solidFill>
                  <a:srgbClr val="1A1814"/>
                </a:solidFill>
                <a:latin typeface="Georgia" panose="02040502050405020303" pitchFamily="34" charset="0"/>
                <a:ea typeface="Georgia" panose="02040502050405020303" pitchFamily="34" charset="-122"/>
                <a:cs typeface="Georgia" panose="02040502050405020303" pitchFamily="34" charset="-120"/>
              </a:rPr>
              <a:t>Omzet</a:t>
            </a:r>
            <a:endParaRPr lang="en-US" sz="1680" dirty="0"/>
          </a:p>
        </p:txBody>
      </p:sp>
      <p:sp>
        <p:nvSpPr>
          <p:cNvPr id="11" name="Text 9"/>
          <p:cNvSpPr/>
          <p:nvPr/>
        </p:nvSpPr>
        <p:spPr>
          <a:xfrm>
            <a:off x="609585" y="2438339"/>
            <a:ext cx="5181470" cy="3535592"/>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3F382F"/>
                </a:solidFill>
              </a:rPr>
              <a:t>Realistis: 70 pelanggan x Rp33 rb x 30 hari = Rp69,3 jt</a:t>
            </a:r>
            <a:endParaRPr lang="en-US" sz="1380" dirty="0"/>
          </a:p>
          <a:p>
            <a:pPr marL="342900" indent="-342900">
              <a:spcAft>
                <a:spcPts val="400"/>
              </a:spcAft>
              <a:buSzPct val="100000"/>
              <a:buChar char="•"/>
            </a:pPr>
            <a:r>
              <a:rPr lang="en-US" sz="1380" dirty="0">
                <a:solidFill>
                  <a:srgbClr val="3F382F"/>
                </a:solidFill>
              </a:rPr>
              <a:t>Target: 80 pelanggan per hari = Rp80 jt</a:t>
            </a:r>
            <a:endParaRPr lang="en-US" sz="1380" dirty="0"/>
          </a:p>
          <a:p>
            <a:pPr marL="342900" indent="-342900">
              <a:spcAft>
                <a:spcPts val="400"/>
              </a:spcAft>
              <a:buSzPct val="100000"/>
              <a:buChar char="•"/>
            </a:pPr>
            <a:r>
              <a:rPr lang="en-US" sz="1380" dirty="0">
                <a:solidFill>
                  <a:srgbClr val="3F382F"/>
                </a:solidFill>
              </a:rPr>
              <a:t>Push lewat tim marketing dan kerja sama event</a:t>
            </a:r>
            <a:endParaRPr lang="en-US" sz="1380" dirty="0"/>
          </a:p>
          <a:p>
            <a:pPr marL="342900" indent="-342900">
              <a:spcAft>
                <a:spcPts val="400"/>
              </a:spcAft>
              <a:buSzPct val="100000"/>
              <a:buChar char="•"/>
            </a:pPr>
            <a:r>
              <a:rPr lang="en-US" sz="1380" dirty="0">
                <a:solidFill>
                  <a:srgbClr val="3F382F"/>
                </a:solidFill>
              </a:rPr>
              <a:t>Buka 30 hari, 10.00–21.00</a:t>
            </a:r>
            <a:endParaRPr lang="en-US" sz="1380" dirty="0"/>
          </a:p>
        </p:txBody>
      </p:sp>
      <p:sp>
        <p:nvSpPr>
          <p:cNvPr id="12" name="Shape 10"/>
          <p:cNvSpPr/>
          <p:nvPr/>
        </p:nvSpPr>
        <p:spPr>
          <a:xfrm>
            <a:off x="6217765" y="1828754"/>
            <a:ext cx="5547221" cy="4267093"/>
          </a:xfrm>
          <a:prstGeom prst="roundRect">
            <a:avLst>
              <a:gd name="adj" fmla="val 1714"/>
            </a:avLst>
          </a:prstGeom>
          <a:solidFill>
            <a:srgbClr val="2F5D50"/>
          </a:solidFill>
          <a:ln w="9525">
            <a:solidFill>
              <a:srgbClr val="D9CFBF"/>
            </a:solidFill>
            <a:prstDash val="solid"/>
          </a:ln>
        </p:spPr>
        <p:txBody>
          <a:bodyPr/>
          <a:p/>
        </p:txBody>
      </p:sp>
      <p:sp>
        <p:nvSpPr>
          <p:cNvPr id="13" name="Text 11"/>
          <p:cNvSpPr/>
          <p:nvPr/>
        </p:nvSpPr>
        <p:spPr>
          <a:xfrm>
            <a:off x="6400640" y="1950671"/>
            <a:ext cx="5181470" cy="426709"/>
          </a:xfrm>
          <a:prstGeom prst="rect">
            <a:avLst/>
          </a:prstGeom>
          <a:noFill/>
        </p:spPr>
        <p:txBody>
          <a:bodyPr wrap="square" lIns="0" tIns="0" rIns="0" bIns="0" rtlCol="0" anchor="ctr"/>
          <a:lstStyle/>
          <a:p>
            <a:pPr marL="0" indent="0">
              <a:buNone/>
            </a:pPr>
            <a:r>
              <a:rPr lang="en-US" sz="1680" b="1" dirty="0">
                <a:solidFill>
                  <a:srgbClr val="F4EFE6"/>
                </a:solidFill>
                <a:latin typeface="Georgia" panose="02040502050405020303" pitchFamily="34" charset="0"/>
                <a:ea typeface="Georgia" panose="02040502050405020303" pitchFamily="34" charset="-122"/>
                <a:cs typeface="Georgia" panose="02040502050405020303" pitchFamily="34" charset="-120"/>
              </a:rPr>
              <a:t>Cara hitung</a:t>
            </a:r>
            <a:endParaRPr lang="en-US" sz="1680" dirty="0"/>
          </a:p>
        </p:txBody>
      </p:sp>
      <p:sp>
        <p:nvSpPr>
          <p:cNvPr id="14" name="Text 12"/>
          <p:cNvSpPr/>
          <p:nvPr/>
        </p:nvSpPr>
        <p:spPr>
          <a:xfrm>
            <a:off x="6400640" y="2438339"/>
            <a:ext cx="5181470" cy="3535592"/>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E7DCC8"/>
                </a:solidFill>
              </a:rPr>
              <a:t>Pengelola 20% omzet: marketing, branding, operasional, biaya POS</a:t>
            </a:r>
            <a:endParaRPr lang="en-US" sz="1380" dirty="0"/>
          </a:p>
          <a:p>
            <a:pPr marL="342900" indent="-342900">
              <a:spcAft>
                <a:spcPts val="400"/>
              </a:spcAft>
              <a:buSzPct val="100000"/>
              <a:buChar char="•"/>
            </a:pPr>
            <a:r>
              <a:rPr lang="en-US" sz="1380" dirty="0">
                <a:solidFill>
                  <a:srgbClr val="E7DCC8"/>
                </a:solidFill>
              </a:rPr>
              <a:t>Karyawan 3 orang + BPJS/THR dihitung terpisah</a:t>
            </a:r>
            <a:endParaRPr lang="en-US" sz="1380" dirty="0"/>
          </a:p>
          <a:p>
            <a:pPr marL="342900" indent="-342900">
              <a:spcAft>
                <a:spcPts val="400"/>
              </a:spcAft>
              <a:buSzPct val="100000"/>
              <a:buChar char="•"/>
            </a:pPr>
            <a:r>
              <a:rPr lang="en-US" sz="1380" dirty="0">
                <a:solidFill>
                  <a:srgbClr val="E7DCC8"/>
                </a:solidFill>
              </a:rPr>
              <a:t>Biaya pemilik: bahan baku, packaging, listrik, air, gas, internet</a:t>
            </a:r>
            <a:endParaRPr lang="en-US" sz="1380" dirty="0"/>
          </a:p>
          <a:p>
            <a:pPr marL="342900" indent="-342900">
              <a:spcAft>
                <a:spcPts val="400"/>
              </a:spcAft>
              <a:buSzPct val="100000"/>
              <a:buChar char="•"/>
            </a:pPr>
            <a:r>
              <a:rPr lang="en-US" sz="1380" dirty="0">
                <a:solidFill>
                  <a:srgbClr val="E7DCC8"/>
                </a:solidFill>
              </a:rPr>
              <a:t>Sisanya net income owner</a:t>
            </a:r>
            <a:endParaRPr lang="en-US" sz="13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27  /  33</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Cafe: ringkasan per bulan</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Omzet dikurangi bagian pengelola, karyawan, dan biaya pemilik.</a:t>
            </a:r>
            <a:endParaRPr lang="en-US" sz="1560" dirty="0"/>
          </a:p>
        </p:txBody>
      </p:sp>
      <p:graphicFrame>
        <p:nvGraphicFramePr>
          <p:cNvPr id="24" name="Table 0"/>
          <p:cNvGraphicFramePr>
            <a:graphicFrameLocks noGrp="1"/>
          </p:cNvGraphicFramePr>
          <p:nvPr/>
        </p:nvGraphicFramePr>
        <p:xfrm>
          <a:off x="426709" y="1828754"/>
          <a:ext cx="11338277" cy="3657510"/>
        </p:xfrm>
        <a:graphic>
          <a:graphicData uri="http://schemas.openxmlformats.org/drawingml/2006/table">
            <a:tbl>
              <a:tblPr/>
              <a:tblGrid>
                <a:gridCol w="6461598"/>
                <a:gridCol w="2438339"/>
                <a:gridCol w="2438339"/>
              </a:tblGrid>
              <a:tr h="609585">
                <a:tc>
                  <a:txBody>
                    <a:bodyPr/>
                    <a:lstStyle/>
                    <a:p>
                      <a:pPr marL="0" indent="0" algn="l">
                        <a:buNone/>
                      </a:pPr>
                      <a:r>
                        <a:rPr lang="en-US" sz="1320" b="1" dirty="0">
                          <a:solidFill>
                            <a:srgbClr val="F4EFE6"/>
                          </a:solidFill>
                        </a:rPr>
                        <a:t>Komponen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Realistis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Target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609585">
                <a:tc>
                  <a:txBody>
                    <a:bodyPr/>
                    <a:lstStyle/>
                    <a:p>
                      <a:pPr marL="0" indent="0" algn="l">
                        <a:buNone/>
                      </a:pPr>
                      <a:r>
                        <a:rPr lang="en-US" sz="1320" dirty="0">
                          <a:solidFill>
                            <a:srgbClr val="1A1814"/>
                          </a:solidFill>
                        </a:rPr>
                        <a:t>Omzet /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69,30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80,00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609585">
                <a:tc>
                  <a:txBody>
                    <a:bodyPr/>
                    <a:lstStyle/>
                    <a:p>
                      <a:pPr marL="0" indent="0" algn="l">
                        <a:buNone/>
                      </a:pPr>
                      <a:r>
                        <a:rPr lang="en-US" sz="1320" dirty="0">
                          <a:solidFill>
                            <a:srgbClr val="1A1814"/>
                          </a:solidFill>
                        </a:rPr>
                        <a:t>Bagian pengelola 20% (marketing, branding, operasional, POS)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13,86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16,00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609585">
                <a:tc>
                  <a:txBody>
                    <a:bodyPr/>
                    <a:lstStyle/>
                    <a:p>
                      <a:pPr marL="0" indent="0" algn="l">
                        <a:buNone/>
                      </a:pPr>
                      <a:r>
                        <a:rPr lang="en-US" sz="1320" dirty="0">
                          <a:solidFill>
                            <a:srgbClr val="1A1814"/>
                          </a:solidFill>
                        </a:rPr>
                        <a:t>Karyawan 3 orang + BPJS/THR</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8,47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8,47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609585">
                <a:tc>
                  <a:txBody>
                    <a:bodyPr/>
                    <a:lstStyle/>
                    <a:p>
                      <a:pPr marL="0" indent="0" algn="l">
                        <a:buNone/>
                      </a:pPr>
                      <a:r>
                        <a:rPr lang="en-US" sz="1320" dirty="0">
                          <a:solidFill>
                            <a:srgbClr val="1A1814"/>
                          </a:solidFill>
                        </a:rPr>
                        <a:t>Biaya pemilik (bahan, listrik, dll)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30,43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34,50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609585">
                <a:tc>
                  <a:txBody>
                    <a:bodyPr/>
                    <a:lstStyle/>
                    <a:p>
                      <a:pPr marL="0" indent="0" algn="l">
                        <a:buNone/>
                      </a:pPr>
                      <a:r>
                        <a:rPr lang="en-US" sz="1320" b="1" dirty="0">
                          <a:solidFill>
                            <a:srgbClr val="1A1814"/>
                          </a:solidFill>
                        </a:rPr>
                        <a:t>Net income owner</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b="1" dirty="0">
                          <a:solidFill>
                            <a:srgbClr val="1A1814"/>
                          </a:solidFill>
                        </a:rPr>
                        <a:t>16,54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b="1" dirty="0">
                          <a:solidFill>
                            <a:srgbClr val="1A1814"/>
                          </a:solidFill>
                        </a:rPr>
                        <a:t>21,03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
        <p:nvSpPr>
          <p:cNvPr id="10" name="Text 7"/>
          <p:cNvSpPr/>
          <p:nvPr/>
        </p:nvSpPr>
        <p:spPr>
          <a:xfrm>
            <a:off x="426709" y="5730097"/>
            <a:ext cx="11338277" cy="426709"/>
          </a:xfrm>
          <a:prstGeom prst="rect">
            <a:avLst/>
          </a:prstGeom>
          <a:noFill/>
        </p:spPr>
        <p:txBody>
          <a:bodyPr wrap="square" lIns="0" tIns="0" rIns="0" bIns="0" rtlCol="0" anchor="ctr"/>
          <a:lstStyle/>
          <a:p>
            <a:pPr marL="0" indent="0">
              <a:buNone/>
            </a:pPr>
            <a:r>
              <a:rPr lang="en-US" sz="1560" b="1" dirty="0">
                <a:solidFill>
                  <a:srgbClr val="2F5D50"/>
                </a:solidFill>
                <a:latin typeface="Calibri" panose="020F0502020204030204" pitchFamily="34" charset="0"/>
                <a:ea typeface="Calibri" panose="020F0502020204030204" pitchFamily="34" charset="-122"/>
                <a:cs typeface="Calibri" panose="020F0502020204030204" pitchFamily="34" charset="-120"/>
              </a:rPr>
              <a:t>Setahun: net owner 198,43 jt (realistis) / 252,36 jt (target).</a:t>
            </a:r>
            <a:endParaRPr lang="en-US" sz="1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28  /  33</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Cafe: 20% pengelola dipakai untuk apa</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Operasional 8 · marketing &amp; event 7 · branding 3 · POS &amp; dashboard 2.</a:t>
            </a:r>
            <a:endParaRPr lang="en-US" sz="1560" dirty="0"/>
          </a:p>
        </p:txBody>
      </p:sp>
      <p:graphicFrame>
        <p:nvGraphicFramePr>
          <p:cNvPr id="25" name="Table 0"/>
          <p:cNvGraphicFramePr>
            <a:graphicFrameLocks noGrp="1"/>
          </p:cNvGraphicFramePr>
          <p:nvPr/>
        </p:nvGraphicFramePr>
        <p:xfrm>
          <a:off x="426709" y="1767796"/>
          <a:ext cx="11338277" cy="3072306"/>
        </p:xfrm>
        <a:graphic>
          <a:graphicData uri="http://schemas.openxmlformats.org/drawingml/2006/table">
            <a:tbl>
              <a:tblPr/>
              <a:tblGrid>
                <a:gridCol w="5486263"/>
                <a:gridCol w="1341086"/>
                <a:gridCol w="2255464"/>
                <a:gridCol w="2255464"/>
              </a:tblGrid>
              <a:tr h="512051">
                <a:tc>
                  <a:txBody>
                    <a:bodyPr/>
                    <a:lstStyle/>
                    <a:p>
                      <a:pPr marL="0" indent="0" algn="l">
                        <a:buNone/>
                      </a:pPr>
                      <a:r>
                        <a:rPr lang="en-US" sz="1320" b="1" dirty="0">
                          <a:solidFill>
                            <a:srgbClr val="F4EFE6"/>
                          </a:solidFill>
                        </a:rPr>
                        <a:t>Pos (dari 20%)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Porsi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Realistis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Target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12051">
                <a:tc>
                  <a:txBody>
                    <a:bodyPr/>
                    <a:lstStyle/>
                    <a:p>
                      <a:pPr marL="0" indent="0" algn="l">
                        <a:buNone/>
                      </a:pPr>
                      <a:r>
                        <a:rPr lang="en-US" sz="1320" dirty="0">
                          <a:solidFill>
                            <a:srgbClr val="1A1814"/>
                          </a:solidFill>
                        </a:rPr>
                        <a:t>Operasional (PPIC, pengawasan harian)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8%</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5,54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6,40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12051">
                <a:tc>
                  <a:txBody>
                    <a:bodyPr/>
                    <a:lstStyle/>
                    <a:p>
                      <a:pPr marL="0" indent="0" algn="l">
                        <a:buNone/>
                      </a:pPr>
                      <a:r>
                        <a:rPr lang="en-US" sz="1320" dirty="0">
                          <a:solidFill>
                            <a:srgbClr val="1A1814"/>
                          </a:solidFill>
                        </a:rPr>
                        <a:t>Marketing &amp; event (tim marketing, partner)</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7%</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4,85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5,60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marL="0" indent="0" algn="l">
                        <a:buNone/>
                      </a:pPr>
                      <a:r>
                        <a:rPr lang="en-US" sz="1320" dirty="0">
                          <a:solidFill>
                            <a:srgbClr val="1A1814"/>
                          </a:solidFill>
                        </a:rPr>
                        <a:t>Branding (konten, desain, media)</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3%</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2,08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2,40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12051">
                <a:tc>
                  <a:txBody>
                    <a:bodyPr/>
                    <a:lstStyle/>
                    <a:p>
                      <a:pPr marL="0" indent="0" algn="l">
                        <a:buNone/>
                      </a:pPr>
                      <a:r>
                        <a:rPr lang="en-US" sz="1320" dirty="0">
                          <a:solidFill>
                            <a:srgbClr val="1A1814"/>
                          </a:solidFill>
                        </a:rPr>
                        <a:t>Biaya POS &amp; dashboard</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2%</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1,39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1,60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marL="0" indent="0" algn="l">
                        <a:buNone/>
                      </a:pPr>
                      <a:r>
                        <a:rPr lang="en-US" sz="1320" b="1" dirty="0">
                          <a:solidFill>
                            <a:srgbClr val="1A1814"/>
                          </a:solidFill>
                        </a:rPr>
                        <a:t>Total bagian pengelola</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b="1" dirty="0">
                          <a:solidFill>
                            <a:srgbClr val="1A1814"/>
                          </a:solidFill>
                        </a:rPr>
                        <a:t>20%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b="1" dirty="0">
                          <a:solidFill>
                            <a:srgbClr val="1A1814"/>
                          </a:solidFill>
                        </a:rPr>
                        <a:t>13,86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b="1" dirty="0">
                          <a:solidFill>
                            <a:srgbClr val="1A1814"/>
                          </a:solidFill>
                        </a:rPr>
                        <a:t>16,00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graphicFrame>
        <p:nvGraphicFramePr>
          <p:cNvPr id="10" name="Chart 0"/>
          <p:cNvGraphicFramePr/>
          <p:nvPr/>
        </p:nvGraphicFramePr>
        <p:xfrm>
          <a:off x="426709" y="4998595"/>
          <a:ext cx="11338277" cy="1402045"/>
        </p:xfrm>
        <a:graphic>
          <a:graphicData uri="http://schemas.openxmlformats.org/drawingml/2006/chart">
            <c:chart xmlns:c="http://schemas.openxmlformats.org/drawingml/2006/chart" xmlns:r="http://schemas.openxmlformats.org/officeDocument/2006/relationships" r:id="rId1"/>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29  /  33</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Cafe: biaya pemilik</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Bahan baku, packaging, dan biaya tetap.</a:t>
            </a:r>
            <a:endParaRPr lang="en-US" sz="1560" dirty="0"/>
          </a:p>
        </p:txBody>
      </p:sp>
      <p:graphicFrame>
        <p:nvGraphicFramePr>
          <p:cNvPr id="26" name="Table 0"/>
          <p:cNvGraphicFramePr>
            <a:graphicFrameLocks noGrp="1"/>
          </p:cNvGraphicFramePr>
          <p:nvPr/>
        </p:nvGraphicFramePr>
        <p:xfrm>
          <a:off x="426709" y="1828754"/>
          <a:ext cx="11338277" cy="3840382"/>
        </p:xfrm>
        <a:graphic>
          <a:graphicData uri="http://schemas.openxmlformats.org/drawingml/2006/table">
            <a:tbl>
              <a:tblPr/>
              <a:tblGrid>
                <a:gridCol w="6461598"/>
                <a:gridCol w="2438339"/>
                <a:gridCol w="2438339"/>
              </a:tblGrid>
              <a:tr h="548626">
                <a:tc>
                  <a:txBody>
                    <a:bodyPr/>
                    <a:lstStyle/>
                    <a:p>
                      <a:pPr marL="0" indent="0" algn="l">
                        <a:buNone/>
                      </a:pPr>
                      <a:r>
                        <a:rPr lang="en-US" sz="1320" b="1" dirty="0">
                          <a:solidFill>
                            <a:srgbClr val="F4EFE6"/>
                          </a:solidFill>
                        </a:rPr>
                        <a:t>Pos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Realistis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Target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marL="0" indent="0" algn="l">
                        <a:buNone/>
                      </a:pPr>
                      <a:r>
                        <a:rPr lang="en-US" sz="1320" dirty="0">
                          <a:solidFill>
                            <a:srgbClr val="1A1814"/>
                          </a:solidFill>
                        </a:rPr>
                        <a:t>Bahan baku (35%)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24,25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28,00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dirty="0">
                          <a:solidFill>
                            <a:srgbClr val="1A1814"/>
                          </a:solidFill>
                        </a:rPr>
                        <a:t>Packaging &amp; habis pakai (3%)</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2,08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2,40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marL="0" indent="0" algn="l">
                        <a:buNone/>
                      </a:pPr>
                      <a:r>
                        <a:rPr lang="en-US" sz="1320" dirty="0">
                          <a:solidFill>
                            <a:srgbClr val="1A1814"/>
                          </a:solidFill>
                        </a:rPr>
                        <a:t>Listrik 2,5 · air 0,4 · gas 0,5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3,40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3,40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dirty="0">
                          <a:solidFill>
                            <a:srgbClr val="1A1814"/>
                          </a:solidFill>
                        </a:rPr>
                        <a:t>Internet 0,4 · kebersihan 0,3</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0,70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0,70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marL="0" indent="0" algn="l">
                        <a:buNone/>
                      </a:pPr>
                      <a:r>
                        <a:rPr lang="en-US" sz="1320" dirty="0">
                          <a:solidFill>
                            <a:srgbClr val="1A1814"/>
                          </a:solidFill>
                        </a:rPr>
                        <a:t>Sewa tempat (0 = milik sendiri)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0,00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0,00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b="1" dirty="0">
                          <a:solidFill>
                            <a:srgbClr val="1A1814"/>
                          </a:solidFill>
                        </a:rPr>
                        <a:t>Total biaya pemilik</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b="1" dirty="0">
                          <a:solidFill>
                            <a:srgbClr val="1A1814"/>
                          </a:solidFill>
                        </a:rPr>
                        <a:t>30,43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b="1" dirty="0">
                          <a:solidFill>
                            <a:srgbClr val="1A1814"/>
                          </a:solidFill>
                        </a:rPr>
                        <a:t>34,50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30  /  33</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Cafe: 3 karyawan dan penggajian</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Dihitung terpisah dari bagian pengelola. Gaji pokok asumsi, cek UMK setempat.</a:t>
            </a:r>
            <a:endParaRPr lang="en-US" sz="1560" dirty="0"/>
          </a:p>
        </p:txBody>
      </p:sp>
      <p:graphicFrame>
        <p:nvGraphicFramePr>
          <p:cNvPr id="27" name="Table 0"/>
          <p:cNvGraphicFramePr>
            <a:graphicFrameLocks noGrp="1"/>
          </p:cNvGraphicFramePr>
          <p:nvPr/>
        </p:nvGraphicFramePr>
        <p:xfrm>
          <a:off x="426709" y="1828754"/>
          <a:ext cx="11338277" cy="3291756"/>
        </p:xfrm>
        <a:graphic>
          <a:graphicData uri="http://schemas.openxmlformats.org/drawingml/2006/table">
            <a:tbl>
              <a:tblPr/>
              <a:tblGrid>
                <a:gridCol w="3657509"/>
                <a:gridCol w="2682173"/>
                <a:gridCol w="4998595"/>
              </a:tblGrid>
              <a:tr h="548626">
                <a:tc>
                  <a:txBody>
                    <a:bodyPr/>
                    <a:lstStyle/>
                    <a:p>
                      <a:pPr marL="0" indent="0" algn="l">
                        <a:buNone/>
                      </a:pPr>
                      <a:r>
                        <a:rPr lang="en-US" sz="1320" b="1" dirty="0">
                          <a:solidFill>
                            <a:srgbClr val="F4EFE6"/>
                          </a:solidFill>
                        </a:rPr>
                        <a:t>Posisi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Gaji /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Tugas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marL="0" indent="0" algn="l">
                        <a:buNone/>
                      </a:pPr>
                      <a:r>
                        <a:rPr lang="en-US" sz="1320" dirty="0">
                          <a:solidFill>
                            <a:srgbClr val="1A1814"/>
                          </a:solidFill>
                        </a:rPr>
                        <a:t>Waiters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Rp2.400.000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Antar pesanan, bersih meja, layani pelanggan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dirty="0">
                          <a:solidFill>
                            <a:srgbClr val="1A1814"/>
                          </a:solidFill>
                        </a:rPr>
                        <a:t>Cooks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Rp2.800.000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US" sz="1320" dirty="0">
                          <a:solidFill>
                            <a:srgbClr val="1A1814"/>
                          </a:solidFill>
                        </a:rPr>
                        <a:t>Masak, siapkan bahan, jaga stok dapur</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marL="0" indent="0" algn="l">
                        <a:buNone/>
                      </a:pPr>
                      <a:r>
                        <a:rPr lang="en-US" sz="1320" dirty="0">
                          <a:solidFill>
                            <a:srgbClr val="1A1814"/>
                          </a:solidFill>
                        </a:rPr>
                        <a:t>Kasir</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Rp2.500.000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Transaksi POS, catat penjualan, tutup kas harian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dirty="0">
                          <a:solidFill>
                            <a:srgbClr val="1A1814"/>
                          </a:solidFill>
                        </a:rPr>
                        <a:t>BPJS / THR cadangan 10%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Rp770.000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marL="0" indent="0" algn="l">
                        <a:buNone/>
                      </a:pPr>
                      <a:r>
                        <a:rPr lang="en-US" sz="1320" b="1" dirty="0">
                          <a:solidFill>
                            <a:srgbClr val="1A1814"/>
                          </a:solidFill>
                        </a:rPr>
                        <a:t>Total per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b="1" dirty="0">
                          <a:solidFill>
                            <a:srgbClr val="1A1814"/>
                          </a:solidFill>
                        </a:rPr>
                        <a:t>Rp8.470.000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
        <p:nvSpPr>
          <p:cNvPr id="10" name="Text 7"/>
          <p:cNvSpPr/>
          <p:nvPr/>
        </p:nvSpPr>
        <p:spPr>
          <a:xfrm>
            <a:off x="426709" y="5486263"/>
            <a:ext cx="11338277" cy="731502"/>
          </a:xfrm>
          <a:prstGeom prst="rect">
            <a:avLst/>
          </a:prstGeom>
          <a:noFill/>
        </p:spPr>
        <p:txBody>
          <a:bodyPr wrap="square" lIns="0" tIns="0" rIns="0" bIns="0" rtlCol="0" anchor="ctr"/>
          <a:lstStyle/>
          <a:p>
            <a:pPr marL="0" indent="0">
              <a:buNone/>
            </a:pPr>
            <a:r>
              <a:rPr lang="en-US" sz="1440" dirty="0">
                <a:solidFill>
                  <a:srgbClr val="6F675C"/>
                </a:solidFill>
                <a:latin typeface="Calibri" panose="020F0502020204030204" pitchFamily="34" charset="0"/>
                <a:ea typeface="Calibri" panose="020F0502020204030204" pitchFamily="34" charset="-122"/>
                <a:cs typeface="Calibri" panose="020F0502020204030204" pitchFamily="34" charset="-120"/>
              </a:rPr>
              <a:t>Catatan: dengan 3 orang tanpa pengganti, hari libur harus ditutup Andre sebagai operasional atau jam buka dipendekkan. Gaji dibayar tanggal 1.</a:t>
            </a:r>
            <a:endParaRPr lang="en-US" sz="144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31  /  33</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AU" alt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TOTAL PNL REVENUE OWNER</a:t>
            </a:r>
            <a:endParaRPr lang="en-AU" alt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endParaRPr>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AU" alt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TOTAL PNL OMZET / BULAN</a:t>
            </a:r>
            <a:endParaRPr lang="en-AU" alt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endParaRPr>
          </a:p>
        </p:txBody>
      </p:sp>
      <p:graphicFrame>
        <p:nvGraphicFramePr>
          <p:cNvPr id="27" name="Table 0"/>
          <p:cNvGraphicFramePr>
            <a:graphicFrameLocks noGrp="1"/>
          </p:cNvGraphicFramePr>
          <p:nvPr/>
        </p:nvGraphicFramePr>
        <p:xfrm>
          <a:off x="426709" y="1828754"/>
          <a:ext cx="11338277" cy="3291756"/>
        </p:xfrm>
        <a:graphic>
          <a:graphicData uri="http://schemas.openxmlformats.org/drawingml/2006/table">
            <a:tbl>
              <a:tblPr/>
              <a:tblGrid>
                <a:gridCol w="3657509"/>
                <a:gridCol w="2682173"/>
                <a:gridCol w="4998595"/>
              </a:tblGrid>
              <a:tr h="548626">
                <a:tc>
                  <a:txBody>
                    <a:bodyPr/>
                    <a:lstStyle/>
                    <a:p>
                      <a:pPr marL="0" indent="0" algn="l">
                        <a:buNone/>
                      </a:pPr>
                      <a:r>
                        <a:rPr lang="en-AU" altLang="en-US" sz="1320" b="1" dirty="0">
                          <a:solidFill>
                            <a:srgbClr val="F4EFE6"/>
                          </a:solidFill>
                        </a:rPr>
                        <a:t>SUMMARY</a:t>
                      </a:r>
                      <a:endParaRPr lang="en-AU" altLang="en-US" sz="1320" b="1" dirty="0">
                        <a:solidFill>
                          <a:srgbClr val="F4EFE6"/>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AU" altLang="en-US" sz="1320" b="1" dirty="0">
                          <a:solidFill>
                            <a:srgbClr val="F4EFE6"/>
                          </a:solidFill>
                        </a:rPr>
                        <a:t>GROSS (Target Income)</a:t>
                      </a:r>
                      <a:endParaRPr lang="en-AU" altLang="en-US" sz="1320" b="1" dirty="0">
                        <a:solidFill>
                          <a:srgbClr val="F4EFE6"/>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AU" altLang="en-US" sz="1320" dirty="0">
                          <a:solidFill>
                            <a:schemeClr val="bg1"/>
                          </a:solidFill>
                        </a:rPr>
                        <a:t>OPERASIONAL</a:t>
                      </a:r>
                      <a:endParaRPr lang="en-AU" altLang="en-US" sz="1320" dirty="0">
                        <a:solidFill>
                          <a:schemeClr val="bg1"/>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marL="0" indent="0" algn="l">
                        <a:buNone/>
                      </a:pPr>
                      <a:r>
                        <a:rPr lang="en-AU" altLang="en-US" sz="1320" dirty="0">
                          <a:solidFill>
                            <a:srgbClr val="1A1814"/>
                          </a:solidFill>
                        </a:rPr>
                        <a:t>CAFE</a:t>
                      </a:r>
                      <a:endParaRPr lang="en-AU" altLang="en-US" sz="1320" dirty="0">
                        <a:solidFill>
                          <a:srgbClr val="1A1814"/>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Rp</a:t>
                      </a:r>
                      <a:r>
                        <a:rPr lang="en-AU" altLang="en-US" sz="1320" dirty="0">
                          <a:solidFill>
                            <a:srgbClr val="1A1814"/>
                          </a:solidFill>
                        </a:rPr>
                        <a:t>79.999.200</a:t>
                      </a:r>
                      <a:endParaRPr lang="en-AU" altLang="en-US" sz="1320" dirty="0">
                        <a:solidFill>
                          <a:srgbClr val="1A1814"/>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AU" altLang="en-US" sz="1320" dirty="0"/>
                        <a:t>Rp34.499.696</a:t>
                      </a:r>
                      <a:endParaRPr lang="en-AU" alt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AU" altLang="en-US" sz="1320" dirty="0">
                          <a:solidFill>
                            <a:srgbClr val="1A1814"/>
                          </a:solidFill>
                        </a:rPr>
                        <a:t>KOSAN / KONTRAKAN</a:t>
                      </a:r>
                      <a:endParaRPr lang="en-AU" altLang="en-US" sz="1320" dirty="0">
                        <a:solidFill>
                          <a:srgbClr val="1A1814"/>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US" sz="1320" dirty="0">
                          <a:solidFill>
                            <a:srgbClr val="1A1814"/>
                          </a:solidFill>
                        </a:rPr>
                        <a:t>Rp</a:t>
                      </a:r>
                      <a:r>
                        <a:rPr lang="en-AU" altLang="en-US" sz="1320" dirty="0">
                          <a:solidFill>
                            <a:srgbClr val="1A1814"/>
                          </a:solidFill>
                        </a:rPr>
                        <a:t>44.400.000</a:t>
                      </a:r>
                      <a:endParaRPr lang="en-AU" altLang="en-US" sz="1320" dirty="0">
                        <a:solidFill>
                          <a:srgbClr val="1A1814"/>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AU" altLang="en-US" sz="1320" dirty="0">
                          <a:solidFill>
                            <a:srgbClr val="1A1814"/>
                          </a:solidFill>
                        </a:rPr>
                        <a:t>Rp13.320.000</a:t>
                      </a:r>
                      <a:endParaRPr lang="en-AU" altLang="en-US" sz="1320" dirty="0">
                        <a:solidFill>
                          <a:srgbClr val="1A1814"/>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marL="0" indent="0" algn="l">
                        <a:buNone/>
                      </a:pPr>
                      <a:r>
                        <a:rPr lang="en-AU" altLang="en-US" sz="1320" dirty="0">
                          <a:solidFill>
                            <a:srgbClr val="1A1814"/>
                          </a:solidFill>
                        </a:rPr>
                        <a:t>FUTSAL</a:t>
                      </a:r>
                      <a:endParaRPr lang="en-AU" altLang="en-US" sz="1320" dirty="0">
                        <a:solidFill>
                          <a:srgbClr val="1A1814"/>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r>
                        <a:rPr lang="en-US" sz="1320" dirty="0">
                          <a:solidFill>
                            <a:srgbClr val="1A1814"/>
                          </a:solidFill>
                        </a:rPr>
                        <a:t>Rp</a:t>
                      </a:r>
                      <a:r>
                        <a:rPr lang="en-AU" altLang="en-US" sz="1320" dirty="0">
                          <a:solidFill>
                            <a:srgbClr val="1A1814"/>
                          </a:solidFill>
                        </a:rPr>
                        <a:t>36.600.000</a:t>
                      </a:r>
                      <a:endParaRPr lang="en-AU" altLang="en-US" sz="1320" dirty="0">
                        <a:solidFill>
                          <a:srgbClr val="1A1814"/>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AU" altLang="en-US" sz="1320" dirty="0">
                          <a:solidFill>
                            <a:srgbClr val="1A1814"/>
                          </a:solidFill>
                        </a:rPr>
                        <a:t>Rp10.980.000</a:t>
                      </a:r>
                      <a:endParaRPr lang="en-AU" altLang="en-US" sz="1320" dirty="0">
                        <a:solidFill>
                          <a:srgbClr val="1A1814"/>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AU" altLang="en-US" sz="1320" dirty="0"/>
                        <a:t>Total </a:t>
                      </a:r>
                      <a:r>
                        <a:rPr lang="en-AU" altLang="en-US" sz="1320" b="1" dirty="0"/>
                        <a:t>GROSS INCOME &amp; OPERASIONAL</a:t>
                      </a:r>
                      <a:endParaRPr lang="en-AU" altLang="en-US" sz="1320" b="1"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r">
                        <a:buNone/>
                      </a:pPr>
                      <a:r>
                        <a:rPr lang="en-AU" altLang="en-US" sz="1320" dirty="0">
                          <a:highlight>
                            <a:srgbClr val="FFFF00"/>
                          </a:highlight>
                        </a:rPr>
                        <a:t>Rp</a:t>
                      </a:r>
                      <a:r>
                        <a:rPr lang="en-US" altLang="en-US" sz="1320" dirty="0">
                          <a:highlight>
                            <a:srgbClr val="FFFF00"/>
                          </a:highlight>
                        </a:rPr>
                        <a:t>160,999,200</a:t>
                      </a:r>
                      <a:endParaRPr lang="en-US" altLang="en-US" sz="1320" dirty="0">
                        <a:highlight>
                          <a:srgbClr val="FFFF00"/>
                        </a:highlight>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AU" altLang="en-US" sz="1320" dirty="0">
                          <a:highlight>
                            <a:srgbClr val="FFFF00"/>
                          </a:highlight>
                        </a:rPr>
                        <a:t>Rp</a:t>
                      </a:r>
                      <a:r>
                        <a:rPr lang="en-US" altLang="en-US" sz="1320" dirty="0">
                          <a:highlight>
                            <a:srgbClr val="FFFF00"/>
                          </a:highlight>
                        </a:rPr>
                        <a:t>58,799,696</a:t>
                      </a:r>
                      <a:endParaRPr lang="en-US" altLang="en-US" sz="1320" dirty="0">
                        <a:highlight>
                          <a:srgbClr val="FFFF00"/>
                        </a:highlight>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marL="0" indent="0" algn="l">
                        <a:buNone/>
                      </a:pPr>
                      <a:r>
                        <a:rPr lang="en-US" sz="1320" b="1" dirty="0">
                          <a:solidFill>
                            <a:srgbClr val="1A1814"/>
                          </a:solidFill>
                        </a:rPr>
                        <a:t>Total </a:t>
                      </a:r>
                      <a:r>
                        <a:rPr lang="en-AU" altLang="en-US" sz="1320" b="1" dirty="0">
                          <a:solidFill>
                            <a:srgbClr val="1A1814"/>
                          </a:solidFill>
                        </a:rPr>
                        <a:t>Income Owner</a:t>
                      </a:r>
                      <a:endParaRPr lang="en-AU" altLang="en-US" sz="1320" b="1" dirty="0">
                        <a:solidFill>
                          <a:srgbClr val="1A1814"/>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r">
                        <a:buNone/>
                      </a:pPr>
                      <a:endParaRPr lang="en-AU" altLang="en-US" sz="1320" b="1" dirty="0">
                        <a:solidFill>
                          <a:srgbClr val="1A1814"/>
                        </a:solidFill>
                      </a:endParaRPr>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AU" altLang="en-US" sz="1320" b="1" dirty="0"/>
                        <a:t>Rp</a:t>
                      </a:r>
                      <a:r>
                        <a:rPr lang="en-US" altLang="en-US" sz="1320" b="1" dirty="0"/>
                        <a:t>102,199,504</a:t>
                      </a:r>
                      <a:endParaRPr lang="en-US" altLang="en-US" sz="1320" b="1"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
        <p:nvSpPr>
          <p:cNvPr id="10" name="Text 7"/>
          <p:cNvSpPr/>
          <p:nvPr/>
        </p:nvSpPr>
        <p:spPr>
          <a:xfrm>
            <a:off x="426709" y="5486263"/>
            <a:ext cx="11338277" cy="731502"/>
          </a:xfrm>
          <a:prstGeom prst="rect">
            <a:avLst/>
          </a:prstGeom>
          <a:noFill/>
        </p:spPr>
        <p:txBody>
          <a:bodyPr wrap="square" lIns="0" tIns="0" rIns="0" bIns="0" rtlCol="0" anchor="ctr"/>
          <a:lstStyle/>
          <a:p>
            <a:pPr marL="0" indent="0">
              <a:buNone/>
            </a:pPr>
            <a:r>
              <a:rPr lang="en-US" sz="1440" dirty="0">
                <a:solidFill>
                  <a:srgbClr val="6F675C"/>
                </a:solidFill>
                <a:latin typeface="Calibri" panose="020F0502020204030204" pitchFamily="34" charset="0"/>
                <a:ea typeface="Calibri" panose="020F0502020204030204" pitchFamily="34" charset="-122"/>
                <a:cs typeface="Calibri" panose="020F0502020204030204" pitchFamily="34" charset="-120"/>
              </a:rPr>
              <a:t>Catatan: dengan 3 orang tanpa pengganti, hari libur harus ditutup Andre sebagai operasional atau jam buka dipendekkan. Gaji dibayar tanggal 1.</a:t>
            </a:r>
            <a:endParaRPr lang="en-US" sz="144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32  /  33</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Cafe: event &amp; kerja sama partner</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Dibiayai dari porsi marketing &amp; event 7%, dibantu sponsor partner.</a:t>
            </a:r>
            <a:endParaRPr lang="en-US" sz="1560" dirty="0"/>
          </a:p>
        </p:txBody>
      </p:sp>
      <p:sp>
        <p:nvSpPr>
          <p:cNvPr id="9" name="Shape 7"/>
          <p:cNvSpPr/>
          <p:nvPr/>
        </p:nvSpPr>
        <p:spPr>
          <a:xfrm>
            <a:off x="426709" y="1828754"/>
            <a:ext cx="5547221" cy="2682173"/>
          </a:xfrm>
          <a:prstGeom prst="roundRect">
            <a:avLst>
              <a:gd name="adj" fmla="val 2727"/>
            </a:avLst>
          </a:prstGeom>
          <a:solidFill>
            <a:srgbClr val="FBF8F3"/>
          </a:solidFill>
          <a:ln w="9525">
            <a:solidFill>
              <a:srgbClr val="D9CFBF"/>
            </a:solidFill>
            <a:prstDash val="solid"/>
          </a:ln>
        </p:spPr>
        <p:txBody>
          <a:bodyPr/>
          <a:p/>
        </p:txBody>
      </p:sp>
      <p:sp>
        <p:nvSpPr>
          <p:cNvPr id="10" name="Text 8"/>
          <p:cNvSpPr/>
          <p:nvPr/>
        </p:nvSpPr>
        <p:spPr>
          <a:xfrm>
            <a:off x="609585" y="1950671"/>
            <a:ext cx="5181470" cy="426709"/>
          </a:xfrm>
          <a:prstGeom prst="rect">
            <a:avLst/>
          </a:prstGeom>
          <a:noFill/>
        </p:spPr>
        <p:txBody>
          <a:bodyPr wrap="square" lIns="0" tIns="0" rIns="0" bIns="0" rtlCol="0" anchor="ctr"/>
          <a:lstStyle/>
          <a:p>
            <a:pPr marL="0" indent="0">
              <a:buNone/>
            </a:pPr>
            <a:r>
              <a:rPr lang="en-US" sz="1680" b="1" dirty="0">
                <a:solidFill>
                  <a:srgbClr val="1A1814"/>
                </a:solidFill>
                <a:latin typeface="Georgia" panose="02040502050405020303" pitchFamily="34" charset="0"/>
                <a:ea typeface="Georgia" panose="02040502050405020303" pitchFamily="34" charset="-122"/>
                <a:cs typeface="Georgia" panose="02040502050405020303" pitchFamily="34" charset="-120"/>
              </a:rPr>
              <a:t>Event cafe</a:t>
            </a:r>
            <a:endParaRPr lang="en-US" sz="1680" dirty="0"/>
          </a:p>
        </p:txBody>
      </p:sp>
      <p:sp>
        <p:nvSpPr>
          <p:cNvPr id="11" name="Text 9"/>
          <p:cNvSpPr/>
          <p:nvPr/>
        </p:nvSpPr>
        <p:spPr>
          <a:xfrm>
            <a:off x="609585" y="2438339"/>
            <a:ext cx="5181470" cy="1950671"/>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3F382F"/>
                </a:solidFill>
              </a:rPr>
              <a:t>Live music akustik tiap Jumat malam</a:t>
            </a:r>
            <a:endParaRPr lang="en-US" sz="1380" dirty="0"/>
          </a:p>
          <a:p>
            <a:pPr marL="342900" indent="-342900">
              <a:spcAft>
                <a:spcPts val="400"/>
              </a:spcAft>
              <a:buSzPct val="100000"/>
              <a:buChar char="•"/>
            </a:pPr>
            <a:r>
              <a:rPr lang="en-US" sz="1380" dirty="0">
                <a:solidFill>
                  <a:srgbClr val="3F382F"/>
                </a:solidFill>
              </a:rPr>
              <a:t>Nobar, kuis, kelas kopi, workshop komunitas</a:t>
            </a:r>
            <a:endParaRPr lang="en-US" sz="1380" dirty="0"/>
          </a:p>
          <a:p>
            <a:pPr marL="342900" indent="-342900">
              <a:spcAft>
                <a:spcPts val="400"/>
              </a:spcAft>
              <a:buSzPct val="100000"/>
              <a:buChar char="•"/>
            </a:pPr>
            <a:r>
              <a:rPr lang="en-US" sz="1380" dirty="0">
                <a:solidFill>
                  <a:srgbClr val="3F382F"/>
                </a:solidFill>
              </a:rPr>
              <a:t>Paket gabungan main futsal + ngopi</a:t>
            </a:r>
            <a:endParaRPr lang="en-US" sz="1380" dirty="0"/>
          </a:p>
        </p:txBody>
      </p:sp>
      <p:sp>
        <p:nvSpPr>
          <p:cNvPr id="12" name="Shape 10"/>
          <p:cNvSpPr/>
          <p:nvPr/>
        </p:nvSpPr>
        <p:spPr>
          <a:xfrm>
            <a:off x="6217765" y="1828754"/>
            <a:ext cx="5547221" cy="2682173"/>
          </a:xfrm>
          <a:prstGeom prst="roundRect">
            <a:avLst>
              <a:gd name="adj" fmla="val 2727"/>
            </a:avLst>
          </a:prstGeom>
          <a:solidFill>
            <a:srgbClr val="2F5D50"/>
          </a:solidFill>
          <a:ln w="9525">
            <a:solidFill>
              <a:srgbClr val="D9CFBF"/>
            </a:solidFill>
            <a:prstDash val="solid"/>
          </a:ln>
        </p:spPr>
        <p:txBody>
          <a:bodyPr/>
          <a:p/>
        </p:txBody>
      </p:sp>
      <p:sp>
        <p:nvSpPr>
          <p:cNvPr id="13" name="Text 11"/>
          <p:cNvSpPr/>
          <p:nvPr/>
        </p:nvSpPr>
        <p:spPr>
          <a:xfrm>
            <a:off x="6400640" y="1950671"/>
            <a:ext cx="5181470" cy="426709"/>
          </a:xfrm>
          <a:prstGeom prst="rect">
            <a:avLst/>
          </a:prstGeom>
          <a:noFill/>
        </p:spPr>
        <p:txBody>
          <a:bodyPr wrap="square" lIns="0" tIns="0" rIns="0" bIns="0" rtlCol="0" anchor="ctr"/>
          <a:lstStyle/>
          <a:p>
            <a:pPr marL="0" indent="0">
              <a:buNone/>
            </a:pPr>
            <a:r>
              <a:rPr lang="en-US" sz="1680" b="1" dirty="0">
                <a:solidFill>
                  <a:srgbClr val="F4EFE6"/>
                </a:solidFill>
                <a:latin typeface="Georgia" panose="02040502050405020303" pitchFamily="34" charset="0"/>
                <a:ea typeface="Georgia" panose="02040502050405020303" pitchFamily="34" charset="-122"/>
                <a:cs typeface="Georgia" panose="02040502050405020303" pitchFamily="34" charset="-120"/>
              </a:rPr>
              <a:t>Partner event</a:t>
            </a:r>
            <a:endParaRPr lang="en-US" sz="1680" dirty="0"/>
          </a:p>
        </p:txBody>
      </p:sp>
      <p:sp>
        <p:nvSpPr>
          <p:cNvPr id="14" name="Text 12"/>
          <p:cNvSpPr/>
          <p:nvPr/>
        </p:nvSpPr>
        <p:spPr>
          <a:xfrm>
            <a:off x="6400640" y="2438339"/>
            <a:ext cx="5181470" cy="1950671"/>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E7DCC8"/>
                </a:solidFill>
              </a:rPr>
              <a:t>Tim event atau EO luar, brand besar (mis. Djarum atau lainnya)</a:t>
            </a:r>
            <a:endParaRPr lang="en-US" sz="1380" dirty="0"/>
          </a:p>
          <a:p>
            <a:pPr marL="342900" indent="-342900">
              <a:spcAft>
                <a:spcPts val="400"/>
              </a:spcAft>
              <a:buSzPct val="100000"/>
              <a:buChar char="•"/>
            </a:pPr>
            <a:r>
              <a:rPr lang="en-US" sz="1380" dirty="0">
                <a:solidFill>
                  <a:srgbClr val="E7DCC8"/>
                </a:solidFill>
              </a:rPr>
              <a:t>Partner membawa sponsor dan peserta, kita sediakan venue dan F&amp;B</a:t>
            </a:r>
            <a:endParaRPr lang="en-US" sz="1380" dirty="0"/>
          </a:p>
          <a:p>
            <a:pPr marL="342900" indent="-342900">
              <a:spcAft>
                <a:spcPts val="400"/>
              </a:spcAft>
              <a:buSzPct val="100000"/>
              <a:buChar char="•"/>
            </a:pPr>
            <a:r>
              <a:rPr lang="en-US" sz="1380" dirty="0">
                <a:solidFill>
                  <a:srgbClr val="E7DCC8"/>
                </a:solidFill>
              </a:rPr>
              <a:t>Hitung bagi hasil per event, tidak ditanggung porsi 20%</a:t>
            </a:r>
            <a:endParaRPr lang="en-US" sz="1380" dirty="0"/>
          </a:p>
        </p:txBody>
      </p:sp>
      <p:sp>
        <p:nvSpPr>
          <p:cNvPr id="15" name="Shape 13"/>
          <p:cNvSpPr/>
          <p:nvPr/>
        </p:nvSpPr>
        <p:spPr>
          <a:xfrm>
            <a:off x="426709" y="4693803"/>
            <a:ext cx="11338277" cy="1645879"/>
          </a:xfrm>
          <a:prstGeom prst="roundRect">
            <a:avLst>
              <a:gd name="adj" fmla="val 4445"/>
            </a:avLst>
          </a:prstGeom>
          <a:solidFill>
            <a:srgbClr val="9A4518"/>
          </a:solidFill>
          <a:ln w="9525">
            <a:solidFill>
              <a:srgbClr val="D9CFBF"/>
            </a:solidFill>
            <a:prstDash val="solid"/>
          </a:ln>
        </p:spPr>
        <p:txBody>
          <a:bodyPr/>
          <a:p/>
        </p:txBody>
      </p:sp>
      <p:sp>
        <p:nvSpPr>
          <p:cNvPr id="16" name="Text 14"/>
          <p:cNvSpPr/>
          <p:nvPr/>
        </p:nvSpPr>
        <p:spPr>
          <a:xfrm>
            <a:off x="609585" y="4815720"/>
            <a:ext cx="10972526" cy="426709"/>
          </a:xfrm>
          <a:prstGeom prst="rect">
            <a:avLst/>
          </a:prstGeom>
          <a:noFill/>
        </p:spPr>
        <p:txBody>
          <a:bodyPr wrap="square" lIns="0" tIns="0" rIns="0" bIns="0" rtlCol="0" anchor="ctr"/>
          <a:lstStyle/>
          <a:p>
            <a:pPr marL="0" indent="0">
              <a:buNone/>
            </a:pPr>
            <a:r>
              <a:rPr lang="en-US" sz="1680" b="1" dirty="0">
                <a:solidFill>
                  <a:srgbClr val="F4EFE6"/>
                </a:solidFill>
                <a:latin typeface="Georgia" panose="02040502050405020303" pitchFamily="34" charset="0"/>
                <a:ea typeface="Georgia" panose="02040502050405020303" pitchFamily="34" charset="-122"/>
                <a:cs typeface="Georgia" panose="02040502050405020303" pitchFamily="34" charset="-120"/>
              </a:rPr>
              <a:t>Catatan aturan sponsor rokok</a:t>
            </a:r>
            <a:endParaRPr lang="en-US" sz="1680" dirty="0"/>
          </a:p>
        </p:txBody>
      </p:sp>
      <p:sp>
        <p:nvSpPr>
          <p:cNvPr id="17" name="Text 15"/>
          <p:cNvSpPr/>
          <p:nvPr/>
        </p:nvSpPr>
        <p:spPr>
          <a:xfrm>
            <a:off x="609585" y="5303387"/>
            <a:ext cx="10972526" cy="914377"/>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E7DCC8"/>
                </a:solidFill>
              </a:rPr>
              <a:t>PP 28/2024 tidak melarang sponsor perusahaan rokok, tetapi promosi produk tembakau dibatasi dan iklan luar ruang dilarang dalam radius 500 m dari sekolah</a:t>
            </a:r>
            <a:endParaRPr lang="en-US" sz="1380" dirty="0"/>
          </a:p>
          <a:p>
            <a:pPr marL="342900" indent="-342900">
              <a:spcAft>
                <a:spcPts val="400"/>
              </a:spcAft>
              <a:buSzPct val="100000"/>
              <a:buChar char="•"/>
            </a:pPr>
            <a:r>
              <a:rPr lang="en-US" sz="1380" dirty="0">
                <a:solidFill>
                  <a:srgbClr val="E7DCC8"/>
                </a:solidFill>
              </a:rPr>
              <a:t>Untuk event sekolah, pakai sponsor non-rokok atau tanpa logo/merek produk rokok; cek ke sekolah dan dinas dulu</a:t>
            </a:r>
            <a:endParaRPr lang="en-US" sz="138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33  /  33</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Yang perlu diputuskan sebelum jalan</a:t>
            </a:r>
            <a:endParaRPr lang="en-US" sz="3120" dirty="0"/>
          </a:p>
        </p:txBody>
      </p:sp>
      <p:sp>
        <p:nvSpPr>
          <p:cNvPr id="8" name="Shape 6"/>
          <p:cNvSpPr/>
          <p:nvPr/>
        </p:nvSpPr>
        <p:spPr>
          <a:xfrm>
            <a:off x="426709" y="1463003"/>
            <a:ext cx="11338277" cy="2316422"/>
          </a:xfrm>
          <a:prstGeom prst="roundRect">
            <a:avLst>
              <a:gd name="adj" fmla="val 3158"/>
            </a:avLst>
          </a:prstGeom>
          <a:solidFill>
            <a:srgbClr val="9A4518"/>
          </a:solidFill>
          <a:ln w="9525">
            <a:solidFill>
              <a:srgbClr val="D9CFBF"/>
            </a:solidFill>
            <a:prstDash val="solid"/>
          </a:ln>
        </p:spPr>
        <p:txBody>
          <a:bodyPr/>
          <a:p/>
        </p:txBody>
      </p:sp>
      <p:sp>
        <p:nvSpPr>
          <p:cNvPr id="9" name="Text 7"/>
          <p:cNvSpPr/>
          <p:nvPr/>
        </p:nvSpPr>
        <p:spPr>
          <a:xfrm>
            <a:off x="609585" y="1584920"/>
            <a:ext cx="10972526" cy="426709"/>
          </a:xfrm>
          <a:prstGeom prst="rect">
            <a:avLst/>
          </a:prstGeom>
          <a:noFill/>
        </p:spPr>
        <p:txBody>
          <a:bodyPr wrap="square" lIns="0" tIns="0" rIns="0" bIns="0" rtlCol="0" anchor="ctr"/>
          <a:lstStyle/>
          <a:p>
            <a:pPr marL="0" indent="0">
              <a:buNone/>
            </a:pPr>
            <a:r>
              <a:rPr lang="en-US" sz="1680" b="1" dirty="0">
                <a:solidFill>
                  <a:srgbClr val="F4EFE6"/>
                </a:solidFill>
                <a:latin typeface="Georgia" panose="02040502050405020303" pitchFamily="34" charset="0"/>
                <a:ea typeface="Georgia" panose="02040502050405020303" pitchFamily="34" charset="-122"/>
                <a:cs typeface="Georgia" panose="02040502050405020303" pitchFamily="34" charset="-120"/>
              </a:rPr>
              <a:t>Angka kunci</a:t>
            </a:r>
            <a:endParaRPr lang="en-US" sz="1680" dirty="0"/>
          </a:p>
        </p:txBody>
      </p:sp>
      <p:sp>
        <p:nvSpPr>
          <p:cNvPr id="10" name="Text 8"/>
          <p:cNvSpPr/>
          <p:nvPr/>
        </p:nvSpPr>
        <p:spPr>
          <a:xfrm>
            <a:off x="609585" y="2072588"/>
            <a:ext cx="10972526" cy="1584920"/>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E7DCC8"/>
                </a:solidFill>
              </a:rPr>
              <a:t>Cafe target 80,00 jt: pengelola 16,00 jt, net owner 21,03 jt (26% omzet).</a:t>
            </a:r>
            <a:endParaRPr lang="en-US" sz="1380" dirty="0"/>
          </a:p>
          <a:p>
            <a:pPr marL="342900" indent="-342900">
              <a:spcAft>
                <a:spcPts val="400"/>
              </a:spcAft>
              <a:buSzPct val="100000"/>
              <a:buChar char="•"/>
            </a:pPr>
            <a:r>
              <a:rPr lang="en-US" sz="1380" dirty="0">
                <a:solidFill>
                  <a:srgbClr val="E7DCC8"/>
                </a:solidFill>
              </a:rPr>
              <a:t>Futsal target 52,04 jt: pengelola 15,61 jt, net owner 36,43 jt. Butuh 7 jam terjual per hari per lapangan.</a:t>
            </a:r>
            <a:endParaRPr lang="en-US" sz="1380" dirty="0"/>
          </a:p>
          <a:p>
            <a:pPr marL="342900" indent="-342900">
              <a:spcAft>
                <a:spcPts val="400"/>
              </a:spcAft>
              <a:buSzPct val="100000"/>
              <a:buChar char="•"/>
            </a:pPr>
            <a:r>
              <a:rPr lang="en-US" sz="1380" dirty="0">
                <a:solidFill>
                  <a:srgbClr val="E7DCC8"/>
                </a:solidFill>
              </a:rPr>
              <a:t>Target butuh push nyata: 80 pelanggan cafe per hari dan turnamen sekolah rutin.</a:t>
            </a:r>
            <a:endParaRPr lang="en-US" sz="1380" dirty="0"/>
          </a:p>
        </p:txBody>
      </p:sp>
      <p:sp>
        <p:nvSpPr>
          <p:cNvPr id="11" name="Shape 9"/>
          <p:cNvSpPr/>
          <p:nvPr/>
        </p:nvSpPr>
        <p:spPr>
          <a:xfrm>
            <a:off x="426709" y="3962301"/>
            <a:ext cx="11338277" cy="2377381"/>
          </a:xfrm>
          <a:prstGeom prst="roundRect">
            <a:avLst>
              <a:gd name="adj" fmla="val 3077"/>
            </a:avLst>
          </a:prstGeom>
          <a:solidFill>
            <a:srgbClr val="FBF8F3"/>
          </a:solidFill>
          <a:ln w="9525">
            <a:solidFill>
              <a:srgbClr val="D9CFBF"/>
            </a:solidFill>
            <a:prstDash val="solid"/>
          </a:ln>
        </p:spPr>
        <p:txBody>
          <a:bodyPr/>
          <a:p/>
        </p:txBody>
      </p:sp>
      <p:sp>
        <p:nvSpPr>
          <p:cNvPr id="12" name="Text 10"/>
          <p:cNvSpPr/>
          <p:nvPr/>
        </p:nvSpPr>
        <p:spPr>
          <a:xfrm>
            <a:off x="609585" y="4084218"/>
            <a:ext cx="10972526" cy="426709"/>
          </a:xfrm>
          <a:prstGeom prst="rect">
            <a:avLst/>
          </a:prstGeom>
          <a:noFill/>
        </p:spPr>
        <p:txBody>
          <a:bodyPr wrap="square" lIns="0" tIns="0" rIns="0" bIns="0" rtlCol="0" anchor="ctr"/>
          <a:lstStyle/>
          <a:p>
            <a:pPr marL="0" indent="0">
              <a:buNone/>
            </a:pPr>
            <a:r>
              <a:rPr lang="en-US" sz="1680" b="1" dirty="0">
                <a:solidFill>
                  <a:srgbClr val="1A1814"/>
                </a:solidFill>
                <a:latin typeface="Georgia" panose="02040502050405020303" pitchFamily="34" charset="0"/>
                <a:ea typeface="Georgia" panose="02040502050405020303" pitchFamily="34" charset="-122"/>
                <a:cs typeface="Georgia" panose="02040502050405020303" pitchFamily="34" charset="-120"/>
              </a:rPr>
              <a:t>Langkah berikut</a:t>
            </a:r>
            <a:endParaRPr lang="en-US" sz="1680" dirty="0"/>
          </a:p>
        </p:txBody>
      </p:sp>
      <p:sp>
        <p:nvSpPr>
          <p:cNvPr id="13" name="Text 11"/>
          <p:cNvSpPr/>
          <p:nvPr/>
        </p:nvSpPr>
        <p:spPr>
          <a:xfrm>
            <a:off x="609585" y="4571886"/>
            <a:ext cx="10972526" cy="1645879"/>
          </a:xfrm>
          <a:prstGeom prst="rect">
            <a:avLst/>
          </a:prstGeom>
          <a:noFill/>
        </p:spPr>
        <p:txBody>
          <a:bodyPr wrap="square" lIns="0" tIns="0" rIns="0" bIns="0" rtlCol="0" anchor="t"/>
          <a:lstStyle/>
          <a:p>
            <a:pPr marL="342900" indent="-342900">
              <a:spcAft>
                <a:spcPts val="400"/>
              </a:spcAft>
              <a:buSzPct val="100000"/>
              <a:buChar char="•"/>
            </a:pPr>
            <a:r>
              <a:rPr lang="en-US" sz="1380" dirty="0">
                <a:solidFill>
                  <a:srgbClr val="3F382F"/>
                </a:solidFill>
              </a:rPr>
              <a:t>Ganti asumsi di Excel dengan data lokasi (tarif, gaji, listrik, sewa)</a:t>
            </a:r>
            <a:endParaRPr lang="en-US" sz="1380" dirty="0"/>
          </a:p>
          <a:p>
            <a:pPr marL="342900" indent="-342900">
              <a:spcAft>
                <a:spcPts val="400"/>
              </a:spcAft>
              <a:buSzPct val="100000"/>
              <a:buChar char="•"/>
            </a:pPr>
            <a:r>
              <a:rPr lang="en-US" sz="1380" dirty="0">
                <a:solidFill>
                  <a:srgbClr val="3F382F"/>
                </a:solidFill>
              </a:rPr>
              <a:t>Pak Nana approval kontrak dan angka; Pak Riki putuskan jalan</a:t>
            </a:r>
            <a:endParaRPr lang="en-US" sz="1380" dirty="0"/>
          </a:p>
          <a:p>
            <a:pPr marL="342900" indent="-342900">
              <a:spcAft>
                <a:spcPts val="400"/>
              </a:spcAft>
              <a:buSzPct val="100000"/>
              <a:buChar char="•"/>
            </a:pPr>
            <a:r>
              <a:rPr lang="en-US" sz="1380" dirty="0">
                <a:solidFill>
                  <a:srgbClr val="3F382F"/>
                </a:solidFill>
              </a:rPr>
              <a:t>Pasang POS, hubungkan ke dashboard, evaluasi tiap bulan selama 3 bulan pertama</a:t>
            </a:r>
            <a:endParaRPr lang="en-US" sz="138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18  /  33</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Dashboard analytics: satu layar per peran</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Admin lihat semua modul. Peran lain hanya modul kerjanya.</a:t>
            </a:r>
            <a:endParaRPr lang="en-US" sz="1560" dirty="0"/>
          </a:p>
        </p:txBody>
      </p:sp>
      <p:graphicFrame>
        <p:nvGraphicFramePr>
          <p:cNvPr id="14" name="Table 0"/>
          <p:cNvGraphicFramePr>
            <a:graphicFrameLocks noGrp="1"/>
          </p:cNvGraphicFramePr>
          <p:nvPr/>
        </p:nvGraphicFramePr>
        <p:xfrm>
          <a:off x="426709" y="1828754"/>
          <a:ext cx="11338560" cy="3291756"/>
        </p:xfrm>
        <a:graphic>
          <a:graphicData uri="http://schemas.openxmlformats.org/drawingml/2006/table">
            <a:tbl>
              <a:tblPr/>
              <a:tblGrid>
                <a:gridCol w="1828800"/>
                <a:gridCol w="5669280"/>
                <a:gridCol w="3840480"/>
              </a:tblGrid>
              <a:tr h="548626">
                <a:tc>
                  <a:txBody>
                    <a:bodyPr/>
                    <a:lstStyle/>
                    <a:p>
                      <a:pPr marL="0" indent="0" algn="l">
                        <a:buNone/>
                      </a:pPr>
                      <a:r>
                        <a:rPr lang="en-US" sz="1320" b="1" dirty="0">
                          <a:solidFill>
                            <a:srgbClr val="F4EFE6"/>
                          </a:solidFill>
                        </a:rPr>
                        <a:t>Peran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Yang dilihat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Aksi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marL="0" indent="0" algn="l">
                        <a:buNone/>
                      </a:pPr>
                      <a:r>
                        <a:rPr lang="en-US" sz="1320" dirty="0">
                          <a:solidFill>
                            <a:srgbClr val="1A1814"/>
                          </a:solidFill>
                        </a:rPr>
                        <a:t>Admin / owner</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Hunian, keuangan cafe &amp; kos, pembayaran, semua modul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Semua modul, approval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dirty="0">
                          <a:solidFill>
                            <a:srgbClr val="1A1814"/>
                          </a:solidFill>
                        </a:rPr>
                        <a:t>Kasir</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US" sz="1320" dirty="0">
                          <a:solidFill>
                            <a:srgbClr val="1A1814"/>
                          </a:solidFill>
                        </a:rPr>
                        <a:t>Penjualan harian, pembayaran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US" sz="1320" dirty="0">
                          <a:solidFill>
                            <a:srgbClr val="1A1814"/>
                          </a:solidFill>
                        </a:rPr>
                        <a:t>Input jual, stok terpotong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marL="0" indent="0" algn="l">
                        <a:buNone/>
                      </a:pPr>
                      <a:r>
                        <a:rPr lang="en-US" sz="1320" dirty="0">
                          <a:solidFill>
                            <a:srgbClr val="1A1814"/>
                          </a:solidFill>
                        </a:rPr>
                        <a:t>Gudang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Stok per batch, riwayat beli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Catat pembelian, cek FIFO</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dirty="0">
                          <a:solidFill>
                            <a:srgbClr val="1A1814"/>
                          </a:solidFill>
                        </a:rPr>
                        <a:t>Marketing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US" sz="1320" dirty="0">
                          <a:solidFill>
                            <a:srgbClr val="1A1814"/>
                          </a:solidFill>
                        </a:rPr>
                        <a:t>KOL &amp; influencer: fee, kode, redeem</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US" sz="1320" dirty="0">
                          <a:solidFill>
                            <a:srgbClr val="1A1814"/>
                          </a:solidFill>
                        </a:rPr>
                        <a:t>Pantau ROI per KOL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marL="0" indent="0" algn="l">
                        <a:buNone/>
                      </a:pPr>
                      <a:r>
                        <a:rPr lang="en-US" sz="1320" dirty="0">
                          <a:solidFill>
                            <a:srgbClr val="1A1814"/>
                          </a:solidFill>
                        </a:rPr>
                        <a:t>Chef R&amp;D</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Resep per menu, HPP, margin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Cek HPP vs target 35%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dirty="0">
                          <a:solidFill>
                            <a:srgbClr val="1A1814"/>
                          </a:solidFill>
                        </a:rPr>
                        <a:t>Pengelola kos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US" sz="1320" dirty="0">
                          <a:solidFill>
                            <a:srgbClr val="1A1814"/>
                          </a:solidFill>
                        </a:rPr>
                        <a:t>Hunian kamar, tagihan sewa</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US" sz="1320" dirty="0">
                          <a:solidFill>
                            <a:srgbClr val="1A1814"/>
                          </a:solidFill>
                        </a:rPr>
                        <a:t>Tandai lunas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bl>
          </a:graphicData>
        </a:graphic>
      </p:graphicFrame>
      <p:sp>
        <p:nvSpPr>
          <p:cNvPr id="10" name="Text 7"/>
          <p:cNvSpPr/>
          <p:nvPr/>
        </p:nvSpPr>
        <p:spPr>
          <a:xfrm>
            <a:off x="426709" y="5852160"/>
            <a:ext cx="11338277" cy="487668"/>
          </a:xfrm>
          <a:prstGeom prst="rect">
            <a:avLst/>
          </a:prstGeom>
          <a:noFill/>
        </p:spPr>
        <p:txBody>
          <a:bodyPr wrap="square" lIns="0" tIns="0" rIns="0" bIns="0" rtlCol="0" anchor="ctr"/>
          <a:lstStyle/>
          <a:p>
            <a:pPr marL="0" indent="0">
              <a:buNone/>
            </a:pPr>
            <a:r>
              <a:rPr lang="en-US" sz="1680" b="1" dirty="0">
                <a:solidFill>
                  <a:srgbClr val="2F5D50"/>
                </a:solidFill>
                <a:latin typeface="Calibri" panose="020F0502020204030204" pitchFamily="34" charset="0"/>
                <a:ea typeface="Calibri" panose="020F0502020204030204" pitchFamily="34" charset="-122"/>
                <a:cs typeface="Calibri" panose="020F0502020204030204" pitchFamily="34" charset="-120"/>
              </a:rPr>
              <a:t>Contoh jalan di halaman /dashboard web HUNI. Data contoh, belum terhubung ke POS.</a:t>
            </a:r>
            <a:endParaRPr lang="en-US" sz="168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19  /  33</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Gudang: stok FIFO per batch</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Tiap pembelian jadi satu batch. Penjualan memotong batch tertua dulu.</a:t>
            </a:r>
            <a:endParaRPr lang="en-US" sz="1560" dirty="0"/>
          </a:p>
        </p:txBody>
      </p:sp>
      <p:graphicFrame>
        <p:nvGraphicFramePr>
          <p:cNvPr id="14" name="Table 0"/>
          <p:cNvGraphicFramePr>
            <a:graphicFrameLocks noGrp="1"/>
          </p:cNvGraphicFramePr>
          <p:nvPr/>
        </p:nvGraphicFramePr>
        <p:xfrm>
          <a:off x="426709" y="1828754"/>
          <a:ext cx="11338560" cy="3291756"/>
        </p:xfrm>
        <a:graphic>
          <a:graphicData uri="http://schemas.openxmlformats.org/drawingml/2006/table">
            <a:tbl>
              <a:tblPr/>
              <a:tblGrid>
                <a:gridCol w="4572000"/>
                <a:gridCol w="3840480"/>
                <a:gridCol w="2926080"/>
              </a:tblGrid>
              <a:tr h="548626">
                <a:tc>
                  <a:txBody>
                    <a:bodyPr/>
                    <a:lstStyle/>
                    <a:p>
                      <a:pPr marL="0" indent="0" algn="l">
                        <a:buNone/>
                      </a:pPr>
                      <a:r>
                        <a:rPr lang="en-US" sz="1320" b="1" dirty="0">
                          <a:solidFill>
                            <a:srgbClr val="F4EFE6"/>
                          </a:solidFill>
                        </a:rPr>
                        <a:t>Bahan / batch</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Masuk</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Harga per unit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marL="0" indent="0" algn="l">
                        <a:buNone/>
                      </a:pPr>
                      <a:r>
                        <a:rPr lang="en-US" sz="1320" dirty="0">
                          <a:solidFill>
                            <a:srgbClr val="1A1814"/>
                          </a:solidFill>
                        </a:rPr>
                        <a:t>Biji kopi · batch 1</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5 Okt · 2.000 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Rp280/g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dirty="0">
                          <a:solidFill>
                            <a:srgbClr val="1A1814"/>
                          </a:solidFill>
                        </a:rPr>
                        <a:t>Biji kopi · batch 2</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US" sz="1320" dirty="0">
                          <a:solidFill>
                            <a:srgbClr val="1A1814"/>
                          </a:solidFill>
                        </a:rPr>
                        <a:t>19 Okt · 3.000 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US" sz="1320" dirty="0">
                          <a:solidFill>
                            <a:srgbClr val="1A1814"/>
                          </a:solidFill>
                        </a:rPr>
                        <a:t>Rp300/g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marL="0" indent="0" algn="l">
                        <a:buNone/>
                      </a:pPr>
                      <a:r>
                        <a:rPr lang="en-US" sz="1320" dirty="0">
                          <a:solidFill>
                            <a:srgbClr val="1A1814"/>
                          </a:solidFill>
                        </a:rPr>
                        <a:t>Susu · batch 1</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12 Okt · 20.000 ml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Rp18/ml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dirty="0">
                          <a:solidFill>
                            <a:srgbClr val="1A1814"/>
                          </a:solidFill>
                        </a:rPr>
                        <a:t>Susu · batch 2</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US" sz="1320" dirty="0">
                          <a:solidFill>
                            <a:srgbClr val="1A1814"/>
                          </a:solidFill>
                        </a:rPr>
                        <a:t>20 Okt · 20.000 ml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US" sz="1320" dirty="0">
                          <a:solidFill>
                            <a:srgbClr val="1A1814"/>
                          </a:solidFill>
                        </a:rPr>
                        <a:t>Rp19/ml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marL="0" indent="0" algn="l">
                        <a:buNone/>
                      </a:pPr>
                      <a:r>
                        <a:rPr lang="en-US" sz="1320" dirty="0">
                          <a:solidFill>
                            <a:srgbClr val="1A1814"/>
                          </a:solidFill>
                        </a:rPr>
                        <a:t>Ayam · batch 1</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18 Okt · 6.000 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Rp45/g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dirty="0">
                          <a:solidFill>
                            <a:srgbClr val="1A1814"/>
                          </a:solidFill>
                        </a:rPr>
                        <a:t>Ayam · batch 2</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US" sz="1320" dirty="0">
                          <a:solidFill>
                            <a:srgbClr val="1A1814"/>
                          </a:solidFill>
                        </a:rPr>
                        <a:t>22 Okt · 8.000 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US" sz="1320" dirty="0">
                          <a:solidFill>
                            <a:srgbClr val="1A1814"/>
                          </a:solidFill>
                        </a:rPr>
                        <a:t>Rp48/g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bl>
          </a:graphicData>
        </a:graphic>
      </p:graphicFrame>
      <p:sp>
        <p:nvSpPr>
          <p:cNvPr id="10" name="Text 7"/>
          <p:cNvSpPr/>
          <p:nvPr/>
        </p:nvSpPr>
        <p:spPr>
          <a:xfrm>
            <a:off x="426709" y="5852160"/>
            <a:ext cx="11338277" cy="487668"/>
          </a:xfrm>
          <a:prstGeom prst="rect">
            <a:avLst/>
          </a:prstGeom>
          <a:noFill/>
        </p:spPr>
        <p:txBody>
          <a:bodyPr wrap="square" lIns="0" tIns="0" rIns="0" bIns="0" rtlCol="0" anchor="ctr"/>
          <a:lstStyle/>
          <a:p>
            <a:pPr marL="0" indent="0">
              <a:buNone/>
            </a:pPr>
            <a:r>
              <a:rPr lang="en-US" sz="1680" b="1" dirty="0">
                <a:solidFill>
                  <a:srgbClr val="2F5D50"/>
                </a:solidFill>
                <a:latin typeface="Calibri" panose="020F0502020204030204" pitchFamily="34" charset="0"/>
                <a:ea typeface="Calibri" panose="020F0502020204030204" pitchFamily="34" charset="-122"/>
                <a:cs typeface="Calibri" panose="020F0502020204030204" pitchFamily="34" charset="-120"/>
              </a:rPr>
              <a:t>Contoh: jual 1 Kopi Susu Aren memotong 18 g kopi batch 1, HPP Rp8.540.</a:t>
            </a:r>
            <a:endParaRPr lang="en-US" sz="168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20  /  33</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R&amp;D menu: breakdown resep dan HPP</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HPP dari harga batch FIFO. Target HPP cafe 35% dari omzet.</a:t>
            </a:r>
            <a:endParaRPr lang="en-US" sz="1560" dirty="0"/>
          </a:p>
        </p:txBody>
      </p:sp>
      <p:graphicFrame>
        <p:nvGraphicFramePr>
          <p:cNvPr id="14" name="Table 0"/>
          <p:cNvGraphicFramePr>
            <a:graphicFrameLocks noGrp="1"/>
          </p:cNvGraphicFramePr>
          <p:nvPr/>
        </p:nvGraphicFramePr>
        <p:xfrm>
          <a:off x="426709" y="1828754"/>
          <a:ext cx="11338560" cy="3291756"/>
        </p:xfrm>
        <a:graphic>
          <a:graphicData uri="http://schemas.openxmlformats.org/drawingml/2006/table">
            <a:tbl>
              <a:tblPr/>
              <a:tblGrid>
                <a:gridCol w="4937760"/>
                <a:gridCol w="3291840"/>
                <a:gridCol w="3108960"/>
              </a:tblGrid>
              <a:tr h="548626">
                <a:tc>
                  <a:txBody>
                    <a:bodyPr/>
                    <a:lstStyle/>
                    <a:p>
                      <a:pPr marL="0" indent="0" algn="l">
                        <a:buNone/>
                      </a:pPr>
                      <a:r>
                        <a:rPr lang="en-US" sz="1320" b="1" dirty="0">
                          <a:solidFill>
                            <a:srgbClr val="F4EFE6"/>
                          </a:solidFill>
                        </a:rPr>
                        <a:t>Menu &amp; resep</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Harga / HPP</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Margin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marL="0" indent="0" algn="l">
                        <a:buNone/>
                      </a:pPr>
                      <a:r>
                        <a:rPr lang="en-US" sz="1320" dirty="0">
                          <a:solidFill>
                            <a:srgbClr val="1A1814"/>
                          </a:solidFill>
                        </a:rPr>
                        <a:t>Kopi Susu Aren: kopi 18 g, susu 150 ml, gula aren 20 ml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Rp22.000 / Rp8.540 (38,8%)</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Rp13.460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dirty="0">
                          <a:solidFill>
                            <a:srgbClr val="1A1814"/>
                          </a:solidFill>
                        </a:rPr>
                        <a:t>Americano: kopi 18 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US" sz="1320" dirty="0">
                          <a:solidFill>
                            <a:srgbClr val="1A1814"/>
                          </a:solidFill>
                        </a:rPr>
                        <a:t>Rp18.000 / Rp5.040 (28,0%)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US" sz="1320" dirty="0">
                          <a:solidFill>
                            <a:srgbClr val="1A1814"/>
                          </a:solidFill>
                        </a:rPr>
                        <a:t>Rp12.960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marL="0" indent="0" algn="l">
                        <a:buNone/>
                      </a:pPr>
                      <a:r>
                        <a:rPr lang="en-US" sz="1320" dirty="0">
                          <a:solidFill>
                            <a:srgbClr val="1A1814"/>
                          </a:solidFill>
                        </a:rPr>
                        <a:t>Ayam Geprek + Nasi: ayam 120 g, beras 150 g, cabai 15 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Rp28.000 / Rp8.550 (30,5%)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Rp19.450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
        <p:nvSpPr>
          <p:cNvPr id="10" name="Text 7"/>
          <p:cNvSpPr/>
          <p:nvPr/>
        </p:nvSpPr>
        <p:spPr>
          <a:xfrm>
            <a:off x="426709" y="5852160"/>
            <a:ext cx="11338277" cy="487668"/>
          </a:xfrm>
          <a:prstGeom prst="rect">
            <a:avLst/>
          </a:prstGeom>
          <a:noFill/>
        </p:spPr>
        <p:txBody>
          <a:bodyPr wrap="square" lIns="0" tIns="0" rIns="0" bIns="0" rtlCol="0" anchor="ctr"/>
          <a:lstStyle/>
          <a:p>
            <a:pPr marL="0" indent="0">
              <a:buNone/>
            </a:pPr>
            <a:r>
              <a:rPr lang="en-US" sz="1680" b="1" dirty="0">
                <a:solidFill>
                  <a:srgbClr val="2F5D50"/>
                </a:solidFill>
                <a:latin typeface="Calibri" panose="020F0502020204030204" pitchFamily="34" charset="0"/>
                <a:ea typeface="Calibri" panose="020F0502020204030204" pitchFamily="34" charset="-122"/>
                <a:cs typeface="Calibri" panose="020F0502020204030204" pitchFamily="34" charset="-120"/>
              </a:rPr>
              <a:t>Kopi Susu Aren di atas target 35%. Harga pas di target: Rp24.400.</a:t>
            </a:r>
            <a:endParaRPr lang="en-US" sz="168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6858000"/>
          </a:xfrm>
          <a:prstGeom prst="rect">
            <a:avLst/>
          </a:prstGeom>
          <a:solidFill>
            <a:srgbClr val="F4EFE6"/>
          </a:solidFill>
        </p:spPr>
        <p:txBody>
          <a:bodyPr/>
          <a:p/>
        </p:txBody>
      </p:sp>
      <p:sp>
        <p:nvSpPr>
          <p:cNvPr id="3" name="Shape 1"/>
          <p:cNvSpPr/>
          <p:nvPr/>
        </p:nvSpPr>
        <p:spPr>
          <a:xfrm>
            <a:off x="0" y="0"/>
            <a:ext cx="91440" cy="6858000"/>
          </a:xfrm>
          <a:prstGeom prst="rect">
            <a:avLst/>
          </a:prstGeom>
          <a:solidFill>
            <a:srgbClr val="C4622D"/>
          </a:solidFill>
        </p:spPr>
        <p:txBody>
          <a:bodyPr/>
          <a:p/>
        </p:txBody>
      </p:sp>
      <p:sp>
        <p:nvSpPr>
          <p:cNvPr id="4" name="Shape 2"/>
          <p:cNvSpPr/>
          <p:nvPr/>
        </p:nvSpPr>
        <p:spPr>
          <a:xfrm>
            <a:off x="0" y="6601968"/>
            <a:ext cx="12191695" cy="256032"/>
          </a:xfrm>
          <a:prstGeom prst="rect">
            <a:avLst/>
          </a:prstGeom>
          <a:solidFill>
            <a:srgbClr val="1A1814"/>
          </a:solidFill>
        </p:spPr>
        <p:txBody>
          <a:bodyPr/>
          <a:p/>
        </p:txBody>
      </p:sp>
      <p:sp>
        <p:nvSpPr>
          <p:cNvPr id="5" name="Text 3"/>
          <p:cNvSpPr/>
          <p:nvPr/>
        </p:nvSpPr>
        <p:spPr>
          <a:xfrm>
            <a:off x="347472" y="6601968"/>
            <a:ext cx="9144000" cy="256032"/>
          </a:xfrm>
          <a:prstGeom prst="rect">
            <a:avLst/>
          </a:prstGeom>
          <a:noFill/>
        </p:spPr>
        <p:txBody>
          <a:bodyPr wrap="square" lIns="0" tIns="0" rIns="0" bIns="0" rtlCol="0" anchor="ctr"/>
          <a:lstStyle/>
          <a:p>
            <a:pPr marL="0" indent="0">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p:spPr>
        <p:txBody>
          <a:bodyPr wrap="square" lIns="0" tIns="0" rIns="0" bIns="0" rtlCol="0" anchor="ctr"/>
          <a:lstStyle/>
          <a:p>
            <a:pPr marL="0" indent="0" algn="r">
              <a:buNone/>
            </a:pPr>
            <a:r>
              <a:rPr lang="en-US" sz="1100" dirty="0">
                <a:solidFill>
                  <a:srgbClr val="E7DCC8"/>
                </a:solidFill>
                <a:latin typeface="Calibri" panose="020F0502020204030204" pitchFamily="34" charset="0"/>
                <a:ea typeface="Calibri" panose="020F0502020204030204" pitchFamily="34" charset="-122"/>
                <a:cs typeface="Calibri" panose="020F0502020204030204" pitchFamily="34" charset="-120"/>
              </a:rPr>
              <a:t>21  /  33</a:t>
            </a:r>
            <a:endParaRPr lang="en-US" sz="1100" dirty="0"/>
          </a:p>
        </p:txBody>
      </p:sp>
      <p:sp>
        <p:nvSpPr>
          <p:cNvPr id="7" name="Text 5"/>
          <p:cNvSpPr/>
          <p:nvPr/>
        </p:nvSpPr>
        <p:spPr>
          <a:xfrm>
            <a:off x="426709" y="304792"/>
            <a:ext cx="11338277" cy="731502"/>
          </a:xfrm>
          <a:prstGeom prst="rect">
            <a:avLst/>
          </a:prstGeom>
          <a:noFill/>
        </p:spPr>
        <p:txBody>
          <a:bodyPr wrap="square" lIns="0" tIns="0" rIns="0" bIns="0" rtlCol="0" anchor="ctr"/>
          <a:lstStyle/>
          <a:p>
            <a:pPr marL="0" indent="0">
              <a:buNone/>
            </a:pPr>
            <a:r>
              <a:rPr lang="en-US" sz="3120" b="1" dirty="0">
                <a:solidFill>
                  <a:srgbClr val="1A1814"/>
                </a:solidFill>
                <a:latin typeface="Georgia" panose="02040502050405020303" pitchFamily="34" charset="0"/>
                <a:ea typeface="Georgia" panose="02040502050405020303" pitchFamily="34" charset="-122"/>
                <a:cs typeface="Georgia" panose="02040502050405020303" pitchFamily="34" charset="-120"/>
              </a:rPr>
              <a:t>Marketing: KOL dan influencer</a:t>
            </a:r>
            <a:endParaRPr lang="en-US" sz="3120" dirty="0"/>
          </a:p>
        </p:txBody>
      </p:sp>
      <p:sp>
        <p:nvSpPr>
          <p:cNvPr id="8" name="Text 6"/>
          <p:cNvSpPr/>
          <p:nvPr/>
        </p:nvSpPr>
        <p:spPr>
          <a:xfrm>
            <a:off x="426709" y="1072869"/>
            <a:ext cx="11338277" cy="487668"/>
          </a:xfrm>
          <a:prstGeom prst="rect">
            <a:avLst/>
          </a:prstGeom>
          <a:noFill/>
        </p:spPr>
        <p:txBody>
          <a:bodyPr wrap="square" lIns="0" tIns="0" rIns="0" bIns="0" rtlCol="0" anchor="ctr"/>
          <a:lstStyle/>
          <a:p>
            <a:pPr marL="0" indent="0">
              <a:buNone/>
            </a:pPr>
            <a:r>
              <a:rPr lang="en-US" sz="1560" dirty="0">
                <a:solidFill>
                  <a:srgbClr val="6F675C"/>
                </a:solidFill>
                <a:latin typeface="Calibri" panose="020F0502020204030204" pitchFamily="34" charset="0"/>
                <a:ea typeface="Calibri" panose="020F0502020204030204" pitchFamily="34" charset="-122"/>
                <a:cs typeface="Calibri" panose="020F0502020204030204" pitchFamily="34" charset="-120"/>
              </a:rPr>
              <a:t>Tiap KOL punya kode promo. ROI = omzet dari kode dibagi fee.</a:t>
            </a:r>
            <a:endParaRPr lang="en-US" sz="1560" dirty="0"/>
          </a:p>
        </p:txBody>
      </p:sp>
      <p:graphicFrame>
        <p:nvGraphicFramePr>
          <p:cNvPr id="14" name="Table 0"/>
          <p:cNvGraphicFramePr>
            <a:graphicFrameLocks noGrp="1"/>
          </p:cNvGraphicFramePr>
          <p:nvPr/>
        </p:nvGraphicFramePr>
        <p:xfrm>
          <a:off x="426709" y="1828754"/>
          <a:ext cx="11338560" cy="3291756"/>
        </p:xfrm>
        <a:graphic>
          <a:graphicData uri="http://schemas.openxmlformats.org/drawingml/2006/table">
            <a:tbl>
              <a:tblPr/>
              <a:tblGrid>
                <a:gridCol w="4572000"/>
                <a:gridCol w="3474720"/>
                <a:gridCol w="3291840"/>
              </a:tblGrid>
              <a:tr h="548626">
                <a:tc>
                  <a:txBody>
                    <a:bodyPr/>
                    <a:lstStyle/>
                    <a:p>
                      <a:pPr marL="0" indent="0" algn="l">
                        <a:buNone/>
                      </a:pPr>
                      <a:r>
                        <a:rPr lang="en-US" sz="1320" b="1" dirty="0">
                          <a:solidFill>
                            <a:srgbClr val="F4EFE6"/>
                          </a:solidFill>
                        </a:rPr>
                        <a:t>KOL &amp; platform</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Fee · kode</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marL="0" indent="0" algn="l">
                        <a:buNone/>
                      </a:pPr>
                      <a:r>
                        <a:rPr lang="en-US" sz="1320" b="1" dirty="0">
                          <a:solidFill>
                            <a:srgbClr val="F4EFE6"/>
                          </a:solidFill>
                        </a:rPr>
                        <a:t>Hasil · ROI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marL="0" indent="0" algn="l">
                        <a:buNone/>
                      </a:pPr>
                      <a:r>
                        <a:rPr lang="en-US" sz="1320" dirty="0">
                          <a:solidFill>
                            <a:srgbClr val="1A1814"/>
                          </a:solidFill>
                        </a:rPr>
                        <a:t>KOL Kuliner A (IG 85 rb) · Cafe</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Rp1.500.000 · HUNI-A</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120 redeem · Rp3.600.000 · 2,4x</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marL="0" indent="0" algn="l">
                        <a:buNone/>
                      </a:pPr>
                      <a:r>
                        <a:rPr lang="en-US" sz="1320" dirty="0">
                          <a:solidFill>
                            <a:srgbClr val="1A1814"/>
                          </a:solidFill>
                        </a:rPr>
                        <a:t>Influencer Futsal B (TikTok 120 rb) · Futsal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US" sz="1320" dirty="0">
                          <a:solidFill>
                            <a:srgbClr val="1A1814"/>
                          </a:solidFill>
                        </a:rPr>
                        <a:t>Rp2.000.000 · FUTSAL-B</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marL="0" indent="0" algn="l">
                        <a:buNone/>
                      </a:pPr>
                      <a:r>
                        <a:rPr lang="en-US" sz="1320" dirty="0">
                          <a:solidFill>
                            <a:srgbClr val="1A1814"/>
                          </a:solidFill>
                        </a:rPr>
                        <a:t>45 redeem · Rp5.400.000 · 2,7x</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marL="0" indent="0" algn="l">
                        <a:buNone/>
                      </a:pPr>
                      <a:r>
                        <a:rPr lang="en-US" sz="1320" dirty="0">
                          <a:solidFill>
                            <a:srgbClr val="1A1814"/>
                          </a:solidFill>
                        </a:rPr>
                        <a:t>Mikro-influencer Kos C (IG 30 rb) · Kos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Rp800.000 · KOS-C</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marL="0" indent="0" algn="l">
                        <a:buNone/>
                      </a:pPr>
                      <a:r>
                        <a:rPr lang="en-US" sz="1320" dirty="0">
                          <a:solidFill>
                            <a:srgbClr val="1A1814"/>
                          </a:solidFill>
                        </a:rPr>
                        <a:t>3 redeem · Rp6.900.000 · 8,6x</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
        <p:nvSpPr>
          <p:cNvPr id="10" name="Text 7"/>
          <p:cNvSpPr/>
          <p:nvPr/>
        </p:nvSpPr>
        <p:spPr>
          <a:xfrm>
            <a:off x="426709" y="5852160"/>
            <a:ext cx="11338277" cy="487668"/>
          </a:xfrm>
          <a:prstGeom prst="rect">
            <a:avLst/>
          </a:prstGeom>
          <a:noFill/>
        </p:spPr>
        <p:txBody>
          <a:bodyPr wrap="square" lIns="0" tIns="0" rIns="0" bIns="0" rtlCol="0" anchor="ctr"/>
          <a:lstStyle/>
          <a:p>
            <a:pPr marL="0" indent="0">
              <a:buNone/>
            </a:pPr>
            <a:r>
              <a:rPr lang="en-US" sz="1680" b="1" dirty="0">
                <a:solidFill>
                  <a:srgbClr val="2F5D50"/>
                </a:solidFill>
                <a:latin typeface="Calibri" panose="020F0502020204030204" pitchFamily="34" charset="0"/>
                <a:ea typeface="Calibri" panose="020F0502020204030204" pitchFamily="34" charset="-122"/>
                <a:cs typeface="Calibri" panose="020F0502020204030204" pitchFamily="34" charset="-120"/>
              </a:rPr>
              <a:t>Angka contoh. Redeem tercatat di dashboard dan dibandingkan dengan fee tiap KOL.</a:t>
            </a:r>
            <a:endParaRPr lang="en-US" sz="1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13983</Words>
  <Application>WPS Presentation</Application>
  <PresentationFormat>On-screen Show (16:9)</PresentationFormat>
  <Paragraphs>970</Paragraphs>
  <Slides>29</Slides>
  <Notes>28</Notes>
  <HiddenSlides>0</HiddenSlides>
  <MMClips>0</MMClips>
  <ScaleCrop>false</ScaleCrop>
  <HeadingPairs>
    <vt:vector size="6" baseType="variant">
      <vt:variant>
        <vt:lpstr>已用的字体</vt:lpstr>
      </vt:variant>
      <vt:variant>
        <vt:i4>13</vt:i4>
      </vt:variant>
      <vt:variant>
        <vt:lpstr>主题</vt:lpstr>
      </vt:variant>
      <vt:variant>
        <vt:i4>2</vt:i4>
      </vt:variant>
      <vt:variant>
        <vt:lpstr>幻灯片标题</vt:lpstr>
      </vt:variant>
      <vt:variant>
        <vt:i4>29</vt:i4>
      </vt:variant>
    </vt:vector>
  </HeadingPairs>
  <TitlesOfParts>
    <vt:vector size="44" baseType="lpstr">
      <vt:lpstr>Arial</vt:lpstr>
      <vt:lpstr>SimSun</vt:lpstr>
      <vt:lpstr>Wingdings</vt:lpstr>
      <vt:lpstr>Georgia</vt:lpstr>
      <vt:lpstr>Georgia</vt:lpstr>
      <vt:lpstr>Georgia</vt:lpstr>
      <vt:lpstr>Calibri</vt:lpstr>
      <vt:lpstr>Calibri</vt:lpstr>
      <vt:lpstr>Calibri</vt:lpstr>
      <vt:lpstr>Microsoft YaHei</vt:lpstr>
      <vt:lpstr>Arial Unicode MS</vt:lpstr>
      <vt:lpstr>Arial</vt:lpstr>
      <vt:lpstr>Calibri</vt:lpstr>
      <vt:lpstr>Office Theme</vt:lpstr>
      <vt:lpstr>1_Office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HUNI — Proposal website kos dan kontrakan</dc:title>
  <dc:creator>HUNI</dc:creator>
  <dc:subject>Desain, proof of concept, model bagi hasil</dc:subject>
  <cp:lastModifiedBy>google1567717355</cp:lastModifiedBy>
  <cp:revision>2</cp:revision>
  <dcterms:created xsi:type="dcterms:W3CDTF">2026-10-24T04:22:00Z</dcterms:created>
  <dcterms:modified xsi:type="dcterms:W3CDTF">2026-10-24T05:19:51Z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0AB154A396484494892E5E722D4D4554_12</vt:lpwstr>
  </property>
  <property fmtid="{D5CDD505-2E9C-101B-9397-08002B2CF9AE}" pid="3" name="KSOProductBuildVer">
    <vt:lpwstr>1033-12.2.0.23155</vt:lpwstr>
  </property>
</Properties>
</file>