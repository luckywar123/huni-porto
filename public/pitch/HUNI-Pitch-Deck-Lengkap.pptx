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86" r:id="rId37"/>
    <p:sldId id="290" r:id="rId41"/>
    <p:sldId id="287" r:id="rId38"/>
    <p:sldId id="291" r:id="rId42"/>
    <p:sldId id="288" r:id="rId39"/>
    <p:sldId id="289" r:id="rId40"/>
    <p:sldId id="292" r:id="rId43"/>
    <p:sldId id="273" r:id="rId22"/>
    <p:sldId id="274" r:id="rId23"/>
    <p:sldId id="275" r:id="rId24"/>
    <p:sldId id="276" r:id="rId25"/>
    <p:sldId id="277" r:id="rId26"/>
    <p:sldId id="278" r:id="rId27"/>
    <p:sldId id="279" r:id="rId28"/>
    <p:sldId id="280" r:id="rId29"/>
    <p:sldId id="281" r:id="rId30"/>
    <p:sldId id="285" r:id="rId31"/>
    <p:sldId id="282" r:id="rId32"/>
    <p:sldId id="283" r:id="rId33"/>
  </p:sldIdLst>
  <p:sldSz cx="12191365" cy="6858000"/>
  <p:notesSz cx="6858000" cy="1219136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notesMaster" Target="notesMasters/notesMaster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ableStyles" Target="tableStyles.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stacked"/>
        <c:varyColors val="0"/>
        <c:ser>
          <c:idx val="0"/>
          <c:order val="0"/>
          <c:tx>
            <c:strRef>
              <c:f>Sheet1!$B$1</c:f>
              <c:strCache>
                <c:ptCount val="1"/>
                <c:pt idx="0">
                  <c:v>Maintenance</c:v>
                </c:pt>
              </c:strCache>
            </c:strRef>
          </c:tx>
          <c:spPr>
            <a:solidFill>
              <a:srgbClr val="2F5D50"/>
            </a:solidFill>
            <a:effectLst/>
          </c:spPr>
          <c:invertIfNegative val="0"/>
          <c:dLbls>
            <c:dLbl>
              <c:idx val="0"/>
              <c:delete val="1"/>
            </c:dLbl>
            <c:dLbl>
              <c:idx val="1"/>
              <c:delete val="1"/>
            </c:dLbl>
            <c:numFmt formatCode="#,##0" sourceLinked="0"/>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rgbClr val="000000"/>
                    </a:solidFill>
                    <a:latin typeface="Arial" panose="020B0604020202020204"/>
                    <a:ea typeface="+mn-ea"/>
                    <a:cs typeface="+mn-cs"/>
                  </a:defRPr>
                </a:pPr>
              </a:p>
            </c:txPr>
            <c:dLblPos val="ctr"/>
            <c:showLegendKey val="0"/>
            <c:showVal val="0"/>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Sheet1!$A$2:$A$3</c:f>
              <c:strCache>
                <c:ptCount val="2"/>
                <c:pt idx="0">
                  <c:v>Realistis</c:v>
                </c:pt>
                <c:pt idx="1">
                  <c:v>Target</c:v>
                </c:pt>
              </c:strCache>
            </c:strRef>
          </c:cat>
          <c:val>
            <c:numRef>
              <c:f>Sheet1!$B$2:$B$3</c:f>
              <c:numCache>
                <c:formatCode>General</c:formatCode>
                <c:ptCount val="2"/>
                <c:pt idx="0">
                  <c:v>2.928</c:v>
                </c:pt>
                <c:pt idx="1">
                  <c:v>4.1632</c:v>
                </c:pt>
              </c:numCache>
            </c:numRef>
          </c:val>
        </c:ser>
        <c:ser>
          <c:idx val="1"/>
          <c:order val="1"/>
          <c:tx>
            <c:strRef>
              <c:f>Sheet1!$C$1</c:f>
              <c:strCache>
                <c:ptCount val="1"/>
                <c:pt idx="0">
                  <c:v>Event</c:v>
                </c:pt>
              </c:strCache>
            </c:strRef>
          </c:tx>
          <c:spPr>
            <a:solidFill>
              <a:srgbClr val="C4622D"/>
            </a:solidFill>
            <a:effectLst/>
          </c:spPr>
          <c:invertIfNegative val="0"/>
          <c:dLbls>
            <c:dLbl>
              <c:idx val="0"/>
              <c:delete val="1"/>
            </c:dLbl>
            <c:dLbl>
              <c:idx val="1"/>
              <c:delete val="1"/>
            </c:dLbl>
            <c:numFmt formatCode="#,##0" sourceLinked="0"/>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rgbClr val="000000"/>
                    </a:solidFill>
                    <a:latin typeface="Arial" panose="020B0604020202020204"/>
                    <a:ea typeface="+mn-ea"/>
                    <a:cs typeface="+mn-cs"/>
                  </a:defRPr>
                </a:pPr>
              </a:p>
            </c:txPr>
            <c:dLblPos val="ctr"/>
            <c:showLegendKey val="0"/>
            <c:showVal val="0"/>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Sheet1!$A$2:$A$3</c:f>
              <c:strCache>
                <c:ptCount val="2"/>
                <c:pt idx="0">
                  <c:v>Realistis</c:v>
                </c:pt>
                <c:pt idx="1">
                  <c:v>Target</c:v>
                </c:pt>
              </c:strCache>
            </c:strRef>
          </c:cat>
          <c:val>
            <c:numRef>
              <c:f>Sheet1!$C$2:$C$3</c:f>
              <c:numCache>
                <c:formatCode>General</c:formatCode>
                <c:ptCount val="2"/>
                <c:pt idx="0">
                  <c:v>3.294</c:v>
                </c:pt>
                <c:pt idx="1">
                  <c:v>4.6836</c:v>
                </c:pt>
              </c:numCache>
            </c:numRef>
          </c:val>
        </c:ser>
        <c:ser>
          <c:idx val="2"/>
          <c:order val="2"/>
          <c:tx>
            <c:strRef>
              <c:f>Sheet1!$D$1</c:f>
              <c:strCache>
                <c:ptCount val="1"/>
                <c:pt idx="0">
                  <c:v>Marketing</c:v>
                </c:pt>
              </c:strCache>
            </c:strRef>
          </c:tx>
          <c:spPr>
            <a:solidFill>
              <a:srgbClr val="E0A458"/>
            </a:solidFill>
            <a:effectLst/>
          </c:spPr>
          <c:invertIfNegative val="0"/>
          <c:dLbls>
            <c:dLbl>
              <c:idx val="0"/>
              <c:delete val="1"/>
            </c:dLbl>
            <c:dLbl>
              <c:idx val="1"/>
              <c:delete val="1"/>
            </c:dLbl>
            <c:numFmt formatCode="#,##0" sourceLinked="0"/>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rgbClr val="000000"/>
                    </a:solidFill>
                    <a:latin typeface="Arial" panose="020B0604020202020204"/>
                    <a:ea typeface="+mn-ea"/>
                    <a:cs typeface="+mn-cs"/>
                  </a:defRPr>
                </a:pPr>
              </a:p>
            </c:txPr>
            <c:dLblPos val="ctr"/>
            <c:showLegendKey val="0"/>
            <c:showVal val="0"/>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Sheet1!$A$2:$A$3</c:f>
              <c:strCache>
                <c:ptCount val="2"/>
                <c:pt idx="0">
                  <c:v>Realistis</c:v>
                </c:pt>
                <c:pt idx="1">
                  <c:v>Target</c:v>
                </c:pt>
              </c:strCache>
            </c:strRef>
          </c:cat>
          <c:val>
            <c:numRef>
              <c:f>Sheet1!$D$2:$D$3</c:f>
              <c:numCache>
                <c:formatCode>General</c:formatCode>
                <c:ptCount val="2"/>
                <c:pt idx="0">
                  <c:v>3.294</c:v>
                </c:pt>
                <c:pt idx="1">
                  <c:v>4.6836</c:v>
                </c:pt>
              </c:numCache>
            </c:numRef>
          </c:val>
        </c:ser>
        <c:ser>
          <c:idx val="3"/>
          <c:order val="3"/>
          <c:tx>
            <c:strRef>
              <c:f>Sheet1!$E$1</c:f>
              <c:strCache>
                <c:ptCount val="1"/>
                <c:pt idx="0">
                  <c:v>Fee</c:v>
                </c:pt>
              </c:strCache>
            </c:strRef>
          </c:tx>
          <c:spPr>
            <a:solidFill>
              <a:srgbClr val="6F675C"/>
            </a:solidFill>
            <a:effectLst/>
          </c:spPr>
          <c:invertIfNegative val="0"/>
          <c:dLbls>
            <c:dLbl>
              <c:idx val="0"/>
              <c:delete val="1"/>
            </c:dLbl>
            <c:dLbl>
              <c:idx val="1"/>
              <c:delete val="1"/>
            </c:dLbl>
            <c:numFmt formatCode="#,##0" sourceLinked="0"/>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rgbClr val="000000"/>
                    </a:solidFill>
                    <a:latin typeface="Arial" panose="020B0604020202020204"/>
                    <a:ea typeface="+mn-ea"/>
                    <a:cs typeface="+mn-cs"/>
                  </a:defRPr>
                </a:pPr>
              </a:p>
            </c:txPr>
            <c:dLblPos val="ctr"/>
            <c:showLegendKey val="0"/>
            <c:showVal val="0"/>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Sheet1!$A$2:$A$3</c:f>
              <c:strCache>
                <c:ptCount val="2"/>
                <c:pt idx="0">
                  <c:v>Realistis</c:v>
                </c:pt>
                <c:pt idx="1">
                  <c:v>Target</c:v>
                </c:pt>
              </c:strCache>
            </c:strRef>
          </c:cat>
          <c:val>
            <c:numRef>
              <c:f>Sheet1!$E$2:$E$3</c:f>
              <c:numCache>
                <c:formatCode>General</c:formatCode>
                <c:ptCount val="2"/>
                <c:pt idx="0">
                  <c:v>1.464</c:v>
                </c:pt>
                <c:pt idx="1">
                  <c:v>2.0816</c:v>
                </c:pt>
              </c:numCache>
            </c:numRef>
          </c:val>
        </c:ser>
        <c:dLbls>
          <c:showLegendKey val="0"/>
          <c:showVal val="0"/>
          <c:showCatName val="0"/>
          <c:showSerName val="0"/>
          <c:showPercent val="0"/>
          <c:showBubbleSize val="0"/>
        </c:dLbls>
        <c:gapWidth val="50"/>
        <c:overlap val="100"/>
        <c:axId val="2094734554"/>
        <c:axId val="2094734552"/>
      </c:barChart>
      <c:catAx>
        <c:axId val="2094734554"/>
        <c:scaling>
          <c:orientation val="minMax"/>
        </c:scaling>
        <c:delete val="0"/>
        <c:axPos val="l"/>
        <c:numFmt formatCode="General" sourceLinked="1"/>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1000" b="0" i="0" u="none" strike="noStrike" kern="1200" baseline="0">
                <a:solidFill>
                  <a:srgbClr val="000000"/>
                </a:solidFill>
                <a:latin typeface="Arial" panose="020B0604020202020204"/>
                <a:ea typeface="+mn-ea"/>
                <a:cs typeface="+mn-cs"/>
              </a:defRPr>
            </a:pPr>
          </a:p>
        </c:txPr>
        <c:crossAx val="2094734552"/>
        <c:crosses val="autoZero"/>
        <c:auto val="1"/>
        <c:lblAlgn val="ctr"/>
        <c:lblOffset val="100"/>
        <c:noMultiLvlLbl val="1"/>
      </c:catAx>
      <c:valAx>
        <c:axId val="2094734552"/>
        <c:scaling>
          <c:orientation val="minMax"/>
        </c:scaling>
        <c:delete val="0"/>
        <c:axPos val="b"/>
        <c:majorGridlines>
          <c:spPr>
            <a:ln w="6350" cap="flat" cmpd="sng" algn="ctr">
              <a:solidFill>
                <a:srgbClr val="D9CFBF"/>
              </a:solidFill>
              <a:prstDash val="solid"/>
              <a:round/>
            </a:ln>
          </c:spPr>
        </c:majorGridlines>
        <c:numFmt formatCode="General" sourceLinked="0"/>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1000" b="0" i="0" u="none" strike="noStrike" kern="1200" baseline="0">
                <a:solidFill>
                  <a:srgbClr val="000000"/>
                </a:solidFill>
                <a:latin typeface="Arial" panose="020B0604020202020204"/>
                <a:ea typeface="+mn-ea"/>
                <a:cs typeface="+mn-cs"/>
              </a:defRPr>
            </a:pPr>
          </a:p>
        </c:txPr>
        <c:crossAx val="2094734554"/>
        <c:crosses val="autoZero"/>
        <c:crossBetween val="between"/>
      </c:valAx>
      <c:spPr>
        <a:noFill/>
        <a:ln>
          <a:noFill/>
        </a:ln>
        <a:effectLst/>
      </c:spPr>
    </c:plotArea>
    <c:legend>
      <c:legendPos val="r"/>
      <c:layout/>
      <c:overlay val="0"/>
      <c:txPr>
        <a:bodyPr rot="0" spcFirstLastPara="0" vertOverflow="ellipsis" vert="horz" wrap="square" anchor="ctr" anchorCtr="1"/>
        <a:lstStyle/>
        <a:p>
          <a:pPr>
            <a:defRPr lang="en-US" sz="1000" b="0" i="0" u="none" strike="noStrike" kern="1200" baseline="0">
              <a:solidFill>
                <a:schemeClr val="tx1"/>
              </a:solidFill>
              <a:latin typeface="+mn-lt"/>
              <a:ea typeface="+mn-ea"/>
              <a:cs typeface="+mn-cs"/>
            </a:defRPr>
          </a:pPr>
        </a:p>
      </c:txPr>
    </c:legend>
    <c:plotVisOnly val="1"/>
    <c:dispBlanksAs val="span"/>
    <c:showDLblsOverMax val="0"/>
    <c:extLst>
      <c:ext uri="{0b15fc19-7d7d-44ad-8c2d-2c3a37ce22c3}">
        <chartProps xmlns="https://web.wps.cn/et/2018/main" chartId="{a66c885e-1b67-4587-bb85-6a4d083bd3ea}"/>
      </c:ext>
    </c:extLst>
  </c:chart>
  <c:spPr>
    <a:noFill/>
    <a:ln>
      <a:noFill/>
    </a:ln>
    <a:effectLst/>
  </c:spPr>
  <c:txPr>
    <a:bodyPr/>
    <a:lstStyle/>
    <a:p>
      <a:pPr>
        <a:defRPr lang="en-US"/>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stacked"/>
        <c:varyColors val="0"/>
        <c:ser>
          <c:idx val="0"/>
          <c:order val="0"/>
          <c:tx>
            <c:strRef>
              <c:f>Sheet1!$B$1</c:f>
              <c:strCache>
                <c:ptCount val="1"/>
                <c:pt idx="0">
                  <c:v>Operasional</c:v>
                </c:pt>
              </c:strCache>
            </c:strRef>
          </c:tx>
          <c:spPr>
            <a:solidFill>
              <a:srgbClr val="2F5D50"/>
            </a:solidFill>
            <a:effectLst/>
          </c:spPr>
          <c:invertIfNegative val="0"/>
          <c:dLbls>
            <c:dLbl>
              <c:idx val="0"/>
              <c:delete val="1"/>
            </c:dLbl>
            <c:dLbl>
              <c:idx val="1"/>
              <c:delete val="1"/>
            </c:dLbl>
            <c:numFmt formatCode="#,##0" sourceLinked="0"/>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rgbClr val="000000"/>
                    </a:solidFill>
                    <a:latin typeface="Arial" panose="020B0604020202020204"/>
                    <a:ea typeface="+mn-ea"/>
                    <a:cs typeface="+mn-cs"/>
                  </a:defRPr>
                </a:pPr>
              </a:p>
            </c:txPr>
            <c:dLblPos val="ctr"/>
            <c:showLegendKey val="0"/>
            <c:showVal val="0"/>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Sheet1!$A$2:$A$3</c:f>
              <c:strCache>
                <c:ptCount val="2"/>
                <c:pt idx="0">
                  <c:v>Realistis</c:v>
                </c:pt>
                <c:pt idx="1">
                  <c:v>Target</c:v>
                </c:pt>
              </c:strCache>
            </c:strRef>
          </c:cat>
          <c:val>
            <c:numRef>
              <c:f>Sheet1!$B$2:$B$3</c:f>
              <c:numCache>
                <c:formatCode>General</c:formatCode>
                <c:ptCount val="2"/>
                <c:pt idx="0">
                  <c:v>5.544</c:v>
                </c:pt>
                <c:pt idx="1">
                  <c:v>6.399936</c:v>
                </c:pt>
              </c:numCache>
            </c:numRef>
          </c:val>
        </c:ser>
        <c:ser>
          <c:idx val="1"/>
          <c:order val="1"/>
          <c:tx>
            <c:strRef>
              <c:f>Sheet1!$C$1</c:f>
              <c:strCache>
                <c:ptCount val="1"/>
                <c:pt idx="0">
                  <c:v>Marketing &amp; event</c:v>
                </c:pt>
              </c:strCache>
            </c:strRef>
          </c:tx>
          <c:spPr>
            <a:solidFill>
              <a:srgbClr val="C4622D"/>
            </a:solidFill>
            <a:effectLst/>
          </c:spPr>
          <c:invertIfNegative val="0"/>
          <c:dLbls>
            <c:dLbl>
              <c:idx val="0"/>
              <c:delete val="1"/>
            </c:dLbl>
            <c:dLbl>
              <c:idx val="1"/>
              <c:delete val="1"/>
            </c:dLbl>
            <c:numFmt formatCode="#,##0" sourceLinked="0"/>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rgbClr val="000000"/>
                    </a:solidFill>
                    <a:latin typeface="Arial" panose="020B0604020202020204"/>
                    <a:ea typeface="+mn-ea"/>
                    <a:cs typeface="+mn-cs"/>
                  </a:defRPr>
                </a:pPr>
              </a:p>
            </c:txPr>
            <c:dLblPos val="ctr"/>
            <c:showLegendKey val="0"/>
            <c:showVal val="0"/>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Sheet1!$A$2:$A$3</c:f>
              <c:strCache>
                <c:ptCount val="2"/>
                <c:pt idx="0">
                  <c:v>Realistis</c:v>
                </c:pt>
                <c:pt idx="1">
                  <c:v>Target</c:v>
                </c:pt>
              </c:strCache>
            </c:strRef>
          </c:cat>
          <c:val>
            <c:numRef>
              <c:f>Sheet1!$C$2:$C$3</c:f>
              <c:numCache>
                <c:formatCode>General</c:formatCode>
                <c:ptCount val="2"/>
                <c:pt idx="0">
                  <c:v>4.851</c:v>
                </c:pt>
                <c:pt idx="1">
                  <c:v>5.599944</c:v>
                </c:pt>
              </c:numCache>
            </c:numRef>
          </c:val>
        </c:ser>
        <c:ser>
          <c:idx val="2"/>
          <c:order val="2"/>
          <c:tx>
            <c:strRef>
              <c:f>Sheet1!$D$1</c:f>
              <c:strCache>
                <c:ptCount val="1"/>
                <c:pt idx="0">
                  <c:v>Branding</c:v>
                </c:pt>
              </c:strCache>
            </c:strRef>
          </c:tx>
          <c:spPr>
            <a:solidFill>
              <a:srgbClr val="E0A458"/>
            </a:solidFill>
            <a:effectLst/>
          </c:spPr>
          <c:invertIfNegative val="0"/>
          <c:dLbls>
            <c:dLbl>
              <c:idx val="0"/>
              <c:delete val="1"/>
            </c:dLbl>
            <c:dLbl>
              <c:idx val="1"/>
              <c:delete val="1"/>
            </c:dLbl>
            <c:numFmt formatCode="#,##0" sourceLinked="0"/>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rgbClr val="000000"/>
                    </a:solidFill>
                    <a:latin typeface="Arial" panose="020B0604020202020204"/>
                    <a:ea typeface="+mn-ea"/>
                    <a:cs typeface="+mn-cs"/>
                  </a:defRPr>
                </a:pPr>
              </a:p>
            </c:txPr>
            <c:dLblPos val="ctr"/>
            <c:showLegendKey val="0"/>
            <c:showVal val="0"/>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Sheet1!$A$2:$A$3</c:f>
              <c:strCache>
                <c:ptCount val="2"/>
                <c:pt idx="0">
                  <c:v>Realistis</c:v>
                </c:pt>
                <c:pt idx="1">
                  <c:v>Target</c:v>
                </c:pt>
              </c:strCache>
            </c:strRef>
          </c:cat>
          <c:val>
            <c:numRef>
              <c:f>Sheet1!$D$2:$D$3</c:f>
              <c:numCache>
                <c:formatCode>General</c:formatCode>
                <c:ptCount val="2"/>
                <c:pt idx="0">
                  <c:v>2.079</c:v>
                </c:pt>
                <c:pt idx="1">
                  <c:v>2.399976</c:v>
                </c:pt>
              </c:numCache>
            </c:numRef>
          </c:val>
        </c:ser>
        <c:ser>
          <c:idx val="3"/>
          <c:order val="3"/>
          <c:tx>
            <c:strRef>
              <c:f>Sheet1!$E$1</c:f>
              <c:strCache>
                <c:ptCount val="1"/>
                <c:pt idx="0">
                  <c:v>POS</c:v>
                </c:pt>
              </c:strCache>
            </c:strRef>
          </c:tx>
          <c:spPr>
            <a:solidFill>
              <a:srgbClr val="6F675C"/>
            </a:solidFill>
            <a:effectLst/>
          </c:spPr>
          <c:invertIfNegative val="0"/>
          <c:dLbls>
            <c:dLbl>
              <c:idx val="0"/>
              <c:delete val="1"/>
            </c:dLbl>
            <c:dLbl>
              <c:idx val="1"/>
              <c:delete val="1"/>
            </c:dLbl>
            <c:numFmt formatCode="#,##0" sourceLinked="0"/>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rgbClr val="000000"/>
                    </a:solidFill>
                    <a:latin typeface="Arial" panose="020B0604020202020204"/>
                    <a:ea typeface="+mn-ea"/>
                    <a:cs typeface="+mn-cs"/>
                  </a:defRPr>
                </a:pPr>
              </a:p>
            </c:txPr>
            <c:dLblPos val="ctr"/>
            <c:showLegendKey val="0"/>
            <c:showVal val="0"/>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Sheet1!$A$2:$A$3</c:f>
              <c:strCache>
                <c:ptCount val="2"/>
                <c:pt idx="0">
                  <c:v>Realistis</c:v>
                </c:pt>
                <c:pt idx="1">
                  <c:v>Target</c:v>
                </c:pt>
              </c:strCache>
            </c:strRef>
          </c:cat>
          <c:val>
            <c:numRef>
              <c:f>Sheet1!$E$2:$E$3</c:f>
              <c:numCache>
                <c:formatCode>General</c:formatCode>
                <c:ptCount val="2"/>
                <c:pt idx="0">
                  <c:v>1.386</c:v>
                </c:pt>
                <c:pt idx="1">
                  <c:v>1.599984</c:v>
                </c:pt>
              </c:numCache>
            </c:numRef>
          </c:val>
        </c:ser>
        <c:dLbls>
          <c:showLegendKey val="0"/>
          <c:showVal val="0"/>
          <c:showCatName val="0"/>
          <c:showSerName val="0"/>
          <c:showPercent val="0"/>
          <c:showBubbleSize val="0"/>
        </c:dLbls>
        <c:gapWidth val="50"/>
        <c:overlap val="100"/>
        <c:axId val="2094734554"/>
        <c:axId val="2094734552"/>
      </c:barChart>
      <c:catAx>
        <c:axId val="2094734554"/>
        <c:scaling>
          <c:orientation val="minMax"/>
        </c:scaling>
        <c:delete val="0"/>
        <c:axPos val="l"/>
        <c:numFmt formatCode="General" sourceLinked="1"/>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1000" b="0" i="0" u="none" strike="noStrike" kern="1200" baseline="0">
                <a:solidFill>
                  <a:srgbClr val="000000"/>
                </a:solidFill>
                <a:latin typeface="Arial" panose="020B0604020202020204"/>
                <a:ea typeface="+mn-ea"/>
                <a:cs typeface="+mn-cs"/>
              </a:defRPr>
            </a:pPr>
          </a:p>
        </c:txPr>
        <c:crossAx val="2094734552"/>
        <c:crosses val="autoZero"/>
        <c:auto val="1"/>
        <c:lblAlgn val="ctr"/>
        <c:lblOffset val="100"/>
        <c:noMultiLvlLbl val="1"/>
      </c:catAx>
      <c:valAx>
        <c:axId val="2094734552"/>
        <c:scaling>
          <c:orientation val="minMax"/>
        </c:scaling>
        <c:delete val="0"/>
        <c:axPos val="b"/>
        <c:majorGridlines>
          <c:spPr>
            <a:ln w="6350" cap="flat" cmpd="sng" algn="ctr">
              <a:solidFill>
                <a:srgbClr val="D9CFBF"/>
              </a:solidFill>
              <a:prstDash val="solid"/>
              <a:round/>
            </a:ln>
          </c:spPr>
        </c:majorGridlines>
        <c:numFmt formatCode="General" sourceLinked="0"/>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1000" b="0" i="0" u="none" strike="noStrike" kern="1200" baseline="0">
                <a:solidFill>
                  <a:srgbClr val="000000"/>
                </a:solidFill>
                <a:latin typeface="Arial" panose="020B0604020202020204"/>
                <a:ea typeface="+mn-ea"/>
                <a:cs typeface="+mn-cs"/>
              </a:defRPr>
            </a:pPr>
          </a:p>
        </c:txPr>
        <c:crossAx val="2094734554"/>
        <c:crosses val="autoZero"/>
        <c:crossBetween val="between"/>
      </c:valAx>
      <c:spPr>
        <a:noFill/>
        <a:ln>
          <a:noFill/>
        </a:ln>
        <a:effectLst/>
      </c:spPr>
    </c:plotArea>
    <c:legend>
      <c:legendPos val="r"/>
      <c:layout/>
      <c:overlay val="0"/>
      <c:txPr>
        <a:bodyPr rot="0" spcFirstLastPara="0" vertOverflow="ellipsis" vert="horz" wrap="square" anchor="ctr" anchorCtr="1"/>
        <a:lstStyle/>
        <a:p>
          <a:pPr>
            <a:defRPr lang="en-US" sz="1000" b="0" i="0" u="none" strike="noStrike" kern="1200" baseline="0">
              <a:solidFill>
                <a:schemeClr val="tx1"/>
              </a:solidFill>
              <a:latin typeface="+mn-lt"/>
              <a:ea typeface="+mn-ea"/>
              <a:cs typeface="+mn-cs"/>
            </a:defRPr>
          </a:pPr>
        </a:p>
      </c:txPr>
    </c:legend>
    <c:plotVisOnly val="1"/>
    <c:dispBlanksAs val="span"/>
    <c:showDLblsOverMax val="0"/>
    <c:extLst>
      <c:ext uri="{0b15fc19-7d7d-44ad-8c2d-2c3a37ce22c3}">
        <chartProps xmlns="https://web.wps.cn/et/2018/main" chartId="{aaf882bc-6aeb-442a-96c2-7699673daa59}"/>
      </c:ext>
    </c:extLst>
  </c:chart>
  <c:spPr>
    <a:noFill/>
    <a:ln>
      <a:noFill/>
    </a:ln>
    <a:effectLst/>
  </c:spPr>
  <c:txPr>
    <a:bodyPr/>
    <a:lstStyle/>
    <a:p>
      <a:pPr>
        <a:defRPr lang="en-US"/>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Buka dengan demo hidup, baru masuk ke harga. Jangan mulai dari angka.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Tunjukkan hero dan cari.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Filter jalan di peramban.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 sudah diuji.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Pengajuan dari form muncul di sini.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A1814"/>
          </a:solidFill>
        </p:spPr>
        <p:txBody>
          <a:bodyPr/>
          <a:p/>
        </p:txBody>
      </p:sp>
      <p:pic>
        <p:nvPicPr>
          <p:cNvPr id="3" name="Image 0" descr="/home/claude/ws/public/media/ext.jpg"/>
          <p:cNvPicPr>
            <a:picLocks noChangeAspect="1"/>
          </p:cNvPicPr>
          <p:nvPr/>
        </p:nvPicPr>
        <p:blipFill>
          <a:blip r:embed="rId1"/>
          <a:srcRect/>
          <a:stretch>
            <a:fillRect/>
          </a:stretch>
        </p:blipFill>
        <p:spPr>
          <a:xfrm>
            <a:off x="7452360" y="0"/>
            <a:ext cx="4739335" cy="6858000"/>
          </a:xfrm>
          <a:prstGeom prst="rect">
            <a:avLst/>
          </a:prstGeom>
        </p:spPr>
      </p:pic>
      <p:sp>
        <p:nvSpPr>
          <p:cNvPr id="4" name="Shape 1"/>
          <p:cNvSpPr/>
          <p:nvPr/>
        </p:nvSpPr>
        <p:spPr>
          <a:xfrm>
            <a:off x="438912" y="438912"/>
            <a:ext cx="640080" cy="73152"/>
          </a:xfrm>
          <a:prstGeom prst="rect">
            <a:avLst/>
          </a:prstGeom>
          <a:solidFill>
            <a:srgbClr val="C4622D"/>
          </a:solidFill>
        </p:spPr>
        <p:txBody>
          <a:bodyPr/>
          <a:p/>
        </p:txBody>
      </p:sp>
      <p:sp>
        <p:nvSpPr>
          <p:cNvPr id="5" name="Text 2"/>
          <p:cNvSpPr/>
          <p:nvPr/>
        </p:nvSpPr>
        <p:spPr>
          <a:xfrm>
            <a:off x="438912" y="1371600"/>
            <a:ext cx="6583680" cy="1051560"/>
          </a:xfrm>
          <a:prstGeom prst="rect">
            <a:avLst/>
          </a:prstGeom>
          <a:noFill/>
        </p:spPr>
        <p:txBody>
          <a:bodyPr wrap="square" lIns="0" tIns="0" rIns="0" bIns="0" rtlCol="0" anchor="ctr"/>
          <a:lstStyle/>
          <a:p>
            <a:pPr marL="0" indent="0">
              <a:buNone/>
            </a:pPr>
            <a:r>
              <a:rPr lang="en-US" sz="8000" dirty="0">
                <a:solidFill>
                  <a:srgbClr val="F4EFE6"/>
                </a:solidFill>
                <a:latin typeface="Georgia" panose="02040502050405020303" pitchFamily="34" charset="0"/>
                <a:ea typeface="Georgia" panose="02040502050405020303" pitchFamily="34" charset="-122"/>
                <a:cs typeface="Georgia" panose="02040502050405020303" pitchFamily="34" charset="-120"/>
              </a:rPr>
              <a:t>HUNI</a:t>
            </a:r>
            <a:endParaRPr lang="en-US" sz="8000" dirty="0"/>
          </a:p>
        </p:txBody>
      </p:sp>
      <p:sp>
        <p:nvSpPr>
          <p:cNvPr id="6" name="Text 3"/>
          <p:cNvSpPr/>
          <p:nvPr/>
        </p:nvSpPr>
        <p:spPr>
          <a:xfrm>
            <a:off x="438912" y="2560320"/>
            <a:ext cx="6583680" cy="1234440"/>
          </a:xfrm>
          <a:prstGeom prst="rect">
            <a:avLst/>
          </a:prstGeom>
          <a:noFill/>
        </p:spPr>
        <p:txBody>
          <a:bodyPr wrap="square" lIns="0" tIns="0" rIns="0" bIns="0" rtlCol="0" anchor="ctr"/>
          <a:lstStyle/>
          <a:p>
            <a:pPr marL="0" indent="0">
              <a:buNone/>
            </a:pPr>
            <a:r>
              <a:rPr lang="en-US" sz="2800" dirty="0">
                <a:solidFill>
                  <a:srgbClr val="E7DCC8"/>
                </a:solidFill>
                <a:latin typeface="Georgia" panose="02040502050405020303" pitchFamily="34" charset="0"/>
                <a:ea typeface="Georgia" panose="02040502050405020303" pitchFamily="34" charset="-122"/>
                <a:cs typeface="Georgia" panose="02040502050405020303" pitchFamily="34" charset="-120"/>
              </a:rPr>
              <a:t>Website kos dan kontrakan,</a:t>
            </a:r>
            <a:endParaRPr lang="en-US" sz="2800" dirty="0"/>
          </a:p>
          <a:p>
            <a:pPr marL="0" indent="0">
              <a:buNone/>
            </a:pPr>
            <a:r>
              <a:rPr lang="en-US" sz="2800" dirty="0">
                <a:solidFill>
                  <a:srgbClr val="E7DCC8"/>
                </a:solidFill>
                <a:latin typeface="Georgia" panose="02040502050405020303" pitchFamily="34" charset="0"/>
                <a:ea typeface="Georgia" panose="02040502050405020303" pitchFamily="34" charset="-122"/>
                <a:cs typeface="Georgia" panose="02040502050405020303" pitchFamily="34" charset="-120"/>
              </a:rPr>
              <a:t>end to end.</a:t>
            </a:r>
            <a:endParaRPr lang="en-US" sz="2800" dirty="0"/>
          </a:p>
        </p:txBody>
      </p:sp>
      <p:sp>
        <p:nvSpPr>
          <p:cNvPr id="7" name="Text 4"/>
          <p:cNvSpPr/>
          <p:nvPr/>
        </p:nvSpPr>
        <p:spPr>
          <a:xfrm>
            <a:off x="438912" y="4069080"/>
            <a:ext cx="6400800" cy="731520"/>
          </a:xfrm>
          <a:prstGeom prst="rect">
            <a:avLst/>
          </a:prstGeom>
          <a:noFill/>
        </p:spPr>
        <p:txBody>
          <a:bodyPr wrap="square" lIns="0" tIns="0" rIns="0" bIns="0" rtlCol="0" anchor="ctr"/>
          <a:lstStyle/>
          <a:p>
            <a:pPr marL="0" indent="0">
              <a:buNone/>
            </a:pPr>
            <a:r>
              <a:rPr lang="en-US" sz="1600" dirty="0">
                <a:solidFill>
                  <a:srgbClr val="C8BBA8"/>
                </a:solidFill>
                <a:latin typeface="Calibri" panose="020F0502020204030204" pitchFamily="34" charset="0"/>
                <a:ea typeface="Calibri" panose="020F0502020204030204" pitchFamily="34" charset="-122"/>
                <a:cs typeface="Calibri" panose="020F0502020204030204" pitchFamily="34" charset="-120"/>
              </a:rPr>
              <a:t>Proposal untuk pemilik yang mau punya situs sendiri:</a:t>
            </a:r>
            <a:endParaRPr lang="en-US" sz="1600" dirty="0"/>
          </a:p>
          <a:p>
            <a:pPr marL="0" indent="0">
              <a:buNone/>
            </a:pPr>
            <a:r>
              <a:rPr lang="en-US" sz="1600" dirty="0">
                <a:solidFill>
                  <a:srgbClr val="C8BBA8"/>
                </a:solidFill>
                <a:latin typeface="Calibri" panose="020F0502020204030204" pitchFamily="34" charset="0"/>
                <a:ea typeface="Calibri" panose="020F0502020204030204" pitchFamily="34" charset="-122"/>
                <a:cs typeface="Calibri" panose="020F0502020204030204" pitchFamily="34" charset="-120"/>
              </a:rPr>
              <a:t>desain, proof of concept, dan model bagi hasil.</a:t>
            </a:r>
            <a:endParaRPr lang="en-US" sz="1600" dirty="0"/>
          </a:p>
        </p:txBody>
      </p:sp>
      <p:sp>
        <p:nvSpPr>
          <p:cNvPr id="8" name="Text 5"/>
          <p:cNvSpPr/>
          <p:nvPr/>
        </p:nvSpPr>
        <p:spPr>
          <a:xfrm>
            <a:off x="438912" y="5989320"/>
            <a:ext cx="6400800" cy="292608"/>
          </a:xfrm>
          <a:prstGeom prst="rect">
            <a:avLst/>
          </a:prstGeom>
          <a:noFill/>
        </p:spPr>
        <p:txBody>
          <a:bodyPr wrap="square" lIns="0" tIns="0" rIns="0" bIns="0" rtlCol="0" anchor="ctr"/>
          <a:lstStyle/>
          <a:p>
            <a:pPr marL="0" indent="0">
              <a:buNone/>
            </a:pPr>
            <a:r>
              <a:rPr lang="en-US" sz="1300" dirty="0">
                <a:solidFill>
                  <a:srgbClr val="C4622D"/>
                </a:solidFill>
                <a:latin typeface="Calibri" panose="020F0502020204030204" pitchFamily="34" charset="0"/>
                <a:ea typeface="Calibri" panose="020F0502020204030204" pitchFamily="34" charset="-122"/>
                <a:cs typeface="Calibri" panose="020F0502020204030204" pitchFamily="34" charset="-120"/>
              </a:rPr>
              <a:t>Oktober 2026   ·   Penawaran ilustrasi, belum mengikat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EFE6"/>
          </a:solidFill>
        </p:spPr>
        <p:txBody>
          <a:bodyPr/>
          <a:p/>
        </p:txBody>
      </p:sp>
      <p:sp>
        <p:nvSpPr>
          <p:cNvPr id="3" name="Shape 1"/>
          <p:cNvSpPr/>
          <p:nvPr/>
        </p:nvSpPr>
        <p:spPr>
          <a:xfrm>
            <a:off x="0" y="0"/>
            <a:ext cx="91440" cy="6858000"/>
          </a:xfrm>
          <a:prstGeom prst="rect">
            <a:avLst/>
          </a:prstGeom>
          <a:solidFill>
            <a:srgbClr val="C4622D"/>
          </a:solidFill>
        </p:spPr>
        <p:txBody>
          <a:bodyPr/>
          <a:p/>
        </p:txBody>
      </p:sp>
      <p:sp>
        <p:nvSpPr>
          <p:cNvPr id="4" name="Shape 2"/>
          <p:cNvSpPr/>
          <p:nvPr/>
        </p:nvSpPr>
        <p:spPr>
          <a:xfrm>
            <a:off x="0" y="6601968"/>
            <a:ext cx="12191695" cy="256032"/>
          </a:xfrm>
          <a:prstGeom prst="rect">
            <a:avLst/>
          </a:prstGeom>
          <a:solidFill>
            <a:srgbClr val="1A1814"/>
          </a:solidFill>
        </p:spPr>
        <p:txBody>
          <a:bodyPr/>
          <a:p/>
        </p:txBody>
      </p:sp>
      <p:sp>
        <p:nvSpPr>
          <p:cNvPr id="5" name="Text 3"/>
          <p:cNvSpPr/>
          <p:nvPr/>
        </p:nvSpPr>
        <p:spPr>
          <a:xfrm>
            <a:off x="347472" y="6601968"/>
            <a:ext cx="9144000" cy="256032"/>
          </a:xfrm>
          <a:prstGeom prst="rect">
            <a:avLst/>
          </a:prstGeom>
          <a:noFill/>
        </p:spPr>
        <p:txBody>
          <a:bodyPr wrap="square" lIns="0" tIns="0" rIns="0" bIns="0" rtlCol="0" anchor="ctr"/>
          <a:lstStyle/>
          <a:p>
            <a:pPr marL="0" indent="0">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HUNI   ·   Proposal website kos &amp; kontrakan   ·   Oktober 2026</a:t>
            </a:r>
            <a:endParaRPr lang="en-US" sz="1100" dirty="0"/>
          </a:p>
        </p:txBody>
      </p:sp>
      <p:sp>
        <p:nvSpPr>
          <p:cNvPr id="6" name="Text 4"/>
          <p:cNvSpPr/>
          <p:nvPr/>
        </p:nvSpPr>
        <p:spPr>
          <a:xfrm>
            <a:off x="9509760" y="6601968"/>
            <a:ext cx="2331720" cy="256032"/>
          </a:xfrm>
          <a:prstGeom prst="rect">
            <a:avLst/>
          </a:prstGeom>
          <a:noFill/>
        </p:spPr>
        <p:txBody>
          <a:bodyPr wrap="square" lIns="0" tIns="0" rIns="0" bIns="0" rtlCol="0" anchor="ctr"/>
          <a:lstStyle/>
          <a:p>
            <a:pPr marL="0" indent="0" algn="r">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02  /  36</a:t>
            </a:r>
            <a:endParaRPr lang="en-US" sz="1100" dirty="0"/>
          </a:p>
        </p:txBody>
      </p:sp>
      <p:sp>
        <p:nvSpPr>
          <p:cNvPr id="7" name="Text 5"/>
          <p:cNvSpPr/>
          <p:nvPr/>
        </p:nvSpPr>
        <p:spPr>
          <a:xfrm>
            <a:off x="384048" y="256032"/>
            <a:ext cx="11338560" cy="457200"/>
          </a:xfrm>
          <a:prstGeom prst="rect">
            <a:avLst/>
          </a:prstGeom>
          <a:noFill/>
        </p:spPr>
        <p:txBody>
          <a:bodyPr wrap="square" lIns="0" tIns="0" rIns="0" bIns="0" rtlCol="0" anchor="ctr"/>
          <a:lstStyle/>
          <a:p>
            <a:pPr marL="0" indent="0">
              <a:buNone/>
            </a:pPr>
            <a:r>
              <a:rPr lang="en-US" sz="2800" dirty="0">
                <a:solidFill>
                  <a:srgbClr val="1A1814"/>
                </a:solidFill>
                <a:latin typeface="Georgia" panose="02040502050405020303" pitchFamily="34" charset="0"/>
                <a:ea typeface="Georgia" panose="02040502050405020303" pitchFamily="34" charset="-122"/>
                <a:cs typeface="Georgia" panose="02040502050405020303" pitchFamily="34" charset="-120"/>
              </a:rPr>
              <a:t>Kamar kosong sunyi. Chat-nya tidak.</a:t>
            </a:r>
            <a:endParaRPr lang="en-US" sz="2800" dirty="0"/>
          </a:p>
        </p:txBody>
      </p:sp>
      <p:sp>
        <p:nvSpPr>
          <p:cNvPr id="8" name="Text 6"/>
          <p:cNvSpPr/>
          <p:nvPr/>
        </p:nvSpPr>
        <p:spPr>
          <a:xfrm>
            <a:off x="384048" y="786384"/>
            <a:ext cx="10972800" cy="310896"/>
          </a:xfrm>
          <a:prstGeom prst="rect">
            <a:avLst/>
          </a:prstGeom>
          <a:noFill/>
        </p:spPr>
        <p:txBody>
          <a:bodyPr wrap="square" lIns="0" tIns="0" rIns="0" bIns="0" rtlCol="0" anchor="ctr"/>
          <a:lstStyle/>
          <a:p>
            <a:pPr marL="0" indent="0">
              <a:buNone/>
            </a:pPr>
            <a:r>
              <a:rPr lang="en-US" sz="1500" dirty="0">
                <a:solidFill>
                  <a:srgbClr val="6F675C"/>
                </a:solidFill>
                <a:latin typeface="Calibri" panose="020F0502020204030204" pitchFamily="34" charset="0"/>
                <a:ea typeface="Calibri" panose="020F0502020204030204" pitchFamily="34" charset="-122"/>
                <a:cs typeface="Calibri" panose="020F0502020204030204" pitchFamily="34" charset="-120"/>
              </a:rPr>
              <a:t>Empat kebiasaan yang bikin unit sulit disewakan tanpa menambah kamar.</a:t>
            </a:r>
            <a:endParaRPr lang="en-US" sz="1500" dirty="0"/>
          </a:p>
        </p:txBody>
      </p:sp>
      <p:sp>
        <p:nvSpPr>
          <p:cNvPr id="9" name="Shape 7"/>
          <p:cNvSpPr/>
          <p:nvPr/>
        </p:nvSpPr>
        <p:spPr>
          <a:xfrm>
            <a:off x="384048" y="1280160"/>
            <a:ext cx="5623560" cy="2331720"/>
          </a:xfrm>
          <a:prstGeom prst="roundRect">
            <a:avLst>
              <a:gd name="adj" fmla="val 3137"/>
            </a:avLst>
          </a:prstGeom>
          <a:solidFill>
            <a:srgbClr val="FBF8F3"/>
          </a:solidFill>
          <a:ln w="12700">
            <a:solidFill>
              <a:srgbClr val="D9CFBF"/>
            </a:solidFill>
            <a:prstDash val="solid"/>
          </a:ln>
        </p:spPr>
        <p:txBody>
          <a:bodyPr/>
          <a:p/>
        </p:txBody>
      </p:sp>
      <p:sp>
        <p:nvSpPr>
          <p:cNvPr id="10" name="Text 8"/>
          <p:cNvSpPr/>
          <p:nvPr/>
        </p:nvSpPr>
        <p:spPr>
          <a:xfrm>
            <a:off x="640080" y="1481328"/>
            <a:ext cx="5120640" cy="329184"/>
          </a:xfrm>
          <a:prstGeom prst="rect">
            <a:avLst/>
          </a:prstGeom>
          <a:noFill/>
        </p:spPr>
        <p:txBody>
          <a:bodyPr wrap="square" lIns="0" tIns="0" rIns="0" bIns="0" rtlCol="0" anchor="ctr"/>
          <a:lstStyle/>
          <a:p>
            <a:pPr marL="0" indent="0">
              <a:buNone/>
            </a:pPr>
            <a:r>
              <a:rPr lang="en-US" sz="2000" dirty="0">
                <a:solidFill>
                  <a:srgbClr val="1A1814"/>
                </a:solidFill>
                <a:latin typeface="Georgia" panose="02040502050405020303" pitchFamily="34" charset="0"/>
                <a:ea typeface="Georgia" panose="02040502050405020303" pitchFamily="34" charset="-122"/>
                <a:cs typeface="Georgia" panose="02040502050405020303" pitchFamily="34" charset="-120"/>
              </a:rPr>
              <a:t>01   Grup chat</a:t>
            </a:r>
            <a:endParaRPr lang="en-US" sz="2000" dirty="0"/>
          </a:p>
        </p:txBody>
      </p:sp>
      <p:sp>
        <p:nvSpPr>
          <p:cNvPr id="11" name="Text 9"/>
          <p:cNvSpPr/>
          <p:nvPr/>
        </p:nvSpPr>
        <p:spPr>
          <a:xfrm>
            <a:off x="640080" y="1901952"/>
            <a:ext cx="5120640" cy="292608"/>
          </a:xfrm>
          <a:prstGeom prst="rect">
            <a:avLst/>
          </a:prstGeom>
          <a:noFill/>
        </p:spPr>
        <p:txBody>
          <a:bodyPr wrap="square" lIns="0" tIns="0" rIns="0" bIns="0" rtlCol="0" anchor="ctr"/>
          <a:lstStyle/>
          <a:p>
            <a:pPr marL="0" indent="0">
              <a:buNone/>
            </a:pPr>
            <a:r>
              <a:rPr lang="en-US" sz="1400" b="1" dirty="0">
                <a:solidFill>
                  <a:srgbClr val="9A4518"/>
                </a:solidFill>
                <a:latin typeface="Calibri" panose="020F0502020204030204" pitchFamily="34" charset="0"/>
                <a:ea typeface="Calibri" panose="020F0502020204030204" pitchFamily="34" charset="-122"/>
                <a:cs typeface="Calibri" panose="020F0502020204030204" pitchFamily="34" charset="-120"/>
              </a:rPr>
              <a:t>Foto tenggelam besoknya.</a:t>
            </a:r>
            <a:endParaRPr lang="en-US" sz="1400" dirty="0"/>
          </a:p>
        </p:txBody>
      </p:sp>
      <p:sp>
        <p:nvSpPr>
          <p:cNvPr id="12" name="Text 10"/>
          <p:cNvSpPr/>
          <p:nvPr/>
        </p:nvSpPr>
        <p:spPr>
          <a:xfrm>
            <a:off x="640080" y="2286000"/>
            <a:ext cx="5120640" cy="1051560"/>
          </a:xfrm>
          <a:prstGeom prst="rect">
            <a:avLst/>
          </a:prstGeom>
          <a:noFill/>
        </p:spPr>
        <p:txBody>
          <a:bodyPr wrap="square" lIns="0" tIns="0" rIns="0" bIns="0" rtlCol="0" anchor="ctr"/>
          <a:lstStyle/>
          <a:p>
            <a:pPr marL="0" indent="0">
              <a:buNone/>
            </a:pPr>
            <a:r>
              <a:rPr lang="en-US" sz="1500" dirty="0">
                <a:solidFill>
                  <a:srgbClr val="3F382F"/>
                </a:solidFill>
                <a:latin typeface="Calibri" panose="020F0502020204030204" pitchFamily="34" charset="0"/>
                <a:ea typeface="Calibri" panose="020F0502020204030204" pitchFamily="34" charset="-122"/>
                <a:cs typeface="Calibri" panose="020F0502020204030204" pitchFamily="34" charset="-120"/>
              </a:rPr>
              <a:t>Harga di caption sering beda dengan harga yang diucap pengelola. Calon penyewa harus bertanya ulang.</a:t>
            </a:r>
            <a:endParaRPr lang="en-US" sz="1500" dirty="0"/>
          </a:p>
        </p:txBody>
      </p:sp>
      <p:sp>
        <p:nvSpPr>
          <p:cNvPr id="13" name="Shape 11"/>
          <p:cNvSpPr/>
          <p:nvPr/>
        </p:nvSpPr>
        <p:spPr>
          <a:xfrm>
            <a:off x="6236208" y="1280160"/>
            <a:ext cx="5623560" cy="2331720"/>
          </a:xfrm>
          <a:prstGeom prst="roundRect">
            <a:avLst>
              <a:gd name="adj" fmla="val 3137"/>
            </a:avLst>
          </a:prstGeom>
          <a:solidFill>
            <a:srgbClr val="FBF8F3"/>
          </a:solidFill>
          <a:ln w="12700">
            <a:solidFill>
              <a:srgbClr val="D9CFBF"/>
            </a:solidFill>
            <a:prstDash val="solid"/>
          </a:ln>
        </p:spPr>
        <p:txBody>
          <a:bodyPr/>
          <a:p/>
        </p:txBody>
      </p:sp>
      <p:sp>
        <p:nvSpPr>
          <p:cNvPr id="14" name="Text 12"/>
          <p:cNvSpPr/>
          <p:nvPr/>
        </p:nvSpPr>
        <p:spPr>
          <a:xfrm>
            <a:off x="6492240" y="1481328"/>
            <a:ext cx="5120640" cy="329184"/>
          </a:xfrm>
          <a:prstGeom prst="rect">
            <a:avLst/>
          </a:prstGeom>
          <a:noFill/>
        </p:spPr>
        <p:txBody>
          <a:bodyPr wrap="square" lIns="0" tIns="0" rIns="0" bIns="0" rtlCol="0" anchor="ctr"/>
          <a:lstStyle/>
          <a:p>
            <a:pPr marL="0" indent="0">
              <a:buNone/>
            </a:pPr>
            <a:r>
              <a:rPr lang="en-US" sz="2000" dirty="0">
                <a:solidFill>
                  <a:srgbClr val="1A1814"/>
                </a:solidFill>
                <a:latin typeface="Georgia" panose="02040502050405020303" pitchFamily="34" charset="0"/>
                <a:ea typeface="Georgia" panose="02040502050405020303" pitchFamily="34" charset="-122"/>
                <a:cs typeface="Georgia" panose="02040502050405020303" pitchFamily="34" charset="-120"/>
              </a:rPr>
              <a:t>02   Marketplace umum</a:t>
            </a:r>
            <a:endParaRPr lang="en-US" sz="2000" dirty="0"/>
          </a:p>
        </p:txBody>
      </p:sp>
      <p:sp>
        <p:nvSpPr>
          <p:cNvPr id="15" name="Text 13"/>
          <p:cNvSpPr/>
          <p:nvPr/>
        </p:nvSpPr>
        <p:spPr>
          <a:xfrm>
            <a:off x="6492240" y="1901952"/>
            <a:ext cx="5120640" cy="292608"/>
          </a:xfrm>
          <a:prstGeom prst="rect">
            <a:avLst/>
          </a:prstGeom>
          <a:noFill/>
        </p:spPr>
        <p:txBody>
          <a:bodyPr wrap="square" lIns="0" tIns="0" rIns="0" bIns="0" rtlCol="0" anchor="ctr"/>
          <a:lstStyle/>
          <a:p>
            <a:pPr marL="0" indent="0">
              <a:buNone/>
            </a:pPr>
            <a:r>
              <a:rPr lang="en-US" sz="1400" b="1" dirty="0">
                <a:solidFill>
                  <a:srgbClr val="9A4518"/>
                </a:solidFill>
                <a:latin typeface="Calibri" panose="020F0502020204030204" pitchFamily="34" charset="0"/>
                <a:ea typeface="Calibri" panose="020F0502020204030204" pitchFamily="34" charset="-122"/>
                <a:cs typeface="Calibri" panose="020F0502020204030204" pitchFamily="34" charset="-120"/>
              </a:rPr>
              <a:t>Iklan, bukan operasional.</a:t>
            </a:r>
            <a:endParaRPr lang="en-US" sz="1400" dirty="0"/>
          </a:p>
        </p:txBody>
      </p:sp>
      <p:sp>
        <p:nvSpPr>
          <p:cNvPr id="16" name="Text 14"/>
          <p:cNvSpPr/>
          <p:nvPr/>
        </p:nvSpPr>
        <p:spPr>
          <a:xfrm>
            <a:off x="6492240" y="2286000"/>
            <a:ext cx="5120640" cy="1051560"/>
          </a:xfrm>
          <a:prstGeom prst="rect">
            <a:avLst/>
          </a:prstGeom>
          <a:noFill/>
        </p:spPr>
        <p:txBody>
          <a:bodyPr wrap="square" lIns="0" tIns="0" rIns="0" bIns="0" rtlCol="0" anchor="ctr"/>
          <a:lstStyle/>
          <a:p>
            <a:pPr marL="0" indent="0">
              <a:buNone/>
            </a:pPr>
            <a:r>
              <a:rPr lang="en-US" sz="1500" dirty="0">
                <a:solidFill>
                  <a:srgbClr val="3F382F"/>
                </a:solidFill>
                <a:latin typeface="Calibri" panose="020F0502020204030204" pitchFamily="34" charset="0"/>
                <a:ea typeface="Calibri" panose="020F0502020204030204" pitchFamily="34" charset="-122"/>
                <a:cs typeface="Calibri" panose="020F0502020204030204" pitchFamily="34" charset="-120"/>
              </a:rPr>
              <a:t>Unit tercampur dengan rumah dijual. Status kamar hari ini tidak ada. Begitu tersewa, iklannya tetap nongol.</a:t>
            </a:r>
            <a:endParaRPr lang="en-US" sz="1500" dirty="0"/>
          </a:p>
        </p:txBody>
      </p:sp>
      <p:sp>
        <p:nvSpPr>
          <p:cNvPr id="17" name="Shape 15"/>
          <p:cNvSpPr/>
          <p:nvPr/>
        </p:nvSpPr>
        <p:spPr>
          <a:xfrm>
            <a:off x="384048" y="3794760"/>
            <a:ext cx="5623560" cy="2331720"/>
          </a:xfrm>
          <a:prstGeom prst="roundRect">
            <a:avLst>
              <a:gd name="adj" fmla="val 3137"/>
            </a:avLst>
          </a:prstGeom>
          <a:solidFill>
            <a:srgbClr val="FBF8F3"/>
          </a:solidFill>
          <a:ln w="12700">
            <a:solidFill>
              <a:srgbClr val="D9CFBF"/>
            </a:solidFill>
            <a:prstDash val="solid"/>
          </a:ln>
        </p:spPr>
        <p:txBody>
          <a:bodyPr/>
          <a:p/>
        </p:txBody>
      </p:sp>
      <p:sp>
        <p:nvSpPr>
          <p:cNvPr id="18" name="Text 16"/>
          <p:cNvSpPr/>
          <p:nvPr/>
        </p:nvSpPr>
        <p:spPr>
          <a:xfrm>
            <a:off x="640080" y="3995928"/>
            <a:ext cx="5120640" cy="329184"/>
          </a:xfrm>
          <a:prstGeom prst="rect">
            <a:avLst/>
          </a:prstGeom>
          <a:noFill/>
        </p:spPr>
        <p:txBody>
          <a:bodyPr wrap="square" lIns="0" tIns="0" rIns="0" bIns="0" rtlCol="0" anchor="ctr"/>
          <a:lstStyle/>
          <a:p>
            <a:pPr marL="0" indent="0">
              <a:buNone/>
            </a:pPr>
            <a:r>
              <a:rPr lang="en-US" sz="2000" dirty="0">
                <a:solidFill>
                  <a:srgbClr val="1A1814"/>
                </a:solidFill>
                <a:latin typeface="Georgia" panose="02040502050405020303" pitchFamily="34" charset="0"/>
                <a:ea typeface="Georgia" panose="02040502050405020303" pitchFamily="34" charset="-122"/>
                <a:cs typeface="Georgia" panose="02040502050405020303" pitchFamily="34" charset="-120"/>
              </a:rPr>
              <a:t>03   Calo</a:t>
            </a:r>
            <a:endParaRPr lang="en-US" sz="2000" dirty="0"/>
          </a:p>
        </p:txBody>
      </p:sp>
      <p:sp>
        <p:nvSpPr>
          <p:cNvPr id="19" name="Text 17"/>
          <p:cNvSpPr/>
          <p:nvPr/>
        </p:nvSpPr>
        <p:spPr>
          <a:xfrm>
            <a:off x="640080" y="4416552"/>
            <a:ext cx="5120640" cy="292608"/>
          </a:xfrm>
          <a:prstGeom prst="rect">
            <a:avLst/>
          </a:prstGeom>
          <a:noFill/>
        </p:spPr>
        <p:txBody>
          <a:bodyPr wrap="square" lIns="0" tIns="0" rIns="0" bIns="0" rtlCol="0" anchor="ctr"/>
          <a:lstStyle/>
          <a:p>
            <a:pPr marL="0" indent="0">
              <a:buNone/>
            </a:pPr>
            <a:r>
              <a:rPr lang="en-US" sz="1400" b="1" dirty="0">
                <a:solidFill>
                  <a:srgbClr val="9A4518"/>
                </a:solidFill>
                <a:latin typeface="Calibri" panose="020F0502020204030204" pitchFamily="34" charset="0"/>
                <a:ea typeface="Calibri" panose="020F0502020204030204" pitchFamily="34" charset="-122"/>
                <a:cs typeface="Calibri" panose="020F0502020204030204" pitchFamily="34" charset="-120"/>
              </a:rPr>
              <a:t>Satu bulan sewa per orang.</a:t>
            </a:r>
            <a:endParaRPr lang="en-US" sz="1400" dirty="0"/>
          </a:p>
        </p:txBody>
      </p:sp>
      <p:sp>
        <p:nvSpPr>
          <p:cNvPr id="20" name="Text 18"/>
          <p:cNvSpPr/>
          <p:nvPr/>
        </p:nvSpPr>
        <p:spPr>
          <a:xfrm>
            <a:off x="640080" y="4800600"/>
            <a:ext cx="5120640" cy="1051560"/>
          </a:xfrm>
          <a:prstGeom prst="rect">
            <a:avLst/>
          </a:prstGeom>
          <a:noFill/>
        </p:spPr>
        <p:txBody>
          <a:bodyPr wrap="square" lIns="0" tIns="0" rIns="0" bIns="0" rtlCol="0" anchor="ctr"/>
          <a:lstStyle/>
          <a:p>
            <a:pPr marL="0" indent="0">
              <a:buNone/>
            </a:pPr>
            <a:r>
              <a:rPr lang="en-US" sz="1500" dirty="0">
                <a:solidFill>
                  <a:srgbClr val="3F382F"/>
                </a:solidFill>
                <a:latin typeface="Calibri" panose="020F0502020204030204" pitchFamily="34" charset="0"/>
                <a:ea typeface="Calibri" panose="020F0502020204030204" pitchFamily="34" charset="-122"/>
                <a:cs typeface="Calibri" panose="020F0502020204030204" pitchFamily="34" charset="-120"/>
              </a:rPr>
              <a:t>Enam penempatan setahun pada kamar Rp1,2 juta berarti sekitar Rp7,2 juta yang tidak masuk ke pemilik.</a:t>
            </a:r>
            <a:endParaRPr lang="en-US" sz="1500" dirty="0"/>
          </a:p>
        </p:txBody>
      </p:sp>
      <p:sp>
        <p:nvSpPr>
          <p:cNvPr id="21" name="Shape 19"/>
          <p:cNvSpPr/>
          <p:nvPr/>
        </p:nvSpPr>
        <p:spPr>
          <a:xfrm>
            <a:off x="6236208" y="3794760"/>
            <a:ext cx="5623560" cy="2331720"/>
          </a:xfrm>
          <a:prstGeom prst="roundRect">
            <a:avLst>
              <a:gd name="adj" fmla="val 3137"/>
            </a:avLst>
          </a:prstGeom>
          <a:solidFill>
            <a:srgbClr val="FBF8F3"/>
          </a:solidFill>
          <a:ln w="12700">
            <a:solidFill>
              <a:srgbClr val="D9CFBF"/>
            </a:solidFill>
            <a:prstDash val="solid"/>
          </a:ln>
        </p:spPr>
        <p:txBody>
          <a:bodyPr/>
          <a:p/>
        </p:txBody>
      </p:sp>
      <p:sp>
        <p:nvSpPr>
          <p:cNvPr id="22" name="Text 20"/>
          <p:cNvSpPr/>
          <p:nvPr/>
        </p:nvSpPr>
        <p:spPr>
          <a:xfrm>
            <a:off x="6492240" y="3995928"/>
            <a:ext cx="5120640" cy="329184"/>
          </a:xfrm>
          <a:prstGeom prst="rect">
            <a:avLst/>
          </a:prstGeom>
          <a:noFill/>
        </p:spPr>
        <p:txBody>
          <a:bodyPr wrap="square" lIns="0" tIns="0" rIns="0" bIns="0" rtlCol="0" anchor="ctr"/>
          <a:lstStyle/>
          <a:p>
            <a:pPr marL="0" indent="0">
              <a:buNone/>
            </a:pPr>
            <a:r>
              <a:rPr lang="en-US" sz="2000" dirty="0">
                <a:solidFill>
                  <a:srgbClr val="1A1814"/>
                </a:solidFill>
                <a:latin typeface="Georgia" panose="02040502050405020303" pitchFamily="34" charset="0"/>
                <a:ea typeface="Georgia" panose="02040502050405020303" pitchFamily="34" charset="-122"/>
                <a:cs typeface="Georgia" panose="02040502050405020303" pitchFamily="34" charset="-120"/>
              </a:rPr>
              <a:t>04   Catatan di kepala</a:t>
            </a:r>
            <a:endParaRPr lang="en-US" sz="2000" dirty="0"/>
          </a:p>
        </p:txBody>
      </p:sp>
      <p:sp>
        <p:nvSpPr>
          <p:cNvPr id="23" name="Text 21"/>
          <p:cNvSpPr/>
          <p:nvPr/>
        </p:nvSpPr>
        <p:spPr>
          <a:xfrm>
            <a:off x="6492240" y="4416552"/>
            <a:ext cx="5120640" cy="292608"/>
          </a:xfrm>
          <a:prstGeom prst="rect">
            <a:avLst/>
          </a:prstGeom>
          <a:noFill/>
        </p:spPr>
        <p:txBody>
          <a:bodyPr wrap="square" lIns="0" tIns="0" rIns="0" bIns="0" rtlCol="0" anchor="ctr"/>
          <a:lstStyle/>
          <a:p>
            <a:pPr marL="0" indent="0">
              <a:buNone/>
            </a:pPr>
            <a:r>
              <a:rPr lang="en-US" sz="1400" b="1" dirty="0">
                <a:solidFill>
                  <a:srgbClr val="9A4518"/>
                </a:solidFill>
                <a:latin typeface="Calibri" panose="020F0502020204030204" pitchFamily="34" charset="0"/>
                <a:ea typeface="Calibri" panose="020F0502020204030204" pitchFamily="34" charset="-122"/>
                <a:cs typeface="Calibri" panose="020F0502020204030204" pitchFamily="34" charset="-120"/>
              </a:rPr>
              <a:t>Pengganti tidak bisa nerusin.</a:t>
            </a:r>
            <a:endParaRPr lang="en-US" sz="1400" dirty="0"/>
          </a:p>
        </p:txBody>
      </p:sp>
      <p:sp>
        <p:nvSpPr>
          <p:cNvPr id="24" name="Text 22"/>
          <p:cNvSpPr/>
          <p:nvPr/>
        </p:nvSpPr>
        <p:spPr>
          <a:xfrm>
            <a:off x="6492240" y="4800600"/>
            <a:ext cx="5120640" cy="1051560"/>
          </a:xfrm>
          <a:prstGeom prst="rect">
            <a:avLst/>
          </a:prstGeom>
          <a:noFill/>
        </p:spPr>
        <p:txBody>
          <a:bodyPr wrap="square" lIns="0" tIns="0" rIns="0" bIns="0" rtlCol="0" anchor="ctr"/>
          <a:lstStyle/>
          <a:p>
            <a:pPr marL="0" indent="0">
              <a:buNone/>
            </a:pPr>
            <a:r>
              <a:rPr lang="en-US" sz="1500" dirty="0">
                <a:solidFill>
                  <a:srgbClr val="3F382F"/>
                </a:solidFill>
                <a:latin typeface="Calibri" panose="020F0502020204030204" pitchFamily="34" charset="0"/>
                <a:ea typeface="Calibri" panose="020F0502020204030204" pitchFamily="34" charset="-122"/>
                <a:cs typeface="Calibri" panose="020F0502020204030204" pitchFamily="34" charset="-120"/>
              </a:rPr>
              <a:t>Kamar mana yang booking, mana yang sudah bayar, ada di ingatan satu orang. Cuti sehari, jawabannya macet.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EFE6"/>
          </a:solidFill>
        </p:spPr>
        <p:txBody>
          <a:bodyPr/>
          <a:p/>
        </p:txBody>
      </p:sp>
      <p:sp>
        <p:nvSpPr>
          <p:cNvPr id="3" name="Shape 1"/>
          <p:cNvSpPr/>
          <p:nvPr/>
        </p:nvSpPr>
        <p:spPr>
          <a:xfrm>
            <a:off x="0" y="0"/>
            <a:ext cx="91440" cy="6858000"/>
          </a:xfrm>
          <a:prstGeom prst="rect">
            <a:avLst/>
          </a:prstGeom>
          <a:solidFill>
            <a:srgbClr val="C4622D"/>
          </a:solidFill>
        </p:spPr>
        <p:txBody>
          <a:bodyPr/>
          <a:p/>
        </p:txBody>
      </p:sp>
      <p:sp>
        <p:nvSpPr>
          <p:cNvPr id="4" name="Shape 2"/>
          <p:cNvSpPr/>
          <p:nvPr/>
        </p:nvSpPr>
        <p:spPr>
          <a:xfrm>
            <a:off x="0" y="6601968"/>
            <a:ext cx="12191695" cy="256032"/>
          </a:xfrm>
          <a:prstGeom prst="rect">
            <a:avLst/>
          </a:prstGeom>
          <a:solidFill>
            <a:srgbClr val="1A1814"/>
          </a:solidFill>
        </p:spPr>
        <p:txBody>
          <a:bodyPr/>
          <a:p/>
        </p:txBody>
      </p:sp>
      <p:sp>
        <p:nvSpPr>
          <p:cNvPr id="5" name="Text 3"/>
          <p:cNvSpPr/>
          <p:nvPr/>
        </p:nvSpPr>
        <p:spPr>
          <a:xfrm>
            <a:off x="347472" y="6601968"/>
            <a:ext cx="9144000" cy="256032"/>
          </a:xfrm>
          <a:prstGeom prst="rect">
            <a:avLst/>
          </a:prstGeom>
          <a:noFill/>
        </p:spPr>
        <p:txBody>
          <a:bodyPr wrap="square" lIns="0" tIns="0" rIns="0" bIns="0" rtlCol="0" anchor="ctr"/>
          <a:lstStyle/>
          <a:p>
            <a:pPr marL="0" indent="0">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HUNI   ·   Proposal website kos &amp; kontrakan   ·   Oktober 2026</a:t>
            </a:r>
            <a:endParaRPr lang="en-US" sz="1100" dirty="0"/>
          </a:p>
        </p:txBody>
      </p:sp>
      <p:sp>
        <p:nvSpPr>
          <p:cNvPr id="6" name="Text 4"/>
          <p:cNvSpPr/>
          <p:nvPr/>
        </p:nvSpPr>
        <p:spPr>
          <a:xfrm>
            <a:off x="9509760" y="6601968"/>
            <a:ext cx="2331720" cy="256032"/>
          </a:xfrm>
          <a:prstGeom prst="rect">
            <a:avLst/>
          </a:prstGeom>
          <a:noFill/>
        </p:spPr>
        <p:txBody>
          <a:bodyPr wrap="square" lIns="0" tIns="0" rIns="0" bIns="0" rtlCol="0" anchor="ctr"/>
          <a:lstStyle/>
          <a:p>
            <a:pPr marL="0" indent="0" algn="r">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03  /  36</a:t>
            </a:r>
            <a:endParaRPr lang="en-US" sz="1100" dirty="0"/>
          </a:p>
        </p:txBody>
      </p:sp>
      <p:sp>
        <p:nvSpPr>
          <p:cNvPr id="7" name="Text 5"/>
          <p:cNvSpPr/>
          <p:nvPr/>
        </p:nvSpPr>
        <p:spPr>
          <a:xfrm>
            <a:off x="384048" y="256032"/>
            <a:ext cx="11338560" cy="457200"/>
          </a:xfrm>
          <a:prstGeom prst="rect">
            <a:avLst/>
          </a:prstGeom>
          <a:noFill/>
        </p:spPr>
        <p:txBody>
          <a:bodyPr wrap="square" lIns="0" tIns="0" rIns="0" bIns="0" rtlCol="0" anchor="ctr"/>
          <a:lstStyle/>
          <a:p>
            <a:pPr marL="0" indent="0">
              <a:buNone/>
            </a:pPr>
            <a:r>
              <a:rPr lang="en-US" sz="2800" dirty="0">
                <a:solidFill>
                  <a:srgbClr val="1A1814"/>
                </a:solidFill>
                <a:latin typeface="Georgia" panose="02040502050405020303" pitchFamily="34" charset="0"/>
                <a:ea typeface="Georgia" panose="02040502050405020303" pitchFamily="34" charset="-122"/>
                <a:cs typeface="Georgia" panose="02040502050405020303" pitchFamily="34" charset="-120"/>
              </a:rPr>
              <a:t>Satu situs. Dua sisi. Tidak lewat calo dulu.</a:t>
            </a:r>
            <a:endParaRPr lang="en-US" sz="2800" dirty="0"/>
          </a:p>
        </p:txBody>
      </p:sp>
      <p:sp>
        <p:nvSpPr>
          <p:cNvPr id="8" name="Text 6"/>
          <p:cNvSpPr/>
          <p:nvPr/>
        </p:nvSpPr>
        <p:spPr>
          <a:xfrm>
            <a:off x="384048" y="804672"/>
            <a:ext cx="11155680" cy="329184"/>
          </a:xfrm>
          <a:prstGeom prst="rect">
            <a:avLst/>
          </a:prstGeom>
          <a:noFill/>
        </p:spPr>
        <p:txBody>
          <a:bodyPr wrap="square" lIns="0" tIns="0" rIns="0" bIns="0" rtlCol="0" anchor="ctr"/>
          <a:lstStyle/>
          <a:p>
            <a:pPr marL="0" indent="0">
              <a:buNone/>
            </a:pPr>
            <a:r>
              <a:rPr lang="en-US" sz="1500" dirty="0">
                <a:solidFill>
                  <a:srgbClr val="6F675C"/>
                </a:solidFill>
                <a:latin typeface="Calibri" panose="020F0502020204030204" pitchFamily="34" charset="0"/>
                <a:ea typeface="Calibri" panose="020F0502020204030204" pitchFamily="34" charset="-122"/>
                <a:cs typeface="Calibri" panose="020F0502020204030204" pitchFamily="34" charset="-120"/>
              </a:rPr>
              <a:t>HUNI diposisikan sebagai website milik pengelola, bukan aplikasi nasional yang merebut merek kos Anda.</a:t>
            </a:r>
            <a:endParaRPr lang="en-US" sz="1500" dirty="0"/>
          </a:p>
        </p:txBody>
      </p:sp>
      <p:sp>
        <p:nvSpPr>
          <p:cNvPr id="9" name="Shape 7"/>
          <p:cNvSpPr/>
          <p:nvPr/>
        </p:nvSpPr>
        <p:spPr>
          <a:xfrm>
            <a:off x="384048" y="1371600"/>
            <a:ext cx="2761488" cy="2880360"/>
          </a:xfrm>
          <a:prstGeom prst="roundRect">
            <a:avLst>
              <a:gd name="adj" fmla="val 2649"/>
            </a:avLst>
          </a:prstGeom>
          <a:solidFill>
            <a:srgbClr val="FBF8F3"/>
          </a:solidFill>
          <a:ln w="12700">
            <a:solidFill>
              <a:srgbClr val="D9CFBF"/>
            </a:solidFill>
            <a:prstDash val="solid"/>
          </a:ln>
        </p:spPr>
        <p:txBody>
          <a:bodyPr/>
          <a:p/>
        </p:txBody>
      </p:sp>
      <p:sp>
        <p:nvSpPr>
          <p:cNvPr id="10" name="Text 8"/>
          <p:cNvSpPr/>
          <p:nvPr/>
        </p:nvSpPr>
        <p:spPr>
          <a:xfrm>
            <a:off x="566928" y="1554480"/>
            <a:ext cx="2377440" cy="365760"/>
          </a:xfrm>
          <a:prstGeom prst="rect">
            <a:avLst/>
          </a:prstGeom>
          <a:noFill/>
        </p:spPr>
        <p:txBody>
          <a:bodyPr wrap="square" lIns="0" tIns="0" rIns="0" bIns="0" rtlCol="0" anchor="ctr"/>
          <a:lstStyle/>
          <a:p>
            <a:pPr marL="0" indent="0">
              <a:buNone/>
            </a:pPr>
            <a:r>
              <a:rPr lang="en-US" sz="2200" dirty="0">
                <a:solidFill>
                  <a:srgbClr val="C4622D"/>
                </a:solidFill>
                <a:latin typeface="Georgia" panose="02040502050405020303" pitchFamily="34" charset="0"/>
                <a:ea typeface="Georgia" panose="02040502050405020303" pitchFamily="34" charset="-122"/>
                <a:cs typeface="Georgia" panose="02040502050405020303" pitchFamily="34" charset="-120"/>
              </a:rPr>
              <a:t>01</a:t>
            </a:r>
            <a:endParaRPr lang="en-US" sz="2200" dirty="0"/>
          </a:p>
        </p:txBody>
      </p:sp>
      <p:sp>
        <p:nvSpPr>
          <p:cNvPr id="11" name="Text 9"/>
          <p:cNvSpPr/>
          <p:nvPr/>
        </p:nvSpPr>
        <p:spPr>
          <a:xfrm>
            <a:off x="566928" y="2011680"/>
            <a:ext cx="2377440" cy="384048"/>
          </a:xfrm>
          <a:prstGeom prst="rect">
            <a:avLst/>
          </a:prstGeom>
          <a:noFill/>
        </p:spPr>
        <p:txBody>
          <a:bodyPr wrap="square" lIns="0" tIns="0" rIns="0" bIns="0" rtlCol="0" anchor="ctr"/>
          <a:lstStyle/>
          <a:p>
            <a:pPr marL="0" indent="0">
              <a:buNone/>
            </a:pPr>
            <a:r>
              <a:rPr lang="en-US" sz="2200" dirty="0">
                <a:solidFill>
                  <a:srgbClr val="1A1814"/>
                </a:solidFill>
                <a:latin typeface="Georgia" panose="02040502050405020303" pitchFamily="34" charset="0"/>
                <a:ea typeface="Georgia" panose="02040502050405020303" pitchFamily="34" charset="-122"/>
                <a:cs typeface="Georgia" panose="02040502050405020303" pitchFamily="34" charset="-120"/>
              </a:rPr>
              <a:t>Pasang</a:t>
            </a:r>
            <a:endParaRPr lang="en-US" sz="2200" dirty="0"/>
          </a:p>
        </p:txBody>
      </p:sp>
      <p:sp>
        <p:nvSpPr>
          <p:cNvPr id="12" name="Text 10"/>
          <p:cNvSpPr/>
          <p:nvPr/>
        </p:nvSpPr>
        <p:spPr>
          <a:xfrm>
            <a:off x="566928" y="2514600"/>
            <a:ext cx="2377440" cy="1463040"/>
          </a:xfrm>
          <a:prstGeom prst="rect">
            <a:avLst/>
          </a:prstGeom>
          <a:noFill/>
        </p:spPr>
        <p:txBody>
          <a:bodyPr wrap="square" lIns="0" tIns="0" rIns="0" bIns="0" rtlCol="0" anchor="ctr"/>
          <a:lstStyle/>
          <a:p>
            <a:pPr marL="0" indent="0">
              <a:buNone/>
            </a:pPr>
            <a:r>
              <a:rPr lang="en-US" sz="1400" dirty="0">
                <a:solidFill>
                  <a:srgbClr val="3F382F"/>
                </a:solidFill>
                <a:latin typeface="Calibri" panose="020F0502020204030204" pitchFamily="34" charset="0"/>
                <a:ea typeface="Calibri" panose="020F0502020204030204" pitchFamily="34" charset="-122"/>
                <a:cs typeface="Calibri" panose="020F0502020204030204" pitchFamily="34" charset="-120"/>
              </a:rPr>
              <a:t>Foto, harga, fasilitas, dan aturan ditulis sekali. Tidak hilang di riwayat chat.</a:t>
            </a:r>
            <a:endParaRPr lang="en-US" sz="1400" dirty="0"/>
          </a:p>
        </p:txBody>
      </p:sp>
      <p:sp>
        <p:nvSpPr>
          <p:cNvPr id="13" name="Shape 11"/>
          <p:cNvSpPr/>
          <p:nvPr/>
        </p:nvSpPr>
        <p:spPr>
          <a:xfrm>
            <a:off x="3310128" y="1371600"/>
            <a:ext cx="2761488" cy="2880360"/>
          </a:xfrm>
          <a:prstGeom prst="roundRect">
            <a:avLst>
              <a:gd name="adj" fmla="val 2649"/>
            </a:avLst>
          </a:prstGeom>
          <a:solidFill>
            <a:srgbClr val="FBF8F3"/>
          </a:solidFill>
          <a:ln w="12700">
            <a:solidFill>
              <a:srgbClr val="D9CFBF"/>
            </a:solidFill>
            <a:prstDash val="solid"/>
          </a:ln>
        </p:spPr>
        <p:txBody>
          <a:bodyPr/>
          <a:p/>
        </p:txBody>
      </p:sp>
      <p:sp>
        <p:nvSpPr>
          <p:cNvPr id="14" name="Text 12"/>
          <p:cNvSpPr/>
          <p:nvPr/>
        </p:nvSpPr>
        <p:spPr>
          <a:xfrm>
            <a:off x="3493008" y="1554480"/>
            <a:ext cx="2377440" cy="365760"/>
          </a:xfrm>
          <a:prstGeom prst="rect">
            <a:avLst/>
          </a:prstGeom>
          <a:noFill/>
        </p:spPr>
        <p:txBody>
          <a:bodyPr wrap="square" lIns="0" tIns="0" rIns="0" bIns="0" rtlCol="0" anchor="ctr"/>
          <a:lstStyle/>
          <a:p>
            <a:pPr marL="0" indent="0">
              <a:buNone/>
            </a:pPr>
            <a:r>
              <a:rPr lang="en-US" sz="2200" dirty="0">
                <a:solidFill>
                  <a:srgbClr val="C4622D"/>
                </a:solidFill>
                <a:latin typeface="Georgia" panose="02040502050405020303" pitchFamily="34" charset="0"/>
                <a:ea typeface="Georgia" panose="02040502050405020303" pitchFamily="34" charset="-122"/>
                <a:cs typeface="Georgia" panose="02040502050405020303" pitchFamily="34" charset="-120"/>
              </a:rPr>
              <a:t>02</a:t>
            </a:r>
            <a:endParaRPr lang="en-US" sz="2200" dirty="0"/>
          </a:p>
        </p:txBody>
      </p:sp>
      <p:sp>
        <p:nvSpPr>
          <p:cNvPr id="15" name="Text 13"/>
          <p:cNvSpPr/>
          <p:nvPr/>
        </p:nvSpPr>
        <p:spPr>
          <a:xfrm>
            <a:off x="3493008" y="2011680"/>
            <a:ext cx="2377440" cy="384048"/>
          </a:xfrm>
          <a:prstGeom prst="rect">
            <a:avLst/>
          </a:prstGeom>
          <a:noFill/>
        </p:spPr>
        <p:txBody>
          <a:bodyPr wrap="square" lIns="0" tIns="0" rIns="0" bIns="0" rtlCol="0" anchor="ctr"/>
          <a:lstStyle/>
          <a:p>
            <a:pPr marL="0" indent="0">
              <a:buNone/>
            </a:pPr>
            <a:r>
              <a:rPr lang="en-US" sz="2200" dirty="0">
                <a:solidFill>
                  <a:srgbClr val="1A1814"/>
                </a:solidFill>
                <a:latin typeface="Georgia" panose="02040502050405020303" pitchFamily="34" charset="0"/>
                <a:ea typeface="Georgia" panose="02040502050405020303" pitchFamily="34" charset="-122"/>
                <a:cs typeface="Georgia" panose="02040502050405020303" pitchFamily="34" charset="-120"/>
              </a:rPr>
              <a:t>Saring</a:t>
            </a:r>
            <a:endParaRPr lang="en-US" sz="2200" dirty="0"/>
          </a:p>
        </p:txBody>
      </p:sp>
      <p:sp>
        <p:nvSpPr>
          <p:cNvPr id="16" name="Text 14"/>
          <p:cNvSpPr/>
          <p:nvPr/>
        </p:nvSpPr>
        <p:spPr>
          <a:xfrm>
            <a:off x="3493008" y="2514600"/>
            <a:ext cx="2377440" cy="1463040"/>
          </a:xfrm>
          <a:prstGeom prst="rect">
            <a:avLst/>
          </a:prstGeom>
          <a:noFill/>
        </p:spPr>
        <p:txBody>
          <a:bodyPr wrap="square" lIns="0" tIns="0" rIns="0" bIns="0" rtlCol="0" anchor="ctr"/>
          <a:lstStyle/>
          <a:p>
            <a:pPr marL="0" indent="0">
              <a:buNone/>
            </a:pPr>
            <a:r>
              <a:rPr lang="en-US" sz="1400" dirty="0">
                <a:solidFill>
                  <a:srgbClr val="3F382F"/>
                </a:solidFill>
                <a:latin typeface="Calibri" panose="020F0502020204030204" pitchFamily="34" charset="0"/>
                <a:ea typeface="Calibri" panose="020F0502020204030204" pitchFamily="34" charset="-122"/>
                <a:cs typeface="Calibri" panose="020F0502020204030204" pitchFamily="34" charset="-120"/>
              </a:rPr>
              <a:t>Calon penyewa pilih kota, jenis, dan batas harga sebelum bertanya.</a:t>
            </a:r>
            <a:endParaRPr lang="en-US" sz="1400" dirty="0"/>
          </a:p>
        </p:txBody>
      </p:sp>
      <p:sp>
        <p:nvSpPr>
          <p:cNvPr id="17" name="Shape 15"/>
          <p:cNvSpPr/>
          <p:nvPr/>
        </p:nvSpPr>
        <p:spPr>
          <a:xfrm>
            <a:off x="6236208" y="1371600"/>
            <a:ext cx="2761488" cy="2880360"/>
          </a:xfrm>
          <a:prstGeom prst="roundRect">
            <a:avLst>
              <a:gd name="adj" fmla="val 2649"/>
            </a:avLst>
          </a:prstGeom>
          <a:solidFill>
            <a:srgbClr val="FBF8F3"/>
          </a:solidFill>
          <a:ln w="12700">
            <a:solidFill>
              <a:srgbClr val="D9CFBF"/>
            </a:solidFill>
            <a:prstDash val="solid"/>
          </a:ln>
        </p:spPr>
        <p:txBody>
          <a:bodyPr/>
          <a:p/>
        </p:txBody>
      </p:sp>
      <p:sp>
        <p:nvSpPr>
          <p:cNvPr id="18" name="Text 16"/>
          <p:cNvSpPr/>
          <p:nvPr/>
        </p:nvSpPr>
        <p:spPr>
          <a:xfrm>
            <a:off x="6419088" y="1554480"/>
            <a:ext cx="2377440" cy="365760"/>
          </a:xfrm>
          <a:prstGeom prst="rect">
            <a:avLst/>
          </a:prstGeom>
          <a:noFill/>
        </p:spPr>
        <p:txBody>
          <a:bodyPr wrap="square" lIns="0" tIns="0" rIns="0" bIns="0" rtlCol="0" anchor="ctr"/>
          <a:lstStyle/>
          <a:p>
            <a:pPr marL="0" indent="0">
              <a:buNone/>
            </a:pPr>
            <a:r>
              <a:rPr lang="en-US" sz="2200" dirty="0">
                <a:solidFill>
                  <a:srgbClr val="C4622D"/>
                </a:solidFill>
                <a:latin typeface="Georgia" panose="02040502050405020303" pitchFamily="34" charset="0"/>
                <a:ea typeface="Georgia" panose="02040502050405020303" pitchFamily="34" charset="-122"/>
                <a:cs typeface="Georgia" panose="02040502050405020303" pitchFamily="34" charset="-120"/>
              </a:rPr>
              <a:t>03</a:t>
            </a:r>
            <a:endParaRPr lang="en-US" sz="2200" dirty="0"/>
          </a:p>
        </p:txBody>
      </p:sp>
      <p:sp>
        <p:nvSpPr>
          <p:cNvPr id="19" name="Text 17"/>
          <p:cNvSpPr/>
          <p:nvPr/>
        </p:nvSpPr>
        <p:spPr>
          <a:xfrm>
            <a:off x="6419088" y="2011680"/>
            <a:ext cx="2377440" cy="384048"/>
          </a:xfrm>
          <a:prstGeom prst="rect">
            <a:avLst/>
          </a:prstGeom>
          <a:noFill/>
        </p:spPr>
        <p:txBody>
          <a:bodyPr wrap="square" lIns="0" tIns="0" rIns="0" bIns="0" rtlCol="0" anchor="ctr"/>
          <a:lstStyle/>
          <a:p>
            <a:pPr marL="0" indent="0">
              <a:buNone/>
            </a:pPr>
            <a:r>
              <a:rPr lang="en-US" sz="2200" dirty="0">
                <a:solidFill>
                  <a:srgbClr val="1A1814"/>
                </a:solidFill>
                <a:latin typeface="Georgia" panose="02040502050405020303" pitchFamily="34" charset="0"/>
                <a:ea typeface="Georgia" panose="02040502050405020303" pitchFamily="34" charset="-122"/>
                <a:cs typeface="Georgia" panose="02040502050405020303" pitchFamily="34" charset="-120"/>
              </a:rPr>
              <a:t>Ajukan</a:t>
            </a:r>
            <a:endParaRPr lang="en-US" sz="2200" dirty="0"/>
          </a:p>
        </p:txBody>
      </p:sp>
      <p:sp>
        <p:nvSpPr>
          <p:cNvPr id="20" name="Text 18"/>
          <p:cNvSpPr/>
          <p:nvPr/>
        </p:nvSpPr>
        <p:spPr>
          <a:xfrm>
            <a:off x="6419088" y="2514600"/>
            <a:ext cx="2377440" cy="1463040"/>
          </a:xfrm>
          <a:prstGeom prst="rect">
            <a:avLst/>
          </a:prstGeom>
          <a:noFill/>
        </p:spPr>
        <p:txBody>
          <a:bodyPr wrap="square" lIns="0" tIns="0" rIns="0" bIns="0" rtlCol="0" anchor="ctr"/>
          <a:lstStyle/>
          <a:p>
            <a:pPr marL="0" indent="0">
              <a:buNone/>
            </a:pPr>
            <a:r>
              <a:rPr lang="en-US" sz="1400" dirty="0">
                <a:solidFill>
                  <a:srgbClr val="3F382F"/>
                </a:solidFill>
                <a:latin typeface="Calibri" panose="020F0502020204030204" pitchFamily="34" charset="0"/>
                <a:ea typeface="Calibri" panose="020F0502020204030204" pitchFamily="34" charset="-122"/>
                <a:cs typeface="Calibri" panose="020F0502020204030204" pitchFamily="34" charset="-120"/>
              </a:rPr>
              <a:t>Nama, nomor, tanggal masuk, dan catatan masuk ke satu daftar.</a:t>
            </a:r>
            <a:endParaRPr lang="en-US" sz="1400" dirty="0"/>
          </a:p>
        </p:txBody>
      </p:sp>
      <p:sp>
        <p:nvSpPr>
          <p:cNvPr id="21" name="Shape 19"/>
          <p:cNvSpPr/>
          <p:nvPr/>
        </p:nvSpPr>
        <p:spPr>
          <a:xfrm>
            <a:off x="9162288" y="1371600"/>
            <a:ext cx="2761488" cy="2880360"/>
          </a:xfrm>
          <a:prstGeom prst="roundRect">
            <a:avLst>
              <a:gd name="adj" fmla="val 2649"/>
            </a:avLst>
          </a:prstGeom>
          <a:solidFill>
            <a:srgbClr val="FBF8F3"/>
          </a:solidFill>
          <a:ln w="12700">
            <a:solidFill>
              <a:srgbClr val="D9CFBF"/>
            </a:solidFill>
            <a:prstDash val="solid"/>
          </a:ln>
        </p:spPr>
        <p:txBody>
          <a:bodyPr/>
          <a:p/>
        </p:txBody>
      </p:sp>
      <p:sp>
        <p:nvSpPr>
          <p:cNvPr id="22" name="Text 20"/>
          <p:cNvSpPr/>
          <p:nvPr/>
        </p:nvSpPr>
        <p:spPr>
          <a:xfrm>
            <a:off x="9345168" y="1554480"/>
            <a:ext cx="2377440" cy="365760"/>
          </a:xfrm>
          <a:prstGeom prst="rect">
            <a:avLst/>
          </a:prstGeom>
          <a:noFill/>
        </p:spPr>
        <p:txBody>
          <a:bodyPr wrap="square" lIns="0" tIns="0" rIns="0" bIns="0" rtlCol="0" anchor="ctr"/>
          <a:lstStyle/>
          <a:p>
            <a:pPr marL="0" indent="0">
              <a:buNone/>
            </a:pPr>
            <a:r>
              <a:rPr lang="en-US" sz="2200" dirty="0">
                <a:solidFill>
                  <a:srgbClr val="C4622D"/>
                </a:solidFill>
                <a:latin typeface="Georgia" panose="02040502050405020303" pitchFamily="34" charset="0"/>
                <a:ea typeface="Georgia" panose="02040502050405020303" pitchFamily="34" charset="-122"/>
                <a:cs typeface="Georgia" panose="02040502050405020303" pitchFamily="34" charset="-120"/>
              </a:rPr>
              <a:t>04</a:t>
            </a:r>
            <a:endParaRPr lang="en-US" sz="2200" dirty="0"/>
          </a:p>
        </p:txBody>
      </p:sp>
      <p:sp>
        <p:nvSpPr>
          <p:cNvPr id="23" name="Text 21"/>
          <p:cNvSpPr/>
          <p:nvPr/>
        </p:nvSpPr>
        <p:spPr>
          <a:xfrm>
            <a:off x="9345168" y="2011680"/>
            <a:ext cx="2377440" cy="384048"/>
          </a:xfrm>
          <a:prstGeom prst="rect">
            <a:avLst/>
          </a:prstGeom>
          <a:noFill/>
        </p:spPr>
        <p:txBody>
          <a:bodyPr wrap="square" lIns="0" tIns="0" rIns="0" bIns="0" rtlCol="0" anchor="ctr"/>
          <a:lstStyle/>
          <a:p>
            <a:pPr marL="0" indent="0">
              <a:buNone/>
            </a:pPr>
            <a:r>
              <a:rPr lang="en-US" sz="2200" dirty="0">
                <a:solidFill>
                  <a:srgbClr val="1A1814"/>
                </a:solidFill>
                <a:latin typeface="Georgia" panose="02040502050405020303" pitchFamily="34" charset="0"/>
                <a:ea typeface="Georgia" panose="02040502050405020303" pitchFamily="34" charset="-122"/>
                <a:cs typeface="Georgia" panose="02040502050405020303" pitchFamily="34" charset="-120"/>
              </a:rPr>
              <a:t>Catat</a:t>
            </a:r>
            <a:endParaRPr lang="en-US" sz="2200" dirty="0"/>
          </a:p>
        </p:txBody>
      </p:sp>
      <p:sp>
        <p:nvSpPr>
          <p:cNvPr id="24" name="Text 22"/>
          <p:cNvSpPr/>
          <p:nvPr/>
        </p:nvSpPr>
        <p:spPr>
          <a:xfrm>
            <a:off x="9345168" y="2514600"/>
            <a:ext cx="2377440" cy="1463040"/>
          </a:xfrm>
          <a:prstGeom prst="rect">
            <a:avLst/>
          </a:prstGeom>
          <a:noFill/>
        </p:spPr>
        <p:txBody>
          <a:bodyPr wrap="square" lIns="0" tIns="0" rIns="0" bIns="0" rtlCol="0" anchor="ctr"/>
          <a:lstStyle/>
          <a:p>
            <a:pPr marL="0" indent="0">
              <a:buNone/>
            </a:pPr>
            <a:r>
              <a:rPr lang="en-US" sz="1400" dirty="0">
                <a:solidFill>
                  <a:srgbClr val="3F382F"/>
                </a:solidFill>
                <a:latin typeface="Calibri" panose="020F0502020204030204" pitchFamily="34" charset="0"/>
                <a:ea typeface="Calibri" panose="020F0502020204030204" pitchFamily="34" charset="-122"/>
                <a:cs typeface="Calibri" panose="020F0502020204030204" pitchFamily="34" charset="-120"/>
              </a:rPr>
              <a:t>Kamar ditandai isi, kosong, atau booking. Pengganti bisa membacanya.</a:t>
            </a:r>
            <a:endParaRPr lang="en-US" sz="1400" dirty="0"/>
          </a:p>
        </p:txBody>
      </p:sp>
      <p:sp>
        <p:nvSpPr>
          <p:cNvPr id="25" name="Shape 23"/>
          <p:cNvSpPr/>
          <p:nvPr/>
        </p:nvSpPr>
        <p:spPr>
          <a:xfrm>
            <a:off x="384048" y="4434840"/>
            <a:ext cx="11411712" cy="1920240"/>
          </a:xfrm>
          <a:prstGeom prst="roundRect">
            <a:avLst>
              <a:gd name="adj" fmla="val 3810"/>
            </a:avLst>
          </a:prstGeom>
          <a:solidFill>
            <a:srgbClr val="2F5D50"/>
          </a:solidFill>
          <a:ln w="12700">
            <a:solidFill>
              <a:srgbClr val="2F5D50"/>
            </a:solidFill>
            <a:prstDash val="solid"/>
          </a:ln>
        </p:spPr>
        <p:txBody>
          <a:bodyPr/>
          <a:p/>
        </p:txBody>
      </p:sp>
      <p:sp>
        <p:nvSpPr>
          <p:cNvPr id="26" name="Text 24"/>
          <p:cNvSpPr/>
          <p:nvPr/>
        </p:nvSpPr>
        <p:spPr>
          <a:xfrm>
            <a:off x="640080" y="4645152"/>
            <a:ext cx="10789920" cy="365760"/>
          </a:xfrm>
          <a:prstGeom prst="rect">
            <a:avLst/>
          </a:prstGeom>
          <a:noFill/>
        </p:spPr>
        <p:txBody>
          <a:bodyPr wrap="square" lIns="0" tIns="0" rIns="0" bIns="0" rtlCol="0" anchor="ctr"/>
          <a:lstStyle/>
          <a:p>
            <a:pPr marL="0" indent="0">
              <a:buNone/>
            </a:pPr>
            <a:r>
              <a:rPr lang="en-US" sz="2000" dirty="0">
                <a:solidFill>
                  <a:srgbClr val="F4EFE6"/>
                </a:solidFill>
                <a:latin typeface="Georgia" panose="02040502050405020303" pitchFamily="34" charset="0"/>
                <a:ea typeface="Georgia" panose="02040502050405020303" pitchFamily="34" charset="-122"/>
                <a:cs typeface="Georgia" panose="02040502050405020303" pitchFamily="34" charset="-120"/>
              </a:rPr>
              <a:t>Kos dan kontrakan di halaman yang sama</a:t>
            </a:r>
            <a:endParaRPr lang="en-US" sz="2000" dirty="0"/>
          </a:p>
        </p:txBody>
      </p:sp>
      <p:sp>
        <p:nvSpPr>
          <p:cNvPr id="27" name="Text 25"/>
          <p:cNvSpPr/>
          <p:nvPr/>
        </p:nvSpPr>
        <p:spPr>
          <a:xfrm>
            <a:off x="640080" y="5074920"/>
            <a:ext cx="10789920" cy="1005840"/>
          </a:xfrm>
          <a:prstGeom prst="rect">
            <a:avLst/>
          </a:prstGeom>
          <a:noFill/>
        </p:spPr>
        <p:txBody>
          <a:bodyPr wrap="square" lIns="0" tIns="0" rIns="0" bIns="0" rtlCol="0" anchor="ctr"/>
          <a:lstStyle/>
          <a:p>
            <a:pPr marL="0" indent="0">
              <a:buNone/>
            </a:pPr>
            <a:r>
              <a:rPr lang="en-US" sz="1500" dirty="0">
                <a:solidFill>
                  <a:srgbClr val="E7DCC8"/>
                </a:solidFill>
                <a:latin typeface="Calibri" panose="020F0502020204030204" pitchFamily="34" charset="0"/>
                <a:ea typeface="Calibri" panose="020F0502020204030204" pitchFamily="34" charset="-122"/>
                <a:cs typeface="Calibri" panose="020F0502020204030204" pitchFamily="34" charset="-120"/>
              </a:rPr>
              <a:t>Kos disewa per kamar, biasanya bulanan. Kontrakan disewa per rumah, biasanya minimal setahun. Keduanya butuh foto yang jujur, harga yang satu, dan status kosong yang tidak bohong. Demo memakai contoh di Cianjur, Bandung, dan Depok.</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EFE6"/>
          </a:solidFill>
        </p:spPr>
        <p:txBody>
          <a:bodyPr/>
          <a:p/>
        </p:txBody>
      </p:sp>
      <p:sp>
        <p:nvSpPr>
          <p:cNvPr id="3" name="Shape 1"/>
          <p:cNvSpPr/>
          <p:nvPr/>
        </p:nvSpPr>
        <p:spPr>
          <a:xfrm>
            <a:off x="0" y="0"/>
            <a:ext cx="91440" cy="6858000"/>
          </a:xfrm>
          <a:prstGeom prst="rect">
            <a:avLst/>
          </a:prstGeom>
          <a:solidFill>
            <a:srgbClr val="C4622D"/>
          </a:solidFill>
        </p:spPr>
        <p:txBody>
          <a:bodyPr/>
          <a:p/>
        </p:txBody>
      </p:sp>
      <p:sp>
        <p:nvSpPr>
          <p:cNvPr id="4" name="Shape 2"/>
          <p:cNvSpPr/>
          <p:nvPr/>
        </p:nvSpPr>
        <p:spPr>
          <a:xfrm>
            <a:off x="0" y="6601968"/>
            <a:ext cx="12191695" cy="256032"/>
          </a:xfrm>
          <a:prstGeom prst="rect">
            <a:avLst/>
          </a:prstGeom>
          <a:solidFill>
            <a:srgbClr val="1A1814"/>
          </a:solidFill>
        </p:spPr>
        <p:txBody>
          <a:bodyPr/>
          <a:p/>
        </p:txBody>
      </p:sp>
      <p:sp>
        <p:nvSpPr>
          <p:cNvPr id="5" name="Text 3"/>
          <p:cNvSpPr/>
          <p:nvPr/>
        </p:nvSpPr>
        <p:spPr>
          <a:xfrm>
            <a:off x="347472" y="6601968"/>
            <a:ext cx="9144000" cy="256032"/>
          </a:xfrm>
          <a:prstGeom prst="rect">
            <a:avLst/>
          </a:prstGeom>
          <a:noFill/>
        </p:spPr>
        <p:txBody>
          <a:bodyPr wrap="square" lIns="0" tIns="0" rIns="0" bIns="0" rtlCol="0" anchor="ctr"/>
          <a:lstStyle/>
          <a:p>
            <a:pPr marL="0" indent="0">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HUNI   ·   Proposal website kos &amp; kontrakan   ·   Oktober 2026</a:t>
            </a:r>
            <a:endParaRPr lang="en-US" sz="1100" dirty="0"/>
          </a:p>
        </p:txBody>
      </p:sp>
      <p:sp>
        <p:nvSpPr>
          <p:cNvPr id="6" name="Text 4"/>
          <p:cNvSpPr/>
          <p:nvPr/>
        </p:nvSpPr>
        <p:spPr>
          <a:xfrm>
            <a:off x="9509760" y="6601968"/>
            <a:ext cx="2331720" cy="256032"/>
          </a:xfrm>
          <a:prstGeom prst="rect">
            <a:avLst/>
          </a:prstGeom>
          <a:noFill/>
        </p:spPr>
        <p:txBody>
          <a:bodyPr wrap="square" lIns="0" tIns="0" rIns="0" bIns="0" rtlCol="0" anchor="ctr"/>
          <a:lstStyle/>
          <a:p>
            <a:pPr marL="0" indent="0" algn="r">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04  /  36</a:t>
            </a:r>
            <a:endParaRPr lang="en-US" sz="1100" dirty="0"/>
          </a:p>
        </p:txBody>
      </p:sp>
      <p:sp>
        <p:nvSpPr>
          <p:cNvPr id="7" name="Text 5"/>
          <p:cNvSpPr/>
          <p:nvPr/>
        </p:nvSpPr>
        <p:spPr>
          <a:xfrm>
            <a:off x="384048" y="256032"/>
            <a:ext cx="11338560" cy="457200"/>
          </a:xfrm>
          <a:prstGeom prst="rect">
            <a:avLst/>
          </a:prstGeom>
          <a:noFill/>
        </p:spPr>
        <p:txBody>
          <a:bodyPr wrap="square" lIns="0" tIns="0" rIns="0" bIns="0" rtlCol="0" anchor="ctr"/>
          <a:lstStyle/>
          <a:p>
            <a:pPr marL="0" indent="0">
              <a:buNone/>
            </a:pPr>
            <a:r>
              <a:rPr lang="en-US" sz="2800" dirty="0">
                <a:solidFill>
                  <a:srgbClr val="1A1814"/>
                </a:solidFill>
                <a:latin typeface="Georgia" panose="02040502050405020303" pitchFamily="34" charset="0"/>
                <a:ea typeface="Georgia" panose="02040502050405020303" pitchFamily="34" charset="-122"/>
                <a:cs typeface="Georgia" panose="02040502050405020303" pitchFamily="34" charset="-120"/>
              </a:rPr>
              <a:t>Apa yang dilihat penyewa, apa yang dipegang pemilik.</a:t>
            </a:r>
            <a:endParaRPr lang="en-US" sz="2800" dirty="0"/>
          </a:p>
        </p:txBody>
      </p:sp>
      <p:sp>
        <p:nvSpPr>
          <p:cNvPr id="8" name="Shape 6"/>
          <p:cNvSpPr/>
          <p:nvPr/>
        </p:nvSpPr>
        <p:spPr>
          <a:xfrm>
            <a:off x="384048" y="1051560"/>
            <a:ext cx="5623560" cy="5257800"/>
          </a:xfrm>
          <a:prstGeom prst="roundRect">
            <a:avLst>
              <a:gd name="adj" fmla="val 1391"/>
            </a:avLst>
          </a:prstGeom>
          <a:solidFill>
            <a:srgbClr val="FBF8F3"/>
          </a:solidFill>
          <a:ln w="12700">
            <a:solidFill>
              <a:srgbClr val="D9CFBF"/>
            </a:solidFill>
            <a:prstDash val="solid"/>
          </a:ln>
        </p:spPr>
        <p:txBody>
          <a:bodyPr/>
          <a:p/>
        </p:txBody>
      </p:sp>
      <p:sp>
        <p:nvSpPr>
          <p:cNvPr id="9" name="Shape 7"/>
          <p:cNvSpPr/>
          <p:nvPr/>
        </p:nvSpPr>
        <p:spPr>
          <a:xfrm>
            <a:off x="6190488" y="1051560"/>
            <a:ext cx="5623560" cy="5257800"/>
          </a:xfrm>
          <a:prstGeom prst="roundRect">
            <a:avLst>
              <a:gd name="adj" fmla="val 1391"/>
            </a:avLst>
          </a:prstGeom>
          <a:solidFill>
            <a:srgbClr val="1A1814"/>
          </a:solidFill>
          <a:ln w="12700">
            <a:solidFill>
              <a:srgbClr val="1A1814"/>
            </a:solidFill>
            <a:prstDash val="solid"/>
          </a:ln>
        </p:spPr>
        <p:txBody>
          <a:bodyPr/>
          <a:p/>
        </p:txBody>
      </p:sp>
      <p:sp>
        <p:nvSpPr>
          <p:cNvPr id="10" name="Text 8"/>
          <p:cNvSpPr/>
          <p:nvPr/>
        </p:nvSpPr>
        <p:spPr>
          <a:xfrm>
            <a:off x="640080" y="1280160"/>
            <a:ext cx="5120640" cy="365760"/>
          </a:xfrm>
          <a:prstGeom prst="rect">
            <a:avLst/>
          </a:prstGeom>
          <a:noFill/>
        </p:spPr>
        <p:txBody>
          <a:bodyPr wrap="square" lIns="0" tIns="0" rIns="0" bIns="0" rtlCol="0" anchor="ctr"/>
          <a:lstStyle/>
          <a:p>
            <a:pPr marL="0" indent="0">
              <a:buNone/>
            </a:pPr>
            <a:r>
              <a:rPr lang="en-US" sz="2400" dirty="0">
                <a:solidFill>
                  <a:srgbClr val="1A1814"/>
                </a:solidFill>
                <a:latin typeface="Georgia" panose="02040502050405020303" pitchFamily="34" charset="0"/>
                <a:ea typeface="Georgia" panose="02040502050405020303" pitchFamily="34" charset="-122"/>
                <a:cs typeface="Georgia" panose="02040502050405020303" pitchFamily="34" charset="-120"/>
              </a:rPr>
              <a:t>Calon penghuni</a:t>
            </a:r>
            <a:endParaRPr lang="en-US" sz="2400" dirty="0"/>
          </a:p>
        </p:txBody>
      </p:sp>
      <p:sp>
        <p:nvSpPr>
          <p:cNvPr id="11" name="Text 9"/>
          <p:cNvSpPr/>
          <p:nvPr/>
        </p:nvSpPr>
        <p:spPr>
          <a:xfrm>
            <a:off x="640080" y="1920240"/>
            <a:ext cx="5029200" cy="594360"/>
          </a:xfrm>
          <a:prstGeom prst="rect">
            <a:avLst/>
          </a:prstGeom>
          <a:noFill/>
        </p:spPr>
        <p:txBody>
          <a:bodyPr wrap="square" lIns="0" tIns="0" rIns="0" bIns="0" rtlCol="0" anchor="ctr"/>
          <a:lstStyle/>
          <a:p>
            <a:pPr marL="0" indent="0">
              <a:buNone/>
            </a:pPr>
            <a:r>
              <a:rPr lang="en-US" sz="1600" dirty="0">
                <a:solidFill>
                  <a:srgbClr val="3F382F"/>
                </a:solidFill>
                <a:latin typeface="Calibri" panose="020F0502020204030204" pitchFamily="34" charset="0"/>
                <a:ea typeface="Calibri" panose="020F0502020204030204" pitchFamily="34" charset="-122"/>
                <a:cs typeface="Calibri" panose="020F0502020204030204" pitchFamily="34" charset="-120"/>
              </a:rPr>
              <a:t>Beranda dengan cari nama dan kota</a:t>
            </a:r>
            <a:endParaRPr lang="en-US" sz="1600" dirty="0"/>
          </a:p>
        </p:txBody>
      </p:sp>
      <p:sp>
        <p:nvSpPr>
          <p:cNvPr id="12" name="Text 10"/>
          <p:cNvSpPr/>
          <p:nvPr/>
        </p:nvSpPr>
        <p:spPr>
          <a:xfrm>
            <a:off x="640080" y="2651760"/>
            <a:ext cx="5029200" cy="594360"/>
          </a:xfrm>
          <a:prstGeom prst="rect">
            <a:avLst/>
          </a:prstGeom>
          <a:noFill/>
        </p:spPr>
        <p:txBody>
          <a:bodyPr wrap="square" lIns="0" tIns="0" rIns="0" bIns="0" rtlCol="0" anchor="ctr"/>
          <a:lstStyle/>
          <a:p>
            <a:pPr marL="0" indent="0">
              <a:buNone/>
            </a:pPr>
            <a:r>
              <a:rPr lang="en-US" sz="1600" dirty="0">
                <a:solidFill>
                  <a:srgbClr val="3F382F"/>
                </a:solidFill>
                <a:latin typeface="Calibri" panose="020F0502020204030204" pitchFamily="34" charset="0"/>
                <a:ea typeface="Calibri" panose="020F0502020204030204" pitchFamily="34" charset="-122"/>
                <a:cs typeface="Calibri" panose="020F0502020204030204" pitchFamily="34" charset="-120"/>
              </a:rPr>
              <a:t>Katalog: kos atau kontrakan, batas harga</a:t>
            </a:r>
            <a:endParaRPr lang="en-US" sz="1600" dirty="0"/>
          </a:p>
        </p:txBody>
      </p:sp>
      <p:sp>
        <p:nvSpPr>
          <p:cNvPr id="13" name="Text 11"/>
          <p:cNvSpPr/>
          <p:nvPr/>
        </p:nvSpPr>
        <p:spPr>
          <a:xfrm>
            <a:off x="640080" y="3383280"/>
            <a:ext cx="5029200" cy="594360"/>
          </a:xfrm>
          <a:prstGeom prst="rect">
            <a:avLst/>
          </a:prstGeom>
          <a:noFill/>
        </p:spPr>
        <p:txBody>
          <a:bodyPr wrap="square" lIns="0" tIns="0" rIns="0" bIns="0" rtlCol="0" anchor="ctr"/>
          <a:lstStyle/>
          <a:p>
            <a:pPr marL="0" indent="0">
              <a:buNone/>
            </a:pPr>
            <a:r>
              <a:rPr lang="en-US" sz="1600" dirty="0">
                <a:solidFill>
                  <a:srgbClr val="3F382F"/>
                </a:solidFill>
                <a:latin typeface="Calibri" panose="020F0502020204030204" pitchFamily="34" charset="0"/>
                <a:ea typeface="Calibri" panose="020F0502020204030204" pitchFamily="34" charset="-122"/>
                <a:cs typeface="Calibri" panose="020F0502020204030204" pitchFamily="34" charset="-120"/>
              </a:rPr>
              <a:t>Halaman unit: galeri, ukuran, aturan, sekitar</a:t>
            </a:r>
            <a:endParaRPr lang="en-US" sz="1600" dirty="0"/>
          </a:p>
        </p:txBody>
      </p:sp>
      <p:sp>
        <p:nvSpPr>
          <p:cNvPr id="14" name="Text 12"/>
          <p:cNvSpPr/>
          <p:nvPr/>
        </p:nvSpPr>
        <p:spPr>
          <a:xfrm>
            <a:off x="640080" y="4114800"/>
            <a:ext cx="5029200" cy="594360"/>
          </a:xfrm>
          <a:prstGeom prst="rect">
            <a:avLst/>
          </a:prstGeom>
          <a:noFill/>
        </p:spPr>
        <p:txBody>
          <a:bodyPr wrap="square" lIns="0" tIns="0" rIns="0" bIns="0" rtlCol="0" anchor="ctr"/>
          <a:lstStyle/>
          <a:p>
            <a:pPr marL="0" indent="0">
              <a:buNone/>
            </a:pPr>
            <a:r>
              <a:rPr lang="en-US" sz="1600" dirty="0">
                <a:solidFill>
                  <a:srgbClr val="3F382F"/>
                </a:solidFill>
                <a:latin typeface="Calibri" panose="020F0502020204030204" pitchFamily="34" charset="0"/>
                <a:ea typeface="Calibri" panose="020F0502020204030204" pitchFamily="34" charset="-122"/>
                <a:cs typeface="Calibri" panose="020F0502020204030204" pitchFamily="34" charset="-120"/>
              </a:rPr>
              <a:t>Simpan unit untuk dibandingkan</a:t>
            </a:r>
            <a:endParaRPr lang="en-US" sz="1600" dirty="0"/>
          </a:p>
        </p:txBody>
      </p:sp>
      <p:sp>
        <p:nvSpPr>
          <p:cNvPr id="15" name="Text 13"/>
          <p:cNvSpPr/>
          <p:nvPr/>
        </p:nvSpPr>
        <p:spPr>
          <a:xfrm>
            <a:off x="640080" y="4846320"/>
            <a:ext cx="5029200" cy="594360"/>
          </a:xfrm>
          <a:prstGeom prst="rect">
            <a:avLst/>
          </a:prstGeom>
          <a:noFill/>
        </p:spPr>
        <p:txBody>
          <a:bodyPr wrap="square" lIns="0" tIns="0" rIns="0" bIns="0" rtlCol="0" anchor="ctr"/>
          <a:lstStyle/>
          <a:p>
            <a:pPr marL="0" indent="0">
              <a:buNone/>
            </a:pPr>
            <a:r>
              <a:rPr lang="en-US" sz="1600" dirty="0">
                <a:solidFill>
                  <a:srgbClr val="3F382F"/>
                </a:solidFill>
                <a:latin typeface="Calibri" panose="020F0502020204030204" pitchFamily="34" charset="0"/>
                <a:ea typeface="Calibri" panose="020F0502020204030204" pitchFamily="34" charset="-122"/>
                <a:cs typeface="Calibri" panose="020F0502020204030204" pitchFamily="34" charset="-120"/>
              </a:rPr>
              <a:t>Form ajukan sewa, dengan cek nomor HP</a:t>
            </a:r>
            <a:endParaRPr lang="en-US" sz="1600" dirty="0"/>
          </a:p>
        </p:txBody>
      </p:sp>
      <p:sp>
        <p:nvSpPr>
          <p:cNvPr id="16" name="Text 14"/>
          <p:cNvSpPr/>
          <p:nvPr/>
        </p:nvSpPr>
        <p:spPr>
          <a:xfrm>
            <a:off x="6446520" y="1280160"/>
            <a:ext cx="5120640" cy="365760"/>
          </a:xfrm>
          <a:prstGeom prst="rect">
            <a:avLst/>
          </a:prstGeom>
          <a:noFill/>
        </p:spPr>
        <p:txBody>
          <a:bodyPr wrap="square" lIns="0" tIns="0" rIns="0" bIns="0" rtlCol="0" anchor="ctr"/>
          <a:lstStyle/>
          <a:p>
            <a:pPr marL="0" indent="0">
              <a:buNone/>
            </a:pPr>
            <a:r>
              <a:rPr lang="en-US" sz="2400" dirty="0">
                <a:solidFill>
                  <a:srgbClr val="F4EFE6"/>
                </a:solidFill>
                <a:latin typeface="Georgia" panose="02040502050405020303" pitchFamily="34" charset="0"/>
                <a:ea typeface="Georgia" panose="02040502050405020303" pitchFamily="34" charset="-122"/>
                <a:cs typeface="Georgia" panose="02040502050405020303" pitchFamily="34" charset="-120"/>
              </a:rPr>
              <a:t>Pemilik &amp; pengelola</a:t>
            </a:r>
            <a:endParaRPr lang="en-US" sz="2400" dirty="0"/>
          </a:p>
        </p:txBody>
      </p:sp>
      <p:sp>
        <p:nvSpPr>
          <p:cNvPr id="17" name="Text 15"/>
          <p:cNvSpPr/>
          <p:nvPr/>
        </p:nvSpPr>
        <p:spPr>
          <a:xfrm>
            <a:off x="6446520" y="1920240"/>
            <a:ext cx="5029200" cy="594360"/>
          </a:xfrm>
          <a:prstGeom prst="rect">
            <a:avLst/>
          </a:prstGeom>
          <a:noFill/>
        </p:spPr>
        <p:txBody>
          <a:bodyPr wrap="square" lIns="0" tIns="0" rIns="0" bIns="0" rtlCol="0" anchor="ctr"/>
          <a:lstStyle/>
          <a:p>
            <a:pPr marL="0" indent="0">
              <a:buNone/>
            </a:pPr>
            <a:r>
              <a:rPr lang="en-US" sz="1600" dirty="0">
                <a:solidFill>
                  <a:srgbClr val="E7DCC8"/>
                </a:solidFill>
                <a:latin typeface="Calibri" panose="020F0502020204030204" pitchFamily="34" charset="0"/>
                <a:ea typeface="Calibri" panose="020F0502020204030204" pitchFamily="34" charset="-122"/>
                <a:cs typeface="Calibri" panose="020F0502020204030204" pitchFamily="34" charset="-120"/>
              </a:rPr>
              <a:t>Papan kamar: ketuk untuk ganti status</a:t>
            </a:r>
            <a:endParaRPr lang="en-US" sz="1600" dirty="0"/>
          </a:p>
        </p:txBody>
      </p:sp>
      <p:sp>
        <p:nvSpPr>
          <p:cNvPr id="18" name="Text 16"/>
          <p:cNvSpPr/>
          <p:nvPr/>
        </p:nvSpPr>
        <p:spPr>
          <a:xfrm>
            <a:off x="6446520" y="2651760"/>
            <a:ext cx="5029200" cy="594360"/>
          </a:xfrm>
          <a:prstGeom prst="rect">
            <a:avLst/>
          </a:prstGeom>
          <a:noFill/>
        </p:spPr>
        <p:txBody>
          <a:bodyPr wrap="square" lIns="0" tIns="0" rIns="0" bIns="0" rtlCol="0" anchor="ctr"/>
          <a:lstStyle/>
          <a:p>
            <a:pPr marL="0" indent="0">
              <a:buNone/>
            </a:pPr>
            <a:r>
              <a:rPr lang="en-US" sz="1600" dirty="0">
                <a:solidFill>
                  <a:srgbClr val="E7DCC8"/>
                </a:solidFill>
                <a:latin typeface="Calibri" panose="020F0502020204030204" pitchFamily="34" charset="0"/>
                <a:ea typeface="Calibri" panose="020F0502020204030204" pitchFamily="34" charset="-122"/>
                <a:cs typeface="Calibri" panose="020F0502020204030204" pitchFamily="34" charset="-120"/>
              </a:rPr>
              <a:t>Hitungan isi, booking, dan kosong</a:t>
            </a:r>
            <a:endParaRPr lang="en-US" sz="1600" dirty="0"/>
          </a:p>
        </p:txBody>
      </p:sp>
      <p:sp>
        <p:nvSpPr>
          <p:cNvPr id="19" name="Text 17"/>
          <p:cNvSpPr/>
          <p:nvPr/>
        </p:nvSpPr>
        <p:spPr>
          <a:xfrm>
            <a:off x="6446520" y="3383280"/>
            <a:ext cx="5029200" cy="594360"/>
          </a:xfrm>
          <a:prstGeom prst="rect">
            <a:avLst/>
          </a:prstGeom>
          <a:noFill/>
        </p:spPr>
        <p:txBody>
          <a:bodyPr wrap="square" lIns="0" tIns="0" rIns="0" bIns="0" rtlCol="0" anchor="ctr"/>
          <a:lstStyle/>
          <a:p>
            <a:pPr marL="0" indent="0">
              <a:buNone/>
            </a:pPr>
            <a:r>
              <a:rPr lang="en-US" sz="1600" dirty="0">
                <a:solidFill>
                  <a:srgbClr val="E7DCC8"/>
                </a:solidFill>
                <a:latin typeface="Calibri" panose="020F0502020204030204" pitchFamily="34" charset="0"/>
                <a:ea typeface="Calibri" panose="020F0502020204030204" pitchFamily="34" charset="-122"/>
                <a:cs typeface="Calibri" panose="020F0502020204030204" pitchFamily="34" charset="-120"/>
              </a:rPr>
              <a:t>Daftar pengajuan beserta tanggal masuk</a:t>
            </a:r>
            <a:endParaRPr lang="en-US" sz="1600" dirty="0"/>
          </a:p>
        </p:txBody>
      </p:sp>
      <p:sp>
        <p:nvSpPr>
          <p:cNvPr id="20" name="Text 18"/>
          <p:cNvSpPr/>
          <p:nvPr/>
        </p:nvSpPr>
        <p:spPr>
          <a:xfrm>
            <a:off x="6446520" y="4114800"/>
            <a:ext cx="5029200" cy="594360"/>
          </a:xfrm>
          <a:prstGeom prst="rect">
            <a:avLst/>
          </a:prstGeom>
          <a:noFill/>
        </p:spPr>
        <p:txBody>
          <a:bodyPr wrap="square" lIns="0" tIns="0" rIns="0" bIns="0" rtlCol="0" anchor="ctr"/>
          <a:lstStyle/>
          <a:p>
            <a:pPr marL="0" indent="0">
              <a:buNone/>
            </a:pPr>
            <a:r>
              <a:rPr lang="en-US" sz="1600" dirty="0">
                <a:solidFill>
                  <a:srgbClr val="E7DCC8"/>
                </a:solidFill>
                <a:latin typeface="Calibri" panose="020F0502020204030204" pitchFamily="34" charset="0"/>
                <a:ea typeface="Calibri" panose="020F0502020204030204" pitchFamily="34" charset="-122"/>
                <a:cs typeface="Calibri" panose="020F0502020204030204" pitchFamily="34" charset="-120"/>
              </a:rPr>
              <a:t>Grafik hunian beberapa bulan</a:t>
            </a:r>
            <a:endParaRPr lang="en-US" sz="1600" dirty="0"/>
          </a:p>
        </p:txBody>
      </p:sp>
      <p:sp>
        <p:nvSpPr>
          <p:cNvPr id="21" name="Text 19"/>
          <p:cNvSpPr/>
          <p:nvPr/>
        </p:nvSpPr>
        <p:spPr>
          <a:xfrm>
            <a:off x="6446520" y="4846320"/>
            <a:ext cx="5029200" cy="594360"/>
          </a:xfrm>
          <a:prstGeom prst="rect">
            <a:avLst/>
          </a:prstGeom>
          <a:noFill/>
        </p:spPr>
        <p:txBody>
          <a:bodyPr wrap="square" lIns="0" tIns="0" rIns="0" bIns="0" rtlCol="0" anchor="ctr"/>
          <a:lstStyle/>
          <a:p>
            <a:pPr marL="0" indent="0">
              <a:buNone/>
            </a:pPr>
            <a:r>
              <a:rPr lang="en-US" sz="1600" dirty="0">
                <a:solidFill>
                  <a:srgbClr val="E7DCC8"/>
                </a:solidFill>
                <a:latin typeface="Calibri" panose="020F0502020204030204" pitchFamily="34" charset="0"/>
                <a:ea typeface="Calibri" panose="020F0502020204030204" pitchFamily="34" charset="-122"/>
                <a:cs typeface="Calibri" panose="020F0502020204030204" pitchFamily="34" charset="-120"/>
              </a:rPr>
              <a:t>Tahap lanjut: DP, invoice, laporan uang</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EFE6"/>
          </a:solidFill>
        </p:spPr>
        <p:txBody>
          <a:bodyPr/>
          <a:p/>
        </p:txBody>
      </p:sp>
      <p:sp>
        <p:nvSpPr>
          <p:cNvPr id="3" name="Shape 1"/>
          <p:cNvSpPr/>
          <p:nvPr/>
        </p:nvSpPr>
        <p:spPr>
          <a:xfrm>
            <a:off x="0" y="0"/>
            <a:ext cx="91440" cy="6858000"/>
          </a:xfrm>
          <a:prstGeom prst="rect">
            <a:avLst/>
          </a:prstGeom>
          <a:solidFill>
            <a:srgbClr val="C4622D"/>
          </a:solidFill>
        </p:spPr>
        <p:txBody>
          <a:bodyPr/>
          <a:p/>
        </p:txBody>
      </p:sp>
      <p:sp>
        <p:nvSpPr>
          <p:cNvPr id="4" name="Shape 2"/>
          <p:cNvSpPr/>
          <p:nvPr/>
        </p:nvSpPr>
        <p:spPr>
          <a:xfrm>
            <a:off x="0" y="6601968"/>
            <a:ext cx="12191695" cy="256032"/>
          </a:xfrm>
          <a:prstGeom prst="rect">
            <a:avLst/>
          </a:prstGeom>
          <a:solidFill>
            <a:srgbClr val="1A1814"/>
          </a:solidFill>
        </p:spPr>
        <p:txBody>
          <a:bodyPr/>
          <a:p/>
        </p:txBody>
      </p:sp>
      <p:sp>
        <p:nvSpPr>
          <p:cNvPr id="5" name="Text 3"/>
          <p:cNvSpPr/>
          <p:nvPr/>
        </p:nvSpPr>
        <p:spPr>
          <a:xfrm>
            <a:off x="347472" y="6601968"/>
            <a:ext cx="9144000" cy="256032"/>
          </a:xfrm>
          <a:prstGeom prst="rect">
            <a:avLst/>
          </a:prstGeom>
          <a:noFill/>
        </p:spPr>
        <p:txBody>
          <a:bodyPr wrap="square" lIns="0" tIns="0" rIns="0" bIns="0" rtlCol="0" anchor="ctr"/>
          <a:lstStyle/>
          <a:p>
            <a:pPr marL="0" indent="0">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HUNI   ·   Proposal website kos &amp; kontrakan   ·   Oktober 2026</a:t>
            </a:r>
            <a:endParaRPr lang="en-US" sz="1100" dirty="0"/>
          </a:p>
        </p:txBody>
      </p:sp>
      <p:sp>
        <p:nvSpPr>
          <p:cNvPr id="6" name="Text 4"/>
          <p:cNvSpPr/>
          <p:nvPr/>
        </p:nvSpPr>
        <p:spPr>
          <a:xfrm>
            <a:off x="9509760" y="6601968"/>
            <a:ext cx="2331720" cy="256032"/>
          </a:xfrm>
          <a:prstGeom prst="rect">
            <a:avLst/>
          </a:prstGeom>
          <a:noFill/>
        </p:spPr>
        <p:txBody>
          <a:bodyPr wrap="square" lIns="0" tIns="0" rIns="0" bIns="0" rtlCol="0" anchor="ctr"/>
          <a:lstStyle/>
          <a:p>
            <a:pPr marL="0" indent="0" algn="r">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05  /  36</a:t>
            </a:r>
            <a:endParaRPr lang="en-US" sz="1100" dirty="0"/>
          </a:p>
        </p:txBody>
      </p:sp>
      <p:sp>
        <p:nvSpPr>
          <p:cNvPr id="7" name="Text 5"/>
          <p:cNvSpPr/>
          <p:nvPr/>
        </p:nvSpPr>
        <p:spPr>
          <a:xfrm>
            <a:off x="384048" y="256032"/>
            <a:ext cx="11338560" cy="457200"/>
          </a:xfrm>
          <a:prstGeom prst="rect">
            <a:avLst/>
          </a:prstGeom>
          <a:noFill/>
        </p:spPr>
        <p:txBody>
          <a:bodyPr wrap="square" lIns="0" tIns="0" rIns="0" bIns="0" rtlCol="0" anchor="ctr"/>
          <a:lstStyle/>
          <a:p>
            <a:pPr marL="0" indent="0">
              <a:buNone/>
            </a:pPr>
            <a:r>
              <a:rPr lang="en-US" sz="2800" dirty="0">
                <a:solidFill>
                  <a:srgbClr val="1A1814"/>
                </a:solidFill>
                <a:latin typeface="Georgia" panose="02040502050405020303" pitchFamily="34" charset="0"/>
                <a:ea typeface="Georgia" panose="02040502050405020303" pitchFamily="34" charset="-122"/>
                <a:cs typeface="Georgia" panose="02040502050405020303" pitchFamily="34" charset="-120"/>
              </a:rPr>
              <a:t>Beranda</a:t>
            </a:r>
            <a:endParaRPr lang="en-US" sz="2800" dirty="0"/>
          </a:p>
        </p:txBody>
      </p:sp>
      <p:pic>
        <p:nvPicPr>
          <p:cNvPr id="8" name="Image 0" descr="/home/claude/ws/artifacts/deck/home.png"/>
          <p:cNvPicPr>
            <a:picLocks noChangeAspect="1"/>
          </p:cNvPicPr>
          <p:nvPr/>
        </p:nvPicPr>
        <p:blipFill>
          <a:blip r:embed="rId1"/>
          <a:stretch>
            <a:fillRect/>
          </a:stretch>
        </p:blipFill>
        <p:spPr>
          <a:xfrm>
            <a:off x="347472" y="960120"/>
            <a:ext cx="7452360" cy="4654296"/>
          </a:xfrm>
          <a:prstGeom prst="rect">
            <a:avLst/>
          </a:prstGeom>
        </p:spPr>
      </p:pic>
      <p:sp>
        <p:nvSpPr>
          <p:cNvPr id="9" name="Text 6"/>
          <p:cNvSpPr/>
          <p:nvPr/>
        </p:nvSpPr>
        <p:spPr>
          <a:xfrm>
            <a:off x="8001000" y="1051560"/>
            <a:ext cx="3840480" cy="292608"/>
          </a:xfrm>
          <a:prstGeom prst="rect">
            <a:avLst/>
          </a:prstGeom>
          <a:noFill/>
        </p:spPr>
        <p:txBody>
          <a:bodyPr wrap="square" lIns="0" tIns="0" rIns="0" bIns="0" rtlCol="0" anchor="ctr"/>
          <a:lstStyle/>
          <a:p>
            <a:pPr marL="0" indent="0">
              <a:buNone/>
            </a:pPr>
            <a:r>
              <a:rPr lang="en-US" sz="1600" dirty="0">
                <a:solidFill>
                  <a:srgbClr val="1A1814"/>
                </a:solidFill>
                <a:latin typeface="Georgia" panose="02040502050405020303" pitchFamily="34" charset="0"/>
                <a:ea typeface="Georgia" panose="02040502050405020303" pitchFamily="34" charset="-122"/>
                <a:cs typeface="Georgia" panose="02040502050405020303" pitchFamily="34" charset="-120"/>
              </a:rPr>
              <a:t>Langsung cari</a:t>
            </a:r>
            <a:endParaRPr lang="en-US" sz="1600" dirty="0"/>
          </a:p>
        </p:txBody>
      </p:sp>
      <p:sp>
        <p:nvSpPr>
          <p:cNvPr id="10" name="Text 7"/>
          <p:cNvSpPr/>
          <p:nvPr/>
        </p:nvSpPr>
        <p:spPr>
          <a:xfrm>
            <a:off x="8001000" y="1353312"/>
            <a:ext cx="3840480" cy="640080"/>
          </a:xfrm>
          <a:prstGeom prst="rect">
            <a:avLst/>
          </a:prstGeom>
          <a:noFill/>
        </p:spPr>
        <p:txBody>
          <a:bodyPr wrap="square" lIns="0" tIns="0" rIns="0" bIns="0" rtlCol="0" anchor="ctr"/>
          <a:lstStyle/>
          <a:p>
            <a:pPr marL="0" indent="0">
              <a:buNone/>
            </a:pPr>
            <a:r>
              <a:rPr lang="en-US" sz="1300" dirty="0">
                <a:solidFill>
                  <a:srgbClr val="3F382F"/>
                </a:solidFill>
                <a:latin typeface="Calibri" panose="020F0502020204030204" pitchFamily="34" charset="0"/>
                <a:ea typeface="Calibri" panose="020F0502020204030204" pitchFamily="34" charset="-122"/>
                <a:cs typeface="Calibri" panose="020F0502020204030204" pitchFamily="34" charset="-120"/>
              </a:rPr>
              <a:t>Nama kos atau kota, tanpa harus daftar dulu.</a:t>
            </a:r>
            <a:endParaRPr lang="en-US" sz="1300" dirty="0"/>
          </a:p>
        </p:txBody>
      </p:sp>
      <p:sp>
        <p:nvSpPr>
          <p:cNvPr id="11" name="Text 8"/>
          <p:cNvSpPr/>
          <p:nvPr/>
        </p:nvSpPr>
        <p:spPr>
          <a:xfrm>
            <a:off x="8001000" y="2103120"/>
            <a:ext cx="3840480" cy="292608"/>
          </a:xfrm>
          <a:prstGeom prst="rect">
            <a:avLst/>
          </a:prstGeom>
          <a:noFill/>
        </p:spPr>
        <p:txBody>
          <a:bodyPr wrap="square" lIns="0" tIns="0" rIns="0" bIns="0" rtlCol="0" anchor="ctr"/>
          <a:lstStyle/>
          <a:p>
            <a:pPr marL="0" indent="0">
              <a:buNone/>
            </a:pPr>
            <a:r>
              <a:rPr lang="en-US" sz="1600" dirty="0">
                <a:solidFill>
                  <a:srgbClr val="1A1814"/>
                </a:solidFill>
                <a:latin typeface="Georgia" panose="02040502050405020303" pitchFamily="34" charset="0"/>
                <a:ea typeface="Georgia" panose="02040502050405020303" pitchFamily="34" charset="-122"/>
                <a:cs typeface="Georgia" panose="02040502050405020303" pitchFamily="34" charset="-120"/>
              </a:rPr>
              <a:t>Foto sungguhan</a:t>
            </a:r>
            <a:endParaRPr lang="en-US" sz="1600" dirty="0"/>
          </a:p>
        </p:txBody>
      </p:sp>
      <p:sp>
        <p:nvSpPr>
          <p:cNvPr id="12" name="Text 9"/>
          <p:cNvSpPr/>
          <p:nvPr/>
        </p:nvSpPr>
        <p:spPr>
          <a:xfrm>
            <a:off x="8001000" y="2404872"/>
            <a:ext cx="3840480" cy="640080"/>
          </a:xfrm>
          <a:prstGeom prst="rect">
            <a:avLst/>
          </a:prstGeom>
          <a:noFill/>
        </p:spPr>
        <p:txBody>
          <a:bodyPr wrap="square" lIns="0" tIns="0" rIns="0" bIns="0" rtlCol="0" anchor="ctr"/>
          <a:lstStyle/>
          <a:p>
            <a:pPr marL="0" indent="0">
              <a:buNone/>
            </a:pPr>
            <a:r>
              <a:rPr lang="en-US" sz="1300" dirty="0">
                <a:solidFill>
                  <a:srgbClr val="3F382F"/>
                </a:solidFill>
                <a:latin typeface="Calibri" panose="020F0502020204030204" pitchFamily="34" charset="0"/>
                <a:ea typeface="Calibri" panose="020F0502020204030204" pitchFamily="34" charset="-122"/>
                <a:cs typeface="Calibri" panose="020F0502020204030204" pitchFamily="34" charset="-120"/>
              </a:rPr>
              <a:t>Bukan kotak abu-abu. Penyewa menilai dari gambar.</a:t>
            </a:r>
            <a:endParaRPr lang="en-US" sz="1300" dirty="0"/>
          </a:p>
        </p:txBody>
      </p:sp>
      <p:sp>
        <p:nvSpPr>
          <p:cNvPr id="13" name="Text 10"/>
          <p:cNvSpPr/>
          <p:nvPr/>
        </p:nvSpPr>
        <p:spPr>
          <a:xfrm>
            <a:off x="8001000" y="3154680"/>
            <a:ext cx="3840480" cy="292608"/>
          </a:xfrm>
          <a:prstGeom prst="rect">
            <a:avLst/>
          </a:prstGeom>
          <a:noFill/>
        </p:spPr>
        <p:txBody>
          <a:bodyPr wrap="square" lIns="0" tIns="0" rIns="0" bIns="0" rtlCol="0" anchor="ctr"/>
          <a:lstStyle/>
          <a:p>
            <a:pPr marL="0" indent="0">
              <a:buNone/>
            </a:pPr>
            <a:r>
              <a:rPr lang="en-US" sz="1600" dirty="0">
                <a:solidFill>
                  <a:srgbClr val="1A1814"/>
                </a:solidFill>
                <a:latin typeface="Georgia" panose="02040502050405020303" pitchFamily="34" charset="0"/>
                <a:ea typeface="Georgia" panose="02040502050405020303" pitchFamily="34" charset="-122"/>
                <a:cs typeface="Georgia" panose="02040502050405020303" pitchFamily="34" charset="-120"/>
              </a:rPr>
              <a:t>Dua produk</a:t>
            </a:r>
            <a:endParaRPr lang="en-US" sz="1600" dirty="0"/>
          </a:p>
        </p:txBody>
      </p:sp>
      <p:sp>
        <p:nvSpPr>
          <p:cNvPr id="14" name="Text 11"/>
          <p:cNvSpPr/>
          <p:nvPr/>
        </p:nvSpPr>
        <p:spPr>
          <a:xfrm>
            <a:off x="8001000" y="3456432"/>
            <a:ext cx="3840480" cy="640080"/>
          </a:xfrm>
          <a:prstGeom prst="rect">
            <a:avLst/>
          </a:prstGeom>
          <a:noFill/>
        </p:spPr>
        <p:txBody>
          <a:bodyPr wrap="square" lIns="0" tIns="0" rIns="0" bIns="0" rtlCol="0" anchor="ctr"/>
          <a:lstStyle/>
          <a:p>
            <a:pPr marL="0" indent="0">
              <a:buNone/>
            </a:pPr>
            <a:r>
              <a:rPr lang="en-US" sz="1300" dirty="0">
                <a:solidFill>
                  <a:srgbClr val="3F382F"/>
                </a:solidFill>
                <a:latin typeface="Calibri" panose="020F0502020204030204" pitchFamily="34" charset="0"/>
                <a:ea typeface="Calibri" panose="020F0502020204030204" pitchFamily="34" charset="-122"/>
                <a:cs typeface="Calibri" panose="020F0502020204030204" pitchFamily="34" charset="-120"/>
              </a:rPr>
              <a:t>Kos per kamar dan kontrakan per rumah, satu merek.</a:t>
            </a:r>
            <a:endParaRPr lang="en-US" sz="1300" dirty="0"/>
          </a:p>
        </p:txBody>
      </p:sp>
      <p:sp>
        <p:nvSpPr>
          <p:cNvPr id="15" name="Text 12"/>
          <p:cNvSpPr/>
          <p:nvPr/>
        </p:nvSpPr>
        <p:spPr>
          <a:xfrm>
            <a:off x="8001000" y="4206240"/>
            <a:ext cx="3840480" cy="292608"/>
          </a:xfrm>
          <a:prstGeom prst="rect">
            <a:avLst/>
          </a:prstGeom>
          <a:noFill/>
        </p:spPr>
        <p:txBody>
          <a:bodyPr wrap="square" lIns="0" tIns="0" rIns="0" bIns="0" rtlCol="0" anchor="ctr"/>
          <a:lstStyle/>
          <a:p>
            <a:pPr marL="0" indent="0">
              <a:buNone/>
            </a:pPr>
            <a:r>
              <a:rPr lang="en-US" sz="1600" dirty="0">
                <a:solidFill>
                  <a:srgbClr val="1A1814"/>
                </a:solidFill>
                <a:latin typeface="Georgia" panose="02040502050405020303" pitchFamily="34" charset="0"/>
                <a:ea typeface="Georgia" panose="02040502050405020303" pitchFamily="34" charset="-122"/>
                <a:cs typeface="Georgia" panose="02040502050405020303" pitchFamily="34" charset="-120"/>
              </a:rPr>
              <a:t>Jujur ini demo</a:t>
            </a:r>
            <a:endParaRPr lang="en-US" sz="1600" dirty="0"/>
          </a:p>
        </p:txBody>
      </p:sp>
      <p:sp>
        <p:nvSpPr>
          <p:cNvPr id="16" name="Text 13"/>
          <p:cNvSpPr/>
          <p:nvPr/>
        </p:nvSpPr>
        <p:spPr>
          <a:xfrm>
            <a:off x="8001000" y="4507992"/>
            <a:ext cx="3840480" cy="640080"/>
          </a:xfrm>
          <a:prstGeom prst="rect">
            <a:avLst/>
          </a:prstGeom>
          <a:noFill/>
        </p:spPr>
        <p:txBody>
          <a:bodyPr wrap="square" lIns="0" tIns="0" rIns="0" bIns="0" rtlCol="0" anchor="ctr"/>
          <a:lstStyle/>
          <a:p>
            <a:pPr marL="0" indent="0">
              <a:buNone/>
            </a:pPr>
            <a:r>
              <a:rPr lang="en-US" sz="1300" dirty="0">
                <a:solidFill>
                  <a:srgbClr val="3F382F"/>
                </a:solidFill>
                <a:latin typeface="Calibri" panose="020F0502020204030204" pitchFamily="34" charset="0"/>
                <a:ea typeface="Calibri" panose="020F0502020204030204" pitchFamily="34" charset="-122"/>
                <a:cs typeface="Calibri" panose="020F0502020204030204" pitchFamily="34" charset="-120"/>
              </a:rPr>
              <a:t>Pita di atas menulis bahwa datanya contoh.</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EFE6"/>
          </a:solidFill>
        </p:spPr>
        <p:txBody>
          <a:bodyPr/>
          <a:p/>
        </p:txBody>
      </p:sp>
      <p:sp>
        <p:nvSpPr>
          <p:cNvPr id="3" name="Shape 1"/>
          <p:cNvSpPr/>
          <p:nvPr/>
        </p:nvSpPr>
        <p:spPr>
          <a:xfrm>
            <a:off x="0" y="0"/>
            <a:ext cx="91440" cy="6858000"/>
          </a:xfrm>
          <a:prstGeom prst="rect">
            <a:avLst/>
          </a:prstGeom>
          <a:solidFill>
            <a:srgbClr val="C4622D"/>
          </a:solidFill>
        </p:spPr>
        <p:txBody>
          <a:bodyPr/>
          <a:p/>
        </p:txBody>
      </p:sp>
      <p:sp>
        <p:nvSpPr>
          <p:cNvPr id="4" name="Shape 2"/>
          <p:cNvSpPr/>
          <p:nvPr/>
        </p:nvSpPr>
        <p:spPr>
          <a:xfrm>
            <a:off x="0" y="6601968"/>
            <a:ext cx="12191695" cy="256032"/>
          </a:xfrm>
          <a:prstGeom prst="rect">
            <a:avLst/>
          </a:prstGeom>
          <a:solidFill>
            <a:srgbClr val="1A1814"/>
          </a:solidFill>
        </p:spPr>
        <p:txBody>
          <a:bodyPr/>
          <a:p/>
        </p:txBody>
      </p:sp>
      <p:sp>
        <p:nvSpPr>
          <p:cNvPr id="5" name="Text 3"/>
          <p:cNvSpPr/>
          <p:nvPr/>
        </p:nvSpPr>
        <p:spPr>
          <a:xfrm>
            <a:off x="347472" y="6601968"/>
            <a:ext cx="9144000" cy="256032"/>
          </a:xfrm>
          <a:prstGeom prst="rect">
            <a:avLst/>
          </a:prstGeom>
          <a:noFill/>
        </p:spPr>
        <p:txBody>
          <a:bodyPr wrap="square" lIns="0" tIns="0" rIns="0" bIns="0" rtlCol="0" anchor="ctr"/>
          <a:lstStyle/>
          <a:p>
            <a:pPr marL="0" indent="0">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HUNI   ·   Proposal website kos &amp; kontrakan   ·   Oktober 2026</a:t>
            </a:r>
            <a:endParaRPr lang="en-US" sz="1100" dirty="0"/>
          </a:p>
        </p:txBody>
      </p:sp>
      <p:sp>
        <p:nvSpPr>
          <p:cNvPr id="6" name="Text 4"/>
          <p:cNvSpPr/>
          <p:nvPr/>
        </p:nvSpPr>
        <p:spPr>
          <a:xfrm>
            <a:off x="9509760" y="6601968"/>
            <a:ext cx="2331720" cy="256032"/>
          </a:xfrm>
          <a:prstGeom prst="rect">
            <a:avLst/>
          </a:prstGeom>
          <a:noFill/>
        </p:spPr>
        <p:txBody>
          <a:bodyPr wrap="square" lIns="0" tIns="0" rIns="0" bIns="0" rtlCol="0" anchor="ctr"/>
          <a:lstStyle/>
          <a:p>
            <a:pPr marL="0" indent="0" algn="r">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06  /  36</a:t>
            </a:r>
            <a:endParaRPr lang="en-US" sz="1100" dirty="0"/>
          </a:p>
        </p:txBody>
      </p:sp>
      <p:sp>
        <p:nvSpPr>
          <p:cNvPr id="7" name="Text 5"/>
          <p:cNvSpPr/>
          <p:nvPr/>
        </p:nvSpPr>
        <p:spPr>
          <a:xfrm>
            <a:off x="384048" y="256032"/>
            <a:ext cx="11338560" cy="457200"/>
          </a:xfrm>
          <a:prstGeom prst="rect">
            <a:avLst/>
          </a:prstGeom>
          <a:noFill/>
        </p:spPr>
        <p:txBody>
          <a:bodyPr wrap="square" lIns="0" tIns="0" rIns="0" bIns="0" rtlCol="0" anchor="ctr"/>
          <a:lstStyle/>
          <a:p>
            <a:pPr marL="0" indent="0">
              <a:buNone/>
            </a:pPr>
            <a:r>
              <a:rPr lang="en-US" sz="2800" dirty="0">
                <a:solidFill>
                  <a:srgbClr val="1A1814"/>
                </a:solidFill>
                <a:latin typeface="Georgia" panose="02040502050405020303" pitchFamily="34" charset="0"/>
                <a:ea typeface="Georgia" panose="02040502050405020303" pitchFamily="34" charset="-122"/>
                <a:cs typeface="Georgia" panose="02040502050405020303" pitchFamily="34" charset="-120"/>
              </a:rPr>
              <a:t>Katalog</a:t>
            </a:r>
            <a:endParaRPr lang="en-US" sz="2800" dirty="0"/>
          </a:p>
        </p:txBody>
      </p:sp>
      <p:pic>
        <p:nvPicPr>
          <p:cNvPr id="8" name="Image 0" descr="/home/claude/ws/artifacts/deck/cari.png"/>
          <p:cNvPicPr>
            <a:picLocks noChangeAspect="1"/>
          </p:cNvPicPr>
          <p:nvPr/>
        </p:nvPicPr>
        <p:blipFill>
          <a:blip r:embed="rId1"/>
          <a:stretch>
            <a:fillRect/>
          </a:stretch>
        </p:blipFill>
        <p:spPr>
          <a:xfrm>
            <a:off x="347472" y="960120"/>
            <a:ext cx="7452360" cy="4654296"/>
          </a:xfrm>
          <a:prstGeom prst="rect">
            <a:avLst/>
          </a:prstGeom>
        </p:spPr>
      </p:pic>
      <p:sp>
        <p:nvSpPr>
          <p:cNvPr id="9" name="Text 6"/>
          <p:cNvSpPr/>
          <p:nvPr/>
        </p:nvSpPr>
        <p:spPr>
          <a:xfrm>
            <a:off x="8001000" y="1051560"/>
            <a:ext cx="3840480" cy="292608"/>
          </a:xfrm>
          <a:prstGeom prst="rect">
            <a:avLst/>
          </a:prstGeom>
          <a:noFill/>
        </p:spPr>
        <p:txBody>
          <a:bodyPr wrap="square" lIns="0" tIns="0" rIns="0" bIns="0" rtlCol="0" anchor="ctr"/>
          <a:lstStyle/>
          <a:p>
            <a:pPr marL="0" indent="0">
              <a:buNone/>
            </a:pPr>
            <a:r>
              <a:rPr lang="en-US" sz="1600" dirty="0">
                <a:solidFill>
                  <a:srgbClr val="1A1814"/>
                </a:solidFill>
                <a:latin typeface="Georgia" panose="02040502050405020303" pitchFamily="34" charset="0"/>
                <a:ea typeface="Georgia" panose="02040502050405020303" pitchFamily="34" charset="-122"/>
                <a:cs typeface="Georgia" panose="02040502050405020303" pitchFamily="34" charset="-120"/>
              </a:rPr>
              <a:t>Filter yang dipakai</a:t>
            </a:r>
            <a:endParaRPr lang="en-US" sz="1600" dirty="0"/>
          </a:p>
        </p:txBody>
      </p:sp>
      <p:sp>
        <p:nvSpPr>
          <p:cNvPr id="10" name="Text 7"/>
          <p:cNvSpPr/>
          <p:nvPr/>
        </p:nvSpPr>
        <p:spPr>
          <a:xfrm>
            <a:off x="8001000" y="1353312"/>
            <a:ext cx="3840480" cy="640080"/>
          </a:xfrm>
          <a:prstGeom prst="rect">
            <a:avLst/>
          </a:prstGeom>
          <a:noFill/>
        </p:spPr>
        <p:txBody>
          <a:bodyPr wrap="square" lIns="0" tIns="0" rIns="0" bIns="0" rtlCol="0" anchor="ctr"/>
          <a:lstStyle/>
          <a:p>
            <a:pPr marL="0" indent="0">
              <a:buNone/>
            </a:pPr>
            <a:r>
              <a:rPr lang="en-US" sz="1300" dirty="0">
                <a:solidFill>
                  <a:srgbClr val="3F382F"/>
                </a:solidFill>
                <a:latin typeface="Calibri" panose="020F0502020204030204" pitchFamily="34" charset="0"/>
                <a:ea typeface="Calibri" panose="020F0502020204030204" pitchFamily="34" charset="-122"/>
                <a:cs typeface="Calibri" panose="020F0502020204030204" pitchFamily="34" charset="-120"/>
              </a:rPr>
              <a:t>Kata, jenis, kota, dan batas harga.</a:t>
            </a:r>
            <a:endParaRPr lang="en-US" sz="1300" dirty="0"/>
          </a:p>
        </p:txBody>
      </p:sp>
      <p:sp>
        <p:nvSpPr>
          <p:cNvPr id="11" name="Text 8"/>
          <p:cNvSpPr/>
          <p:nvPr/>
        </p:nvSpPr>
        <p:spPr>
          <a:xfrm>
            <a:off x="8001000" y="2103120"/>
            <a:ext cx="3840480" cy="292608"/>
          </a:xfrm>
          <a:prstGeom prst="rect">
            <a:avLst/>
          </a:prstGeom>
          <a:noFill/>
        </p:spPr>
        <p:txBody>
          <a:bodyPr wrap="square" lIns="0" tIns="0" rIns="0" bIns="0" rtlCol="0" anchor="ctr"/>
          <a:lstStyle/>
          <a:p>
            <a:pPr marL="0" indent="0">
              <a:buNone/>
            </a:pPr>
            <a:r>
              <a:rPr lang="en-US" sz="1600" dirty="0">
                <a:solidFill>
                  <a:srgbClr val="1A1814"/>
                </a:solidFill>
                <a:latin typeface="Georgia" panose="02040502050405020303" pitchFamily="34" charset="0"/>
                <a:ea typeface="Georgia" panose="02040502050405020303" pitchFamily="34" charset="-122"/>
                <a:cs typeface="Georgia" panose="02040502050405020303" pitchFamily="34" charset="-120"/>
              </a:rPr>
              <a:t>Status kosong</a:t>
            </a:r>
            <a:endParaRPr lang="en-US" sz="1600" dirty="0"/>
          </a:p>
        </p:txBody>
      </p:sp>
      <p:sp>
        <p:nvSpPr>
          <p:cNvPr id="12" name="Text 9"/>
          <p:cNvSpPr/>
          <p:nvPr/>
        </p:nvSpPr>
        <p:spPr>
          <a:xfrm>
            <a:off x="8001000" y="2404872"/>
            <a:ext cx="3840480" cy="640080"/>
          </a:xfrm>
          <a:prstGeom prst="rect">
            <a:avLst/>
          </a:prstGeom>
          <a:noFill/>
        </p:spPr>
        <p:txBody>
          <a:bodyPr wrap="square" lIns="0" tIns="0" rIns="0" bIns="0" rtlCol="0" anchor="ctr"/>
          <a:lstStyle/>
          <a:p>
            <a:pPr marL="0" indent="0">
              <a:buNone/>
            </a:pPr>
            <a:r>
              <a:rPr lang="en-US" sz="1300" dirty="0">
                <a:solidFill>
                  <a:srgbClr val="3F382F"/>
                </a:solidFill>
                <a:latin typeface="Calibri" panose="020F0502020204030204" pitchFamily="34" charset="0"/>
                <a:ea typeface="Calibri" panose="020F0502020204030204" pitchFamily="34" charset="-122"/>
                <a:cs typeface="Calibri" panose="020F0502020204030204" pitchFamily="34" charset="-120"/>
              </a:rPr>
              <a:t>Berapa unit yang masih ada, ditulis di kartu.</a:t>
            </a:r>
            <a:endParaRPr lang="en-US" sz="1300" dirty="0"/>
          </a:p>
        </p:txBody>
      </p:sp>
      <p:sp>
        <p:nvSpPr>
          <p:cNvPr id="13" name="Text 10"/>
          <p:cNvSpPr/>
          <p:nvPr/>
        </p:nvSpPr>
        <p:spPr>
          <a:xfrm>
            <a:off x="8001000" y="3154680"/>
            <a:ext cx="3840480" cy="292608"/>
          </a:xfrm>
          <a:prstGeom prst="rect">
            <a:avLst/>
          </a:prstGeom>
          <a:noFill/>
        </p:spPr>
        <p:txBody>
          <a:bodyPr wrap="square" lIns="0" tIns="0" rIns="0" bIns="0" rtlCol="0" anchor="ctr"/>
          <a:lstStyle/>
          <a:p>
            <a:pPr marL="0" indent="0">
              <a:buNone/>
            </a:pPr>
            <a:r>
              <a:rPr lang="en-US" sz="1600" dirty="0">
                <a:solidFill>
                  <a:srgbClr val="1A1814"/>
                </a:solidFill>
                <a:latin typeface="Georgia" panose="02040502050405020303" pitchFamily="34" charset="0"/>
                <a:ea typeface="Georgia" panose="02040502050405020303" pitchFamily="34" charset="-122"/>
                <a:cs typeface="Georgia" panose="02040502050405020303" pitchFamily="34" charset="-120"/>
              </a:rPr>
              <a:t>Harga sebulan</a:t>
            </a:r>
            <a:endParaRPr lang="en-US" sz="1600" dirty="0"/>
          </a:p>
        </p:txBody>
      </p:sp>
      <p:sp>
        <p:nvSpPr>
          <p:cNvPr id="14" name="Text 11"/>
          <p:cNvSpPr/>
          <p:nvPr/>
        </p:nvSpPr>
        <p:spPr>
          <a:xfrm>
            <a:off x="8001000" y="3456432"/>
            <a:ext cx="3840480" cy="640080"/>
          </a:xfrm>
          <a:prstGeom prst="rect">
            <a:avLst/>
          </a:prstGeom>
          <a:noFill/>
        </p:spPr>
        <p:txBody>
          <a:bodyPr wrap="square" lIns="0" tIns="0" rIns="0" bIns="0" rtlCol="0" anchor="ctr"/>
          <a:lstStyle/>
          <a:p>
            <a:pPr marL="0" indent="0">
              <a:buNone/>
            </a:pPr>
            <a:r>
              <a:rPr lang="en-US" sz="1300" dirty="0">
                <a:solidFill>
                  <a:srgbClr val="3F382F"/>
                </a:solidFill>
                <a:latin typeface="Calibri" panose="020F0502020204030204" pitchFamily="34" charset="0"/>
                <a:ea typeface="Calibri" panose="020F0502020204030204" pitchFamily="34" charset="-122"/>
                <a:cs typeface="Calibri" panose="020F0502020204030204" pitchFamily="34" charset="-120"/>
              </a:rPr>
              <a:t>Kontrakan pun ditampilkan per bulan agar bisa dibanding.</a:t>
            </a:r>
            <a:endParaRPr lang="en-US" sz="1300" dirty="0"/>
          </a:p>
        </p:txBody>
      </p:sp>
      <p:sp>
        <p:nvSpPr>
          <p:cNvPr id="15" name="Text 12"/>
          <p:cNvSpPr/>
          <p:nvPr/>
        </p:nvSpPr>
        <p:spPr>
          <a:xfrm>
            <a:off x="8001000" y="4206240"/>
            <a:ext cx="3840480" cy="292608"/>
          </a:xfrm>
          <a:prstGeom prst="rect">
            <a:avLst/>
          </a:prstGeom>
          <a:noFill/>
        </p:spPr>
        <p:txBody>
          <a:bodyPr wrap="square" lIns="0" tIns="0" rIns="0" bIns="0" rtlCol="0" anchor="ctr"/>
          <a:lstStyle/>
          <a:p>
            <a:pPr marL="0" indent="0">
              <a:buNone/>
            </a:pPr>
            <a:r>
              <a:rPr lang="en-US" sz="1600" dirty="0">
                <a:solidFill>
                  <a:srgbClr val="1A1814"/>
                </a:solidFill>
                <a:latin typeface="Georgia" panose="02040502050405020303" pitchFamily="34" charset="0"/>
                <a:ea typeface="Georgia" panose="02040502050405020303" pitchFamily="34" charset="-122"/>
                <a:cs typeface="Georgia" panose="02040502050405020303" pitchFamily="34" charset="-120"/>
              </a:rPr>
              <a:t>Tersimpan</a:t>
            </a:r>
            <a:endParaRPr lang="en-US" sz="1600" dirty="0"/>
          </a:p>
        </p:txBody>
      </p:sp>
      <p:sp>
        <p:nvSpPr>
          <p:cNvPr id="16" name="Text 13"/>
          <p:cNvSpPr/>
          <p:nvPr/>
        </p:nvSpPr>
        <p:spPr>
          <a:xfrm>
            <a:off x="8001000" y="4507992"/>
            <a:ext cx="3840480" cy="640080"/>
          </a:xfrm>
          <a:prstGeom prst="rect">
            <a:avLst/>
          </a:prstGeom>
          <a:noFill/>
        </p:spPr>
        <p:txBody>
          <a:bodyPr wrap="square" lIns="0" tIns="0" rIns="0" bIns="0" rtlCol="0" anchor="ctr"/>
          <a:lstStyle/>
          <a:p>
            <a:pPr marL="0" indent="0">
              <a:buNone/>
            </a:pPr>
            <a:r>
              <a:rPr lang="en-US" sz="1300" dirty="0">
                <a:solidFill>
                  <a:srgbClr val="3F382F"/>
                </a:solidFill>
                <a:latin typeface="Calibri" panose="020F0502020204030204" pitchFamily="34" charset="0"/>
                <a:ea typeface="Calibri" panose="020F0502020204030204" pitchFamily="34" charset="-122"/>
                <a:cs typeface="Calibri" panose="020F0502020204030204" pitchFamily="34" charset="-120"/>
              </a:rPr>
              <a:t>Tombol untuk melihat hanya unit yang disimpan.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EFE6"/>
          </a:solidFill>
        </p:spPr>
        <p:txBody>
          <a:bodyPr/>
          <a:p/>
        </p:txBody>
      </p:sp>
      <p:sp>
        <p:nvSpPr>
          <p:cNvPr id="3" name="Shape 1"/>
          <p:cNvSpPr/>
          <p:nvPr/>
        </p:nvSpPr>
        <p:spPr>
          <a:xfrm>
            <a:off x="0" y="0"/>
            <a:ext cx="91440" cy="6858000"/>
          </a:xfrm>
          <a:prstGeom prst="rect">
            <a:avLst/>
          </a:prstGeom>
          <a:solidFill>
            <a:srgbClr val="C4622D"/>
          </a:solidFill>
        </p:spPr>
        <p:txBody>
          <a:bodyPr/>
          <a:p/>
        </p:txBody>
      </p:sp>
      <p:sp>
        <p:nvSpPr>
          <p:cNvPr id="4" name="Shape 2"/>
          <p:cNvSpPr/>
          <p:nvPr/>
        </p:nvSpPr>
        <p:spPr>
          <a:xfrm>
            <a:off x="0" y="6601968"/>
            <a:ext cx="12191695" cy="256032"/>
          </a:xfrm>
          <a:prstGeom prst="rect">
            <a:avLst/>
          </a:prstGeom>
          <a:solidFill>
            <a:srgbClr val="1A1814"/>
          </a:solidFill>
        </p:spPr>
        <p:txBody>
          <a:bodyPr/>
          <a:p/>
        </p:txBody>
      </p:sp>
      <p:sp>
        <p:nvSpPr>
          <p:cNvPr id="5" name="Text 3"/>
          <p:cNvSpPr/>
          <p:nvPr/>
        </p:nvSpPr>
        <p:spPr>
          <a:xfrm>
            <a:off x="347472" y="6601968"/>
            <a:ext cx="9144000" cy="256032"/>
          </a:xfrm>
          <a:prstGeom prst="rect">
            <a:avLst/>
          </a:prstGeom>
          <a:noFill/>
        </p:spPr>
        <p:txBody>
          <a:bodyPr wrap="square" lIns="0" tIns="0" rIns="0" bIns="0" rtlCol="0" anchor="ctr"/>
          <a:lstStyle/>
          <a:p>
            <a:pPr marL="0" indent="0">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HUNI   ·   Proposal website kos &amp; kontrakan   ·   Oktober 2026</a:t>
            </a:r>
            <a:endParaRPr lang="en-US" sz="1100" dirty="0"/>
          </a:p>
        </p:txBody>
      </p:sp>
      <p:sp>
        <p:nvSpPr>
          <p:cNvPr id="6" name="Text 4"/>
          <p:cNvSpPr/>
          <p:nvPr/>
        </p:nvSpPr>
        <p:spPr>
          <a:xfrm>
            <a:off x="9509760" y="6601968"/>
            <a:ext cx="2331720" cy="256032"/>
          </a:xfrm>
          <a:prstGeom prst="rect">
            <a:avLst/>
          </a:prstGeom>
          <a:noFill/>
        </p:spPr>
        <p:txBody>
          <a:bodyPr wrap="square" lIns="0" tIns="0" rIns="0" bIns="0" rtlCol="0" anchor="ctr"/>
          <a:lstStyle/>
          <a:p>
            <a:pPr marL="0" indent="0" algn="r">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07  /  36</a:t>
            </a:r>
            <a:endParaRPr lang="en-US" sz="1100" dirty="0"/>
          </a:p>
        </p:txBody>
      </p:sp>
      <p:sp>
        <p:nvSpPr>
          <p:cNvPr id="7" name="Text 5"/>
          <p:cNvSpPr/>
          <p:nvPr/>
        </p:nvSpPr>
        <p:spPr>
          <a:xfrm>
            <a:off x="384048" y="256032"/>
            <a:ext cx="11338560" cy="457200"/>
          </a:xfrm>
          <a:prstGeom prst="rect">
            <a:avLst/>
          </a:prstGeom>
          <a:noFill/>
        </p:spPr>
        <p:txBody>
          <a:bodyPr wrap="square" lIns="0" tIns="0" rIns="0" bIns="0" rtlCol="0" anchor="ctr"/>
          <a:lstStyle/>
          <a:p>
            <a:pPr marL="0" indent="0">
              <a:buNone/>
            </a:pPr>
            <a:r>
              <a:rPr lang="en-US" sz="2800" dirty="0">
                <a:solidFill>
                  <a:srgbClr val="1A1814"/>
                </a:solidFill>
                <a:latin typeface="Georgia" panose="02040502050405020303" pitchFamily="34" charset="0"/>
                <a:ea typeface="Georgia" panose="02040502050405020303" pitchFamily="34" charset="-122"/>
                <a:cs typeface="Georgia" panose="02040502050405020303" pitchFamily="34" charset="-120"/>
              </a:rPr>
              <a:t>Halaman unit</a:t>
            </a:r>
            <a:endParaRPr lang="en-US" sz="2800" dirty="0"/>
          </a:p>
        </p:txBody>
      </p:sp>
      <p:pic>
        <p:nvPicPr>
          <p:cNvPr id="8" name="Image 0" descr="/home/claude/ws/artifacts/deck/unit.png"/>
          <p:cNvPicPr>
            <a:picLocks noChangeAspect="1"/>
          </p:cNvPicPr>
          <p:nvPr/>
        </p:nvPicPr>
        <p:blipFill>
          <a:blip r:embed="rId1"/>
          <a:stretch>
            <a:fillRect/>
          </a:stretch>
        </p:blipFill>
        <p:spPr>
          <a:xfrm>
            <a:off x="347472" y="960120"/>
            <a:ext cx="7452360" cy="4654296"/>
          </a:xfrm>
          <a:prstGeom prst="rect">
            <a:avLst/>
          </a:prstGeom>
        </p:spPr>
      </p:pic>
      <p:sp>
        <p:nvSpPr>
          <p:cNvPr id="9" name="Text 6"/>
          <p:cNvSpPr/>
          <p:nvPr/>
        </p:nvSpPr>
        <p:spPr>
          <a:xfrm>
            <a:off x="8001000" y="1051560"/>
            <a:ext cx="3840480" cy="292608"/>
          </a:xfrm>
          <a:prstGeom prst="rect">
            <a:avLst/>
          </a:prstGeom>
          <a:noFill/>
        </p:spPr>
        <p:txBody>
          <a:bodyPr wrap="square" lIns="0" tIns="0" rIns="0" bIns="0" rtlCol="0" anchor="ctr"/>
          <a:lstStyle/>
          <a:p>
            <a:pPr marL="0" indent="0">
              <a:buNone/>
            </a:pPr>
            <a:r>
              <a:rPr lang="en-US" sz="1600" dirty="0">
                <a:solidFill>
                  <a:srgbClr val="1A1814"/>
                </a:solidFill>
                <a:latin typeface="Georgia" panose="02040502050405020303" pitchFamily="34" charset="0"/>
                <a:ea typeface="Georgia" panose="02040502050405020303" pitchFamily="34" charset="-122"/>
                <a:cs typeface="Georgia" panose="02040502050405020303" pitchFamily="34" charset="-120"/>
              </a:rPr>
              <a:t>Galeri</a:t>
            </a:r>
            <a:endParaRPr lang="en-US" sz="1600" dirty="0"/>
          </a:p>
        </p:txBody>
      </p:sp>
      <p:sp>
        <p:nvSpPr>
          <p:cNvPr id="10" name="Text 7"/>
          <p:cNvSpPr/>
          <p:nvPr/>
        </p:nvSpPr>
        <p:spPr>
          <a:xfrm>
            <a:off x="8001000" y="1353312"/>
            <a:ext cx="3840480" cy="640080"/>
          </a:xfrm>
          <a:prstGeom prst="rect">
            <a:avLst/>
          </a:prstGeom>
          <a:noFill/>
        </p:spPr>
        <p:txBody>
          <a:bodyPr wrap="square" lIns="0" tIns="0" rIns="0" bIns="0" rtlCol="0" anchor="ctr"/>
          <a:lstStyle/>
          <a:p>
            <a:pPr marL="0" indent="0">
              <a:buNone/>
            </a:pPr>
            <a:r>
              <a:rPr lang="en-US" sz="1300" dirty="0">
                <a:solidFill>
                  <a:srgbClr val="3F382F"/>
                </a:solidFill>
                <a:latin typeface="Calibri" panose="020F0502020204030204" pitchFamily="34" charset="0"/>
                <a:ea typeface="Calibri" panose="020F0502020204030204" pitchFamily="34" charset="-122"/>
                <a:cs typeface="Calibri" panose="020F0502020204030204" pitchFamily="34" charset="-120"/>
              </a:rPr>
              <a:t>Beberapa foto, bukan satu gambar dipaksakan.</a:t>
            </a:r>
            <a:endParaRPr lang="en-US" sz="1300" dirty="0"/>
          </a:p>
        </p:txBody>
      </p:sp>
      <p:sp>
        <p:nvSpPr>
          <p:cNvPr id="11" name="Text 8"/>
          <p:cNvSpPr/>
          <p:nvPr/>
        </p:nvSpPr>
        <p:spPr>
          <a:xfrm>
            <a:off x="8001000" y="2103120"/>
            <a:ext cx="3840480" cy="292608"/>
          </a:xfrm>
          <a:prstGeom prst="rect">
            <a:avLst/>
          </a:prstGeom>
          <a:noFill/>
        </p:spPr>
        <p:txBody>
          <a:bodyPr wrap="square" lIns="0" tIns="0" rIns="0" bIns="0" rtlCol="0" anchor="ctr"/>
          <a:lstStyle/>
          <a:p>
            <a:pPr marL="0" indent="0">
              <a:buNone/>
            </a:pPr>
            <a:r>
              <a:rPr lang="en-US" sz="1600" dirty="0">
                <a:solidFill>
                  <a:srgbClr val="1A1814"/>
                </a:solidFill>
                <a:latin typeface="Georgia" panose="02040502050405020303" pitchFamily="34" charset="0"/>
                <a:ea typeface="Georgia" panose="02040502050405020303" pitchFamily="34" charset="-122"/>
                <a:cs typeface="Georgia" panose="02040502050405020303" pitchFamily="34" charset="-120"/>
              </a:rPr>
              <a:t>Aturan di depan</a:t>
            </a:r>
            <a:endParaRPr lang="en-US" sz="1600" dirty="0"/>
          </a:p>
        </p:txBody>
      </p:sp>
      <p:sp>
        <p:nvSpPr>
          <p:cNvPr id="12" name="Text 9"/>
          <p:cNvSpPr/>
          <p:nvPr/>
        </p:nvSpPr>
        <p:spPr>
          <a:xfrm>
            <a:off x="8001000" y="2404872"/>
            <a:ext cx="3840480" cy="640080"/>
          </a:xfrm>
          <a:prstGeom prst="rect">
            <a:avLst/>
          </a:prstGeom>
          <a:noFill/>
        </p:spPr>
        <p:txBody>
          <a:bodyPr wrap="square" lIns="0" tIns="0" rIns="0" bIns="0" rtlCol="0" anchor="ctr"/>
          <a:lstStyle/>
          <a:p>
            <a:pPr marL="0" indent="0">
              <a:buNone/>
            </a:pPr>
            <a:r>
              <a:rPr lang="en-US" sz="1300" dirty="0">
                <a:solidFill>
                  <a:srgbClr val="3F382F"/>
                </a:solidFill>
                <a:latin typeface="Calibri" panose="020F0502020204030204" pitchFamily="34" charset="0"/>
                <a:ea typeface="Calibri" panose="020F0502020204030204" pitchFamily="34" charset="-122"/>
                <a:cs typeface="Calibri" panose="020F0502020204030204" pitchFamily="34" charset="-120"/>
              </a:rPr>
              <a:t>Jam tamu dan larangan masak tidak disembunyikan.</a:t>
            </a:r>
            <a:endParaRPr lang="en-US" sz="1300" dirty="0"/>
          </a:p>
        </p:txBody>
      </p:sp>
      <p:sp>
        <p:nvSpPr>
          <p:cNvPr id="13" name="Text 10"/>
          <p:cNvSpPr/>
          <p:nvPr/>
        </p:nvSpPr>
        <p:spPr>
          <a:xfrm>
            <a:off x="8001000" y="3154680"/>
            <a:ext cx="3840480" cy="292608"/>
          </a:xfrm>
          <a:prstGeom prst="rect">
            <a:avLst/>
          </a:prstGeom>
          <a:noFill/>
        </p:spPr>
        <p:txBody>
          <a:bodyPr wrap="square" lIns="0" tIns="0" rIns="0" bIns="0" rtlCol="0" anchor="ctr"/>
          <a:lstStyle/>
          <a:p>
            <a:pPr marL="0" indent="0">
              <a:buNone/>
            </a:pPr>
            <a:r>
              <a:rPr lang="en-US" sz="1600" dirty="0">
                <a:solidFill>
                  <a:srgbClr val="1A1814"/>
                </a:solidFill>
                <a:latin typeface="Georgia" panose="02040502050405020303" pitchFamily="34" charset="0"/>
                <a:ea typeface="Georgia" panose="02040502050405020303" pitchFamily="34" charset="-122"/>
                <a:cs typeface="Georgia" panose="02040502050405020303" pitchFamily="34" charset="-120"/>
              </a:rPr>
              <a:t>Ajukan sewa</a:t>
            </a:r>
            <a:endParaRPr lang="en-US" sz="1600" dirty="0"/>
          </a:p>
        </p:txBody>
      </p:sp>
      <p:sp>
        <p:nvSpPr>
          <p:cNvPr id="14" name="Text 11"/>
          <p:cNvSpPr/>
          <p:nvPr/>
        </p:nvSpPr>
        <p:spPr>
          <a:xfrm>
            <a:off x="8001000" y="3456432"/>
            <a:ext cx="3840480" cy="640080"/>
          </a:xfrm>
          <a:prstGeom prst="rect">
            <a:avLst/>
          </a:prstGeom>
          <a:noFill/>
        </p:spPr>
        <p:txBody>
          <a:bodyPr wrap="square" lIns="0" tIns="0" rIns="0" bIns="0" rtlCol="0" anchor="ctr"/>
          <a:lstStyle/>
          <a:p>
            <a:pPr marL="0" indent="0">
              <a:buNone/>
            </a:pPr>
            <a:r>
              <a:rPr lang="en-US" sz="1300" dirty="0">
                <a:solidFill>
                  <a:srgbClr val="3F382F"/>
                </a:solidFill>
                <a:latin typeface="Calibri" panose="020F0502020204030204" pitchFamily="34" charset="0"/>
                <a:ea typeface="Calibri" panose="020F0502020204030204" pitchFamily="34" charset="-122"/>
                <a:cs typeface="Calibri" panose="020F0502020204030204" pitchFamily="34" charset="-120"/>
              </a:rPr>
              <a:t>Nama, HP, tanggal masuk. Nomor dicek formatnya.</a:t>
            </a:r>
            <a:endParaRPr lang="en-US" sz="1300" dirty="0"/>
          </a:p>
        </p:txBody>
      </p:sp>
      <p:sp>
        <p:nvSpPr>
          <p:cNvPr id="15" name="Text 12"/>
          <p:cNvSpPr/>
          <p:nvPr/>
        </p:nvSpPr>
        <p:spPr>
          <a:xfrm>
            <a:off x="8001000" y="4206240"/>
            <a:ext cx="3840480" cy="292608"/>
          </a:xfrm>
          <a:prstGeom prst="rect">
            <a:avLst/>
          </a:prstGeom>
          <a:noFill/>
        </p:spPr>
        <p:txBody>
          <a:bodyPr wrap="square" lIns="0" tIns="0" rIns="0" bIns="0" rtlCol="0" anchor="ctr"/>
          <a:lstStyle/>
          <a:p>
            <a:pPr marL="0" indent="0">
              <a:buNone/>
            </a:pPr>
            <a:r>
              <a:rPr lang="en-US" sz="1600" dirty="0">
                <a:solidFill>
                  <a:srgbClr val="1A1814"/>
                </a:solidFill>
                <a:latin typeface="Georgia" panose="02040502050405020303" pitchFamily="34" charset="0"/>
                <a:ea typeface="Georgia" panose="02040502050405020303" pitchFamily="34" charset="-122"/>
                <a:cs typeface="Georgia" panose="02040502050405020303" pitchFamily="34" charset="-120"/>
              </a:rPr>
              <a:t>Tersimpan di perangkat</a:t>
            </a:r>
            <a:endParaRPr lang="en-US" sz="1600" dirty="0"/>
          </a:p>
        </p:txBody>
      </p:sp>
      <p:sp>
        <p:nvSpPr>
          <p:cNvPr id="16" name="Text 13"/>
          <p:cNvSpPr/>
          <p:nvPr/>
        </p:nvSpPr>
        <p:spPr>
          <a:xfrm>
            <a:off x="8001000" y="4507992"/>
            <a:ext cx="3840480" cy="640080"/>
          </a:xfrm>
          <a:prstGeom prst="rect">
            <a:avLst/>
          </a:prstGeom>
          <a:noFill/>
        </p:spPr>
        <p:txBody>
          <a:bodyPr wrap="square" lIns="0" tIns="0" rIns="0" bIns="0" rtlCol="0" anchor="ctr"/>
          <a:lstStyle/>
          <a:p>
            <a:pPr marL="0" indent="0">
              <a:buNone/>
            </a:pPr>
            <a:r>
              <a:rPr lang="en-US" sz="1300" dirty="0">
                <a:solidFill>
                  <a:srgbClr val="3F382F"/>
                </a:solidFill>
                <a:latin typeface="Calibri" panose="020F0502020204030204" pitchFamily="34" charset="0"/>
                <a:ea typeface="Calibri" panose="020F0502020204030204" pitchFamily="34" charset="-122"/>
                <a:cs typeface="Calibri" panose="020F0502020204030204" pitchFamily="34" charset="-120"/>
              </a:rPr>
              <a:t>Di demo, data belum dikirim ke server.</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EFE6"/>
          </a:solidFill>
        </p:spPr>
        <p:txBody>
          <a:bodyPr/>
          <a:p/>
        </p:txBody>
      </p:sp>
      <p:sp>
        <p:nvSpPr>
          <p:cNvPr id="3" name="Shape 1"/>
          <p:cNvSpPr/>
          <p:nvPr/>
        </p:nvSpPr>
        <p:spPr>
          <a:xfrm>
            <a:off x="0" y="0"/>
            <a:ext cx="91440" cy="6858000"/>
          </a:xfrm>
          <a:prstGeom prst="rect">
            <a:avLst/>
          </a:prstGeom>
          <a:solidFill>
            <a:srgbClr val="C4622D"/>
          </a:solidFill>
        </p:spPr>
        <p:txBody>
          <a:bodyPr/>
          <a:p/>
        </p:txBody>
      </p:sp>
      <p:sp>
        <p:nvSpPr>
          <p:cNvPr id="4" name="Shape 2"/>
          <p:cNvSpPr/>
          <p:nvPr/>
        </p:nvSpPr>
        <p:spPr>
          <a:xfrm>
            <a:off x="0" y="6601968"/>
            <a:ext cx="12191695" cy="256032"/>
          </a:xfrm>
          <a:prstGeom prst="rect">
            <a:avLst/>
          </a:prstGeom>
          <a:solidFill>
            <a:srgbClr val="1A1814"/>
          </a:solidFill>
        </p:spPr>
        <p:txBody>
          <a:bodyPr/>
          <a:p/>
        </p:txBody>
      </p:sp>
      <p:sp>
        <p:nvSpPr>
          <p:cNvPr id="5" name="Text 3"/>
          <p:cNvSpPr/>
          <p:nvPr/>
        </p:nvSpPr>
        <p:spPr>
          <a:xfrm>
            <a:off x="347472" y="6601968"/>
            <a:ext cx="9144000" cy="256032"/>
          </a:xfrm>
          <a:prstGeom prst="rect">
            <a:avLst/>
          </a:prstGeom>
          <a:noFill/>
        </p:spPr>
        <p:txBody>
          <a:bodyPr wrap="square" lIns="0" tIns="0" rIns="0" bIns="0" rtlCol="0" anchor="ctr"/>
          <a:lstStyle/>
          <a:p>
            <a:pPr marL="0" indent="0">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HUNI   ·   Proposal website kos &amp; kontrakan   ·   Oktober 2026</a:t>
            </a:r>
            <a:endParaRPr lang="en-US" sz="1100" dirty="0"/>
          </a:p>
        </p:txBody>
      </p:sp>
      <p:sp>
        <p:nvSpPr>
          <p:cNvPr id="6" name="Text 4"/>
          <p:cNvSpPr/>
          <p:nvPr/>
        </p:nvSpPr>
        <p:spPr>
          <a:xfrm>
            <a:off x="9509760" y="6601968"/>
            <a:ext cx="2331720" cy="256032"/>
          </a:xfrm>
          <a:prstGeom prst="rect">
            <a:avLst/>
          </a:prstGeom>
          <a:noFill/>
        </p:spPr>
        <p:txBody>
          <a:bodyPr wrap="square" lIns="0" tIns="0" rIns="0" bIns="0" rtlCol="0" anchor="ctr"/>
          <a:lstStyle/>
          <a:p>
            <a:pPr marL="0" indent="0" algn="r">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08  /  36</a:t>
            </a:r>
            <a:endParaRPr lang="en-US" sz="1100" dirty="0"/>
          </a:p>
        </p:txBody>
      </p:sp>
      <p:sp>
        <p:nvSpPr>
          <p:cNvPr id="7" name="Text 5"/>
          <p:cNvSpPr/>
          <p:nvPr/>
        </p:nvSpPr>
        <p:spPr>
          <a:xfrm>
            <a:off x="384048" y="256032"/>
            <a:ext cx="11338560" cy="457200"/>
          </a:xfrm>
          <a:prstGeom prst="rect">
            <a:avLst/>
          </a:prstGeom>
          <a:noFill/>
        </p:spPr>
        <p:txBody>
          <a:bodyPr wrap="square" lIns="0" tIns="0" rIns="0" bIns="0" rtlCol="0" anchor="ctr"/>
          <a:lstStyle/>
          <a:p>
            <a:pPr marL="0" indent="0">
              <a:buNone/>
            </a:pPr>
            <a:r>
              <a:rPr lang="en-US" sz="2800" dirty="0">
                <a:solidFill>
                  <a:srgbClr val="1A1814"/>
                </a:solidFill>
                <a:latin typeface="Georgia" panose="02040502050405020303" pitchFamily="34" charset="0"/>
                <a:ea typeface="Georgia" panose="02040502050405020303" pitchFamily="34" charset="-122"/>
                <a:cs typeface="Georgia" panose="02040502050405020303" pitchFamily="34" charset="-120"/>
              </a:rPr>
              <a:t>Papan pemilik</a:t>
            </a:r>
            <a:endParaRPr lang="en-US" sz="2800" dirty="0"/>
          </a:p>
        </p:txBody>
      </p:sp>
      <p:pic>
        <p:nvPicPr>
          <p:cNvPr id="8" name="Image 0" descr="/home/claude/ws/artifacts/deck/pemilik-inquiry.png"/>
          <p:cNvPicPr>
            <a:picLocks noChangeAspect="1"/>
          </p:cNvPicPr>
          <p:nvPr/>
        </p:nvPicPr>
        <p:blipFill>
          <a:blip r:embed="rId1"/>
          <a:stretch>
            <a:fillRect/>
          </a:stretch>
        </p:blipFill>
        <p:spPr>
          <a:xfrm>
            <a:off x="347472" y="960120"/>
            <a:ext cx="7452360" cy="4654296"/>
          </a:xfrm>
          <a:prstGeom prst="rect">
            <a:avLst/>
          </a:prstGeom>
        </p:spPr>
      </p:pic>
      <p:sp>
        <p:nvSpPr>
          <p:cNvPr id="9" name="Text 6"/>
          <p:cNvSpPr/>
          <p:nvPr/>
        </p:nvSpPr>
        <p:spPr>
          <a:xfrm>
            <a:off x="8001000" y="1051560"/>
            <a:ext cx="3840480" cy="292608"/>
          </a:xfrm>
          <a:prstGeom prst="rect">
            <a:avLst/>
          </a:prstGeom>
          <a:noFill/>
        </p:spPr>
        <p:txBody>
          <a:bodyPr wrap="square" lIns="0" tIns="0" rIns="0" bIns="0" rtlCol="0" anchor="ctr"/>
          <a:lstStyle/>
          <a:p>
            <a:pPr marL="0" indent="0">
              <a:buNone/>
            </a:pPr>
            <a:r>
              <a:rPr lang="en-US" sz="1600" dirty="0">
                <a:solidFill>
                  <a:srgbClr val="1A1814"/>
                </a:solidFill>
                <a:latin typeface="Georgia" panose="02040502050405020303" pitchFamily="34" charset="0"/>
                <a:ea typeface="Georgia" panose="02040502050405020303" pitchFamily="34" charset="-122"/>
                <a:cs typeface="Georgia" panose="02040502050405020303" pitchFamily="34" charset="-120"/>
              </a:rPr>
              <a:t>12 kamar contoh</a:t>
            </a:r>
            <a:endParaRPr lang="en-US" sz="1600" dirty="0"/>
          </a:p>
        </p:txBody>
      </p:sp>
      <p:sp>
        <p:nvSpPr>
          <p:cNvPr id="10" name="Text 7"/>
          <p:cNvSpPr/>
          <p:nvPr/>
        </p:nvSpPr>
        <p:spPr>
          <a:xfrm>
            <a:off x="8001000" y="1353312"/>
            <a:ext cx="3840480" cy="640080"/>
          </a:xfrm>
          <a:prstGeom prst="rect">
            <a:avLst/>
          </a:prstGeom>
          <a:noFill/>
        </p:spPr>
        <p:txBody>
          <a:bodyPr wrap="square" lIns="0" tIns="0" rIns="0" bIns="0" rtlCol="0" anchor="ctr"/>
          <a:lstStyle/>
          <a:p>
            <a:pPr marL="0" indent="0">
              <a:buNone/>
            </a:pPr>
            <a:r>
              <a:rPr lang="en-US" sz="1300" dirty="0">
                <a:solidFill>
                  <a:srgbClr val="3F382F"/>
                </a:solidFill>
                <a:latin typeface="Calibri" panose="020F0502020204030204" pitchFamily="34" charset="0"/>
                <a:ea typeface="Calibri" panose="020F0502020204030204" pitchFamily="34" charset="-122"/>
                <a:cs typeface="Calibri" panose="020F0502020204030204" pitchFamily="34" charset="-120"/>
              </a:rPr>
              <a:t>Ketuk kartu: isi, kosong, lalu booking.</a:t>
            </a:r>
            <a:endParaRPr lang="en-US" sz="1300" dirty="0"/>
          </a:p>
        </p:txBody>
      </p:sp>
      <p:sp>
        <p:nvSpPr>
          <p:cNvPr id="11" name="Text 8"/>
          <p:cNvSpPr/>
          <p:nvPr/>
        </p:nvSpPr>
        <p:spPr>
          <a:xfrm>
            <a:off x="8001000" y="2103120"/>
            <a:ext cx="3840480" cy="292608"/>
          </a:xfrm>
          <a:prstGeom prst="rect">
            <a:avLst/>
          </a:prstGeom>
          <a:noFill/>
        </p:spPr>
        <p:txBody>
          <a:bodyPr wrap="square" lIns="0" tIns="0" rIns="0" bIns="0" rtlCol="0" anchor="ctr"/>
          <a:lstStyle/>
          <a:p>
            <a:pPr marL="0" indent="0">
              <a:buNone/>
            </a:pPr>
            <a:r>
              <a:rPr lang="en-US" sz="1600" dirty="0">
                <a:solidFill>
                  <a:srgbClr val="1A1814"/>
                </a:solidFill>
                <a:latin typeface="Georgia" panose="02040502050405020303" pitchFamily="34" charset="0"/>
                <a:ea typeface="Georgia" panose="02040502050405020303" pitchFamily="34" charset="-122"/>
                <a:cs typeface="Georgia" panose="02040502050405020303" pitchFamily="34" charset="-120"/>
              </a:rPr>
              <a:t>Pengajuan masuk</a:t>
            </a:r>
            <a:endParaRPr lang="en-US" sz="1600" dirty="0"/>
          </a:p>
        </p:txBody>
      </p:sp>
      <p:sp>
        <p:nvSpPr>
          <p:cNvPr id="12" name="Text 9"/>
          <p:cNvSpPr/>
          <p:nvPr/>
        </p:nvSpPr>
        <p:spPr>
          <a:xfrm>
            <a:off x="8001000" y="2404872"/>
            <a:ext cx="3840480" cy="640080"/>
          </a:xfrm>
          <a:prstGeom prst="rect">
            <a:avLst/>
          </a:prstGeom>
          <a:noFill/>
        </p:spPr>
        <p:txBody>
          <a:bodyPr wrap="square" lIns="0" tIns="0" rIns="0" bIns="0" rtlCol="0" anchor="ctr"/>
          <a:lstStyle/>
          <a:p>
            <a:pPr marL="0" indent="0">
              <a:buNone/>
            </a:pPr>
            <a:r>
              <a:rPr lang="en-US" sz="1300" dirty="0">
                <a:solidFill>
                  <a:srgbClr val="3F382F"/>
                </a:solidFill>
                <a:latin typeface="Calibri" panose="020F0502020204030204" pitchFamily="34" charset="0"/>
                <a:ea typeface="Calibri" panose="020F0502020204030204" pitchFamily="34" charset="-122"/>
                <a:cs typeface="Calibri" panose="020F0502020204030204" pitchFamily="34" charset="-120"/>
              </a:rPr>
              <a:t>Termasuk yang baru dikirim dari halaman unit.</a:t>
            </a:r>
            <a:endParaRPr lang="en-US" sz="1300" dirty="0"/>
          </a:p>
        </p:txBody>
      </p:sp>
      <p:sp>
        <p:nvSpPr>
          <p:cNvPr id="13" name="Text 10"/>
          <p:cNvSpPr/>
          <p:nvPr/>
        </p:nvSpPr>
        <p:spPr>
          <a:xfrm>
            <a:off x="8001000" y="3154680"/>
            <a:ext cx="3840480" cy="292608"/>
          </a:xfrm>
          <a:prstGeom prst="rect">
            <a:avLst/>
          </a:prstGeom>
          <a:noFill/>
        </p:spPr>
        <p:txBody>
          <a:bodyPr wrap="square" lIns="0" tIns="0" rIns="0" bIns="0" rtlCol="0" anchor="ctr"/>
          <a:lstStyle/>
          <a:p>
            <a:pPr marL="0" indent="0">
              <a:buNone/>
            </a:pPr>
            <a:r>
              <a:rPr lang="en-US" sz="1600" dirty="0">
                <a:solidFill>
                  <a:srgbClr val="1A1814"/>
                </a:solidFill>
                <a:latin typeface="Georgia" panose="02040502050405020303" pitchFamily="34" charset="0"/>
                <a:ea typeface="Georgia" panose="02040502050405020303" pitchFamily="34" charset="-122"/>
                <a:cs typeface="Georgia" panose="02040502050405020303" pitchFamily="34" charset="-120"/>
              </a:rPr>
              <a:t>Grafik hunian</a:t>
            </a:r>
            <a:endParaRPr lang="en-US" sz="1600" dirty="0"/>
          </a:p>
        </p:txBody>
      </p:sp>
      <p:sp>
        <p:nvSpPr>
          <p:cNvPr id="14" name="Text 11"/>
          <p:cNvSpPr/>
          <p:nvPr/>
        </p:nvSpPr>
        <p:spPr>
          <a:xfrm>
            <a:off x="8001000" y="3456432"/>
            <a:ext cx="3840480" cy="640080"/>
          </a:xfrm>
          <a:prstGeom prst="rect">
            <a:avLst/>
          </a:prstGeom>
          <a:noFill/>
        </p:spPr>
        <p:txBody>
          <a:bodyPr wrap="square" lIns="0" tIns="0" rIns="0" bIns="0" rtlCol="0" anchor="ctr"/>
          <a:lstStyle/>
          <a:p>
            <a:pPr marL="0" indent="0">
              <a:buNone/>
            </a:pPr>
            <a:r>
              <a:rPr lang="en-US" sz="1300" dirty="0">
                <a:solidFill>
                  <a:srgbClr val="3F382F"/>
                </a:solidFill>
                <a:latin typeface="Calibri" panose="020F0502020204030204" pitchFamily="34" charset="0"/>
                <a:ea typeface="Calibri" panose="020F0502020204030204" pitchFamily="34" charset="-122"/>
                <a:cs typeface="Calibri" panose="020F0502020204030204" pitchFamily="34" charset="-120"/>
              </a:rPr>
              <a:t>Mei–Oktober. Angka contoh, bukan hitungan live.</a:t>
            </a:r>
            <a:endParaRPr lang="en-US" sz="1300" dirty="0"/>
          </a:p>
        </p:txBody>
      </p:sp>
      <p:sp>
        <p:nvSpPr>
          <p:cNvPr id="15" name="Text 12"/>
          <p:cNvSpPr/>
          <p:nvPr/>
        </p:nvSpPr>
        <p:spPr>
          <a:xfrm>
            <a:off x="8001000" y="4206240"/>
            <a:ext cx="3840480" cy="292608"/>
          </a:xfrm>
          <a:prstGeom prst="rect">
            <a:avLst/>
          </a:prstGeom>
          <a:noFill/>
        </p:spPr>
        <p:txBody>
          <a:bodyPr wrap="square" lIns="0" tIns="0" rIns="0" bIns="0" rtlCol="0" anchor="ctr"/>
          <a:lstStyle/>
          <a:p>
            <a:pPr marL="0" indent="0">
              <a:buNone/>
            </a:pPr>
            <a:r>
              <a:rPr lang="en-US" sz="1600" dirty="0">
                <a:solidFill>
                  <a:srgbClr val="1A1814"/>
                </a:solidFill>
                <a:latin typeface="Georgia" panose="02040502050405020303" pitchFamily="34" charset="0"/>
                <a:ea typeface="Georgia" panose="02040502050405020303" pitchFamily="34" charset="-122"/>
                <a:cs typeface="Georgia" panose="02040502050405020303" pitchFamily="34" charset="-120"/>
              </a:rPr>
              <a:t>Kos Melati</a:t>
            </a:r>
            <a:endParaRPr lang="en-US" sz="1600" dirty="0"/>
          </a:p>
        </p:txBody>
      </p:sp>
      <p:sp>
        <p:nvSpPr>
          <p:cNvPr id="16" name="Text 13"/>
          <p:cNvSpPr/>
          <p:nvPr/>
        </p:nvSpPr>
        <p:spPr>
          <a:xfrm>
            <a:off x="8001000" y="4507992"/>
            <a:ext cx="3840480" cy="640080"/>
          </a:xfrm>
          <a:prstGeom prst="rect">
            <a:avLst/>
          </a:prstGeom>
          <a:noFill/>
        </p:spPr>
        <p:txBody>
          <a:bodyPr wrap="square" lIns="0" tIns="0" rIns="0" bIns="0" rtlCol="0" anchor="ctr"/>
          <a:lstStyle/>
          <a:p>
            <a:pPr marL="0" indent="0">
              <a:buNone/>
            </a:pPr>
            <a:r>
              <a:rPr lang="en-US" sz="1300" dirty="0">
                <a:solidFill>
                  <a:srgbClr val="3F382F"/>
                </a:solidFill>
                <a:latin typeface="Calibri" panose="020F0502020204030204" pitchFamily="34" charset="0"/>
                <a:ea typeface="Calibri" panose="020F0502020204030204" pitchFamily="34" charset="-122"/>
                <a:cs typeface="Calibri" panose="020F0502020204030204" pitchFamily="34" charset="-120"/>
              </a:rPr>
              <a:t>Satu properti dulu. Multi-properti ditambah di tahap lanjut.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EFE6"/>
          </a:solidFill>
        </p:spPr>
        <p:txBody>
          <a:bodyPr/>
          <a:p/>
        </p:txBody>
      </p:sp>
      <p:sp>
        <p:nvSpPr>
          <p:cNvPr id="3" name="Shape 1"/>
          <p:cNvSpPr/>
          <p:nvPr/>
        </p:nvSpPr>
        <p:spPr>
          <a:xfrm>
            <a:off x="0" y="0"/>
            <a:ext cx="91440" cy="6858000"/>
          </a:xfrm>
          <a:prstGeom prst="rect">
            <a:avLst/>
          </a:prstGeom>
          <a:solidFill>
            <a:srgbClr val="C4622D"/>
          </a:solidFill>
        </p:spPr>
        <p:txBody>
          <a:bodyPr/>
          <a:p/>
        </p:txBody>
      </p:sp>
      <p:sp>
        <p:nvSpPr>
          <p:cNvPr id="4" name="Shape 2"/>
          <p:cNvSpPr/>
          <p:nvPr/>
        </p:nvSpPr>
        <p:spPr>
          <a:xfrm>
            <a:off x="0" y="6601968"/>
            <a:ext cx="12191695" cy="256032"/>
          </a:xfrm>
          <a:prstGeom prst="rect">
            <a:avLst/>
          </a:prstGeom>
          <a:solidFill>
            <a:srgbClr val="1A1814"/>
          </a:solidFill>
        </p:spPr>
        <p:txBody>
          <a:bodyPr/>
          <a:p/>
        </p:txBody>
      </p:sp>
      <p:sp>
        <p:nvSpPr>
          <p:cNvPr id="5" name="Text 3"/>
          <p:cNvSpPr/>
          <p:nvPr/>
        </p:nvSpPr>
        <p:spPr>
          <a:xfrm>
            <a:off x="347472" y="6601968"/>
            <a:ext cx="9144000" cy="256032"/>
          </a:xfrm>
          <a:prstGeom prst="rect">
            <a:avLst/>
          </a:prstGeom>
          <a:noFill/>
        </p:spPr>
        <p:txBody>
          <a:bodyPr wrap="square" lIns="0" tIns="0" rIns="0" bIns="0" rtlCol="0" anchor="ctr"/>
          <a:lstStyle/>
          <a:p>
            <a:pPr marL="0" indent="0">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HUNI   ·   Proposal website kos &amp; kontrakan   ·   Oktober 2026</a:t>
            </a:r>
            <a:endParaRPr lang="en-US" sz="1100" dirty="0"/>
          </a:p>
        </p:txBody>
      </p:sp>
      <p:sp>
        <p:nvSpPr>
          <p:cNvPr id="6" name="Text 4"/>
          <p:cNvSpPr/>
          <p:nvPr/>
        </p:nvSpPr>
        <p:spPr>
          <a:xfrm>
            <a:off x="9509760" y="6601968"/>
            <a:ext cx="2331720" cy="256032"/>
          </a:xfrm>
          <a:prstGeom prst="rect">
            <a:avLst/>
          </a:prstGeom>
          <a:noFill/>
        </p:spPr>
        <p:txBody>
          <a:bodyPr wrap="square" lIns="0" tIns="0" rIns="0" bIns="0" rtlCol="0" anchor="ctr"/>
          <a:lstStyle/>
          <a:p>
            <a:pPr marL="0" indent="0" algn="r">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09  /  36</a:t>
            </a:r>
            <a:endParaRPr lang="en-US" sz="1100" dirty="0"/>
          </a:p>
        </p:txBody>
      </p:sp>
      <p:sp>
        <p:nvSpPr>
          <p:cNvPr id="7" name="Text 5"/>
          <p:cNvSpPr/>
          <p:nvPr/>
        </p:nvSpPr>
        <p:spPr>
          <a:xfrm>
            <a:off x="384048" y="256032"/>
            <a:ext cx="11338560" cy="457200"/>
          </a:xfrm>
          <a:prstGeom prst="rect">
            <a:avLst/>
          </a:prstGeom>
          <a:noFill/>
        </p:spPr>
        <p:txBody>
          <a:bodyPr wrap="square" lIns="0" tIns="0" rIns="0" bIns="0" rtlCol="0" anchor="ctr"/>
          <a:lstStyle/>
          <a:p>
            <a:pPr marL="0" indent="0">
              <a:buNone/>
            </a:pPr>
            <a:r>
              <a:rPr lang="en-US" sz="2800" dirty="0">
                <a:solidFill>
                  <a:srgbClr val="1A1814"/>
                </a:solidFill>
                <a:latin typeface="Georgia" panose="02040502050405020303" pitchFamily="34" charset="0"/>
                <a:ea typeface="Georgia" panose="02040502050405020303" pitchFamily="34" charset="-122"/>
                <a:cs typeface="Georgia" panose="02040502050405020303" pitchFamily="34" charset="-120"/>
              </a:rPr>
              <a:t>Dipakai dari HP, karena yang cari kos jarang buka laptop.</a:t>
            </a:r>
            <a:endParaRPr lang="en-US" sz="2800" dirty="0"/>
          </a:p>
        </p:txBody>
      </p:sp>
      <p:pic>
        <p:nvPicPr>
          <p:cNvPr id="8" name="Image 0" descr="/home/claude/ws/artifacts/deck/home-mobile.png"/>
          <p:cNvPicPr>
            <a:picLocks noChangeAspect="1"/>
          </p:cNvPicPr>
          <p:nvPr/>
        </p:nvPicPr>
        <p:blipFill>
          <a:blip r:embed="rId1"/>
          <a:stretch>
            <a:fillRect/>
          </a:stretch>
        </p:blipFill>
        <p:spPr>
          <a:xfrm>
            <a:off x="3714074" y="1051560"/>
            <a:ext cx="2176034" cy="4709160"/>
          </a:xfrm>
          <a:prstGeom prst="rect">
            <a:avLst/>
          </a:prstGeom>
        </p:spPr>
      </p:pic>
      <p:pic>
        <p:nvPicPr>
          <p:cNvPr id="9" name="Image 1" descr="/home/claude/ws/artifacts/deck/unit-mobile.png"/>
          <p:cNvPicPr>
            <a:picLocks noChangeAspect="1"/>
          </p:cNvPicPr>
          <p:nvPr/>
        </p:nvPicPr>
        <p:blipFill>
          <a:blip r:embed="rId2"/>
          <a:stretch>
            <a:fillRect/>
          </a:stretch>
        </p:blipFill>
        <p:spPr>
          <a:xfrm>
            <a:off x="6301588" y="1051560"/>
            <a:ext cx="2176034" cy="4709160"/>
          </a:xfrm>
          <a:prstGeom prst="rect">
            <a:avLst/>
          </a:prstGeom>
        </p:spPr>
      </p:pic>
      <p:sp>
        <p:nvSpPr>
          <p:cNvPr id="10" name="Text 6"/>
          <p:cNvSpPr/>
          <p:nvPr/>
        </p:nvSpPr>
        <p:spPr>
          <a:xfrm>
            <a:off x="3714074" y="5852160"/>
            <a:ext cx="2176034" cy="274320"/>
          </a:xfrm>
          <a:prstGeom prst="rect">
            <a:avLst/>
          </a:prstGeom>
          <a:noFill/>
        </p:spPr>
        <p:txBody>
          <a:bodyPr wrap="square" lIns="0" tIns="0" rIns="0" bIns="0" rtlCol="0" anchor="ctr"/>
          <a:lstStyle/>
          <a:p>
            <a:pPr marL="0" indent="0" algn="ctr">
              <a:buNone/>
            </a:pPr>
            <a:r>
              <a:rPr lang="en-US" sz="1300" dirty="0">
                <a:solidFill>
                  <a:srgbClr val="6F675C"/>
                </a:solidFill>
                <a:latin typeface="Calibri" panose="020F0502020204030204" pitchFamily="34" charset="0"/>
                <a:ea typeface="Calibri" panose="020F0502020204030204" pitchFamily="34" charset="-122"/>
                <a:cs typeface="Calibri" panose="020F0502020204030204" pitchFamily="34" charset="-120"/>
              </a:rPr>
              <a:t>Beranda</a:t>
            </a:r>
            <a:endParaRPr lang="en-US" sz="1300" dirty="0"/>
          </a:p>
        </p:txBody>
      </p:sp>
      <p:sp>
        <p:nvSpPr>
          <p:cNvPr id="11" name="Text 7"/>
          <p:cNvSpPr/>
          <p:nvPr/>
        </p:nvSpPr>
        <p:spPr>
          <a:xfrm>
            <a:off x="6301588" y="5852160"/>
            <a:ext cx="2176034" cy="274320"/>
          </a:xfrm>
          <a:prstGeom prst="rect">
            <a:avLst/>
          </a:prstGeom>
          <a:noFill/>
        </p:spPr>
        <p:txBody>
          <a:bodyPr wrap="square" lIns="0" tIns="0" rIns="0" bIns="0" rtlCol="0" anchor="ctr"/>
          <a:lstStyle/>
          <a:p>
            <a:pPr marL="0" indent="0" algn="ctr">
              <a:buNone/>
            </a:pPr>
            <a:r>
              <a:rPr lang="en-US" sz="1300" dirty="0">
                <a:solidFill>
                  <a:srgbClr val="6F675C"/>
                </a:solidFill>
                <a:latin typeface="Calibri" panose="020F0502020204030204" pitchFamily="34" charset="0"/>
                <a:ea typeface="Calibri" panose="020F0502020204030204" pitchFamily="34" charset="-122"/>
                <a:cs typeface="Calibri" panose="020F0502020204030204" pitchFamily="34" charset="-120"/>
              </a:rPr>
              <a:t>Detail kontrakan</a:t>
            </a:r>
            <a:endParaRPr lang="en-US" sz="1300" dirty="0"/>
          </a:p>
        </p:txBody>
      </p:sp>
      <p:sp>
        <p:nvSpPr>
          <p:cNvPr id="12" name="Shape 8"/>
          <p:cNvSpPr/>
          <p:nvPr/>
        </p:nvSpPr>
        <p:spPr>
          <a:xfrm>
            <a:off x="384048" y="6199632"/>
            <a:ext cx="11430000" cy="292608"/>
          </a:xfrm>
          <a:prstGeom prst="rect">
            <a:avLst/>
          </a:prstGeom>
          <a:solidFill>
            <a:srgbClr val="F4EFE6"/>
          </a:solidFill>
        </p:spPr>
        <p:txBody>
          <a:bodyPr/>
          <a:p/>
        </p:txBody>
      </p:sp>
      <p:sp>
        <p:nvSpPr>
          <p:cNvPr id="13" name="Text 9"/>
          <p:cNvSpPr/>
          <p:nvPr/>
        </p:nvSpPr>
        <p:spPr>
          <a:xfrm>
            <a:off x="384048" y="6172200"/>
            <a:ext cx="11430000" cy="292608"/>
          </a:xfrm>
          <a:prstGeom prst="rect">
            <a:avLst/>
          </a:prstGeom>
          <a:noFill/>
        </p:spPr>
        <p:txBody>
          <a:bodyPr wrap="square" lIns="0" tIns="0" rIns="0" bIns="0" rtlCol="0" anchor="ctr"/>
          <a:lstStyle/>
          <a:p>
            <a:pPr marL="0" indent="0">
              <a:buNone/>
            </a:pPr>
            <a:r>
              <a:rPr lang="en-US" sz="1300" dirty="0">
                <a:solidFill>
                  <a:srgbClr val="6F675C"/>
                </a:solidFill>
                <a:latin typeface="Calibri" panose="020F0502020204030204" pitchFamily="34" charset="0"/>
                <a:ea typeface="Calibri" panose="020F0502020204030204" pitchFamily="34" charset="-122"/>
                <a:cs typeface="Calibri" panose="020F0502020204030204" pitchFamily="34" charset="-120"/>
              </a:rPr>
              <a:t>Tombol dan bidang isian cukup besar untuk ibu jari. Tidak ada geser kiri-kanan.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EFE6"/>
          </a:solidFill>
        </p:spPr>
        <p:txBody>
          <a:bodyPr/>
          <a:p/>
        </p:txBody>
      </p:sp>
      <p:sp>
        <p:nvSpPr>
          <p:cNvPr id="3" name="Shape 1"/>
          <p:cNvSpPr/>
          <p:nvPr/>
        </p:nvSpPr>
        <p:spPr>
          <a:xfrm>
            <a:off x="0" y="0"/>
            <a:ext cx="91440" cy="6858000"/>
          </a:xfrm>
          <a:prstGeom prst="rect">
            <a:avLst/>
          </a:prstGeom>
          <a:solidFill>
            <a:srgbClr val="C4622D"/>
          </a:solidFill>
        </p:spPr>
        <p:txBody>
          <a:bodyPr/>
          <a:p/>
        </p:txBody>
      </p:sp>
      <p:sp>
        <p:nvSpPr>
          <p:cNvPr id="4" name="Shape 2"/>
          <p:cNvSpPr/>
          <p:nvPr/>
        </p:nvSpPr>
        <p:spPr>
          <a:xfrm>
            <a:off x="0" y="6601968"/>
            <a:ext cx="12191695" cy="256032"/>
          </a:xfrm>
          <a:prstGeom prst="rect">
            <a:avLst/>
          </a:prstGeom>
          <a:solidFill>
            <a:srgbClr val="1A1814"/>
          </a:solidFill>
        </p:spPr>
        <p:txBody>
          <a:bodyPr/>
          <a:p/>
        </p:txBody>
      </p:sp>
      <p:sp>
        <p:nvSpPr>
          <p:cNvPr id="5" name="Text 3"/>
          <p:cNvSpPr/>
          <p:nvPr/>
        </p:nvSpPr>
        <p:spPr>
          <a:xfrm>
            <a:off x="347472" y="6601968"/>
            <a:ext cx="9144000" cy="256032"/>
          </a:xfrm>
          <a:prstGeom prst="rect">
            <a:avLst/>
          </a:prstGeom>
          <a:noFill/>
        </p:spPr>
        <p:txBody>
          <a:bodyPr wrap="square" lIns="0" tIns="0" rIns="0" bIns="0" rtlCol="0" anchor="ctr"/>
          <a:lstStyle/>
          <a:p>
            <a:pPr marL="0" indent="0">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HUNI   ·   Proposal website kos &amp; kontrakan   ·   Oktober 2026</a:t>
            </a:r>
            <a:endParaRPr lang="en-US" sz="1100" dirty="0"/>
          </a:p>
        </p:txBody>
      </p:sp>
      <p:sp>
        <p:nvSpPr>
          <p:cNvPr id="6" name="Text 4"/>
          <p:cNvSpPr/>
          <p:nvPr/>
        </p:nvSpPr>
        <p:spPr>
          <a:xfrm>
            <a:off x="9509760" y="6601968"/>
            <a:ext cx="2331720" cy="256032"/>
          </a:xfrm>
          <a:prstGeom prst="rect">
            <a:avLst/>
          </a:prstGeom>
          <a:noFill/>
        </p:spPr>
        <p:txBody>
          <a:bodyPr wrap="square" lIns="0" tIns="0" rIns="0" bIns="0" rtlCol="0" anchor="ctr"/>
          <a:lstStyle/>
          <a:p>
            <a:pPr marL="0" indent="0" algn="r">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10  /  36</a:t>
            </a:r>
            <a:endParaRPr lang="en-US" sz="1100" dirty="0"/>
          </a:p>
        </p:txBody>
      </p:sp>
      <p:sp>
        <p:nvSpPr>
          <p:cNvPr id="7" name="Text 5"/>
          <p:cNvSpPr/>
          <p:nvPr/>
        </p:nvSpPr>
        <p:spPr>
          <a:xfrm>
            <a:off x="384048" y="256032"/>
            <a:ext cx="11338560" cy="457200"/>
          </a:xfrm>
          <a:prstGeom prst="rect">
            <a:avLst/>
          </a:prstGeom>
          <a:noFill/>
        </p:spPr>
        <p:txBody>
          <a:bodyPr wrap="square" lIns="0" tIns="0" rIns="0" bIns="0" rtlCol="0" anchor="ctr"/>
          <a:lstStyle/>
          <a:p>
            <a:pPr marL="0" indent="0">
              <a:buNone/>
            </a:pPr>
            <a:r>
              <a:rPr lang="en-US" sz="2800" dirty="0">
                <a:solidFill>
                  <a:srgbClr val="1A1814"/>
                </a:solidFill>
                <a:latin typeface="Georgia" panose="02040502050405020303" pitchFamily="34" charset="0"/>
                <a:ea typeface="Georgia" panose="02040502050405020303" pitchFamily="34" charset="-122"/>
                <a:cs typeface="Georgia" panose="02040502050405020303" pitchFamily="34" charset="-120"/>
              </a:rPr>
              <a:t>Proof of concept: yang sudah bisa diklik.</a:t>
            </a:r>
            <a:endParaRPr lang="en-US" sz="2800" dirty="0"/>
          </a:p>
        </p:txBody>
      </p:sp>
      <p:sp>
        <p:nvSpPr>
          <p:cNvPr id="8" name="Text 6"/>
          <p:cNvSpPr/>
          <p:nvPr/>
        </p:nvSpPr>
        <p:spPr>
          <a:xfrm>
            <a:off x="384048" y="804672"/>
            <a:ext cx="10972800" cy="292608"/>
          </a:xfrm>
          <a:prstGeom prst="rect">
            <a:avLst/>
          </a:prstGeom>
          <a:noFill/>
        </p:spPr>
        <p:txBody>
          <a:bodyPr wrap="square" lIns="0" tIns="0" rIns="0" bIns="0" rtlCol="0" anchor="ctr"/>
          <a:lstStyle/>
          <a:p>
            <a:pPr marL="0" indent="0">
              <a:buNone/>
            </a:pPr>
            <a:r>
              <a:rPr lang="en-US" sz="1500" dirty="0">
                <a:solidFill>
                  <a:srgbClr val="6F675C"/>
                </a:solidFill>
                <a:latin typeface="Calibri" panose="020F0502020204030204" pitchFamily="34" charset="0"/>
                <a:ea typeface="Calibri" panose="020F0502020204030204" pitchFamily="34" charset="-122"/>
                <a:cs typeface="Calibri" panose="020F0502020204030204" pitchFamily="34" charset="-120"/>
              </a:rPr>
              <a:t>Ini bukti arah produk, bukan sistem produksi. Data contoh, tanpa akun.</a:t>
            </a:r>
            <a:endParaRPr lang="en-US" sz="1500" dirty="0"/>
          </a:p>
        </p:txBody>
      </p:sp>
      <p:sp>
        <p:nvSpPr>
          <p:cNvPr id="9" name="Shape 7"/>
          <p:cNvSpPr/>
          <p:nvPr/>
        </p:nvSpPr>
        <p:spPr>
          <a:xfrm>
            <a:off x="384048" y="1280160"/>
            <a:ext cx="5623560" cy="5029200"/>
          </a:xfrm>
          <a:prstGeom prst="roundRect">
            <a:avLst>
              <a:gd name="adj" fmla="val 1455"/>
            </a:avLst>
          </a:prstGeom>
          <a:solidFill>
            <a:srgbClr val="2F5D50"/>
          </a:solidFill>
          <a:ln w="12700">
            <a:solidFill>
              <a:srgbClr val="2F5D50"/>
            </a:solidFill>
            <a:prstDash val="solid"/>
          </a:ln>
        </p:spPr>
        <p:txBody>
          <a:bodyPr/>
          <a:p/>
        </p:txBody>
      </p:sp>
      <p:sp>
        <p:nvSpPr>
          <p:cNvPr id="10" name="Shape 8"/>
          <p:cNvSpPr/>
          <p:nvPr/>
        </p:nvSpPr>
        <p:spPr>
          <a:xfrm>
            <a:off x="6190488" y="1280160"/>
            <a:ext cx="5623560" cy="5029200"/>
          </a:xfrm>
          <a:prstGeom prst="roundRect">
            <a:avLst>
              <a:gd name="adj" fmla="val 1455"/>
            </a:avLst>
          </a:prstGeom>
          <a:solidFill>
            <a:srgbClr val="FBF8F3"/>
          </a:solidFill>
          <a:ln w="12700">
            <a:solidFill>
              <a:srgbClr val="D9CFBF"/>
            </a:solidFill>
            <a:prstDash val="solid"/>
          </a:ln>
        </p:spPr>
        <p:txBody>
          <a:bodyPr/>
          <a:p/>
        </p:txBody>
      </p:sp>
      <p:sp>
        <p:nvSpPr>
          <p:cNvPr id="11" name="Text 9"/>
          <p:cNvSpPr/>
          <p:nvPr/>
        </p:nvSpPr>
        <p:spPr>
          <a:xfrm>
            <a:off x="640080" y="1481328"/>
            <a:ext cx="5120640" cy="365760"/>
          </a:xfrm>
          <a:prstGeom prst="rect">
            <a:avLst/>
          </a:prstGeom>
          <a:noFill/>
        </p:spPr>
        <p:txBody>
          <a:bodyPr wrap="square" lIns="0" tIns="0" rIns="0" bIns="0" rtlCol="0" anchor="ctr"/>
          <a:lstStyle/>
          <a:p>
            <a:pPr marL="0" indent="0">
              <a:buNone/>
            </a:pPr>
            <a:r>
              <a:rPr lang="en-US" sz="2200" dirty="0">
                <a:solidFill>
                  <a:srgbClr val="F4EFE6"/>
                </a:solidFill>
                <a:latin typeface="Georgia" panose="02040502050405020303" pitchFamily="34" charset="0"/>
                <a:ea typeface="Georgia" panose="02040502050405020303" pitchFamily="34" charset="-122"/>
                <a:cs typeface="Georgia" panose="02040502050405020303" pitchFamily="34" charset="-120"/>
              </a:rPr>
              <a:t>Sudah jalan</a:t>
            </a:r>
            <a:endParaRPr lang="en-US" sz="2200" dirty="0"/>
          </a:p>
        </p:txBody>
      </p:sp>
      <p:sp>
        <p:nvSpPr>
          <p:cNvPr id="12" name="Text 10"/>
          <p:cNvSpPr/>
          <p:nvPr/>
        </p:nvSpPr>
        <p:spPr>
          <a:xfrm>
            <a:off x="640080" y="1965960"/>
            <a:ext cx="5074920" cy="384048"/>
          </a:xfrm>
          <a:prstGeom prst="rect">
            <a:avLst/>
          </a:prstGeom>
          <a:noFill/>
        </p:spPr>
        <p:txBody>
          <a:bodyPr wrap="square" lIns="0" tIns="0" rIns="0" bIns="0" rtlCol="0" anchor="ctr"/>
          <a:lstStyle/>
          <a:p>
            <a:pPr marL="0" indent="0">
              <a:buNone/>
            </a:pPr>
            <a:r>
              <a:rPr lang="en-US" sz="1400" dirty="0">
                <a:solidFill>
                  <a:srgbClr val="E7DCC8"/>
                </a:solidFill>
                <a:latin typeface="Calibri" panose="020F0502020204030204" pitchFamily="34" charset="0"/>
                <a:ea typeface="Calibri" panose="020F0502020204030204" pitchFamily="34" charset="-122"/>
                <a:cs typeface="Calibri" panose="020F0502020204030204" pitchFamily="34" charset="-120"/>
              </a:rPr>
              <a:t>Enam unit contoh: kos dan kontrakan</a:t>
            </a:r>
            <a:endParaRPr lang="en-US" sz="1400" dirty="0"/>
          </a:p>
        </p:txBody>
      </p:sp>
      <p:sp>
        <p:nvSpPr>
          <p:cNvPr id="13" name="Text 11"/>
          <p:cNvSpPr/>
          <p:nvPr/>
        </p:nvSpPr>
        <p:spPr>
          <a:xfrm>
            <a:off x="640080" y="2404872"/>
            <a:ext cx="5074920" cy="384048"/>
          </a:xfrm>
          <a:prstGeom prst="rect">
            <a:avLst/>
          </a:prstGeom>
          <a:noFill/>
        </p:spPr>
        <p:txBody>
          <a:bodyPr wrap="square" lIns="0" tIns="0" rIns="0" bIns="0" rtlCol="0" anchor="ctr"/>
          <a:lstStyle/>
          <a:p>
            <a:pPr marL="0" indent="0">
              <a:buNone/>
            </a:pPr>
            <a:r>
              <a:rPr lang="en-US" sz="1400" dirty="0">
                <a:solidFill>
                  <a:srgbClr val="E7DCC8"/>
                </a:solidFill>
                <a:latin typeface="Calibri" panose="020F0502020204030204" pitchFamily="34" charset="0"/>
                <a:ea typeface="Calibri" panose="020F0502020204030204" pitchFamily="34" charset="-122"/>
                <a:cs typeface="Calibri" panose="020F0502020204030204" pitchFamily="34" charset="-120"/>
              </a:rPr>
              <a:t>Filter kota, jenis, harga, dan kata</a:t>
            </a:r>
            <a:endParaRPr lang="en-US" sz="1400" dirty="0"/>
          </a:p>
        </p:txBody>
      </p:sp>
      <p:sp>
        <p:nvSpPr>
          <p:cNvPr id="14" name="Text 12"/>
          <p:cNvSpPr/>
          <p:nvPr/>
        </p:nvSpPr>
        <p:spPr>
          <a:xfrm>
            <a:off x="640080" y="2843784"/>
            <a:ext cx="5074920" cy="384048"/>
          </a:xfrm>
          <a:prstGeom prst="rect">
            <a:avLst/>
          </a:prstGeom>
          <a:noFill/>
        </p:spPr>
        <p:txBody>
          <a:bodyPr wrap="square" lIns="0" tIns="0" rIns="0" bIns="0" rtlCol="0" anchor="ctr"/>
          <a:lstStyle/>
          <a:p>
            <a:pPr marL="0" indent="0">
              <a:buNone/>
            </a:pPr>
            <a:r>
              <a:rPr lang="en-US" sz="1400" dirty="0">
                <a:solidFill>
                  <a:srgbClr val="E7DCC8"/>
                </a:solidFill>
                <a:latin typeface="Calibri" panose="020F0502020204030204" pitchFamily="34" charset="0"/>
                <a:ea typeface="Calibri" panose="020F0502020204030204" pitchFamily="34" charset="-122"/>
                <a:cs typeface="Calibri" panose="020F0502020204030204" pitchFamily="34" charset="-120"/>
              </a:rPr>
              <a:t>Galeri, fasilitas, aturan, kawasan sekitar</a:t>
            </a:r>
            <a:endParaRPr lang="en-US" sz="1400" dirty="0"/>
          </a:p>
        </p:txBody>
      </p:sp>
      <p:sp>
        <p:nvSpPr>
          <p:cNvPr id="15" name="Text 13"/>
          <p:cNvSpPr/>
          <p:nvPr/>
        </p:nvSpPr>
        <p:spPr>
          <a:xfrm>
            <a:off x="640080" y="3282696"/>
            <a:ext cx="5074920" cy="384048"/>
          </a:xfrm>
          <a:prstGeom prst="rect">
            <a:avLst/>
          </a:prstGeom>
          <a:noFill/>
        </p:spPr>
        <p:txBody>
          <a:bodyPr wrap="square" lIns="0" tIns="0" rIns="0" bIns="0" rtlCol="0" anchor="ctr"/>
          <a:lstStyle/>
          <a:p>
            <a:pPr marL="0" indent="0">
              <a:buNone/>
            </a:pPr>
            <a:r>
              <a:rPr lang="en-US" sz="1400" dirty="0">
                <a:solidFill>
                  <a:srgbClr val="E7DCC8"/>
                </a:solidFill>
                <a:latin typeface="Calibri" panose="020F0502020204030204" pitchFamily="34" charset="0"/>
                <a:ea typeface="Calibri" panose="020F0502020204030204" pitchFamily="34" charset="-122"/>
                <a:cs typeface="Calibri" panose="020F0502020204030204" pitchFamily="34" charset="-120"/>
              </a:rPr>
              <a:t>Simpan unit di peramban</a:t>
            </a:r>
            <a:endParaRPr lang="en-US" sz="1400" dirty="0"/>
          </a:p>
        </p:txBody>
      </p:sp>
      <p:sp>
        <p:nvSpPr>
          <p:cNvPr id="16" name="Text 14"/>
          <p:cNvSpPr/>
          <p:nvPr/>
        </p:nvSpPr>
        <p:spPr>
          <a:xfrm>
            <a:off x="640080" y="3721608"/>
            <a:ext cx="5074920" cy="384048"/>
          </a:xfrm>
          <a:prstGeom prst="rect">
            <a:avLst/>
          </a:prstGeom>
          <a:noFill/>
        </p:spPr>
        <p:txBody>
          <a:bodyPr wrap="square" lIns="0" tIns="0" rIns="0" bIns="0" rtlCol="0" anchor="ctr"/>
          <a:lstStyle/>
          <a:p>
            <a:pPr marL="0" indent="0">
              <a:buNone/>
            </a:pPr>
            <a:r>
              <a:rPr lang="en-US" sz="1400" dirty="0">
                <a:solidFill>
                  <a:srgbClr val="E7DCC8"/>
                </a:solidFill>
                <a:latin typeface="Calibri" panose="020F0502020204030204" pitchFamily="34" charset="0"/>
                <a:ea typeface="Calibri" panose="020F0502020204030204" pitchFamily="34" charset="-122"/>
                <a:cs typeface="Calibri" panose="020F0502020204030204" pitchFamily="34" charset="-120"/>
              </a:rPr>
              <a:t>Form sewa dengan validasi nomor</a:t>
            </a:r>
            <a:endParaRPr lang="en-US" sz="1400" dirty="0"/>
          </a:p>
        </p:txBody>
      </p:sp>
      <p:sp>
        <p:nvSpPr>
          <p:cNvPr id="17" name="Text 15"/>
          <p:cNvSpPr/>
          <p:nvPr/>
        </p:nvSpPr>
        <p:spPr>
          <a:xfrm>
            <a:off x="640080" y="4160520"/>
            <a:ext cx="5074920" cy="384048"/>
          </a:xfrm>
          <a:prstGeom prst="rect">
            <a:avLst/>
          </a:prstGeom>
          <a:noFill/>
        </p:spPr>
        <p:txBody>
          <a:bodyPr wrap="square" lIns="0" tIns="0" rIns="0" bIns="0" rtlCol="0" anchor="ctr"/>
          <a:lstStyle/>
          <a:p>
            <a:pPr marL="0" indent="0">
              <a:buNone/>
            </a:pPr>
            <a:r>
              <a:rPr lang="en-US" sz="1400" dirty="0">
                <a:solidFill>
                  <a:srgbClr val="E7DCC8"/>
                </a:solidFill>
                <a:latin typeface="Calibri" panose="020F0502020204030204" pitchFamily="34" charset="0"/>
                <a:ea typeface="Calibri" panose="020F0502020204030204" pitchFamily="34" charset="-122"/>
                <a:cs typeface="Calibri" panose="020F0502020204030204" pitchFamily="34" charset="-120"/>
              </a:rPr>
              <a:t>Papan 12 kamar bisa diubah statusnya</a:t>
            </a:r>
            <a:endParaRPr lang="en-US" sz="1400" dirty="0"/>
          </a:p>
        </p:txBody>
      </p:sp>
      <p:sp>
        <p:nvSpPr>
          <p:cNvPr id="18" name="Text 16"/>
          <p:cNvSpPr/>
          <p:nvPr/>
        </p:nvSpPr>
        <p:spPr>
          <a:xfrm>
            <a:off x="640080" y="4599432"/>
            <a:ext cx="5074920" cy="384048"/>
          </a:xfrm>
          <a:prstGeom prst="rect">
            <a:avLst/>
          </a:prstGeom>
          <a:noFill/>
        </p:spPr>
        <p:txBody>
          <a:bodyPr wrap="square" lIns="0" tIns="0" rIns="0" bIns="0" rtlCol="0" anchor="ctr"/>
          <a:lstStyle/>
          <a:p>
            <a:pPr marL="0" indent="0">
              <a:buNone/>
            </a:pPr>
            <a:r>
              <a:rPr lang="en-US" sz="1400" dirty="0">
                <a:solidFill>
                  <a:srgbClr val="E7DCC8"/>
                </a:solidFill>
                <a:latin typeface="Calibri" panose="020F0502020204030204" pitchFamily="34" charset="0"/>
                <a:ea typeface="Calibri" panose="020F0502020204030204" pitchFamily="34" charset="-122"/>
                <a:cs typeface="Calibri" panose="020F0502020204030204" pitchFamily="34" charset="-120"/>
              </a:rPr>
              <a:t>Pengajuan form muncul di papan</a:t>
            </a:r>
            <a:endParaRPr lang="en-US" sz="1400" dirty="0"/>
          </a:p>
        </p:txBody>
      </p:sp>
      <p:sp>
        <p:nvSpPr>
          <p:cNvPr id="19" name="Text 17"/>
          <p:cNvSpPr/>
          <p:nvPr/>
        </p:nvSpPr>
        <p:spPr>
          <a:xfrm>
            <a:off x="640080" y="5038344"/>
            <a:ext cx="5074920" cy="384048"/>
          </a:xfrm>
          <a:prstGeom prst="rect">
            <a:avLst/>
          </a:prstGeom>
          <a:noFill/>
        </p:spPr>
        <p:txBody>
          <a:bodyPr wrap="square" lIns="0" tIns="0" rIns="0" bIns="0" rtlCol="0" anchor="ctr"/>
          <a:lstStyle/>
          <a:p>
            <a:pPr marL="0" indent="0">
              <a:buNone/>
            </a:pPr>
            <a:r>
              <a:rPr lang="en-US" sz="1400" dirty="0">
                <a:solidFill>
                  <a:srgbClr val="E7DCC8"/>
                </a:solidFill>
                <a:latin typeface="Calibri" panose="020F0502020204030204" pitchFamily="34" charset="0"/>
                <a:ea typeface="Calibri" panose="020F0502020204030204" pitchFamily="34" charset="-122"/>
                <a:cs typeface="Calibri" panose="020F0502020204030204" pitchFamily="34" charset="-120"/>
              </a:rPr>
              <a:t>Grafik hunian contoh</a:t>
            </a:r>
            <a:endParaRPr lang="en-US" sz="1400" dirty="0"/>
          </a:p>
        </p:txBody>
      </p:sp>
      <p:sp>
        <p:nvSpPr>
          <p:cNvPr id="20" name="Text 18"/>
          <p:cNvSpPr/>
          <p:nvPr/>
        </p:nvSpPr>
        <p:spPr>
          <a:xfrm>
            <a:off x="640080" y="5477256"/>
            <a:ext cx="5074920" cy="384048"/>
          </a:xfrm>
          <a:prstGeom prst="rect">
            <a:avLst/>
          </a:prstGeom>
          <a:noFill/>
        </p:spPr>
        <p:txBody>
          <a:bodyPr wrap="square" lIns="0" tIns="0" rIns="0" bIns="0" rtlCol="0" anchor="ctr"/>
          <a:lstStyle/>
          <a:p>
            <a:pPr marL="0" indent="0">
              <a:buNone/>
            </a:pPr>
            <a:r>
              <a:rPr lang="en-US" sz="1400" dirty="0">
                <a:solidFill>
                  <a:srgbClr val="E7DCC8"/>
                </a:solidFill>
                <a:latin typeface="Calibri" panose="020F0502020204030204" pitchFamily="34" charset="0"/>
                <a:ea typeface="Calibri" panose="020F0502020204030204" pitchFamily="34" charset="-122"/>
                <a:cs typeface="Calibri" panose="020F0502020204030204" pitchFamily="34" charset="-120"/>
              </a:rPr>
              <a:t>Halaman model kerja sama yang sama dengan deck ini</a:t>
            </a:r>
            <a:endParaRPr lang="en-US" sz="1400" dirty="0"/>
          </a:p>
        </p:txBody>
      </p:sp>
      <p:sp>
        <p:nvSpPr>
          <p:cNvPr id="21" name="Text 19"/>
          <p:cNvSpPr/>
          <p:nvPr/>
        </p:nvSpPr>
        <p:spPr>
          <a:xfrm>
            <a:off x="6446520" y="1481328"/>
            <a:ext cx="5120640" cy="365760"/>
          </a:xfrm>
          <a:prstGeom prst="rect">
            <a:avLst/>
          </a:prstGeom>
          <a:noFill/>
        </p:spPr>
        <p:txBody>
          <a:bodyPr wrap="square" lIns="0" tIns="0" rIns="0" bIns="0" rtlCol="0" anchor="ctr"/>
          <a:lstStyle/>
          <a:p>
            <a:pPr marL="0" indent="0">
              <a:buNone/>
            </a:pPr>
            <a:r>
              <a:rPr lang="en-US" sz="2200" dirty="0">
                <a:solidFill>
                  <a:srgbClr val="1A1814"/>
                </a:solidFill>
                <a:latin typeface="Georgia" panose="02040502050405020303" pitchFamily="34" charset="0"/>
                <a:ea typeface="Georgia" panose="02040502050405020303" pitchFamily="34" charset="-122"/>
                <a:cs typeface="Georgia" panose="02040502050405020303" pitchFamily="34" charset="-120"/>
              </a:rPr>
              <a:t>Menyusul di produksi</a:t>
            </a:r>
            <a:endParaRPr lang="en-US" sz="2200" dirty="0"/>
          </a:p>
        </p:txBody>
      </p:sp>
      <p:sp>
        <p:nvSpPr>
          <p:cNvPr id="22" name="Text 20"/>
          <p:cNvSpPr/>
          <p:nvPr/>
        </p:nvSpPr>
        <p:spPr>
          <a:xfrm>
            <a:off x="6446520" y="2011680"/>
            <a:ext cx="5074920" cy="438912"/>
          </a:xfrm>
          <a:prstGeom prst="rect">
            <a:avLst/>
          </a:prstGeom>
          <a:noFill/>
        </p:spPr>
        <p:txBody>
          <a:bodyPr wrap="square" lIns="0" tIns="0" rIns="0" bIns="0" rtlCol="0" anchor="ctr"/>
          <a:lstStyle/>
          <a:p>
            <a:pPr marL="0" indent="0">
              <a:buNone/>
            </a:pPr>
            <a:r>
              <a:rPr lang="en-US" sz="1500" dirty="0">
                <a:solidFill>
                  <a:srgbClr val="3F382F"/>
                </a:solidFill>
                <a:latin typeface="Calibri" panose="020F0502020204030204" pitchFamily="34" charset="0"/>
                <a:ea typeface="Calibri" panose="020F0502020204030204" pitchFamily="34" charset="-122"/>
                <a:cs typeface="Calibri" panose="020F0502020204030204" pitchFamily="34" charset="-120"/>
              </a:rPr>
              <a:t>Data di server pemilik, bukan di HP pengunjung</a:t>
            </a:r>
            <a:endParaRPr lang="en-US" sz="1500" dirty="0"/>
          </a:p>
        </p:txBody>
      </p:sp>
      <p:sp>
        <p:nvSpPr>
          <p:cNvPr id="23" name="Text 21"/>
          <p:cNvSpPr/>
          <p:nvPr/>
        </p:nvSpPr>
        <p:spPr>
          <a:xfrm>
            <a:off x="6446520" y="2514600"/>
            <a:ext cx="5074920" cy="438912"/>
          </a:xfrm>
          <a:prstGeom prst="rect">
            <a:avLst/>
          </a:prstGeom>
          <a:noFill/>
        </p:spPr>
        <p:txBody>
          <a:bodyPr wrap="square" lIns="0" tIns="0" rIns="0" bIns="0" rtlCol="0" anchor="ctr"/>
          <a:lstStyle/>
          <a:p>
            <a:pPr marL="0" indent="0">
              <a:buNone/>
            </a:pPr>
            <a:r>
              <a:rPr lang="en-US" sz="1500" dirty="0">
                <a:solidFill>
                  <a:srgbClr val="3F382F"/>
                </a:solidFill>
                <a:latin typeface="Calibri" panose="020F0502020204030204" pitchFamily="34" charset="0"/>
                <a:ea typeface="Calibri" panose="020F0502020204030204" pitchFamily="34" charset="-122"/>
                <a:cs typeface="Calibri" panose="020F0502020204030204" pitchFamily="34" charset="-120"/>
              </a:rPr>
              <a:t>Akun pemilik dan pengelola</a:t>
            </a:r>
            <a:endParaRPr lang="en-US" sz="1500" dirty="0"/>
          </a:p>
        </p:txBody>
      </p:sp>
      <p:sp>
        <p:nvSpPr>
          <p:cNvPr id="24" name="Text 22"/>
          <p:cNvSpPr/>
          <p:nvPr/>
        </p:nvSpPr>
        <p:spPr>
          <a:xfrm>
            <a:off x="6446520" y="3017520"/>
            <a:ext cx="5074920" cy="438912"/>
          </a:xfrm>
          <a:prstGeom prst="rect">
            <a:avLst/>
          </a:prstGeom>
          <a:noFill/>
        </p:spPr>
        <p:txBody>
          <a:bodyPr wrap="square" lIns="0" tIns="0" rIns="0" bIns="0" rtlCol="0" anchor="ctr"/>
          <a:lstStyle/>
          <a:p>
            <a:pPr marL="0" indent="0">
              <a:buNone/>
            </a:pPr>
            <a:r>
              <a:rPr lang="en-US" sz="1500" dirty="0">
                <a:solidFill>
                  <a:srgbClr val="3F382F"/>
                </a:solidFill>
                <a:latin typeface="Calibri" panose="020F0502020204030204" pitchFamily="34" charset="0"/>
                <a:ea typeface="Calibri" panose="020F0502020204030204" pitchFamily="34" charset="-122"/>
                <a:cs typeface="Calibri" panose="020F0502020204030204" pitchFamily="34" charset="-120"/>
              </a:rPr>
              <a:t>WhatsApp atau email sungguhan saat ada pengajuan</a:t>
            </a:r>
            <a:endParaRPr lang="en-US" sz="1500" dirty="0"/>
          </a:p>
        </p:txBody>
      </p:sp>
      <p:sp>
        <p:nvSpPr>
          <p:cNvPr id="25" name="Text 23"/>
          <p:cNvSpPr/>
          <p:nvPr/>
        </p:nvSpPr>
        <p:spPr>
          <a:xfrm>
            <a:off x="6446520" y="3520440"/>
            <a:ext cx="5074920" cy="438912"/>
          </a:xfrm>
          <a:prstGeom prst="rect">
            <a:avLst/>
          </a:prstGeom>
          <a:noFill/>
        </p:spPr>
        <p:txBody>
          <a:bodyPr wrap="square" lIns="0" tIns="0" rIns="0" bIns="0" rtlCol="0" anchor="ctr"/>
          <a:lstStyle/>
          <a:p>
            <a:pPr marL="0" indent="0">
              <a:buNone/>
            </a:pPr>
            <a:r>
              <a:rPr lang="en-US" sz="1500" dirty="0">
                <a:solidFill>
                  <a:srgbClr val="3F382F"/>
                </a:solidFill>
                <a:latin typeface="Calibri" panose="020F0502020204030204" pitchFamily="34" charset="0"/>
                <a:ea typeface="Calibri" panose="020F0502020204030204" pitchFamily="34" charset="-122"/>
                <a:cs typeface="Calibri" panose="020F0502020204030204" pitchFamily="34" charset="-120"/>
              </a:rPr>
              <a:t>Pembayaran DP dan invoice (tahap lanjut)</a:t>
            </a:r>
            <a:endParaRPr lang="en-US" sz="1500" dirty="0"/>
          </a:p>
        </p:txBody>
      </p:sp>
      <p:sp>
        <p:nvSpPr>
          <p:cNvPr id="26" name="Text 24"/>
          <p:cNvSpPr/>
          <p:nvPr/>
        </p:nvSpPr>
        <p:spPr>
          <a:xfrm>
            <a:off x="6446520" y="4023360"/>
            <a:ext cx="5074920" cy="438912"/>
          </a:xfrm>
          <a:prstGeom prst="rect">
            <a:avLst/>
          </a:prstGeom>
          <a:noFill/>
        </p:spPr>
        <p:txBody>
          <a:bodyPr wrap="square" lIns="0" tIns="0" rIns="0" bIns="0" rtlCol="0" anchor="ctr"/>
          <a:lstStyle/>
          <a:p>
            <a:pPr marL="0" indent="0">
              <a:buNone/>
            </a:pPr>
            <a:r>
              <a:rPr lang="en-US" sz="1500" dirty="0">
                <a:solidFill>
                  <a:srgbClr val="3F382F"/>
                </a:solidFill>
                <a:latin typeface="Calibri" panose="020F0502020204030204" pitchFamily="34" charset="0"/>
                <a:ea typeface="Calibri" panose="020F0502020204030204" pitchFamily="34" charset="-122"/>
                <a:cs typeface="Calibri" panose="020F0502020204030204" pitchFamily="34" charset="-120"/>
              </a:rPr>
              <a:t>Kontrak yang bisa diunduh</a:t>
            </a:r>
            <a:endParaRPr lang="en-US" sz="1500" dirty="0"/>
          </a:p>
        </p:txBody>
      </p:sp>
      <p:sp>
        <p:nvSpPr>
          <p:cNvPr id="27" name="Text 25"/>
          <p:cNvSpPr/>
          <p:nvPr/>
        </p:nvSpPr>
        <p:spPr>
          <a:xfrm>
            <a:off x="6446520" y="4526280"/>
            <a:ext cx="5074920" cy="438912"/>
          </a:xfrm>
          <a:prstGeom prst="rect">
            <a:avLst/>
          </a:prstGeom>
          <a:noFill/>
        </p:spPr>
        <p:txBody>
          <a:bodyPr wrap="square" lIns="0" tIns="0" rIns="0" bIns="0" rtlCol="0" anchor="ctr"/>
          <a:lstStyle/>
          <a:p>
            <a:pPr marL="0" indent="0">
              <a:buNone/>
            </a:pPr>
            <a:r>
              <a:rPr lang="en-US" sz="1500" dirty="0">
                <a:solidFill>
                  <a:srgbClr val="3F382F"/>
                </a:solidFill>
                <a:latin typeface="Calibri" panose="020F0502020204030204" pitchFamily="34" charset="0"/>
                <a:ea typeface="Calibri" panose="020F0502020204030204" pitchFamily="34" charset="-122"/>
                <a:cs typeface="Calibri" panose="020F0502020204030204" pitchFamily="34" charset="-120"/>
              </a:rPr>
              <a:t>Foto dan harga dari properti klien</a:t>
            </a:r>
            <a:endParaRPr lang="en-US" sz="1500" dirty="0"/>
          </a:p>
        </p:txBody>
      </p:sp>
      <p:sp>
        <p:nvSpPr>
          <p:cNvPr id="28" name="Text 26"/>
          <p:cNvSpPr/>
          <p:nvPr/>
        </p:nvSpPr>
        <p:spPr>
          <a:xfrm>
            <a:off x="6446520" y="5029200"/>
            <a:ext cx="5074920" cy="438912"/>
          </a:xfrm>
          <a:prstGeom prst="rect">
            <a:avLst/>
          </a:prstGeom>
          <a:noFill/>
        </p:spPr>
        <p:txBody>
          <a:bodyPr wrap="square" lIns="0" tIns="0" rIns="0" bIns="0" rtlCol="0" anchor="ctr"/>
          <a:lstStyle/>
          <a:p>
            <a:pPr marL="0" indent="0">
              <a:buNone/>
            </a:pPr>
            <a:r>
              <a:rPr lang="en-US" sz="1500" dirty="0">
                <a:solidFill>
                  <a:srgbClr val="3F382F"/>
                </a:solidFill>
                <a:latin typeface="Calibri" panose="020F0502020204030204" pitchFamily="34" charset="0"/>
                <a:ea typeface="Calibri" panose="020F0502020204030204" pitchFamily="34" charset="-122"/>
                <a:cs typeface="Calibri" panose="020F0502020204030204" pitchFamily="34" charset="-120"/>
              </a:rPr>
              <a:t>Domain atas nama klien</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EFE6"/>
          </a:solidFill>
        </p:spPr>
        <p:txBody>
          <a:bodyPr/>
          <a:p/>
        </p:txBody>
      </p:sp>
      <p:sp>
        <p:nvSpPr>
          <p:cNvPr id="3" name="Shape 1"/>
          <p:cNvSpPr/>
          <p:nvPr/>
        </p:nvSpPr>
        <p:spPr>
          <a:xfrm>
            <a:off x="0" y="0"/>
            <a:ext cx="91440" cy="6858000"/>
          </a:xfrm>
          <a:prstGeom prst="rect">
            <a:avLst/>
          </a:prstGeom>
          <a:solidFill>
            <a:srgbClr val="C4622D"/>
          </a:solidFill>
        </p:spPr>
        <p:txBody>
          <a:bodyPr/>
          <a:p/>
        </p:txBody>
      </p:sp>
      <p:sp>
        <p:nvSpPr>
          <p:cNvPr id="4" name="Shape 2"/>
          <p:cNvSpPr/>
          <p:nvPr/>
        </p:nvSpPr>
        <p:spPr>
          <a:xfrm>
            <a:off x="0" y="6601968"/>
            <a:ext cx="12191695" cy="256032"/>
          </a:xfrm>
          <a:prstGeom prst="rect">
            <a:avLst/>
          </a:prstGeom>
          <a:solidFill>
            <a:srgbClr val="1A1814"/>
          </a:solidFill>
        </p:spPr>
        <p:txBody>
          <a:bodyPr/>
          <a:p/>
        </p:txBody>
      </p:sp>
      <p:sp>
        <p:nvSpPr>
          <p:cNvPr id="5" name="Text 3"/>
          <p:cNvSpPr/>
          <p:nvPr/>
        </p:nvSpPr>
        <p:spPr>
          <a:xfrm>
            <a:off x="347472" y="6601968"/>
            <a:ext cx="9144000" cy="256032"/>
          </a:xfrm>
          <a:prstGeom prst="rect">
            <a:avLst/>
          </a:prstGeom>
          <a:noFill/>
        </p:spPr>
        <p:txBody>
          <a:bodyPr wrap="square" lIns="0" tIns="0" rIns="0" bIns="0" rtlCol="0" anchor="ctr"/>
          <a:lstStyle/>
          <a:p>
            <a:pPr marL="0" indent="0">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HUNI   ·   Proposal website kos &amp; kontrakan   ·   Oktober 2026</a:t>
            </a:r>
            <a:endParaRPr lang="en-US" sz="1100" dirty="0"/>
          </a:p>
        </p:txBody>
      </p:sp>
      <p:sp>
        <p:nvSpPr>
          <p:cNvPr id="6" name="Text 4"/>
          <p:cNvSpPr/>
          <p:nvPr/>
        </p:nvSpPr>
        <p:spPr>
          <a:xfrm>
            <a:off x="9509760" y="6601968"/>
            <a:ext cx="2331720" cy="256032"/>
          </a:xfrm>
          <a:prstGeom prst="rect">
            <a:avLst/>
          </a:prstGeom>
          <a:noFill/>
        </p:spPr>
        <p:txBody>
          <a:bodyPr wrap="square" lIns="0" tIns="0" rIns="0" bIns="0" rtlCol="0" anchor="ctr"/>
          <a:lstStyle/>
          <a:p>
            <a:pPr marL="0" indent="0" algn="r">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11  /  36</a:t>
            </a:r>
            <a:endParaRPr lang="en-US" sz="1100" dirty="0"/>
          </a:p>
        </p:txBody>
      </p:sp>
      <p:sp>
        <p:nvSpPr>
          <p:cNvPr id="7" name="Text 5"/>
          <p:cNvSpPr/>
          <p:nvPr/>
        </p:nvSpPr>
        <p:spPr>
          <a:xfrm>
            <a:off x="426709" y="304792"/>
            <a:ext cx="11338277" cy="731502"/>
          </a:xfrm>
          <a:prstGeom prst="rect">
            <a:avLst/>
          </a:prstGeom>
          <a:noFill/>
        </p:spPr>
        <p:txBody>
          <a:bodyPr wrap="square" lIns="0" tIns="0" rIns="0" bIns="0" rtlCol="0" anchor="ctr"/>
          <a:lstStyle/>
          <a:p>
            <a:pPr marL="0" indent="0">
              <a:buNone/>
            </a:pPr>
            <a:r>
              <a:rPr lang="en-US" sz="3120" b="1" dirty="0">
                <a:solidFill>
                  <a:srgbClr val="1A1814"/>
                </a:solidFill>
                <a:latin typeface="Georgia" panose="02040502050405020303" pitchFamily="34" charset="0"/>
                <a:ea typeface="Georgia" panose="02040502050405020303" pitchFamily="34" charset="-122"/>
                <a:cs typeface="Georgia" panose="02040502050405020303" pitchFamily="34" charset="-120"/>
              </a:rPr>
              <a:t>Model kerja sama: bagi hasil, bukan paket harga</a:t>
            </a:r>
            <a:endParaRPr lang="en-US" sz="3120" dirty="0"/>
          </a:p>
        </p:txBody>
      </p:sp>
      <p:sp>
        <p:nvSpPr>
          <p:cNvPr id="8" name="Text 6"/>
          <p:cNvSpPr/>
          <p:nvPr/>
        </p:nvSpPr>
        <p:spPr>
          <a:xfrm>
            <a:off x="426709" y="1072869"/>
            <a:ext cx="11338277" cy="487668"/>
          </a:xfrm>
          <a:prstGeom prst="rect">
            <a:avLst/>
          </a:prstGeom>
          <a:noFill/>
        </p:spPr>
        <p:txBody>
          <a:bodyPr wrap="square" lIns="0" tIns="0" rIns="0" bIns="0" rtlCol="0" anchor="ctr"/>
          <a:lstStyle/>
          <a:p>
            <a:pPr marL="0" indent="0">
              <a:buNone/>
            </a:pPr>
            <a:r>
              <a:rPr lang="en-US" sz="1560" dirty="0">
                <a:solidFill>
                  <a:srgbClr val="6F675C"/>
                </a:solidFill>
                <a:latin typeface="Calibri" panose="020F0502020204030204" pitchFamily="34" charset="0"/>
                <a:ea typeface="Calibri" panose="020F0502020204030204" pitchFamily="34" charset="-122"/>
                <a:cs typeface="Calibri" panose="020F0502020204030204" pitchFamily="34" charset="-120"/>
              </a:rPr>
              <a:t>Tidak ada pilihan paket. Pengelola dibayar dari persentase omzet.</a:t>
            </a:r>
            <a:endParaRPr lang="en-US" sz="1560" dirty="0"/>
          </a:p>
        </p:txBody>
      </p:sp>
      <p:sp>
        <p:nvSpPr>
          <p:cNvPr id="9" name="Shape 7"/>
          <p:cNvSpPr/>
          <p:nvPr/>
        </p:nvSpPr>
        <p:spPr>
          <a:xfrm>
            <a:off x="426709" y="1828754"/>
            <a:ext cx="3657509" cy="3901342"/>
          </a:xfrm>
          <a:prstGeom prst="roundRect">
            <a:avLst>
              <a:gd name="adj" fmla="val 2000"/>
            </a:avLst>
          </a:prstGeom>
          <a:solidFill>
            <a:srgbClr val="FBF8F3"/>
          </a:solidFill>
          <a:ln w="9525">
            <a:solidFill>
              <a:srgbClr val="D9CFBF"/>
            </a:solidFill>
            <a:prstDash val="solid"/>
          </a:ln>
        </p:spPr>
        <p:txBody>
          <a:bodyPr/>
          <a:p/>
        </p:txBody>
      </p:sp>
      <p:sp>
        <p:nvSpPr>
          <p:cNvPr id="10" name="Text 8"/>
          <p:cNvSpPr/>
          <p:nvPr/>
        </p:nvSpPr>
        <p:spPr>
          <a:xfrm>
            <a:off x="609585" y="1950671"/>
            <a:ext cx="3291758" cy="426709"/>
          </a:xfrm>
          <a:prstGeom prst="rect">
            <a:avLst/>
          </a:prstGeom>
          <a:noFill/>
        </p:spPr>
        <p:txBody>
          <a:bodyPr wrap="square" lIns="0" tIns="0" rIns="0" bIns="0" rtlCol="0" anchor="ctr"/>
          <a:lstStyle/>
          <a:p>
            <a:pPr marL="0" indent="0">
              <a:buNone/>
            </a:pPr>
            <a:r>
              <a:rPr lang="en-US" sz="1680" b="1" dirty="0">
                <a:solidFill>
                  <a:srgbClr val="1A1814"/>
                </a:solidFill>
                <a:latin typeface="Georgia" panose="02040502050405020303" pitchFamily="34" charset="0"/>
                <a:ea typeface="Georgia" panose="02040502050405020303" pitchFamily="34" charset="-122"/>
                <a:cs typeface="Georgia" panose="02040502050405020303" pitchFamily="34" charset="-120"/>
              </a:rPr>
              <a:t>Kos &amp; kontrakan</a:t>
            </a:r>
            <a:endParaRPr lang="en-US" sz="1680" dirty="0"/>
          </a:p>
        </p:txBody>
      </p:sp>
      <p:sp>
        <p:nvSpPr>
          <p:cNvPr id="11" name="Text 9"/>
          <p:cNvSpPr/>
          <p:nvPr/>
        </p:nvSpPr>
        <p:spPr>
          <a:xfrm>
            <a:off x="609585" y="2438339"/>
            <a:ext cx="3291758" cy="3169841"/>
          </a:xfrm>
          <a:prstGeom prst="rect">
            <a:avLst/>
          </a:prstGeom>
          <a:noFill/>
        </p:spPr>
        <p:txBody>
          <a:bodyPr wrap="square" lIns="0" tIns="0" rIns="0" bIns="0" rtlCol="0" anchor="t"/>
          <a:lstStyle/>
          <a:p>
            <a:pPr marL="342900" indent="-342900">
              <a:spcAft>
                <a:spcPts val="400"/>
              </a:spcAft>
              <a:buSzPct val="100000"/>
              <a:buChar char="•"/>
            </a:pPr>
            <a:r>
              <a:rPr lang="en-US" sz="1380" dirty="0">
                <a:solidFill>
                  <a:srgbClr val="3F382F"/>
                </a:solidFill>
              </a:rPr>
              <a:t>30% dari pendapatan sewa</a:t>
            </a:r>
            <a:endParaRPr lang="en-US" sz="1380" dirty="0"/>
          </a:p>
          <a:p>
            <a:pPr marL="342900" indent="-342900">
              <a:spcAft>
                <a:spcPts val="400"/>
              </a:spcAft>
              <a:buSzPct val="100000"/>
              <a:buChar char="•"/>
            </a:pPr>
            <a:r>
              <a:rPr lang="en-US" sz="1380" dirty="0">
                <a:solidFill>
                  <a:srgbClr val="3F382F"/>
                </a:solidFill>
              </a:rPr>
              <a:t>15% System &amp; Marketing</a:t>
            </a:r>
            <a:endParaRPr lang="en-US" sz="1380" dirty="0"/>
          </a:p>
          <a:p>
            <a:pPr marL="342900" indent="-342900">
              <a:spcAft>
                <a:spcPts val="400"/>
              </a:spcAft>
              <a:buSzPct val="100000"/>
              <a:buChar char="•"/>
            </a:pPr>
            <a:r>
              <a:rPr lang="en-US" sz="1380" dirty="0">
                <a:solidFill>
                  <a:srgbClr val="3F382F"/>
                </a:solidFill>
              </a:rPr>
              <a:t>15% Perawatan &amp; operasional</a:t>
            </a:r>
            <a:endParaRPr lang="en-US" sz="1380" dirty="0"/>
          </a:p>
          <a:p>
            <a:pPr marL="342900" indent="-342900">
              <a:spcAft>
                <a:spcPts val="400"/>
              </a:spcAft>
              <a:buSzPct val="100000"/>
              <a:buChar char="•"/>
            </a:pPr>
            <a:r>
              <a:rPr lang="en-US" sz="1380" dirty="0">
                <a:solidFill>
                  <a:srgbClr val="3F382F"/>
                </a:solidFill>
              </a:rPr>
              <a:t>Build web diambil dari pos 15% System</a:t>
            </a:r>
            <a:endParaRPr lang="en-US" sz="1380" dirty="0"/>
          </a:p>
        </p:txBody>
      </p:sp>
      <p:sp>
        <p:nvSpPr>
          <p:cNvPr id="12" name="Shape 10"/>
          <p:cNvSpPr/>
          <p:nvPr/>
        </p:nvSpPr>
        <p:spPr>
          <a:xfrm>
            <a:off x="4267093" y="1828754"/>
            <a:ext cx="3657509" cy="3901342"/>
          </a:xfrm>
          <a:prstGeom prst="roundRect">
            <a:avLst>
              <a:gd name="adj" fmla="val 2000"/>
            </a:avLst>
          </a:prstGeom>
          <a:solidFill>
            <a:srgbClr val="2F5D50"/>
          </a:solidFill>
          <a:ln w="9525">
            <a:solidFill>
              <a:srgbClr val="D9CFBF"/>
            </a:solidFill>
            <a:prstDash val="solid"/>
          </a:ln>
        </p:spPr>
        <p:txBody>
          <a:bodyPr/>
          <a:p/>
        </p:txBody>
      </p:sp>
      <p:sp>
        <p:nvSpPr>
          <p:cNvPr id="13" name="Text 11"/>
          <p:cNvSpPr/>
          <p:nvPr/>
        </p:nvSpPr>
        <p:spPr>
          <a:xfrm>
            <a:off x="4449969" y="1950671"/>
            <a:ext cx="3291758" cy="426709"/>
          </a:xfrm>
          <a:prstGeom prst="rect">
            <a:avLst/>
          </a:prstGeom>
          <a:noFill/>
        </p:spPr>
        <p:txBody>
          <a:bodyPr wrap="square" lIns="0" tIns="0" rIns="0" bIns="0" rtlCol="0" anchor="ctr"/>
          <a:lstStyle/>
          <a:p>
            <a:pPr marL="0" indent="0">
              <a:buNone/>
            </a:pPr>
            <a:r>
              <a:rPr lang="en-US" sz="1680" b="1" dirty="0">
                <a:solidFill>
                  <a:srgbClr val="F4EFE6"/>
                </a:solidFill>
                <a:latin typeface="Georgia" panose="02040502050405020303" pitchFamily="34" charset="0"/>
                <a:ea typeface="Georgia" panose="02040502050405020303" pitchFamily="34" charset="-122"/>
                <a:cs typeface="Georgia" panose="02040502050405020303" pitchFamily="34" charset="-120"/>
              </a:rPr>
              <a:t>Lapangan futsal</a:t>
            </a:r>
            <a:endParaRPr lang="en-US" sz="1680" dirty="0"/>
          </a:p>
        </p:txBody>
      </p:sp>
      <p:sp>
        <p:nvSpPr>
          <p:cNvPr id="14" name="Text 12"/>
          <p:cNvSpPr/>
          <p:nvPr/>
        </p:nvSpPr>
        <p:spPr>
          <a:xfrm>
            <a:off x="4449969" y="2438339"/>
            <a:ext cx="3291758" cy="3169841"/>
          </a:xfrm>
          <a:prstGeom prst="rect">
            <a:avLst/>
          </a:prstGeom>
          <a:noFill/>
        </p:spPr>
        <p:txBody>
          <a:bodyPr wrap="square" lIns="0" tIns="0" rIns="0" bIns="0" rtlCol="0" anchor="t"/>
          <a:lstStyle/>
          <a:p>
            <a:pPr marL="342900" indent="-342900">
              <a:spcAft>
                <a:spcPts val="400"/>
              </a:spcAft>
              <a:buSzPct val="100000"/>
              <a:buChar char="•"/>
            </a:pPr>
            <a:r>
              <a:rPr lang="en-US" sz="1380" dirty="0">
                <a:solidFill>
                  <a:srgbClr val="E7DCC8"/>
                </a:solidFill>
              </a:rPr>
              <a:t>30% dari total revenue</a:t>
            </a:r>
            <a:endParaRPr lang="en-US" sz="1380" dirty="0"/>
          </a:p>
          <a:p>
            <a:pPr marL="342900" indent="-342900">
              <a:spcAft>
                <a:spcPts val="400"/>
              </a:spcAft>
              <a:buSzPct val="100000"/>
              <a:buChar char="•"/>
            </a:pPr>
            <a:r>
              <a:rPr lang="en-US" sz="1380" dirty="0">
                <a:solidFill>
                  <a:srgbClr val="E7DCC8"/>
                </a:solidFill>
              </a:rPr>
              <a:t>Maintenance 10%, event 8%</a:t>
            </a:r>
            <a:endParaRPr lang="en-US" sz="1380" dirty="0"/>
          </a:p>
          <a:p>
            <a:pPr marL="342900" indent="-342900">
              <a:spcAft>
                <a:spcPts val="400"/>
              </a:spcAft>
              <a:buSzPct val="100000"/>
              <a:buChar char="•"/>
            </a:pPr>
            <a:r>
              <a:rPr lang="en-US" sz="1380" dirty="0">
                <a:solidFill>
                  <a:srgbClr val="E7DCC8"/>
                </a:solidFill>
              </a:rPr>
              <a:t>Marketing 7%, fee pengelola 5%</a:t>
            </a:r>
            <a:endParaRPr lang="en-US" sz="1380" dirty="0"/>
          </a:p>
          <a:p>
            <a:pPr marL="342900" indent="-342900">
              <a:spcAft>
                <a:spcPts val="400"/>
              </a:spcAft>
              <a:buSzPct val="100000"/>
              <a:buChar char="•"/>
            </a:pPr>
            <a:r>
              <a:rPr lang="en-US" sz="1380" dirty="0">
                <a:solidFill>
                  <a:srgbClr val="E7DCC8"/>
                </a:solidFill>
              </a:rPr>
              <a:t>Booking lewat web HUNI</a:t>
            </a:r>
            <a:endParaRPr lang="en-US" sz="1380" dirty="0"/>
          </a:p>
        </p:txBody>
      </p:sp>
      <p:sp>
        <p:nvSpPr>
          <p:cNvPr id="15" name="Shape 13"/>
          <p:cNvSpPr/>
          <p:nvPr/>
        </p:nvSpPr>
        <p:spPr>
          <a:xfrm>
            <a:off x="8107477" y="1828754"/>
            <a:ext cx="3657509" cy="3901342"/>
          </a:xfrm>
          <a:prstGeom prst="roundRect">
            <a:avLst>
              <a:gd name="adj" fmla="val 2000"/>
            </a:avLst>
          </a:prstGeom>
          <a:solidFill>
            <a:srgbClr val="9A4518"/>
          </a:solidFill>
          <a:ln w="9525">
            <a:solidFill>
              <a:srgbClr val="D9CFBF"/>
            </a:solidFill>
            <a:prstDash val="solid"/>
          </a:ln>
        </p:spPr>
        <p:txBody>
          <a:bodyPr/>
          <a:p/>
        </p:txBody>
      </p:sp>
      <p:sp>
        <p:nvSpPr>
          <p:cNvPr id="16" name="Text 14"/>
          <p:cNvSpPr/>
          <p:nvPr/>
        </p:nvSpPr>
        <p:spPr>
          <a:xfrm>
            <a:off x="8290353" y="1950671"/>
            <a:ext cx="3291758" cy="426709"/>
          </a:xfrm>
          <a:prstGeom prst="rect">
            <a:avLst/>
          </a:prstGeom>
          <a:noFill/>
        </p:spPr>
        <p:txBody>
          <a:bodyPr wrap="square" lIns="0" tIns="0" rIns="0" bIns="0" rtlCol="0" anchor="ctr"/>
          <a:lstStyle/>
          <a:p>
            <a:pPr marL="0" indent="0">
              <a:buNone/>
            </a:pPr>
            <a:r>
              <a:rPr lang="en-US" sz="1680" b="1" dirty="0">
                <a:solidFill>
                  <a:srgbClr val="F4EFE6"/>
                </a:solidFill>
                <a:latin typeface="Georgia" panose="02040502050405020303" pitchFamily="34" charset="0"/>
                <a:ea typeface="Georgia" panose="02040502050405020303" pitchFamily="34" charset="-122"/>
                <a:cs typeface="Georgia" panose="02040502050405020303" pitchFamily="34" charset="-120"/>
              </a:rPr>
              <a:t>Cafe</a:t>
            </a:r>
            <a:endParaRPr lang="en-US" sz="1680" dirty="0"/>
          </a:p>
        </p:txBody>
      </p:sp>
      <p:sp>
        <p:nvSpPr>
          <p:cNvPr id="17" name="Text 15"/>
          <p:cNvSpPr/>
          <p:nvPr/>
        </p:nvSpPr>
        <p:spPr>
          <a:xfrm>
            <a:off x="8290353" y="2438339"/>
            <a:ext cx="3291758" cy="3169841"/>
          </a:xfrm>
          <a:prstGeom prst="rect">
            <a:avLst/>
          </a:prstGeom>
          <a:noFill/>
        </p:spPr>
        <p:txBody>
          <a:bodyPr wrap="square" lIns="0" tIns="0" rIns="0" bIns="0" rtlCol="0" anchor="t"/>
          <a:lstStyle/>
          <a:p>
            <a:pPr marL="342900" indent="-342900">
              <a:spcAft>
                <a:spcPts val="400"/>
              </a:spcAft>
              <a:buSzPct val="100000"/>
              <a:buChar char="•"/>
            </a:pPr>
            <a:r>
              <a:rPr lang="en-US" sz="1380" dirty="0">
                <a:solidFill>
                  <a:srgbClr val="E7DCC8"/>
                </a:solidFill>
              </a:rPr>
              <a:t>20% dari omzet</a:t>
            </a:r>
            <a:endParaRPr lang="en-US" sz="1380" dirty="0"/>
          </a:p>
          <a:p>
            <a:pPr marL="342900" indent="-342900">
              <a:spcAft>
                <a:spcPts val="400"/>
              </a:spcAft>
              <a:buSzPct val="100000"/>
              <a:buChar char="•"/>
            </a:pPr>
            <a:r>
              <a:rPr lang="en-US" sz="1380" dirty="0">
                <a:solidFill>
                  <a:srgbClr val="E7DCC8"/>
                </a:solidFill>
              </a:rPr>
              <a:t>Include marketing, branding, operasional, biaya POS</a:t>
            </a:r>
            <a:endParaRPr lang="en-US" sz="1380" dirty="0"/>
          </a:p>
          <a:p>
            <a:pPr marL="342900" indent="-342900">
              <a:spcAft>
                <a:spcPts val="400"/>
              </a:spcAft>
              <a:buSzPct val="100000"/>
              <a:buChar char="•"/>
            </a:pPr>
            <a:r>
              <a:rPr lang="en-US" sz="1380" dirty="0">
                <a:solidFill>
                  <a:srgbClr val="E7DCC8"/>
                </a:solidFill>
              </a:rPr>
              <a:t>Karyawan 3 orang dihitung terpisah</a:t>
            </a:r>
            <a:endParaRPr lang="en-US" sz="1380" dirty="0"/>
          </a:p>
          <a:p>
            <a:pPr marL="342900" indent="-342900">
              <a:spcAft>
                <a:spcPts val="400"/>
              </a:spcAft>
              <a:buSzPct val="100000"/>
              <a:buChar char="•"/>
            </a:pPr>
            <a:r>
              <a:rPr lang="en-US" sz="1380" dirty="0">
                <a:solidFill>
                  <a:srgbClr val="E7DCC8"/>
                </a:solidFill>
              </a:rPr>
              <a:t>Sisanya net income owner</a:t>
            </a:r>
            <a:endParaRPr lang="en-US" sz="1380" dirty="0"/>
          </a:p>
        </p:txBody>
      </p:sp>
      <p:sp>
        <p:nvSpPr>
          <p:cNvPr id="18" name="Text 16"/>
          <p:cNvSpPr/>
          <p:nvPr/>
        </p:nvSpPr>
        <p:spPr>
          <a:xfrm>
            <a:off x="426709" y="5912972"/>
            <a:ext cx="11338277" cy="426709"/>
          </a:xfrm>
          <a:prstGeom prst="rect">
            <a:avLst/>
          </a:prstGeom>
          <a:noFill/>
        </p:spPr>
        <p:txBody>
          <a:bodyPr wrap="square" lIns="0" tIns="0" rIns="0" bIns="0" rtlCol="0" anchor="ctr"/>
          <a:lstStyle/>
          <a:p>
            <a:pPr marL="0" indent="0">
              <a:buNone/>
            </a:pPr>
            <a:r>
              <a:rPr lang="en-US" sz="1440" dirty="0">
                <a:solidFill>
                  <a:srgbClr val="6F675C"/>
                </a:solidFill>
                <a:latin typeface="Calibri" panose="020F0502020204030204" pitchFamily="34" charset="0"/>
                <a:ea typeface="Calibri" panose="020F0502020204030204" pitchFamily="34" charset="-122"/>
                <a:cs typeface="Calibri" panose="020F0502020204030204" pitchFamily="34" charset="-120"/>
              </a:rPr>
              <a:t>Angka dasar: file Cafe_Futsall_Kosan.xlsx. Hunian kos 80%, futsal Rp120 rb per jam, cafe target Rp80 jt per bulan.</a:t>
            </a:r>
            <a:endParaRPr lang="en-US" sz="144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EFE6"/>
          </a:solidFill>
        </p:spPr>
        <p:txBody>
          <a:bodyPr/>
          <a:p/>
        </p:txBody>
      </p:sp>
      <p:sp>
        <p:nvSpPr>
          <p:cNvPr id="3" name="Shape 1"/>
          <p:cNvSpPr/>
          <p:nvPr/>
        </p:nvSpPr>
        <p:spPr>
          <a:xfrm>
            <a:off x="0" y="0"/>
            <a:ext cx="91440" cy="6858000"/>
          </a:xfrm>
          <a:prstGeom prst="rect">
            <a:avLst/>
          </a:prstGeom>
          <a:solidFill>
            <a:srgbClr val="C4622D"/>
          </a:solidFill>
        </p:spPr>
        <p:txBody>
          <a:bodyPr/>
          <a:p/>
        </p:txBody>
      </p:sp>
      <p:sp>
        <p:nvSpPr>
          <p:cNvPr id="4" name="Shape 2"/>
          <p:cNvSpPr/>
          <p:nvPr/>
        </p:nvSpPr>
        <p:spPr>
          <a:xfrm>
            <a:off x="0" y="6601968"/>
            <a:ext cx="12191695" cy="256032"/>
          </a:xfrm>
          <a:prstGeom prst="rect">
            <a:avLst/>
          </a:prstGeom>
          <a:solidFill>
            <a:srgbClr val="1A1814"/>
          </a:solidFill>
        </p:spPr>
        <p:txBody>
          <a:bodyPr/>
          <a:p/>
        </p:txBody>
      </p:sp>
      <p:sp>
        <p:nvSpPr>
          <p:cNvPr id="5" name="Text 3"/>
          <p:cNvSpPr/>
          <p:nvPr/>
        </p:nvSpPr>
        <p:spPr>
          <a:xfrm>
            <a:off x="347472" y="6601968"/>
            <a:ext cx="9144000" cy="256032"/>
          </a:xfrm>
          <a:prstGeom prst="rect">
            <a:avLst/>
          </a:prstGeom>
          <a:noFill/>
        </p:spPr>
        <p:txBody>
          <a:bodyPr wrap="square" lIns="0" tIns="0" rIns="0" bIns="0" rtlCol="0" anchor="ctr"/>
          <a:lstStyle/>
          <a:p>
            <a:pPr marL="0" indent="0">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HUNI   ·   Proposal website kos &amp; kontrakan   ·   Oktober 2026</a:t>
            </a:r>
            <a:endParaRPr lang="en-US" sz="1100" dirty="0"/>
          </a:p>
        </p:txBody>
      </p:sp>
      <p:sp>
        <p:nvSpPr>
          <p:cNvPr id="6" name="Text 4"/>
          <p:cNvSpPr/>
          <p:nvPr/>
        </p:nvSpPr>
        <p:spPr>
          <a:xfrm>
            <a:off x="9509760" y="6601968"/>
            <a:ext cx="2331720" cy="256032"/>
          </a:xfrm>
          <a:prstGeom prst="rect">
            <a:avLst/>
          </a:prstGeom>
          <a:noFill/>
        </p:spPr>
        <p:txBody>
          <a:bodyPr wrap="square" lIns="0" tIns="0" rIns="0" bIns="0" rtlCol="0" anchor="ctr"/>
          <a:lstStyle/>
          <a:p>
            <a:pPr marL="0" indent="0" algn="r">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12  /  36</a:t>
            </a:r>
            <a:endParaRPr lang="en-US" sz="1100" dirty="0"/>
          </a:p>
        </p:txBody>
      </p:sp>
      <p:sp>
        <p:nvSpPr>
          <p:cNvPr id="7" name="Text 5"/>
          <p:cNvSpPr/>
          <p:nvPr/>
        </p:nvSpPr>
        <p:spPr>
          <a:xfrm>
            <a:off x="426709" y="304792"/>
            <a:ext cx="11338277" cy="731502"/>
          </a:xfrm>
          <a:prstGeom prst="rect">
            <a:avLst/>
          </a:prstGeom>
          <a:noFill/>
        </p:spPr>
        <p:txBody>
          <a:bodyPr wrap="square" lIns="0" tIns="0" rIns="0" bIns="0" rtlCol="0" anchor="ctr"/>
          <a:lstStyle/>
          <a:p>
            <a:pPr marL="0" indent="0">
              <a:buNone/>
            </a:pPr>
            <a:r>
              <a:rPr lang="en-US" sz="3120" b="1" dirty="0">
                <a:solidFill>
                  <a:srgbClr val="1A1814"/>
                </a:solidFill>
                <a:latin typeface="Georgia" panose="02040502050405020303" pitchFamily="34" charset="0"/>
                <a:ea typeface="Georgia" panose="02040502050405020303" pitchFamily="34" charset="-122"/>
                <a:cs typeface="Georgia" panose="02040502050405020303" pitchFamily="34" charset="-120"/>
              </a:rPr>
              <a:t>Kos: potensi pendapatan</a:t>
            </a:r>
            <a:endParaRPr lang="en-US" sz="3120" dirty="0"/>
          </a:p>
        </p:txBody>
      </p:sp>
      <p:sp>
        <p:nvSpPr>
          <p:cNvPr id="8" name="Text 6"/>
          <p:cNvSpPr/>
          <p:nvPr/>
        </p:nvSpPr>
        <p:spPr>
          <a:xfrm>
            <a:off x="426709" y="1072869"/>
            <a:ext cx="11338277" cy="487668"/>
          </a:xfrm>
          <a:prstGeom prst="rect">
            <a:avLst/>
          </a:prstGeom>
          <a:noFill/>
        </p:spPr>
        <p:txBody>
          <a:bodyPr wrap="square" lIns="0" tIns="0" rIns="0" bIns="0" rtlCol="0" anchor="ctr"/>
          <a:lstStyle/>
          <a:p>
            <a:pPr marL="0" indent="0">
              <a:buNone/>
            </a:pPr>
            <a:r>
              <a:rPr lang="en-US" sz="1560" dirty="0">
                <a:solidFill>
                  <a:srgbClr val="6F675C"/>
                </a:solidFill>
                <a:latin typeface="Calibri" panose="020F0502020204030204" pitchFamily="34" charset="0"/>
                <a:ea typeface="Calibri" panose="020F0502020204030204" pitchFamily="34" charset="-122"/>
                <a:cs typeface="Calibri" panose="020F0502020204030204" pitchFamily="34" charset="-120"/>
              </a:rPr>
              <a:t>20 unit contoh, hunian target 80%.</a:t>
            </a:r>
            <a:endParaRPr lang="en-US" sz="1560" dirty="0"/>
          </a:p>
        </p:txBody>
      </p:sp>
      <p:graphicFrame>
        <p:nvGraphicFramePr>
          <p:cNvPr id="13" name="Table 0"/>
          <p:cNvGraphicFramePr>
            <a:graphicFrameLocks noGrp="1"/>
          </p:cNvGraphicFramePr>
          <p:nvPr/>
        </p:nvGraphicFramePr>
        <p:xfrm>
          <a:off x="426709" y="1828754"/>
          <a:ext cx="11338277" cy="3291756"/>
        </p:xfrm>
        <a:graphic>
          <a:graphicData uri="http://schemas.openxmlformats.org/drawingml/2006/table">
            <a:tbl>
              <a:tblPr/>
              <a:tblGrid>
                <a:gridCol w="4023259"/>
                <a:gridCol w="1828754"/>
                <a:gridCol w="2804090"/>
                <a:gridCol w="2682173"/>
              </a:tblGrid>
              <a:tr h="548626">
                <a:tc>
                  <a:txBody>
                    <a:bodyPr/>
                    <a:lstStyle/>
                    <a:p>
                      <a:pPr marL="0" indent="0" algn="l">
                        <a:buNone/>
                      </a:pPr>
                      <a:r>
                        <a:rPr lang="en-US" sz="1320" b="1" dirty="0">
                          <a:solidFill>
                            <a:srgbClr val="F4EFE6"/>
                          </a:solidFill>
                        </a:rPr>
                        <a:t>Kelompok unit</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1A1814"/>
                    </a:solidFill>
                  </a:tcPr>
                </a:tc>
                <a:tc>
                  <a:txBody>
                    <a:bodyPr/>
                    <a:lstStyle/>
                    <a:p>
                      <a:pPr marL="0" indent="0" algn="l">
                        <a:buNone/>
                      </a:pPr>
                      <a:r>
                        <a:rPr lang="en-US" sz="1320" b="1" dirty="0">
                          <a:solidFill>
                            <a:srgbClr val="F4EFE6"/>
                          </a:solidFill>
                        </a:rPr>
                        <a:t>Jumlah</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1A1814"/>
                    </a:solidFill>
                  </a:tcPr>
                </a:tc>
                <a:tc>
                  <a:txBody>
                    <a:bodyPr/>
                    <a:lstStyle/>
                    <a:p>
                      <a:pPr marL="0" indent="0" algn="l">
                        <a:buNone/>
                      </a:pPr>
                      <a:r>
                        <a:rPr lang="en-US" sz="1320" b="1" dirty="0">
                          <a:solidFill>
                            <a:srgbClr val="F4EFE6"/>
                          </a:solidFill>
                        </a:rPr>
                        <a:t>Sewa / bulan</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1A1814"/>
                    </a:solidFill>
                  </a:tcPr>
                </a:tc>
                <a:tc>
                  <a:txBody>
                    <a:bodyPr/>
                    <a:lstStyle/>
                    <a:p>
                      <a:pPr marL="0" indent="0" algn="l">
                        <a:buNone/>
                      </a:pPr>
                      <a:r>
                        <a:rPr lang="en-US" sz="1320" b="1" dirty="0">
                          <a:solidFill>
                            <a:srgbClr val="F4EFE6"/>
                          </a:solidFill>
                        </a:rPr>
                        <a:t>Subtotal</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1A1814"/>
                    </a:solidFill>
                  </a:tcPr>
                </a:tc>
              </a:tr>
              <a:tr h="548626">
                <a:tc>
                  <a:txBody>
                    <a:bodyPr/>
                    <a:lstStyle/>
                    <a:p>
                      <a:pPr marL="0" indent="0" algn="l">
                        <a:buNone/>
                      </a:pPr>
                      <a:r>
                        <a:rPr lang="en-US" sz="1320" dirty="0">
                          <a:solidFill>
                            <a:srgbClr val="1A1814"/>
                          </a:solidFill>
                        </a:rPr>
                        <a:t>Unit 1</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r">
                        <a:buNone/>
                      </a:pPr>
                      <a:r>
                        <a:rPr lang="en-US" sz="1320" dirty="0">
                          <a:solidFill>
                            <a:srgbClr val="1A1814"/>
                          </a:solidFill>
                        </a:rPr>
                        <a:t>1</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r">
                        <a:buNone/>
                      </a:pPr>
                      <a:r>
                        <a:rPr lang="en-US" sz="1320" dirty="0">
                          <a:solidFill>
                            <a:srgbClr val="1A1814"/>
                          </a:solidFill>
                        </a:rPr>
                        <a:t>Rp2.800.000</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r">
                        <a:buNone/>
                      </a:pPr>
                      <a:r>
                        <a:rPr lang="en-US" sz="1320" dirty="0">
                          <a:solidFill>
                            <a:srgbClr val="1A1814"/>
                          </a:solidFill>
                        </a:rPr>
                        <a:t>Rp2.800.000</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r>
              <a:tr h="548626">
                <a:tc>
                  <a:txBody>
                    <a:bodyPr/>
                    <a:lstStyle/>
                    <a:p>
                      <a:pPr marL="0" indent="0" algn="l">
                        <a:buNone/>
                      </a:pPr>
                      <a:r>
                        <a:rPr lang="en-US" sz="1320" dirty="0">
                          <a:solidFill>
                            <a:srgbClr val="1A1814"/>
                          </a:solidFill>
                        </a:rPr>
                        <a:t>Unit 2–13</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c>
                  <a:txBody>
                    <a:bodyPr/>
                    <a:lstStyle/>
                    <a:p>
                      <a:pPr marL="0" indent="0" algn="r">
                        <a:buNone/>
                      </a:pPr>
                      <a:r>
                        <a:rPr lang="en-US" sz="1320" dirty="0">
                          <a:solidFill>
                            <a:srgbClr val="1A1814"/>
                          </a:solidFill>
                        </a:rPr>
                        <a:t>12</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c>
                  <a:txBody>
                    <a:bodyPr/>
                    <a:lstStyle/>
                    <a:p>
                      <a:pPr marL="0" indent="0" algn="r">
                        <a:buNone/>
                      </a:pPr>
                      <a:r>
                        <a:rPr lang="en-US" sz="1320" dirty="0">
                          <a:solidFill>
                            <a:srgbClr val="1A1814"/>
                          </a:solidFill>
                        </a:rPr>
                        <a:t>Rp2.300.000</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c>
                  <a:txBody>
                    <a:bodyPr/>
                    <a:lstStyle/>
                    <a:p>
                      <a:pPr marL="0" indent="0" algn="r">
                        <a:buNone/>
                      </a:pPr>
                      <a:r>
                        <a:rPr lang="en-US" sz="1320" dirty="0">
                          <a:solidFill>
                            <a:srgbClr val="1A1814"/>
                          </a:solidFill>
                        </a:rPr>
                        <a:t>Rp27.600.000</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r>
              <a:tr h="548626">
                <a:tc>
                  <a:txBody>
                    <a:bodyPr/>
                    <a:lstStyle/>
                    <a:p>
                      <a:pPr marL="0" indent="0" algn="l">
                        <a:buNone/>
                      </a:pPr>
                      <a:r>
                        <a:rPr lang="en-US" sz="1320" dirty="0">
                          <a:solidFill>
                            <a:srgbClr val="1A1814"/>
                          </a:solidFill>
                        </a:rPr>
                        <a:t>Unit 14–20</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r">
                        <a:buNone/>
                      </a:pPr>
                      <a:r>
                        <a:rPr lang="en-US" sz="1320" dirty="0">
                          <a:solidFill>
                            <a:srgbClr val="1A1814"/>
                          </a:solidFill>
                        </a:rPr>
                        <a:t>7</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r">
                        <a:buNone/>
                      </a:pPr>
                      <a:r>
                        <a:rPr lang="en-US" sz="1320" dirty="0">
                          <a:solidFill>
                            <a:srgbClr val="1A1814"/>
                          </a:solidFill>
                        </a:rPr>
                        <a:t>Rp2.000.000</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r">
                        <a:buNone/>
                      </a:pPr>
                      <a:r>
                        <a:rPr lang="en-US" sz="1320" dirty="0">
                          <a:solidFill>
                            <a:srgbClr val="1A1814"/>
                          </a:solidFill>
                        </a:rPr>
                        <a:t>Rp14.000.000</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r>
              <a:tr h="548626">
                <a:tc>
                  <a:txBody>
                    <a:bodyPr/>
                    <a:lstStyle/>
                    <a:p>
                      <a:pPr marL="0" indent="0" algn="l">
                        <a:buNone/>
                      </a:pPr>
                      <a:r>
                        <a:rPr lang="en-US" sz="1320" b="1" dirty="0">
                          <a:solidFill>
                            <a:srgbClr val="1A1814"/>
                          </a:solidFill>
                        </a:rPr>
                        <a:t>Total jika penuh</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E7DCC8"/>
                    </a:solidFill>
                  </a:tcPr>
                </a:tc>
                <a:tc>
                  <a:txBody>
                    <a:bodyPr/>
                    <a:lstStyle/>
                    <a:p>
                      <a:pPr marL="0" indent="0" algn="r">
                        <a:buNone/>
                      </a:pPr>
                      <a:r>
                        <a:rPr lang="en-US" sz="1320" b="1" dirty="0">
                          <a:solidFill>
                            <a:srgbClr val="1A1814"/>
                          </a:solidFill>
                        </a:rPr>
                        <a:t>20</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E7DCC8"/>
                    </a:solidFill>
                  </a:tcPr>
                </a:tc>
                <a:tc>
                  <a:txBody>
                    <a:bodyPr/>
                    <a:lstStyle/>
                    <a:p>
                      <a:pPr marL="0" indent="0" algn="l">
                        <a:buNone/>
                      </a:pP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E7DCC8"/>
                    </a:solidFill>
                  </a:tcPr>
                </a:tc>
                <a:tc>
                  <a:txBody>
                    <a:bodyPr/>
                    <a:lstStyle/>
                    <a:p>
                      <a:pPr marL="0" indent="0" algn="r">
                        <a:buNone/>
                      </a:pPr>
                      <a:r>
                        <a:rPr lang="en-US" sz="1320" b="1" dirty="0">
                          <a:solidFill>
                            <a:srgbClr val="1A1814"/>
                          </a:solidFill>
                        </a:rPr>
                        <a:t>Rp44.400.000</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E7DCC8"/>
                    </a:solidFill>
                  </a:tcPr>
                </a:tc>
              </a:tr>
              <a:tr h="548626">
                <a:tc>
                  <a:txBody>
                    <a:bodyPr/>
                    <a:lstStyle/>
                    <a:p>
                      <a:pPr marL="0" indent="0" algn="l">
                        <a:buNone/>
                      </a:pPr>
                      <a:r>
                        <a:rPr lang="en-US" sz="1320" b="1" dirty="0">
                          <a:solidFill>
                            <a:srgbClr val="1A1814"/>
                          </a:solidFill>
                        </a:rPr>
                        <a:t>Target income (80%)</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l">
                        <a:buNone/>
                      </a:pP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l">
                        <a:buNone/>
                      </a:pP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r">
                        <a:buNone/>
                      </a:pPr>
                      <a:r>
                        <a:rPr lang="en-US" sz="1320" b="1" dirty="0">
                          <a:solidFill>
                            <a:srgbClr val="1A1814"/>
                          </a:solidFill>
                        </a:rPr>
                        <a:t>Rp35.520.000</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EFE6"/>
          </a:solidFill>
        </p:spPr>
        <p:txBody>
          <a:bodyPr/>
          <a:p/>
        </p:txBody>
      </p:sp>
      <p:sp>
        <p:nvSpPr>
          <p:cNvPr id="3" name="Shape 1"/>
          <p:cNvSpPr/>
          <p:nvPr/>
        </p:nvSpPr>
        <p:spPr>
          <a:xfrm>
            <a:off x="0" y="0"/>
            <a:ext cx="91440" cy="6858000"/>
          </a:xfrm>
          <a:prstGeom prst="rect">
            <a:avLst/>
          </a:prstGeom>
          <a:solidFill>
            <a:srgbClr val="C4622D"/>
          </a:solidFill>
        </p:spPr>
        <p:txBody>
          <a:bodyPr/>
          <a:p/>
        </p:txBody>
      </p:sp>
      <p:sp>
        <p:nvSpPr>
          <p:cNvPr id="4" name="Shape 2"/>
          <p:cNvSpPr/>
          <p:nvPr/>
        </p:nvSpPr>
        <p:spPr>
          <a:xfrm>
            <a:off x="0" y="6601968"/>
            <a:ext cx="12191695" cy="256032"/>
          </a:xfrm>
          <a:prstGeom prst="rect">
            <a:avLst/>
          </a:prstGeom>
          <a:solidFill>
            <a:srgbClr val="1A1814"/>
          </a:solidFill>
        </p:spPr>
        <p:txBody>
          <a:bodyPr/>
          <a:p/>
        </p:txBody>
      </p:sp>
      <p:sp>
        <p:nvSpPr>
          <p:cNvPr id="5" name="Text 3"/>
          <p:cNvSpPr/>
          <p:nvPr/>
        </p:nvSpPr>
        <p:spPr>
          <a:xfrm>
            <a:off x="347472" y="6601968"/>
            <a:ext cx="9144000" cy="256032"/>
          </a:xfrm>
          <a:prstGeom prst="rect">
            <a:avLst/>
          </a:prstGeom>
          <a:noFill/>
        </p:spPr>
        <p:txBody>
          <a:bodyPr wrap="square" lIns="0" tIns="0" rIns="0" bIns="0" rtlCol="0" anchor="ctr"/>
          <a:lstStyle/>
          <a:p>
            <a:pPr marL="0" indent="0">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HUNI   ·   Proposal website kos &amp; kontrakan   ·   Oktober 2026</a:t>
            </a:r>
            <a:endParaRPr lang="en-US" sz="1100" dirty="0"/>
          </a:p>
        </p:txBody>
      </p:sp>
      <p:sp>
        <p:nvSpPr>
          <p:cNvPr id="6" name="Text 4"/>
          <p:cNvSpPr/>
          <p:nvPr/>
        </p:nvSpPr>
        <p:spPr>
          <a:xfrm>
            <a:off x="9509760" y="6601968"/>
            <a:ext cx="2331720" cy="256032"/>
          </a:xfrm>
          <a:prstGeom prst="rect">
            <a:avLst/>
          </a:prstGeom>
          <a:noFill/>
        </p:spPr>
        <p:txBody>
          <a:bodyPr wrap="square" lIns="0" tIns="0" rIns="0" bIns="0" rtlCol="0" anchor="ctr"/>
          <a:lstStyle/>
          <a:p>
            <a:pPr marL="0" indent="0" algn="r">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13  /  36</a:t>
            </a:r>
            <a:endParaRPr lang="en-US" sz="1100" dirty="0"/>
          </a:p>
        </p:txBody>
      </p:sp>
      <p:sp>
        <p:nvSpPr>
          <p:cNvPr id="7" name="Text 5"/>
          <p:cNvSpPr/>
          <p:nvPr/>
        </p:nvSpPr>
        <p:spPr>
          <a:xfrm>
            <a:off x="426709" y="304792"/>
            <a:ext cx="11338277" cy="731502"/>
          </a:xfrm>
          <a:prstGeom prst="rect">
            <a:avLst/>
          </a:prstGeom>
          <a:noFill/>
        </p:spPr>
        <p:txBody>
          <a:bodyPr wrap="square" lIns="0" tIns="0" rIns="0" bIns="0" rtlCol="0" anchor="ctr"/>
          <a:lstStyle/>
          <a:p>
            <a:pPr marL="0" indent="0">
              <a:buNone/>
            </a:pPr>
            <a:r>
              <a:rPr lang="en-US" sz="3120" b="1" dirty="0">
                <a:solidFill>
                  <a:srgbClr val="1A1814"/>
                </a:solidFill>
                <a:latin typeface="Georgia" panose="02040502050405020303" pitchFamily="34" charset="0"/>
                <a:ea typeface="Georgia" panose="02040502050405020303" pitchFamily="34" charset="-122"/>
                <a:cs typeface="Georgia" panose="02040502050405020303" pitchFamily="34" charset="-120"/>
              </a:rPr>
              <a:t>Kos: biaya dan sisa pemilik per bulan</a:t>
            </a:r>
            <a:endParaRPr lang="en-US" sz="3120" dirty="0"/>
          </a:p>
        </p:txBody>
      </p:sp>
      <p:sp>
        <p:nvSpPr>
          <p:cNvPr id="8" name="Text 6"/>
          <p:cNvSpPr/>
          <p:nvPr/>
        </p:nvSpPr>
        <p:spPr>
          <a:xfrm>
            <a:off x="426709" y="1072869"/>
            <a:ext cx="11338277" cy="487668"/>
          </a:xfrm>
          <a:prstGeom prst="rect">
            <a:avLst/>
          </a:prstGeom>
          <a:noFill/>
        </p:spPr>
        <p:txBody>
          <a:bodyPr wrap="square" lIns="0" tIns="0" rIns="0" bIns="0" rtlCol="0" anchor="ctr"/>
          <a:lstStyle/>
          <a:p>
            <a:pPr marL="0" indent="0">
              <a:buNone/>
            </a:pPr>
            <a:r>
              <a:rPr lang="en-US" sz="1560" dirty="0">
                <a:solidFill>
                  <a:srgbClr val="6F675C"/>
                </a:solidFill>
                <a:latin typeface="Calibri" panose="020F0502020204030204" pitchFamily="34" charset="0"/>
                <a:ea typeface="Calibri" panose="020F0502020204030204" pitchFamily="34" charset="-122"/>
                <a:cs typeface="Calibri" panose="020F0502020204030204" pitchFamily="34" charset="-120"/>
              </a:rPr>
              <a:t>30% dari target income menjadi bagian pengelola.</a:t>
            </a:r>
            <a:endParaRPr lang="en-US" sz="1560" dirty="0"/>
          </a:p>
        </p:txBody>
      </p:sp>
      <p:graphicFrame>
        <p:nvGraphicFramePr>
          <p:cNvPr id="14" name="Table 0"/>
          <p:cNvGraphicFramePr>
            <a:graphicFrameLocks noGrp="1"/>
          </p:cNvGraphicFramePr>
          <p:nvPr/>
        </p:nvGraphicFramePr>
        <p:xfrm>
          <a:off x="426709" y="1828754"/>
          <a:ext cx="11338277" cy="3291756"/>
        </p:xfrm>
        <a:graphic>
          <a:graphicData uri="http://schemas.openxmlformats.org/drawingml/2006/table">
            <a:tbl>
              <a:tblPr/>
              <a:tblGrid>
                <a:gridCol w="6461598"/>
                <a:gridCol w="1828754"/>
                <a:gridCol w="3047924"/>
              </a:tblGrid>
              <a:tr h="548626">
                <a:tc>
                  <a:txBody>
                    <a:bodyPr/>
                    <a:lstStyle/>
                    <a:p>
                      <a:pPr marL="0" indent="0" algn="l">
                        <a:buNone/>
                      </a:pPr>
                      <a:r>
                        <a:rPr lang="en-US" sz="1320" b="1" dirty="0">
                          <a:solidFill>
                            <a:srgbClr val="F4EFE6"/>
                          </a:solidFill>
                        </a:rPr>
                        <a:t>Pos</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1A1814"/>
                    </a:solidFill>
                  </a:tcPr>
                </a:tc>
                <a:tc>
                  <a:txBody>
                    <a:bodyPr/>
                    <a:lstStyle/>
                    <a:p>
                      <a:pPr marL="0" indent="0" algn="l">
                        <a:buNone/>
                      </a:pPr>
                      <a:r>
                        <a:rPr lang="en-US" sz="1320" b="1" dirty="0">
                          <a:solidFill>
                            <a:srgbClr val="F4EFE6"/>
                          </a:solidFill>
                        </a:rPr>
                        <a:t>Porsi</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1A1814"/>
                    </a:solidFill>
                  </a:tcPr>
                </a:tc>
                <a:tc>
                  <a:txBody>
                    <a:bodyPr/>
                    <a:lstStyle/>
                    <a:p>
                      <a:pPr marL="0" indent="0" algn="l">
                        <a:buNone/>
                      </a:pPr>
                      <a:r>
                        <a:rPr lang="en-US" sz="1320" b="1" dirty="0">
                          <a:solidFill>
                            <a:srgbClr val="F4EFE6"/>
                          </a:solidFill>
                        </a:rPr>
                        <a:t>Per bulan</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1A1814"/>
                    </a:solidFill>
                  </a:tcPr>
                </a:tc>
              </a:tr>
              <a:tr h="548626">
                <a:tc>
                  <a:txBody>
                    <a:bodyPr/>
                    <a:lstStyle/>
                    <a:p>
                      <a:pPr marL="0" indent="0" algn="l">
                        <a:buNone/>
                      </a:pPr>
                      <a:r>
                        <a:rPr lang="en-US" sz="1320" dirty="0">
                          <a:solidFill>
                            <a:srgbClr val="1A1814"/>
                          </a:solidFill>
                        </a:rPr>
                        <a:t>Target income</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r">
                        <a:buNone/>
                      </a:pPr>
                      <a:r>
                        <a:rPr lang="en-US" sz="1320" dirty="0">
                          <a:solidFill>
                            <a:srgbClr val="1A1814"/>
                          </a:solidFill>
                        </a:rPr>
                        <a:t>100%</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r">
                        <a:buNone/>
                      </a:pPr>
                      <a:r>
                        <a:rPr lang="en-US" sz="1320" dirty="0">
                          <a:solidFill>
                            <a:srgbClr val="1A1814"/>
                          </a:solidFill>
                        </a:rPr>
                        <a:t>Rp35.520.000</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r>
              <a:tr h="548626">
                <a:tc>
                  <a:txBody>
                    <a:bodyPr/>
                    <a:lstStyle/>
                    <a:p>
                      <a:pPr marL="0" indent="0" algn="l">
                        <a:buNone/>
                      </a:pPr>
                      <a:r>
                        <a:rPr lang="en-US" sz="1320" dirty="0">
                          <a:solidFill>
                            <a:srgbClr val="1A1814"/>
                          </a:solidFill>
                        </a:rPr>
                        <a:t>System &amp; Marketing (termasuk build web)</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c>
                  <a:txBody>
                    <a:bodyPr/>
                    <a:lstStyle/>
                    <a:p>
                      <a:pPr marL="0" indent="0" algn="r">
                        <a:buNone/>
                      </a:pPr>
                      <a:r>
                        <a:rPr lang="en-US" sz="1320" dirty="0">
                          <a:solidFill>
                            <a:srgbClr val="1A1814"/>
                          </a:solidFill>
                        </a:rPr>
                        <a:t>15%</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c>
                  <a:txBody>
                    <a:bodyPr/>
                    <a:lstStyle/>
                    <a:p>
                      <a:pPr marL="0" indent="0" algn="r">
                        <a:buNone/>
                      </a:pPr>
                      <a:r>
                        <a:rPr lang="en-US" sz="1320" dirty="0">
                          <a:solidFill>
                            <a:srgbClr val="1A1814"/>
                          </a:solidFill>
                        </a:rPr>
                        <a:t>Rp5.328.000</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r>
              <a:tr h="548626">
                <a:tc>
                  <a:txBody>
                    <a:bodyPr/>
                    <a:lstStyle/>
                    <a:p>
                      <a:pPr marL="0" indent="0" algn="l">
                        <a:buNone/>
                      </a:pPr>
                      <a:r>
                        <a:rPr lang="en-US" sz="1320" dirty="0">
                          <a:solidFill>
                            <a:srgbClr val="1A1814"/>
                          </a:solidFill>
                        </a:rPr>
                        <a:t>Perawatan &amp; operasional</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r">
                        <a:buNone/>
                      </a:pPr>
                      <a:r>
                        <a:rPr lang="en-US" sz="1320" dirty="0">
                          <a:solidFill>
                            <a:srgbClr val="1A1814"/>
                          </a:solidFill>
                        </a:rPr>
                        <a:t>15%</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r">
                        <a:buNone/>
                      </a:pPr>
                      <a:r>
                        <a:rPr lang="en-US" sz="1320" dirty="0">
                          <a:solidFill>
                            <a:srgbClr val="1A1814"/>
                          </a:solidFill>
                        </a:rPr>
                        <a:t>Rp5.328.000</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r>
              <a:tr h="548626">
                <a:tc>
                  <a:txBody>
                    <a:bodyPr/>
                    <a:lstStyle/>
                    <a:p>
                      <a:pPr marL="0" indent="0" algn="l">
                        <a:buNone/>
                      </a:pPr>
                      <a:r>
                        <a:rPr lang="en-US" sz="1320" b="1" dirty="0">
                          <a:solidFill>
                            <a:srgbClr val="1A1814"/>
                          </a:solidFill>
                        </a:rPr>
                        <a:t>Total biaya</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E7DCC8"/>
                    </a:solidFill>
                  </a:tcPr>
                </a:tc>
                <a:tc>
                  <a:txBody>
                    <a:bodyPr/>
                    <a:lstStyle/>
                    <a:p>
                      <a:pPr marL="0" indent="0" algn="r">
                        <a:buNone/>
                      </a:pPr>
                      <a:r>
                        <a:rPr lang="en-US" sz="1320" b="1" dirty="0">
                          <a:solidFill>
                            <a:srgbClr val="1A1814"/>
                          </a:solidFill>
                        </a:rPr>
                        <a:t>30%</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E7DCC8"/>
                    </a:solidFill>
                  </a:tcPr>
                </a:tc>
                <a:tc>
                  <a:txBody>
                    <a:bodyPr/>
                    <a:lstStyle/>
                    <a:p>
                      <a:pPr marL="0" indent="0" algn="r">
                        <a:buNone/>
                      </a:pPr>
                      <a:r>
                        <a:rPr lang="en-US" sz="1320" b="1" dirty="0">
                          <a:solidFill>
                            <a:srgbClr val="1A1814"/>
                          </a:solidFill>
                        </a:rPr>
                        <a:t>Rp10.656.000</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E7DCC8"/>
                    </a:solidFill>
                  </a:tcPr>
                </a:tc>
              </a:tr>
              <a:tr h="548626">
                <a:tc>
                  <a:txBody>
                    <a:bodyPr/>
                    <a:lstStyle/>
                    <a:p>
                      <a:pPr marL="0" indent="0" algn="l">
                        <a:buNone/>
                      </a:pPr>
                      <a:r>
                        <a:rPr lang="en-US" sz="1320" b="1" dirty="0">
                          <a:solidFill>
                            <a:srgbClr val="1A1814"/>
                          </a:solidFill>
                        </a:rPr>
                        <a:t>Net income owner</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r">
                        <a:buNone/>
                      </a:pPr>
                      <a:r>
                        <a:rPr lang="en-US" sz="1320" b="1" dirty="0">
                          <a:solidFill>
                            <a:srgbClr val="1A1814"/>
                          </a:solidFill>
                        </a:rPr>
                        <a:t>70%</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r">
                        <a:buNone/>
                      </a:pPr>
                      <a:r>
                        <a:rPr lang="en-US" sz="1320" b="1" dirty="0">
                          <a:solidFill>
                            <a:srgbClr val="1A1814"/>
                          </a:solidFill>
                        </a:rPr>
                        <a:t>Rp24.864.000</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r>
            </a:tbl>
          </a:graphicData>
        </a:graphic>
      </p:graphicFrame>
      <p:sp>
        <p:nvSpPr>
          <p:cNvPr id="10" name="Text 7"/>
          <p:cNvSpPr/>
          <p:nvPr/>
        </p:nvSpPr>
        <p:spPr>
          <a:xfrm>
            <a:off x="426709" y="5608180"/>
            <a:ext cx="11338277" cy="487668"/>
          </a:xfrm>
          <a:prstGeom prst="rect">
            <a:avLst/>
          </a:prstGeom>
          <a:noFill/>
        </p:spPr>
        <p:txBody>
          <a:bodyPr wrap="square" lIns="0" tIns="0" rIns="0" bIns="0" rtlCol="0" anchor="ctr"/>
          <a:lstStyle/>
          <a:p>
            <a:pPr marL="0" indent="0">
              <a:buNone/>
            </a:pPr>
            <a:r>
              <a:rPr lang="en-US" sz="1680" b="1" dirty="0">
                <a:solidFill>
                  <a:srgbClr val="2F5D50"/>
                </a:solidFill>
                <a:latin typeface="Calibri" panose="020F0502020204030204" pitchFamily="34" charset="0"/>
                <a:ea typeface="Calibri" panose="020F0502020204030204" pitchFamily="34" charset="-122"/>
                <a:cs typeface="Calibri" panose="020F0502020204030204" pitchFamily="34" charset="-120"/>
              </a:rPr>
              <a:t>Setahun: net owner 298,37 jt pada hunian 80%.</a:t>
            </a:r>
            <a:endParaRPr lang="en-US" sz="168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EFE6"/>
          </a:solidFill>
        </p:spPr>
        <p:txBody>
          <a:bodyPr/>
          <a:p/>
        </p:txBody>
      </p:sp>
      <p:sp>
        <p:nvSpPr>
          <p:cNvPr id="3" name="Shape 1"/>
          <p:cNvSpPr/>
          <p:nvPr/>
        </p:nvSpPr>
        <p:spPr>
          <a:xfrm>
            <a:off x="0" y="0"/>
            <a:ext cx="91440" cy="6858000"/>
          </a:xfrm>
          <a:prstGeom prst="rect">
            <a:avLst/>
          </a:prstGeom>
          <a:solidFill>
            <a:srgbClr val="C4622D"/>
          </a:solidFill>
        </p:spPr>
        <p:txBody>
          <a:bodyPr/>
          <a:p/>
        </p:txBody>
      </p:sp>
      <p:sp>
        <p:nvSpPr>
          <p:cNvPr id="4" name="Shape 2"/>
          <p:cNvSpPr/>
          <p:nvPr/>
        </p:nvSpPr>
        <p:spPr>
          <a:xfrm>
            <a:off x="0" y="6601968"/>
            <a:ext cx="12191695" cy="256032"/>
          </a:xfrm>
          <a:prstGeom prst="rect">
            <a:avLst/>
          </a:prstGeom>
          <a:solidFill>
            <a:srgbClr val="1A1814"/>
          </a:solidFill>
        </p:spPr>
        <p:txBody>
          <a:bodyPr/>
          <a:p/>
        </p:txBody>
      </p:sp>
      <p:sp>
        <p:nvSpPr>
          <p:cNvPr id="5" name="Text 3"/>
          <p:cNvSpPr/>
          <p:nvPr/>
        </p:nvSpPr>
        <p:spPr>
          <a:xfrm>
            <a:off x="347472" y="6601968"/>
            <a:ext cx="9144000" cy="256032"/>
          </a:xfrm>
          <a:prstGeom prst="rect">
            <a:avLst/>
          </a:prstGeom>
          <a:noFill/>
        </p:spPr>
        <p:txBody>
          <a:bodyPr wrap="square" lIns="0" tIns="0" rIns="0" bIns="0" rtlCol="0" anchor="ctr"/>
          <a:lstStyle/>
          <a:p>
            <a:pPr marL="0" indent="0">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HUNI   ·   Proposal website kos &amp; kontrakan   ·   Oktober 2026</a:t>
            </a:r>
            <a:endParaRPr lang="en-US" sz="1100" dirty="0"/>
          </a:p>
        </p:txBody>
      </p:sp>
      <p:sp>
        <p:nvSpPr>
          <p:cNvPr id="6" name="Text 4"/>
          <p:cNvSpPr/>
          <p:nvPr/>
        </p:nvSpPr>
        <p:spPr>
          <a:xfrm>
            <a:off x="9509760" y="6601968"/>
            <a:ext cx="2331720" cy="256032"/>
          </a:xfrm>
          <a:prstGeom prst="rect">
            <a:avLst/>
          </a:prstGeom>
          <a:noFill/>
        </p:spPr>
        <p:txBody>
          <a:bodyPr wrap="square" lIns="0" tIns="0" rIns="0" bIns="0" rtlCol="0" anchor="ctr"/>
          <a:lstStyle/>
          <a:p>
            <a:pPr marL="0" indent="0" algn="r">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14  /  36</a:t>
            </a:r>
            <a:endParaRPr lang="en-US" sz="1100" dirty="0"/>
          </a:p>
        </p:txBody>
      </p:sp>
      <p:sp>
        <p:nvSpPr>
          <p:cNvPr id="7" name="Text 5"/>
          <p:cNvSpPr/>
          <p:nvPr/>
        </p:nvSpPr>
        <p:spPr>
          <a:xfrm>
            <a:off x="426709" y="304792"/>
            <a:ext cx="11338277" cy="731502"/>
          </a:xfrm>
          <a:prstGeom prst="rect">
            <a:avLst/>
          </a:prstGeom>
          <a:noFill/>
        </p:spPr>
        <p:txBody>
          <a:bodyPr wrap="square" lIns="0" tIns="0" rIns="0" bIns="0" rtlCol="0" anchor="ctr"/>
          <a:lstStyle/>
          <a:p>
            <a:pPr marL="0" indent="0">
              <a:buNone/>
            </a:pPr>
            <a:r>
              <a:rPr lang="en-US" sz="3120" b="1" dirty="0">
                <a:solidFill>
                  <a:srgbClr val="1A1814"/>
                </a:solidFill>
                <a:latin typeface="Georgia" panose="02040502050405020303" pitchFamily="34" charset="0"/>
                <a:ea typeface="Georgia" panose="02040502050405020303" pitchFamily="34" charset="-122"/>
                <a:cs typeface="Georgia" panose="02040502050405020303" pitchFamily="34" charset="-120"/>
              </a:rPr>
              <a:t>Biaya bangun web diambil dari pos maintenance</a:t>
            </a:r>
            <a:endParaRPr lang="en-US" sz="3120" dirty="0"/>
          </a:p>
        </p:txBody>
      </p:sp>
      <p:sp>
        <p:nvSpPr>
          <p:cNvPr id="8" name="Text 6"/>
          <p:cNvSpPr/>
          <p:nvPr/>
        </p:nvSpPr>
        <p:spPr>
          <a:xfrm>
            <a:off x="426709" y="1072869"/>
            <a:ext cx="11338277" cy="487668"/>
          </a:xfrm>
          <a:prstGeom prst="rect">
            <a:avLst/>
          </a:prstGeom>
          <a:noFill/>
        </p:spPr>
        <p:txBody>
          <a:bodyPr wrap="square" lIns="0" tIns="0" rIns="0" bIns="0" rtlCol="0" anchor="ctr"/>
          <a:lstStyle/>
          <a:p>
            <a:pPr marL="0" indent="0">
              <a:buNone/>
            </a:pPr>
            <a:r>
              <a:rPr lang="en-US" sz="1560" dirty="0">
                <a:solidFill>
                  <a:srgbClr val="6F675C"/>
                </a:solidFill>
                <a:latin typeface="Calibri" panose="020F0502020204030204" pitchFamily="34" charset="0"/>
                <a:ea typeface="Calibri" panose="020F0502020204030204" pitchFamily="34" charset="-122"/>
                <a:cs typeface="Calibri" panose="020F0502020204030204" pitchFamily="34" charset="-120"/>
              </a:rPr>
              <a:t>Tidak ditagih terpisah di depan. Dicicil dari 15% System &amp; Marketing.</a:t>
            </a:r>
            <a:endParaRPr lang="en-US" sz="1560" dirty="0"/>
          </a:p>
        </p:txBody>
      </p:sp>
      <p:graphicFrame>
        <p:nvGraphicFramePr>
          <p:cNvPr id="15" name="Table 0"/>
          <p:cNvGraphicFramePr>
            <a:graphicFrameLocks noGrp="1"/>
          </p:cNvGraphicFramePr>
          <p:nvPr/>
        </p:nvGraphicFramePr>
        <p:xfrm>
          <a:off x="426709" y="1828754"/>
          <a:ext cx="11338277" cy="2743130"/>
        </p:xfrm>
        <a:graphic>
          <a:graphicData uri="http://schemas.openxmlformats.org/drawingml/2006/table">
            <a:tbl>
              <a:tblPr/>
              <a:tblGrid>
                <a:gridCol w="6461598"/>
                <a:gridCol w="1828754"/>
                <a:gridCol w="3047924"/>
              </a:tblGrid>
              <a:tr h="548626">
                <a:tc>
                  <a:txBody>
                    <a:bodyPr/>
                    <a:lstStyle/>
                    <a:p>
                      <a:pPr marL="0" indent="0" algn="l">
                        <a:buNone/>
                      </a:pPr>
                      <a:r>
                        <a:rPr lang="en-US" sz="1320" b="1" dirty="0">
                          <a:solidFill>
                            <a:srgbClr val="F4EFE6"/>
                          </a:solidFill>
                        </a:rPr>
                        <a:t>Pembagian 15% System &amp; Marketing (usulan)</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1A1814"/>
                    </a:solidFill>
                  </a:tcPr>
                </a:tc>
                <a:tc>
                  <a:txBody>
                    <a:bodyPr/>
                    <a:lstStyle/>
                    <a:p>
                      <a:pPr marL="0" indent="0" algn="l">
                        <a:buNone/>
                      </a:pPr>
                      <a:r>
                        <a:rPr lang="en-US" sz="1320" b="1" dirty="0">
                          <a:solidFill>
                            <a:srgbClr val="F4EFE6"/>
                          </a:solidFill>
                        </a:rPr>
                        <a:t>Porsi</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1A1814"/>
                    </a:solidFill>
                  </a:tcPr>
                </a:tc>
                <a:tc>
                  <a:txBody>
                    <a:bodyPr/>
                    <a:lstStyle/>
                    <a:p>
                      <a:pPr marL="0" indent="0" algn="l">
                        <a:buNone/>
                      </a:pPr>
                      <a:r>
                        <a:rPr lang="en-US" sz="1320" b="1" dirty="0">
                          <a:solidFill>
                            <a:srgbClr val="F4EFE6"/>
                          </a:solidFill>
                        </a:rPr>
                        <a:t>Per bulan</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1A1814"/>
                    </a:solidFill>
                  </a:tcPr>
                </a:tc>
              </a:tr>
              <a:tr h="548626">
                <a:tc>
                  <a:txBody>
                    <a:bodyPr/>
                    <a:lstStyle/>
                    <a:p>
                      <a:pPr marL="0" indent="0" algn="l">
                        <a:buNone/>
                      </a:pPr>
                      <a:r>
                        <a:rPr lang="en-US" sz="1320" dirty="0">
                          <a:solidFill>
                            <a:srgbClr val="1A1814"/>
                          </a:solidFill>
                        </a:rPr>
                        <a:t>Bangun web (dicicil)</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r">
                        <a:buNone/>
                      </a:pPr>
                      <a:r>
                        <a:rPr lang="en-US" sz="1320" dirty="0">
                          <a:solidFill>
                            <a:srgbClr val="1A1814"/>
                          </a:solidFill>
                        </a:rPr>
                        <a:t>40%</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r">
                        <a:buNone/>
                      </a:pPr>
                      <a:r>
                        <a:rPr lang="en-US" sz="1320" dirty="0">
                          <a:solidFill>
                            <a:srgbClr val="1A1814"/>
                          </a:solidFill>
                        </a:rPr>
                        <a:t>Rp2.131.200</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r>
              <a:tr h="548626">
                <a:tc>
                  <a:txBody>
                    <a:bodyPr/>
                    <a:lstStyle/>
                    <a:p>
                      <a:pPr marL="0" indent="0" algn="l">
                        <a:buNone/>
                      </a:pPr>
                      <a:r>
                        <a:rPr lang="en-US" sz="1320" dirty="0">
                          <a:solidFill>
                            <a:srgbClr val="1A1814"/>
                          </a:solidFill>
                        </a:rPr>
                        <a:t>Hosting, domain, maintenance web</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c>
                  <a:txBody>
                    <a:bodyPr/>
                    <a:lstStyle/>
                    <a:p>
                      <a:pPr marL="0" indent="0" algn="r">
                        <a:buNone/>
                      </a:pPr>
                      <a:r>
                        <a:rPr lang="en-US" sz="1320" dirty="0">
                          <a:solidFill>
                            <a:srgbClr val="1A1814"/>
                          </a:solidFill>
                        </a:rPr>
                        <a:t>20%</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c>
                  <a:txBody>
                    <a:bodyPr/>
                    <a:lstStyle/>
                    <a:p>
                      <a:pPr marL="0" indent="0" algn="r">
                        <a:buNone/>
                      </a:pPr>
                      <a:r>
                        <a:rPr lang="en-US" sz="1320" dirty="0">
                          <a:solidFill>
                            <a:srgbClr val="1A1814"/>
                          </a:solidFill>
                        </a:rPr>
                        <a:t>Rp1.065.600</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r>
              <a:tr h="548626">
                <a:tc>
                  <a:txBody>
                    <a:bodyPr/>
                    <a:lstStyle/>
                    <a:p>
                      <a:pPr marL="0" indent="0" algn="l">
                        <a:buNone/>
                      </a:pPr>
                      <a:r>
                        <a:rPr lang="en-US" sz="1320" dirty="0">
                          <a:solidFill>
                            <a:srgbClr val="1A1814"/>
                          </a:solidFill>
                        </a:rPr>
                        <a:t>Marketing &amp; iklan unit kosong</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r">
                        <a:buNone/>
                      </a:pPr>
                      <a:r>
                        <a:rPr lang="en-US" sz="1320" dirty="0">
                          <a:solidFill>
                            <a:srgbClr val="1A1814"/>
                          </a:solidFill>
                        </a:rPr>
                        <a:t>40%</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r">
                        <a:buNone/>
                      </a:pPr>
                      <a:r>
                        <a:rPr lang="en-US" sz="1320" dirty="0">
                          <a:solidFill>
                            <a:srgbClr val="1A1814"/>
                          </a:solidFill>
                        </a:rPr>
                        <a:t>Rp2.131.200</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r>
              <a:tr h="548626">
                <a:tc>
                  <a:txBody>
                    <a:bodyPr/>
                    <a:lstStyle/>
                    <a:p>
                      <a:pPr marL="0" indent="0" algn="l">
                        <a:buNone/>
                      </a:pPr>
                      <a:r>
                        <a:rPr lang="en-US" sz="1320" b="1" dirty="0">
                          <a:solidFill>
                            <a:srgbClr val="1A1814"/>
                          </a:solidFill>
                        </a:rPr>
                        <a:t>Total pos System &amp; Marketing</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c>
                  <a:txBody>
                    <a:bodyPr/>
                    <a:lstStyle/>
                    <a:p>
                      <a:pPr marL="0" indent="0" algn="r">
                        <a:buNone/>
                      </a:pPr>
                      <a:r>
                        <a:rPr lang="en-US" sz="1320" b="1" dirty="0">
                          <a:solidFill>
                            <a:srgbClr val="1A1814"/>
                          </a:solidFill>
                        </a:rPr>
                        <a:t>100%</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c>
                  <a:txBody>
                    <a:bodyPr/>
                    <a:lstStyle/>
                    <a:p>
                      <a:pPr marL="0" indent="0" algn="r">
                        <a:buNone/>
                      </a:pPr>
                      <a:r>
                        <a:rPr lang="en-US" sz="1320" b="1" dirty="0">
                          <a:solidFill>
                            <a:srgbClr val="1A1814"/>
                          </a:solidFill>
                        </a:rPr>
                        <a:t>Rp5.328.000</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r>
            </a:tbl>
          </a:graphicData>
        </a:graphic>
      </p:graphicFrame>
      <p:sp>
        <p:nvSpPr>
          <p:cNvPr id="10" name="Shape 7"/>
          <p:cNvSpPr/>
          <p:nvPr/>
        </p:nvSpPr>
        <p:spPr>
          <a:xfrm>
            <a:off x="426709" y="4754761"/>
            <a:ext cx="11338277" cy="1584920"/>
          </a:xfrm>
          <a:prstGeom prst="roundRect">
            <a:avLst>
              <a:gd name="adj" fmla="val 4616"/>
            </a:avLst>
          </a:prstGeom>
          <a:solidFill>
            <a:srgbClr val="FBF8F3"/>
          </a:solidFill>
          <a:ln w="9525">
            <a:solidFill>
              <a:srgbClr val="D9CFBF"/>
            </a:solidFill>
            <a:prstDash val="solid"/>
          </a:ln>
        </p:spPr>
        <p:txBody>
          <a:bodyPr/>
          <a:p/>
        </p:txBody>
      </p:sp>
      <p:sp>
        <p:nvSpPr>
          <p:cNvPr id="11" name="Text 8"/>
          <p:cNvSpPr/>
          <p:nvPr/>
        </p:nvSpPr>
        <p:spPr>
          <a:xfrm>
            <a:off x="609585" y="4876678"/>
            <a:ext cx="10972526" cy="426709"/>
          </a:xfrm>
          <a:prstGeom prst="rect">
            <a:avLst/>
          </a:prstGeom>
          <a:noFill/>
        </p:spPr>
        <p:txBody>
          <a:bodyPr wrap="square" lIns="0" tIns="0" rIns="0" bIns="0" rtlCol="0" anchor="ctr"/>
          <a:lstStyle/>
          <a:p>
            <a:pPr marL="0" indent="0">
              <a:buNone/>
            </a:pPr>
            <a:r>
              <a:rPr lang="en-US" sz="1680" b="1" dirty="0">
                <a:solidFill>
                  <a:srgbClr val="1A1814"/>
                </a:solidFill>
                <a:latin typeface="Georgia" panose="02040502050405020303" pitchFamily="34" charset="0"/>
                <a:ea typeface="Georgia" panose="02040502050405020303" pitchFamily="34" charset="-122"/>
                <a:cs typeface="Georgia" panose="02040502050405020303" pitchFamily="34" charset="-120"/>
              </a:rPr>
              <a:t>Catatan</a:t>
            </a:r>
            <a:endParaRPr lang="en-US" sz="1680" dirty="0"/>
          </a:p>
        </p:txBody>
      </p:sp>
      <p:sp>
        <p:nvSpPr>
          <p:cNvPr id="12" name="Text 9"/>
          <p:cNvSpPr/>
          <p:nvPr/>
        </p:nvSpPr>
        <p:spPr>
          <a:xfrm>
            <a:off x="609585" y="5364346"/>
            <a:ext cx="10972526" cy="853419"/>
          </a:xfrm>
          <a:prstGeom prst="rect">
            <a:avLst/>
          </a:prstGeom>
          <a:noFill/>
        </p:spPr>
        <p:txBody>
          <a:bodyPr wrap="square" lIns="0" tIns="0" rIns="0" bIns="0" rtlCol="0" anchor="t"/>
          <a:lstStyle/>
          <a:p>
            <a:pPr marL="342900" indent="-342900">
              <a:spcAft>
                <a:spcPts val="400"/>
              </a:spcAft>
              <a:buSzPct val="100000"/>
              <a:buChar char="•"/>
            </a:pPr>
            <a:r>
              <a:rPr lang="en-US" sz="1380" dirty="0">
                <a:solidFill>
                  <a:srgbClr val="3F382F"/>
                </a:solidFill>
              </a:rPr>
              <a:t>Total biaya bangun ditetapkan setelah ruang lingkup final, lalu dicicil dari pos ini</a:t>
            </a:r>
            <a:endParaRPr lang="en-US" sz="1380" dirty="0"/>
          </a:p>
          <a:p>
            <a:pPr marL="342900" indent="-342900">
              <a:spcAft>
                <a:spcPts val="400"/>
              </a:spcAft>
              <a:buSzPct val="100000"/>
              <a:buChar char="•"/>
            </a:pPr>
            <a:r>
              <a:rPr lang="en-US" sz="1380" dirty="0">
                <a:solidFill>
                  <a:srgbClr val="3F382F"/>
                </a:solidFill>
              </a:rPr>
              <a:t>Pembagian 40/20/40 adalah usulan, bisa diubah</a:t>
            </a:r>
            <a:endParaRPr lang="en-US" sz="138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EFE6"/>
          </a:solidFill>
        </p:spPr>
        <p:txBody>
          <a:bodyPr/>
          <a:p/>
        </p:txBody>
      </p:sp>
      <p:sp>
        <p:nvSpPr>
          <p:cNvPr id="3" name="Shape 1"/>
          <p:cNvSpPr/>
          <p:nvPr/>
        </p:nvSpPr>
        <p:spPr>
          <a:xfrm>
            <a:off x="0" y="0"/>
            <a:ext cx="91440" cy="6858000"/>
          </a:xfrm>
          <a:prstGeom prst="rect">
            <a:avLst/>
          </a:prstGeom>
          <a:solidFill>
            <a:srgbClr val="C4622D"/>
          </a:solidFill>
        </p:spPr>
        <p:txBody>
          <a:bodyPr/>
          <a:p/>
        </p:txBody>
      </p:sp>
      <p:sp>
        <p:nvSpPr>
          <p:cNvPr id="4" name="Shape 2"/>
          <p:cNvSpPr/>
          <p:nvPr/>
        </p:nvSpPr>
        <p:spPr>
          <a:xfrm>
            <a:off x="0" y="6601968"/>
            <a:ext cx="12191695" cy="256032"/>
          </a:xfrm>
          <a:prstGeom prst="rect">
            <a:avLst/>
          </a:prstGeom>
          <a:solidFill>
            <a:srgbClr val="1A1814"/>
          </a:solidFill>
        </p:spPr>
        <p:txBody>
          <a:bodyPr/>
          <a:p/>
        </p:txBody>
      </p:sp>
      <p:sp>
        <p:nvSpPr>
          <p:cNvPr id="5" name="Text 3"/>
          <p:cNvSpPr/>
          <p:nvPr/>
        </p:nvSpPr>
        <p:spPr>
          <a:xfrm>
            <a:off x="347472" y="6601968"/>
            <a:ext cx="9144000" cy="256032"/>
          </a:xfrm>
          <a:prstGeom prst="rect">
            <a:avLst/>
          </a:prstGeom>
          <a:noFill/>
        </p:spPr>
        <p:txBody>
          <a:bodyPr wrap="square" lIns="0" tIns="0" rIns="0" bIns="0" rtlCol="0" anchor="ctr"/>
          <a:lstStyle/>
          <a:p>
            <a:pPr marL="0" indent="0">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HUNI   ·   Proposal website kos &amp; kontrakan   ·   Oktober 2026</a:t>
            </a:r>
            <a:endParaRPr lang="en-US" sz="1100" dirty="0"/>
          </a:p>
        </p:txBody>
      </p:sp>
      <p:sp>
        <p:nvSpPr>
          <p:cNvPr id="6" name="Text 4"/>
          <p:cNvSpPr/>
          <p:nvPr/>
        </p:nvSpPr>
        <p:spPr>
          <a:xfrm>
            <a:off x="9509760" y="6601968"/>
            <a:ext cx="2331720" cy="256032"/>
          </a:xfrm>
          <a:prstGeom prst="rect">
            <a:avLst/>
          </a:prstGeom>
          <a:noFill/>
        </p:spPr>
        <p:txBody>
          <a:bodyPr wrap="square" lIns="0" tIns="0" rIns="0" bIns="0" rtlCol="0" anchor="ctr"/>
          <a:lstStyle/>
          <a:p>
            <a:pPr marL="0" indent="0" algn="r">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15  /  36</a:t>
            </a:r>
            <a:endParaRPr lang="en-US" sz="1100" dirty="0"/>
          </a:p>
        </p:txBody>
      </p:sp>
      <p:sp>
        <p:nvSpPr>
          <p:cNvPr id="7" name="Text 5"/>
          <p:cNvSpPr/>
          <p:nvPr/>
        </p:nvSpPr>
        <p:spPr>
          <a:xfrm>
            <a:off x="426709" y="304792"/>
            <a:ext cx="11338277" cy="731502"/>
          </a:xfrm>
          <a:prstGeom prst="rect">
            <a:avLst/>
          </a:prstGeom>
          <a:noFill/>
        </p:spPr>
        <p:txBody>
          <a:bodyPr wrap="square" lIns="0" tIns="0" rIns="0" bIns="0" rtlCol="0" anchor="ctr"/>
          <a:lstStyle/>
          <a:p>
            <a:pPr marL="0" indent="0">
              <a:buNone/>
            </a:pPr>
            <a:r>
              <a:rPr lang="en-US" sz="3120" b="1" dirty="0">
                <a:solidFill>
                  <a:srgbClr val="1A1814"/>
                </a:solidFill>
                <a:latin typeface="Georgia" panose="02040502050405020303" pitchFamily="34" charset="0"/>
                <a:ea typeface="Georgia" panose="02040502050405020303" pitchFamily="34" charset="-122"/>
                <a:cs typeface="Georgia" panose="02040502050405020303" pitchFamily="34" charset="-120"/>
              </a:rPr>
              <a:t>Enam minggu sampai tayang</a:t>
            </a:r>
            <a:endParaRPr lang="en-US" sz="3120" dirty="0"/>
          </a:p>
        </p:txBody>
      </p:sp>
      <p:sp>
        <p:nvSpPr>
          <p:cNvPr id="8" name="Text 6"/>
          <p:cNvSpPr/>
          <p:nvPr/>
        </p:nvSpPr>
        <p:spPr>
          <a:xfrm>
            <a:off x="426709" y="1072869"/>
            <a:ext cx="11338277" cy="487668"/>
          </a:xfrm>
          <a:prstGeom prst="rect">
            <a:avLst/>
          </a:prstGeom>
          <a:noFill/>
        </p:spPr>
        <p:txBody>
          <a:bodyPr wrap="square" lIns="0" tIns="0" rIns="0" bIns="0" rtlCol="0" anchor="ctr"/>
          <a:lstStyle/>
          <a:p>
            <a:pPr marL="0" indent="0">
              <a:buNone/>
            </a:pPr>
            <a:r>
              <a:rPr lang="en-US" sz="1560" dirty="0">
                <a:solidFill>
                  <a:srgbClr val="6F675C"/>
                </a:solidFill>
                <a:latin typeface="Calibri" panose="020F0502020204030204" pitchFamily="34" charset="0"/>
                <a:ea typeface="Calibri" panose="020F0502020204030204" pitchFamily="34" charset="-122"/>
                <a:cs typeface="Calibri" panose="020F0502020204030204" pitchFamily="34" charset="-120"/>
              </a:rPr>
              <a:t>Tanpa pembayaran di muka; bangun web masuk ke pos System &amp; Marketing.</a:t>
            </a:r>
            <a:endParaRPr lang="en-US" sz="1560" dirty="0"/>
          </a:p>
        </p:txBody>
      </p:sp>
      <p:graphicFrame>
        <p:nvGraphicFramePr>
          <p:cNvPr id="16" name="Table 0"/>
          <p:cNvGraphicFramePr>
            <a:graphicFrameLocks noGrp="1"/>
          </p:cNvGraphicFramePr>
          <p:nvPr/>
        </p:nvGraphicFramePr>
        <p:xfrm>
          <a:off x="426709" y="1828754"/>
          <a:ext cx="11338277" cy="3657510"/>
        </p:xfrm>
        <a:graphic>
          <a:graphicData uri="http://schemas.openxmlformats.org/drawingml/2006/table">
            <a:tbl>
              <a:tblPr/>
              <a:tblGrid>
                <a:gridCol w="1828754"/>
                <a:gridCol w="9509522"/>
              </a:tblGrid>
              <a:tr h="609585">
                <a:tc>
                  <a:txBody>
                    <a:bodyPr/>
                    <a:lstStyle/>
                    <a:p>
                      <a:pPr marL="0" indent="0" algn="l">
                        <a:buNone/>
                      </a:pPr>
                      <a:r>
                        <a:rPr lang="en-US" sz="1320" b="1" dirty="0">
                          <a:solidFill>
                            <a:srgbClr val="F4EFE6"/>
                          </a:solidFill>
                        </a:rPr>
                        <a:t>Minggu</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1A1814"/>
                    </a:solidFill>
                  </a:tcPr>
                </a:tc>
                <a:tc>
                  <a:txBody>
                    <a:bodyPr/>
                    <a:lstStyle/>
                    <a:p>
                      <a:pPr marL="0" indent="0" algn="l">
                        <a:buNone/>
                      </a:pPr>
                      <a:r>
                        <a:rPr lang="en-US" sz="1320" b="1" dirty="0">
                          <a:solidFill>
                            <a:srgbClr val="F4EFE6"/>
                          </a:solidFill>
                        </a:rPr>
                        <a:t>Pekerjaan</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1A1814"/>
                    </a:solidFill>
                  </a:tcPr>
                </a:tc>
              </a:tr>
              <a:tr h="609585">
                <a:tc>
                  <a:txBody>
                    <a:bodyPr/>
                    <a:lstStyle/>
                    <a:p>
                      <a:pPr marL="0" indent="0" algn="l">
                        <a:buNone/>
                      </a:pPr>
                      <a:r>
                        <a:rPr lang="en-US" sz="1320" dirty="0">
                          <a:solidFill>
                            <a:srgbClr val="1A1814"/>
                          </a:solidFill>
                        </a:rPr>
                        <a:t>1</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l">
                        <a:buNone/>
                      </a:pPr>
                      <a:r>
                        <a:rPr lang="en-US" sz="1320" dirty="0">
                          <a:solidFill>
                            <a:srgbClr val="1A1814"/>
                          </a:solidFill>
                        </a:rPr>
                        <a:t>Riset alur, peta halaman, kumpulkan foto dan data unit</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r>
              <a:tr h="609585">
                <a:tc>
                  <a:txBody>
                    <a:bodyPr/>
                    <a:lstStyle/>
                    <a:p>
                      <a:pPr marL="0" indent="0" algn="l">
                        <a:buNone/>
                      </a:pPr>
                      <a:r>
                        <a:rPr lang="en-US" sz="1320" dirty="0">
                          <a:solidFill>
                            <a:srgbClr val="1A1814"/>
                          </a:solidFill>
                        </a:rPr>
                        <a:t>2</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c>
                  <a:txBody>
                    <a:bodyPr/>
                    <a:lstStyle/>
                    <a:p>
                      <a:pPr marL="0" indent="0" algn="l">
                        <a:buNone/>
                      </a:pPr>
                      <a:r>
                        <a:rPr lang="en-US" sz="1320" dirty="0">
                          <a:solidFill>
                            <a:srgbClr val="1A1814"/>
                          </a:solidFill>
                        </a:rPr>
                        <a:t>Desain layar utama dan ponsel, revisi dua putaran</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r>
              <a:tr h="609585">
                <a:tc>
                  <a:txBody>
                    <a:bodyPr/>
                    <a:lstStyle/>
                    <a:p>
                      <a:pPr marL="0" indent="0" algn="l">
                        <a:buNone/>
                      </a:pPr>
                      <a:r>
                        <a:rPr lang="en-US" sz="1320" dirty="0">
                          <a:solidFill>
                            <a:srgbClr val="1A1814"/>
                          </a:solidFill>
                        </a:rPr>
                        <a:t>3–4</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l">
                        <a:buNone/>
                      </a:pPr>
                      <a:r>
                        <a:rPr lang="en-US" sz="1320" dirty="0">
                          <a:solidFill>
                            <a:srgbClr val="1A1814"/>
                          </a:solidFill>
                        </a:rPr>
                        <a:t>Katalog, pencarian, halaman unit, form sewa</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r>
              <a:tr h="609585">
                <a:tc>
                  <a:txBody>
                    <a:bodyPr/>
                    <a:lstStyle/>
                    <a:p>
                      <a:pPr marL="0" indent="0" algn="l">
                        <a:buNone/>
                      </a:pPr>
                      <a:r>
                        <a:rPr lang="en-US" sz="1320" dirty="0">
                          <a:solidFill>
                            <a:srgbClr val="1A1814"/>
                          </a:solidFill>
                        </a:rPr>
                        <a:t>5</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c>
                  <a:txBody>
                    <a:bodyPr/>
                    <a:lstStyle/>
                    <a:p>
                      <a:pPr marL="0" indent="0" algn="l">
                        <a:buNone/>
                      </a:pPr>
                      <a:r>
                        <a:rPr lang="en-US" sz="1320" dirty="0">
                          <a:solidFill>
                            <a:srgbClr val="1A1814"/>
                          </a:solidFill>
                        </a:rPr>
                        <a:t>Papan kamar, grafik hunian, modul booking futsal</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r>
              <a:tr h="609585">
                <a:tc>
                  <a:txBody>
                    <a:bodyPr/>
                    <a:lstStyle/>
                    <a:p>
                      <a:pPr marL="0" indent="0" algn="l">
                        <a:buNone/>
                      </a:pPr>
                      <a:r>
                        <a:rPr lang="en-US" sz="1320" b="1" dirty="0">
                          <a:solidFill>
                            <a:srgbClr val="1A1814"/>
                          </a:solidFill>
                        </a:rPr>
                        <a:t>6</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l">
                        <a:buNone/>
                      </a:pPr>
                      <a:r>
                        <a:rPr lang="en-US" sz="1320" b="1" dirty="0">
                          <a:solidFill>
                            <a:srgbClr val="1A1814"/>
                          </a:solidFill>
                        </a:rPr>
                        <a:t>Isi data awal, training, domain &amp; hosting, tayang</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EFE6"/>
          </a:solidFill>
        </p:spPr>
        <p:txBody>
          <a:bodyPr/>
          <a:p/>
        </p:txBody>
      </p:sp>
      <p:sp>
        <p:nvSpPr>
          <p:cNvPr id="3" name="Shape 1"/>
          <p:cNvSpPr/>
          <p:nvPr/>
        </p:nvSpPr>
        <p:spPr>
          <a:xfrm>
            <a:off x="0" y="0"/>
            <a:ext cx="91440" cy="6858000"/>
          </a:xfrm>
          <a:prstGeom prst="rect">
            <a:avLst/>
          </a:prstGeom>
          <a:solidFill>
            <a:srgbClr val="C4622D"/>
          </a:solidFill>
        </p:spPr>
        <p:txBody>
          <a:bodyPr/>
          <a:p/>
        </p:txBody>
      </p:sp>
      <p:sp>
        <p:nvSpPr>
          <p:cNvPr id="4" name="Shape 2"/>
          <p:cNvSpPr/>
          <p:nvPr/>
        </p:nvSpPr>
        <p:spPr>
          <a:xfrm>
            <a:off x="0" y="6601968"/>
            <a:ext cx="12191695" cy="256032"/>
          </a:xfrm>
          <a:prstGeom prst="rect">
            <a:avLst/>
          </a:prstGeom>
          <a:solidFill>
            <a:srgbClr val="1A1814"/>
          </a:solidFill>
        </p:spPr>
        <p:txBody>
          <a:bodyPr/>
          <a:p/>
        </p:txBody>
      </p:sp>
      <p:sp>
        <p:nvSpPr>
          <p:cNvPr id="5" name="Text 3"/>
          <p:cNvSpPr/>
          <p:nvPr/>
        </p:nvSpPr>
        <p:spPr>
          <a:xfrm>
            <a:off x="347472" y="6601968"/>
            <a:ext cx="9144000" cy="256032"/>
          </a:xfrm>
          <a:prstGeom prst="rect">
            <a:avLst/>
          </a:prstGeom>
          <a:noFill/>
        </p:spPr>
        <p:txBody>
          <a:bodyPr wrap="square" lIns="0" tIns="0" rIns="0" bIns="0" rtlCol="0" anchor="ctr"/>
          <a:lstStyle/>
          <a:p>
            <a:pPr marL="0" indent="0">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HUNI   ·   Proposal website kos &amp; kontrakan   ·   Oktober 2026</a:t>
            </a:r>
            <a:endParaRPr lang="en-US" sz="1100" dirty="0"/>
          </a:p>
        </p:txBody>
      </p:sp>
      <p:sp>
        <p:nvSpPr>
          <p:cNvPr id="6" name="Text 4"/>
          <p:cNvSpPr/>
          <p:nvPr/>
        </p:nvSpPr>
        <p:spPr>
          <a:xfrm>
            <a:off x="9509760" y="6601968"/>
            <a:ext cx="2331720" cy="256032"/>
          </a:xfrm>
          <a:prstGeom prst="rect">
            <a:avLst/>
          </a:prstGeom>
          <a:noFill/>
        </p:spPr>
        <p:txBody>
          <a:bodyPr wrap="square" lIns="0" tIns="0" rIns="0" bIns="0" rtlCol="0" anchor="ctr"/>
          <a:lstStyle/>
          <a:p>
            <a:pPr marL="0" indent="0" algn="r">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16  /  36</a:t>
            </a:r>
            <a:endParaRPr lang="en-US" sz="1100" dirty="0"/>
          </a:p>
        </p:txBody>
      </p:sp>
      <p:sp>
        <p:nvSpPr>
          <p:cNvPr id="7" name="Text 5"/>
          <p:cNvSpPr/>
          <p:nvPr/>
        </p:nvSpPr>
        <p:spPr>
          <a:xfrm>
            <a:off x="426709" y="304792"/>
            <a:ext cx="11338277" cy="731502"/>
          </a:xfrm>
          <a:prstGeom prst="rect">
            <a:avLst/>
          </a:prstGeom>
          <a:noFill/>
        </p:spPr>
        <p:txBody>
          <a:bodyPr wrap="square" lIns="0" tIns="0" rIns="0" bIns="0" rtlCol="0" anchor="ctr"/>
          <a:lstStyle/>
          <a:p>
            <a:pPr marL="0" indent="0">
              <a:buNone/>
            </a:pPr>
            <a:r>
              <a:rPr lang="en-US" sz="3120" b="1" dirty="0">
                <a:solidFill>
                  <a:srgbClr val="1A1814"/>
                </a:solidFill>
                <a:latin typeface="Georgia" panose="02040502050405020303" pitchFamily="34" charset="0"/>
                <a:ea typeface="Georgia" panose="02040502050405020303" pitchFamily="34" charset="-122"/>
                <a:cs typeface="Georgia" panose="02040502050405020303" pitchFamily="34" charset="-120"/>
              </a:rPr>
              <a:t>Struktur organisasi</a:t>
            </a:r>
            <a:endParaRPr lang="en-US" sz="3120" dirty="0"/>
          </a:p>
        </p:txBody>
      </p:sp>
      <p:sp>
        <p:nvSpPr>
          <p:cNvPr id="8" name="Text 6"/>
          <p:cNvSpPr/>
          <p:nvPr/>
        </p:nvSpPr>
        <p:spPr>
          <a:xfrm>
            <a:off x="426709" y="1072869"/>
            <a:ext cx="11338277" cy="487668"/>
          </a:xfrm>
          <a:prstGeom prst="rect">
            <a:avLst/>
          </a:prstGeom>
          <a:noFill/>
        </p:spPr>
        <p:txBody>
          <a:bodyPr wrap="square" lIns="0" tIns="0" rIns="0" bIns="0" rtlCol="0" anchor="ctr"/>
          <a:lstStyle/>
          <a:p>
            <a:pPr marL="0" indent="0">
              <a:buNone/>
            </a:pPr>
            <a:r>
              <a:rPr lang="en-US" sz="1560" dirty="0">
                <a:solidFill>
                  <a:srgbClr val="6F675C"/>
                </a:solidFill>
                <a:latin typeface="Calibri" panose="020F0502020204030204" pitchFamily="34" charset="0"/>
                <a:ea typeface="Calibri" panose="020F0502020204030204" pitchFamily="34" charset="-122"/>
                <a:cs typeface="Calibri" panose="020F0502020204030204" pitchFamily="34" charset="-120"/>
              </a:rPr>
              <a:t>Satu pintu operasional untuk kos, futsal, dan cafe.</a:t>
            </a:r>
            <a:endParaRPr lang="en-US" sz="1560" dirty="0"/>
          </a:p>
        </p:txBody>
      </p:sp>
      <p:sp>
        <p:nvSpPr>
          <p:cNvPr id="9" name="Shape 7"/>
          <p:cNvSpPr/>
          <p:nvPr/>
        </p:nvSpPr>
        <p:spPr>
          <a:xfrm>
            <a:off x="4145176" y="1706837"/>
            <a:ext cx="3047924" cy="975336"/>
          </a:xfrm>
          <a:prstGeom prst="roundRect">
            <a:avLst>
              <a:gd name="adj" fmla="val 7500"/>
            </a:avLst>
          </a:prstGeom>
          <a:solidFill>
            <a:srgbClr val="1A1814"/>
          </a:solidFill>
          <a:ln w="9525">
            <a:solidFill>
              <a:srgbClr val="1A1814"/>
            </a:solidFill>
            <a:prstDash val="solid"/>
          </a:ln>
        </p:spPr>
        <p:txBody>
          <a:bodyPr/>
          <a:p/>
        </p:txBody>
      </p:sp>
      <p:sp>
        <p:nvSpPr>
          <p:cNvPr id="10" name="Text 8"/>
          <p:cNvSpPr/>
          <p:nvPr/>
        </p:nvSpPr>
        <p:spPr>
          <a:xfrm>
            <a:off x="4267093" y="1804371"/>
            <a:ext cx="2804090" cy="390134"/>
          </a:xfrm>
          <a:prstGeom prst="rect">
            <a:avLst/>
          </a:prstGeom>
          <a:noFill/>
        </p:spPr>
        <p:txBody>
          <a:bodyPr wrap="square" lIns="0" tIns="0" rIns="0" bIns="0" rtlCol="0" anchor="ctr"/>
          <a:lstStyle/>
          <a:p>
            <a:pPr marL="0" indent="0" algn="ctr">
              <a:buNone/>
            </a:pPr>
            <a:r>
              <a:rPr lang="en-US" sz="1560" b="1" dirty="0">
                <a:solidFill>
                  <a:srgbClr val="F4EFE6"/>
                </a:solidFill>
                <a:latin typeface="Georgia" panose="02040502050405020303" pitchFamily="34" charset="0"/>
                <a:ea typeface="Georgia" panose="02040502050405020303" pitchFamily="34" charset="-122"/>
                <a:cs typeface="Georgia" panose="02040502050405020303" pitchFamily="34" charset="-120"/>
              </a:rPr>
              <a:t>Pak Riki</a:t>
            </a:r>
            <a:endParaRPr lang="en-US" sz="1560" dirty="0"/>
          </a:p>
        </p:txBody>
      </p:sp>
      <p:sp>
        <p:nvSpPr>
          <p:cNvPr id="11" name="Text 9"/>
          <p:cNvSpPr/>
          <p:nvPr/>
        </p:nvSpPr>
        <p:spPr>
          <a:xfrm>
            <a:off x="4267093" y="2218889"/>
            <a:ext cx="2804090" cy="365751"/>
          </a:xfrm>
          <a:prstGeom prst="rect">
            <a:avLst/>
          </a:prstGeom>
          <a:noFill/>
        </p:spPr>
        <p:txBody>
          <a:bodyPr wrap="square" lIns="0" tIns="0" rIns="0" bIns="0" rtlCol="0" anchor="t"/>
          <a:lstStyle/>
          <a:p>
            <a:pPr marL="0" indent="0" algn="ctr">
              <a:buNone/>
            </a:pPr>
            <a:r>
              <a:rPr lang="en-AU" altLang="en-US" sz="1260" dirty="0">
                <a:solidFill>
                  <a:srgbClr val="E7DCC8"/>
                </a:solidFill>
                <a:latin typeface="Calibri" panose="020F0502020204030204" pitchFamily="34" charset="0"/>
                <a:ea typeface="Calibri" panose="020F0502020204030204" pitchFamily="34" charset="-122"/>
                <a:cs typeface="Calibri" panose="020F0502020204030204" pitchFamily="34" charset="-120"/>
              </a:rPr>
              <a:t>OWNER</a:t>
            </a:r>
            <a:endParaRPr lang="en-AU" altLang="en-US" sz="1260" dirty="0">
              <a:solidFill>
                <a:srgbClr val="E7DCC8"/>
              </a:solidFill>
              <a:latin typeface="Calibri" panose="020F0502020204030204" pitchFamily="34" charset="0"/>
              <a:ea typeface="Calibri" panose="020F0502020204030204" pitchFamily="34" charset="-122"/>
              <a:cs typeface="Calibri" panose="020F0502020204030204" pitchFamily="34" charset="-120"/>
            </a:endParaRPr>
          </a:p>
        </p:txBody>
      </p:sp>
      <p:sp>
        <p:nvSpPr>
          <p:cNvPr id="12" name="Shape 10"/>
          <p:cNvSpPr/>
          <p:nvPr/>
        </p:nvSpPr>
        <p:spPr>
          <a:xfrm>
            <a:off x="5669138" y="2682173"/>
            <a:ext cx="0" cy="268217"/>
          </a:xfrm>
          <a:prstGeom prst="line">
            <a:avLst/>
          </a:prstGeom>
          <a:noFill/>
          <a:ln w="15875">
            <a:solidFill>
              <a:srgbClr val="6F675C"/>
            </a:solidFill>
            <a:prstDash val="solid"/>
          </a:ln>
        </p:spPr>
        <p:txBody>
          <a:bodyPr/>
          <a:p/>
        </p:txBody>
      </p:sp>
      <p:sp>
        <p:nvSpPr>
          <p:cNvPr id="13" name="Shape 11"/>
          <p:cNvSpPr/>
          <p:nvPr/>
        </p:nvSpPr>
        <p:spPr>
          <a:xfrm>
            <a:off x="3657509" y="2950390"/>
            <a:ext cx="4876678" cy="0"/>
          </a:xfrm>
          <a:prstGeom prst="line">
            <a:avLst/>
          </a:prstGeom>
          <a:noFill/>
          <a:ln w="15875">
            <a:solidFill>
              <a:srgbClr val="6F675C"/>
            </a:solidFill>
            <a:prstDash val="solid"/>
          </a:ln>
        </p:spPr>
        <p:txBody>
          <a:bodyPr/>
          <a:p/>
        </p:txBody>
      </p:sp>
      <p:sp>
        <p:nvSpPr>
          <p:cNvPr id="14" name="Shape 12"/>
          <p:cNvSpPr/>
          <p:nvPr/>
        </p:nvSpPr>
        <p:spPr>
          <a:xfrm>
            <a:off x="3657509" y="2950390"/>
            <a:ext cx="0" cy="280409"/>
          </a:xfrm>
          <a:prstGeom prst="line">
            <a:avLst/>
          </a:prstGeom>
          <a:noFill/>
          <a:ln w="15875">
            <a:solidFill>
              <a:srgbClr val="6F675C"/>
            </a:solidFill>
            <a:prstDash val="solid"/>
          </a:ln>
        </p:spPr>
        <p:txBody>
          <a:bodyPr/>
          <a:p/>
        </p:txBody>
      </p:sp>
      <p:sp>
        <p:nvSpPr>
          <p:cNvPr id="15" name="Shape 13"/>
          <p:cNvSpPr/>
          <p:nvPr/>
        </p:nvSpPr>
        <p:spPr>
          <a:xfrm>
            <a:off x="8534187" y="2950390"/>
            <a:ext cx="0" cy="280409"/>
          </a:xfrm>
          <a:prstGeom prst="line">
            <a:avLst/>
          </a:prstGeom>
          <a:noFill/>
          <a:ln w="15875">
            <a:solidFill>
              <a:srgbClr val="6F675C"/>
            </a:solidFill>
            <a:prstDash val="solid"/>
          </a:ln>
        </p:spPr>
        <p:txBody>
          <a:bodyPr/>
          <a:p/>
        </p:txBody>
      </p:sp>
      <p:sp>
        <p:nvSpPr>
          <p:cNvPr id="16" name="Shape 14"/>
          <p:cNvSpPr/>
          <p:nvPr/>
        </p:nvSpPr>
        <p:spPr>
          <a:xfrm>
            <a:off x="1463003" y="3230799"/>
            <a:ext cx="4389010" cy="1219170"/>
          </a:xfrm>
          <a:prstGeom prst="roundRect">
            <a:avLst>
              <a:gd name="adj" fmla="val 6000"/>
            </a:avLst>
          </a:prstGeom>
          <a:solidFill>
            <a:srgbClr val="C4622D"/>
          </a:solidFill>
          <a:ln w="9525">
            <a:solidFill>
              <a:srgbClr val="C4622D"/>
            </a:solidFill>
            <a:prstDash val="solid"/>
          </a:ln>
        </p:spPr>
        <p:txBody>
          <a:bodyPr/>
          <a:p/>
        </p:txBody>
      </p:sp>
      <p:sp>
        <p:nvSpPr>
          <p:cNvPr id="17" name="Text 15"/>
          <p:cNvSpPr/>
          <p:nvPr/>
        </p:nvSpPr>
        <p:spPr>
          <a:xfrm>
            <a:off x="1584920" y="3328333"/>
            <a:ext cx="4145176" cy="390134"/>
          </a:xfrm>
          <a:prstGeom prst="rect">
            <a:avLst/>
          </a:prstGeom>
          <a:noFill/>
        </p:spPr>
        <p:txBody>
          <a:bodyPr wrap="square" lIns="0" tIns="0" rIns="0" bIns="0" rtlCol="0" anchor="ctr"/>
          <a:lstStyle/>
          <a:p>
            <a:pPr marL="0" indent="0" algn="ctr">
              <a:buNone/>
            </a:pPr>
            <a:r>
              <a:rPr lang="en-US" sz="1560" b="1" dirty="0">
                <a:solidFill>
                  <a:srgbClr val="F4EFE6"/>
                </a:solidFill>
                <a:latin typeface="Georgia" panose="02040502050405020303" pitchFamily="34" charset="0"/>
                <a:ea typeface="Georgia" panose="02040502050405020303" pitchFamily="34" charset="-122"/>
                <a:cs typeface="Georgia" panose="02040502050405020303" pitchFamily="34" charset="-120"/>
              </a:rPr>
              <a:t>Andre Luckyta</a:t>
            </a:r>
            <a:endParaRPr lang="en-US" sz="1560" dirty="0"/>
          </a:p>
        </p:txBody>
      </p:sp>
      <p:sp>
        <p:nvSpPr>
          <p:cNvPr id="18" name="Text 16"/>
          <p:cNvSpPr/>
          <p:nvPr/>
        </p:nvSpPr>
        <p:spPr>
          <a:xfrm>
            <a:off x="1584920" y="3742850"/>
            <a:ext cx="4145176" cy="609585"/>
          </a:xfrm>
          <a:prstGeom prst="rect">
            <a:avLst/>
          </a:prstGeom>
          <a:noFill/>
        </p:spPr>
        <p:txBody>
          <a:bodyPr wrap="square" lIns="0" tIns="0" rIns="0" bIns="0" rtlCol="0" anchor="t"/>
          <a:lstStyle/>
          <a:p>
            <a:pPr marL="0" indent="0" algn="ctr">
              <a:buNone/>
            </a:pPr>
            <a:r>
              <a:rPr lang="en-US" sz="1260" dirty="0">
                <a:solidFill>
                  <a:srgbClr val="E7DCC8"/>
                </a:solidFill>
                <a:latin typeface="Calibri" panose="020F0502020204030204" pitchFamily="34" charset="0"/>
                <a:ea typeface="Calibri" panose="020F0502020204030204" pitchFamily="34" charset="-122"/>
                <a:cs typeface="Calibri" panose="020F0502020204030204" pitchFamily="34" charset="-120"/>
              </a:rPr>
              <a:t>Operasional &amp; PPIC semua unit: jadwal, stok, karyawan, </a:t>
            </a:r>
            <a:r>
              <a:rPr lang="en-AU" altLang="en-US" sz="1260" dirty="0">
                <a:solidFill>
                  <a:srgbClr val="E7DCC8"/>
                </a:solidFill>
                <a:latin typeface="Calibri" panose="020F0502020204030204" pitchFamily="34" charset="0"/>
                <a:ea typeface="Calibri" panose="020F0502020204030204" pitchFamily="34" charset="-122"/>
                <a:cs typeface="Calibri" panose="020F0502020204030204" pitchFamily="34" charset="-120"/>
              </a:rPr>
              <a:t>pe</a:t>
            </a:r>
            <a:r>
              <a:rPr lang="en-US" sz="1260" dirty="0">
                <a:solidFill>
                  <a:srgbClr val="E7DCC8"/>
                </a:solidFill>
                <a:latin typeface="Calibri" panose="020F0502020204030204" pitchFamily="34" charset="0"/>
                <a:ea typeface="Calibri" panose="020F0502020204030204" pitchFamily="34" charset="-122"/>
                <a:cs typeface="Calibri" panose="020F0502020204030204" pitchFamily="34" charset="-120"/>
              </a:rPr>
              <a:t>laporan</a:t>
            </a:r>
            <a:r>
              <a:rPr lang="en-AU" altLang="en-US" sz="1260" dirty="0">
                <a:solidFill>
                  <a:srgbClr val="E7DCC8"/>
                </a:solidFill>
                <a:latin typeface="Calibri" panose="020F0502020204030204" pitchFamily="34" charset="0"/>
                <a:ea typeface="Calibri" panose="020F0502020204030204" pitchFamily="34" charset="-122"/>
                <a:cs typeface="Calibri" panose="020F0502020204030204" pitchFamily="34" charset="-120"/>
              </a:rPr>
              <a:t> &amp; approval kontrak</a:t>
            </a:r>
            <a:endParaRPr lang="en-AU" altLang="en-US" sz="1260" dirty="0">
              <a:solidFill>
                <a:srgbClr val="E7DCC8"/>
              </a:solidFill>
              <a:latin typeface="Calibri" panose="020F0502020204030204" pitchFamily="34" charset="0"/>
              <a:ea typeface="Calibri" panose="020F0502020204030204" pitchFamily="34" charset="-122"/>
              <a:cs typeface="Calibri" panose="020F0502020204030204" pitchFamily="34" charset="-120"/>
            </a:endParaRPr>
          </a:p>
        </p:txBody>
      </p:sp>
      <p:sp>
        <p:nvSpPr>
          <p:cNvPr id="19" name="Shape 17"/>
          <p:cNvSpPr/>
          <p:nvPr/>
        </p:nvSpPr>
        <p:spPr>
          <a:xfrm>
            <a:off x="6705432" y="3230799"/>
            <a:ext cx="3657509" cy="1219170"/>
          </a:xfrm>
          <a:prstGeom prst="roundRect">
            <a:avLst>
              <a:gd name="adj" fmla="val 6000"/>
            </a:avLst>
          </a:prstGeom>
          <a:solidFill>
            <a:srgbClr val="2F5D50"/>
          </a:solidFill>
          <a:ln w="9525">
            <a:solidFill>
              <a:srgbClr val="2F5D50"/>
            </a:solidFill>
            <a:prstDash val="solid"/>
          </a:ln>
        </p:spPr>
        <p:txBody>
          <a:bodyPr/>
          <a:p/>
        </p:txBody>
      </p:sp>
      <p:sp>
        <p:nvSpPr>
          <p:cNvPr id="20" name="Text 18"/>
          <p:cNvSpPr/>
          <p:nvPr/>
        </p:nvSpPr>
        <p:spPr>
          <a:xfrm>
            <a:off x="6827349" y="3328333"/>
            <a:ext cx="3413675" cy="390134"/>
          </a:xfrm>
          <a:prstGeom prst="rect">
            <a:avLst/>
          </a:prstGeom>
          <a:noFill/>
        </p:spPr>
        <p:txBody>
          <a:bodyPr wrap="square" lIns="0" tIns="0" rIns="0" bIns="0" rtlCol="0" anchor="ctr"/>
          <a:lstStyle/>
          <a:p>
            <a:pPr marL="0" indent="0" algn="ctr">
              <a:buNone/>
            </a:pPr>
            <a:r>
              <a:rPr lang="en-US" sz="1560" b="1" dirty="0">
                <a:solidFill>
                  <a:srgbClr val="F4EFE6"/>
                </a:solidFill>
                <a:latin typeface="Georgia" panose="02040502050405020303" pitchFamily="34" charset="0"/>
                <a:ea typeface="Georgia" panose="02040502050405020303" pitchFamily="34" charset="-122"/>
                <a:cs typeface="Georgia" panose="02040502050405020303" pitchFamily="34" charset="-120"/>
              </a:rPr>
              <a:t>Nana Rusyana</a:t>
            </a:r>
            <a:endParaRPr lang="en-US" sz="1560" dirty="0"/>
          </a:p>
        </p:txBody>
      </p:sp>
      <p:sp>
        <p:nvSpPr>
          <p:cNvPr id="21" name="Text 19"/>
          <p:cNvSpPr/>
          <p:nvPr/>
        </p:nvSpPr>
        <p:spPr>
          <a:xfrm>
            <a:off x="6827349" y="3742850"/>
            <a:ext cx="3413675" cy="609585"/>
          </a:xfrm>
          <a:prstGeom prst="rect">
            <a:avLst/>
          </a:prstGeom>
          <a:noFill/>
        </p:spPr>
        <p:txBody>
          <a:bodyPr wrap="square" lIns="0" tIns="0" rIns="0" bIns="0" rtlCol="0" anchor="t"/>
          <a:lstStyle/>
          <a:p>
            <a:pPr marL="0" indent="0" algn="ctr">
              <a:buNone/>
            </a:pPr>
            <a:r>
              <a:rPr lang="en-AU" altLang="en-US" sz="1260" dirty="0">
                <a:solidFill>
                  <a:srgbClr val="E7DCC8"/>
                </a:solidFill>
                <a:latin typeface="Calibri" panose="020F0502020204030204" pitchFamily="34" charset="0"/>
                <a:ea typeface="Calibri" panose="020F0502020204030204" pitchFamily="34" charset="-122"/>
                <a:cs typeface="Calibri" panose="020F0502020204030204" pitchFamily="34" charset="-120"/>
              </a:rPr>
              <a:t>Advisor, &amp; </a:t>
            </a:r>
            <a:r>
              <a:rPr lang="en-US" sz="1260" dirty="0">
                <a:solidFill>
                  <a:srgbClr val="E7DCC8"/>
                </a:solidFill>
                <a:latin typeface="Calibri" panose="020F0502020204030204" pitchFamily="34" charset="0"/>
                <a:ea typeface="Calibri" panose="020F0502020204030204" pitchFamily="34" charset="-122"/>
                <a:cs typeface="Calibri" panose="020F0502020204030204" pitchFamily="34" charset="-120"/>
              </a:rPr>
              <a:t>Pengawas</a:t>
            </a:r>
            <a:endParaRPr lang="en-US" sz="1260" dirty="0"/>
          </a:p>
        </p:txBody>
      </p:sp>
      <p:sp>
        <p:nvSpPr>
          <p:cNvPr id="22" name="Shape 20"/>
          <p:cNvSpPr/>
          <p:nvPr/>
        </p:nvSpPr>
        <p:spPr>
          <a:xfrm>
            <a:off x="3657509" y="4449969"/>
            <a:ext cx="0" cy="304792"/>
          </a:xfrm>
          <a:prstGeom prst="line">
            <a:avLst/>
          </a:prstGeom>
          <a:noFill/>
          <a:ln w="15875">
            <a:solidFill>
              <a:srgbClr val="6F675C"/>
            </a:solidFill>
            <a:prstDash val="solid"/>
          </a:ln>
        </p:spPr>
        <p:txBody>
          <a:bodyPr/>
          <a:p/>
        </p:txBody>
      </p:sp>
      <p:sp>
        <p:nvSpPr>
          <p:cNvPr id="23" name="Shape 21"/>
          <p:cNvSpPr/>
          <p:nvPr/>
        </p:nvSpPr>
        <p:spPr>
          <a:xfrm>
            <a:off x="1280128" y="4754761"/>
            <a:ext cx="8534187" cy="0"/>
          </a:xfrm>
          <a:prstGeom prst="line">
            <a:avLst/>
          </a:prstGeom>
          <a:noFill/>
          <a:ln w="15875">
            <a:solidFill>
              <a:srgbClr val="6F675C"/>
            </a:solidFill>
            <a:prstDash val="solid"/>
          </a:ln>
        </p:spPr>
        <p:txBody>
          <a:bodyPr/>
          <a:p/>
        </p:txBody>
      </p:sp>
      <p:sp>
        <p:nvSpPr>
          <p:cNvPr id="24" name="Shape 22"/>
          <p:cNvSpPr/>
          <p:nvPr/>
        </p:nvSpPr>
        <p:spPr>
          <a:xfrm>
            <a:off x="1280128" y="4754761"/>
            <a:ext cx="0" cy="243834"/>
          </a:xfrm>
          <a:prstGeom prst="line">
            <a:avLst/>
          </a:prstGeom>
          <a:noFill/>
          <a:ln w="15875">
            <a:solidFill>
              <a:srgbClr val="6F675C"/>
            </a:solidFill>
            <a:prstDash val="solid"/>
          </a:ln>
        </p:spPr>
        <p:txBody>
          <a:bodyPr/>
          <a:p/>
        </p:txBody>
      </p:sp>
      <p:sp>
        <p:nvSpPr>
          <p:cNvPr id="25" name="Shape 23"/>
          <p:cNvSpPr/>
          <p:nvPr/>
        </p:nvSpPr>
        <p:spPr>
          <a:xfrm>
            <a:off x="243834" y="4998595"/>
            <a:ext cx="2072588" cy="1219170"/>
          </a:xfrm>
          <a:prstGeom prst="roundRect">
            <a:avLst>
              <a:gd name="adj" fmla="val 6000"/>
            </a:avLst>
          </a:prstGeom>
          <a:solidFill>
            <a:srgbClr val="FBF8F3"/>
          </a:solidFill>
          <a:ln w="9525">
            <a:solidFill>
              <a:srgbClr val="D9CFBF"/>
            </a:solidFill>
            <a:prstDash val="solid"/>
          </a:ln>
        </p:spPr>
        <p:txBody>
          <a:bodyPr/>
          <a:p/>
        </p:txBody>
      </p:sp>
      <p:sp>
        <p:nvSpPr>
          <p:cNvPr id="26" name="Text 24"/>
          <p:cNvSpPr/>
          <p:nvPr/>
        </p:nvSpPr>
        <p:spPr>
          <a:xfrm>
            <a:off x="365751" y="5096129"/>
            <a:ext cx="1828754" cy="390134"/>
          </a:xfrm>
          <a:prstGeom prst="rect">
            <a:avLst/>
          </a:prstGeom>
          <a:noFill/>
        </p:spPr>
        <p:txBody>
          <a:bodyPr wrap="square" lIns="0" tIns="0" rIns="0" bIns="0" rtlCol="0" anchor="ctr"/>
          <a:lstStyle/>
          <a:p>
            <a:pPr marL="0" indent="0" algn="ctr">
              <a:buNone/>
            </a:pPr>
            <a:r>
              <a:rPr lang="en-US" sz="1560" b="1" dirty="0">
                <a:solidFill>
                  <a:srgbClr val="1A1814"/>
                </a:solidFill>
                <a:latin typeface="Georgia" panose="02040502050405020303" pitchFamily="34" charset="0"/>
                <a:ea typeface="Georgia" panose="02040502050405020303" pitchFamily="34" charset="-122"/>
                <a:cs typeface="Georgia" panose="02040502050405020303" pitchFamily="34" charset="-120"/>
              </a:rPr>
              <a:t>Tim Marketing</a:t>
            </a:r>
            <a:endParaRPr lang="en-US" sz="1560" dirty="0"/>
          </a:p>
        </p:txBody>
      </p:sp>
      <p:sp>
        <p:nvSpPr>
          <p:cNvPr id="27" name="Text 25"/>
          <p:cNvSpPr/>
          <p:nvPr/>
        </p:nvSpPr>
        <p:spPr>
          <a:xfrm>
            <a:off x="365751" y="5510646"/>
            <a:ext cx="1828754" cy="609585"/>
          </a:xfrm>
          <a:prstGeom prst="rect">
            <a:avLst/>
          </a:prstGeom>
          <a:noFill/>
        </p:spPr>
        <p:txBody>
          <a:bodyPr wrap="square" lIns="0" tIns="0" rIns="0" bIns="0" rtlCol="0" anchor="t"/>
          <a:lstStyle/>
          <a:p>
            <a:pPr marL="0" indent="0" algn="ctr">
              <a:buNone/>
            </a:pPr>
            <a:r>
              <a:rPr lang="en-US" sz="1260" dirty="0">
                <a:solidFill>
                  <a:srgbClr val="3F382F"/>
                </a:solidFill>
                <a:latin typeface="Calibri" panose="020F0502020204030204" pitchFamily="34" charset="0"/>
                <a:ea typeface="Calibri" panose="020F0502020204030204" pitchFamily="34" charset="-122"/>
                <a:cs typeface="Calibri" panose="020F0502020204030204" pitchFamily="34" charset="-120"/>
              </a:rPr>
              <a:t>sosmed, sekolah, komunitas</a:t>
            </a:r>
            <a:endParaRPr lang="en-US" sz="1260" dirty="0"/>
          </a:p>
        </p:txBody>
      </p:sp>
      <p:sp>
        <p:nvSpPr>
          <p:cNvPr id="28" name="Shape 26"/>
          <p:cNvSpPr/>
          <p:nvPr/>
        </p:nvSpPr>
        <p:spPr>
          <a:xfrm>
            <a:off x="3474633" y="4754761"/>
            <a:ext cx="0" cy="243834"/>
          </a:xfrm>
          <a:prstGeom prst="line">
            <a:avLst/>
          </a:prstGeom>
          <a:noFill/>
          <a:ln w="15875">
            <a:solidFill>
              <a:srgbClr val="6F675C"/>
            </a:solidFill>
            <a:prstDash val="solid"/>
          </a:ln>
        </p:spPr>
        <p:txBody>
          <a:bodyPr/>
          <a:p/>
        </p:txBody>
      </p:sp>
      <p:sp>
        <p:nvSpPr>
          <p:cNvPr id="29" name="Shape 27"/>
          <p:cNvSpPr/>
          <p:nvPr/>
        </p:nvSpPr>
        <p:spPr>
          <a:xfrm>
            <a:off x="2438339" y="4998595"/>
            <a:ext cx="2072588" cy="1219170"/>
          </a:xfrm>
          <a:prstGeom prst="roundRect">
            <a:avLst>
              <a:gd name="adj" fmla="val 6000"/>
            </a:avLst>
          </a:prstGeom>
          <a:solidFill>
            <a:srgbClr val="FBF8F3"/>
          </a:solidFill>
          <a:ln w="9525">
            <a:solidFill>
              <a:srgbClr val="D9CFBF"/>
            </a:solidFill>
            <a:prstDash val="solid"/>
          </a:ln>
        </p:spPr>
        <p:txBody>
          <a:bodyPr/>
          <a:p/>
        </p:txBody>
      </p:sp>
      <p:sp>
        <p:nvSpPr>
          <p:cNvPr id="30" name="Text 28"/>
          <p:cNvSpPr/>
          <p:nvPr/>
        </p:nvSpPr>
        <p:spPr>
          <a:xfrm>
            <a:off x="2560256" y="5096129"/>
            <a:ext cx="1828754" cy="390134"/>
          </a:xfrm>
          <a:prstGeom prst="rect">
            <a:avLst/>
          </a:prstGeom>
          <a:noFill/>
        </p:spPr>
        <p:txBody>
          <a:bodyPr wrap="square" lIns="0" tIns="0" rIns="0" bIns="0" rtlCol="0" anchor="ctr"/>
          <a:lstStyle/>
          <a:p>
            <a:pPr marL="0" indent="0" algn="ctr">
              <a:buNone/>
            </a:pPr>
            <a:r>
              <a:rPr lang="en-US" sz="1560" b="1" dirty="0">
                <a:solidFill>
                  <a:srgbClr val="1A1814"/>
                </a:solidFill>
                <a:latin typeface="Georgia" panose="02040502050405020303" pitchFamily="34" charset="0"/>
                <a:ea typeface="Georgia" panose="02040502050405020303" pitchFamily="34" charset="-122"/>
                <a:cs typeface="Georgia" panose="02040502050405020303" pitchFamily="34" charset="-120"/>
              </a:rPr>
              <a:t>Tim Event</a:t>
            </a:r>
            <a:endParaRPr lang="en-US" sz="1560" dirty="0"/>
          </a:p>
        </p:txBody>
      </p:sp>
      <p:sp>
        <p:nvSpPr>
          <p:cNvPr id="31" name="Text 29"/>
          <p:cNvSpPr/>
          <p:nvPr/>
        </p:nvSpPr>
        <p:spPr>
          <a:xfrm>
            <a:off x="2560256" y="5510646"/>
            <a:ext cx="1828754" cy="609585"/>
          </a:xfrm>
          <a:prstGeom prst="rect">
            <a:avLst/>
          </a:prstGeom>
          <a:noFill/>
        </p:spPr>
        <p:txBody>
          <a:bodyPr wrap="square" lIns="0" tIns="0" rIns="0" bIns="0" rtlCol="0" anchor="t"/>
          <a:lstStyle/>
          <a:p>
            <a:pPr marL="0" indent="0" algn="ctr">
              <a:buNone/>
            </a:pPr>
            <a:r>
              <a:rPr lang="en-US" sz="1260" dirty="0">
                <a:solidFill>
                  <a:srgbClr val="3F382F"/>
                </a:solidFill>
                <a:latin typeface="Calibri" panose="020F0502020204030204" pitchFamily="34" charset="0"/>
                <a:ea typeface="Calibri" panose="020F0502020204030204" pitchFamily="34" charset="-122"/>
                <a:cs typeface="Calibri" panose="020F0502020204030204" pitchFamily="34" charset="-120"/>
              </a:rPr>
              <a:t>turnamen, partner &amp; sponsor</a:t>
            </a:r>
            <a:endParaRPr lang="en-US" sz="1260" dirty="0"/>
          </a:p>
        </p:txBody>
      </p:sp>
      <p:sp>
        <p:nvSpPr>
          <p:cNvPr id="32" name="Shape 30"/>
          <p:cNvSpPr/>
          <p:nvPr/>
        </p:nvSpPr>
        <p:spPr>
          <a:xfrm>
            <a:off x="5669138" y="4754761"/>
            <a:ext cx="0" cy="243834"/>
          </a:xfrm>
          <a:prstGeom prst="line">
            <a:avLst/>
          </a:prstGeom>
          <a:noFill/>
          <a:ln w="15875">
            <a:solidFill>
              <a:srgbClr val="6F675C"/>
            </a:solidFill>
            <a:prstDash val="solid"/>
          </a:ln>
        </p:spPr>
        <p:txBody>
          <a:bodyPr/>
          <a:p/>
        </p:txBody>
      </p:sp>
      <p:sp>
        <p:nvSpPr>
          <p:cNvPr id="33" name="Shape 31"/>
          <p:cNvSpPr/>
          <p:nvPr/>
        </p:nvSpPr>
        <p:spPr>
          <a:xfrm>
            <a:off x="4632844" y="4998595"/>
            <a:ext cx="2072588" cy="1219170"/>
          </a:xfrm>
          <a:prstGeom prst="roundRect">
            <a:avLst>
              <a:gd name="adj" fmla="val 6000"/>
            </a:avLst>
          </a:prstGeom>
          <a:solidFill>
            <a:srgbClr val="FBF8F3"/>
          </a:solidFill>
          <a:ln w="9525">
            <a:solidFill>
              <a:srgbClr val="D9CFBF"/>
            </a:solidFill>
            <a:prstDash val="solid"/>
          </a:ln>
        </p:spPr>
        <p:txBody>
          <a:bodyPr/>
          <a:p/>
        </p:txBody>
      </p:sp>
      <p:sp>
        <p:nvSpPr>
          <p:cNvPr id="34" name="Text 32"/>
          <p:cNvSpPr/>
          <p:nvPr/>
        </p:nvSpPr>
        <p:spPr>
          <a:xfrm>
            <a:off x="4754761" y="5096129"/>
            <a:ext cx="1828754" cy="390134"/>
          </a:xfrm>
          <a:prstGeom prst="rect">
            <a:avLst/>
          </a:prstGeom>
          <a:noFill/>
        </p:spPr>
        <p:txBody>
          <a:bodyPr wrap="square" lIns="0" tIns="0" rIns="0" bIns="0" rtlCol="0" anchor="ctr"/>
          <a:lstStyle/>
          <a:p>
            <a:pPr marL="0" indent="0" algn="ctr">
              <a:buNone/>
            </a:pPr>
            <a:r>
              <a:rPr lang="en-US" sz="1560" b="1" dirty="0">
                <a:solidFill>
                  <a:srgbClr val="1A1814"/>
                </a:solidFill>
                <a:latin typeface="Georgia" panose="02040502050405020303" pitchFamily="34" charset="0"/>
                <a:ea typeface="Georgia" panose="02040502050405020303" pitchFamily="34" charset="-122"/>
                <a:cs typeface="Georgia" panose="02040502050405020303" pitchFamily="34" charset="-120"/>
              </a:rPr>
              <a:t>Cafe</a:t>
            </a:r>
            <a:endParaRPr lang="en-US" sz="1560" dirty="0"/>
          </a:p>
        </p:txBody>
      </p:sp>
      <p:sp>
        <p:nvSpPr>
          <p:cNvPr id="35" name="Text 33"/>
          <p:cNvSpPr/>
          <p:nvPr/>
        </p:nvSpPr>
        <p:spPr>
          <a:xfrm>
            <a:off x="4754761" y="5510646"/>
            <a:ext cx="1828754" cy="609585"/>
          </a:xfrm>
          <a:prstGeom prst="rect">
            <a:avLst/>
          </a:prstGeom>
          <a:noFill/>
        </p:spPr>
        <p:txBody>
          <a:bodyPr wrap="square" lIns="0" tIns="0" rIns="0" bIns="0" rtlCol="0" anchor="t"/>
          <a:lstStyle/>
          <a:p>
            <a:pPr marL="0" indent="0" algn="ctr">
              <a:buNone/>
            </a:pPr>
            <a:r>
              <a:rPr lang="en-US" sz="1260" dirty="0">
                <a:solidFill>
                  <a:srgbClr val="3F382F"/>
                </a:solidFill>
                <a:latin typeface="Calibri" panose="020F0502020204030204" pitchFamily="34" charset="0"/>
                <a:ea typeface="Calibri" panose="020F0502020204030204" pitchFamily="34" charset="-122"/>
                <a:cs typeface="Calibri" panose="020F0502020204030204" pitchFamily="34" charset="-120"/>
              </a:rPr>
              <a:t>waiters, cooks, kasir</a:t>
            </a:r>
            <a:endParaRPr lang="en-US" sz="1260" dirty="0"/>
          </a:p>
        </p:txBody>
      </p:sp>
      <p:sp>
        <p:nvSpPr>
          <p:cNvPr id="36" name="Shape 34"/>
          <p:cNvSpPr/>
          <p:nvPr/>
        </p:nvSpPr>
        <p:spPr>
          <a:xfrm>
            <a:off x="7863643" y="4754761"/>
            <a:ext cx="0" cy="243834"/>
          </a:xfrm>
          <a:prstGeom prst="line">
            <a:avLst/>
          </a:prstGeom>
          <a:noFill/>
          <a:ln w="15875">
            <a:solidFill>
              <a:srgbClr val="6F675C"/>
            </a:solidFill>
            <a:prstDash val="solid"/>
          </a:ln>
        </p:spPr>
        <p:txBody>
          <a:bodyPr/>
          <a:p/>
        </p:txBody>
      </p:sp>
      <p:sp>
        <p:nvSpPr>
          <p:cNvPr id="37" name="Shape 35"/>
          <p:cNvSpPr/>
          <p:nvPr/>
        </p:nvSpPr>
        <p:spPr>
          <a:xfrm>
            <a:off x="6827349" y="4998595"/>
            <a:ext cx="2072588" cy="1219170"/>
          </a:xfrm>
          <a:prstGeom prst="roundRect">
            <a:avLst>
              <a:gd name="adj" fmla="val 6000"/>
            </a:avLst>
          </a:prstGeom>
          <a:solidFill>
            <a:srgbClr val="FBF8F3"/>
          </a:solidFill>
          <a:ln w="9525">
            <a:solidFill>
              <a:srgbClr val="D9CFBF"/>
            </a:solidFill>
            <a:prstDash val="solid"/>
          </a:ln>
        </p:spPr>
        <p:txBody>
          <a:bodyPr/>
          <a:p/>
        </p:txBody>
      </p:sp>
      <p:sp>
        <p:nvSpPr>
          <p:cNvPr id="38" name="Text 36"/>
          <p:cNvSpPr/>
          <p:nvPr/>
        </p:nvSpPr>
        <p:spPr>
          <a:xfrm>
            <a:off x="6949266" y="5096129"/>
            <a:ext cx="1828754" cy="390134"/>
          </a:xfrm>
          <a:prstGeom prst="rect">
            <a:avLst/>
          </a:prstGeom>
          <a:noFill/>
        </p:spPr>
        <p:txBody>
          <a:bodyPr wrap="square" lIns="0" tIns="0" rIns="0" bIns="0" rtlCol="0" anchor="ctr"/>
          <a:lstStyle/>
          <a:p>
            <a:pPr marL="0" indent="0" algn="ctr">
              <a:buNone/>
            </a:pPr>
            <a:r>
              <a:rPr lang="en-US" sz="1560" b="1" dirty="0">
                <a:solidFill>
                  <a:srgbClr val="1A1814"/>
                </a:solidFill>
                <a:latin typeface="Georgia" panose="02040502050405020303" pitchFamily="34" charset="0"/>
                <a:ea typeface="Georgia" panose="02040502050405020303" pitchFamily="34" charset="-122"/>
                <a:cs typeface="Georgia" panose="02040502050405020303" pitchFamily="34" charset="-120"/>
              </a:rPr>
              <a:t>Futsal</a:t>
            </a:r>
            <a:endParaRPr lang="en-US" sz="1560" dirty="0"/>
          </a:p>
        </p:txBody>
      </p:sp>
      <p:sp>
        <p:nvSpPr>
          <p:cNvPr id="39" name="Text 37"/>
          <p:cNvSpPr/>
          <p:nvPr/>
        </p:nvSpPr>
        <p:spPr>
          <a:xfrm>
            <a:off x="6949266" y="5510646"/>
            <a:ext cx="1828754" cy="609585"/>
          </a:xfrm>
          <a:prstGeom prst="rect">
            <a:avLst/>
          </a:prstGeom>
          <a:noFill/>
        </p:spPr>
        <p:txBody>
          <a:bodyPr wrap="square" lIns="0" tIns="0" rIns="0" bIns="0" rtlCol="0" anchor="t"/>
          <a:lstStyle/>
          <a:p>
            <a:pPr marL="0" indent="0" algn="ctr">
              <a:buNone/>
            </a:pPr>
            <a:r>
              <a:rPr lang="en-US" sz="1260" dirty="0">
                <a:solidFill>
                  <a:srgbClr val="3F382F"/>
                </a:solidFill>
                <a:latin typeface="Calibri" panose="020F0502020204030204" pitchFamily="34" charset="0"/>
                <a:ea typeface="Calibri" panose="020F0502020204030204" pitchFamily="34" charset="-122"/>
                <a:cs typeface="Calibri" panose="020F0502020204030204" pitchFamily="34" charset="-120"/>
              </a:rPr>
              <a:t>penjaga, wasit</a:t>
            </a:r>
            <a:endParaRPr lang="en-US" sz="1260" dirty="0"/>
          </a:p>
        </p:txBody>
      </p:sp>
      <p:sp>
        <p:nvSpPr>
          <p:cNvPr id="40" name="Shape 38"/>
          <p:cNvSpPr/>
          <p:nvPr/>
        </p:nvSpPr>
        <p:spPr>
          <a:xfrm>
            <a:off x="10058149" y="4754761"/>
            <a:ext cx="0" cy="243834"/>
          </a:xfrm>
          <a:prstGeom prst="line">
            <a:avLst/>
          </a:prstGeom>
          <a:noFill/>
          <a:ln w="15875">
            <a:solidFill>
              <a:srgbClr val="6F675C"/>
            </a:solidFill>
            <a:prstDash val="solid"/>
          </a:ln>
        </p:spPr>
        <p:txBody>
          <a:bodyPr/>
          <a:p/>
        </p:txBody>
      </p:sp>
      <p:sp>
        <p:nvSpPr>
          <p:cNvPr id="41" name="Shape 39"/>
          <p:cNvSpPr/>
          <p:nvPr/>
        </p:nvSpPr>
        <p:spPr>
          <a:xfrm>
            <a:off x="9021854" y="4998595"/>
            <a:ext cx="2072588" cy="1219170"/>
          </a:xfrm>
          <a:prstGeom prst="roundRect">
            <a:avLst>
              <a:gd name="adj" fmla="val 6000"/>
            </a:avLst>
          </a:prstGeom>
          <a:solidFill>
            <a:srgbClr val="FBF8F3"/>
          </a:solidFill>
          <a:ln w="9525">
            <a:solidFill>
              <a:srgbClr val="D9CFBF"/>
            </a:solidFill>
            <a:prstDash val="solid"/>
          </a:ln>
        </p:spPr>
        <p:txBody>
          <a:bodyPr/>
          <a:p/>
        </p:txBody>
      </p:sp>
      <p:sp>
        <p:nvSpPr>
          <p:cNvPr id="42" name="Text 40"/>
          <p:cNvSpPr/>
          <p:nvPr/>
        </p:nvSpPr>
        <p:spPr>
          <a:xfrm>
            <a:off x="9143771" y="5096129"/>
            <a:ext cx="1828754" cy="390134"/>
          </a:xfrm>
          <a:prstGeom prst="rect">
            <a:avLst/>
          </a:prstGeom>
          <a:noFill/>
        </p:spPr>
        <p:txBody>
          <a:bodyPr wrap="square" lIns="0" tIns="0" rIns="0" bIns="0" rtlCol="0" anchor="ctr"/>
          <a:lstStyle/>
          <a:p>
            <a:pPr marL="0" indent="0" algn="ctr">
              <a:buNone/>
            </a:pPr>
            <a:r>
              <a:rPr lang="en-US" sz="1560" b="1" dirty="0">
                <a:solidFill>
                  <a:srgbClr val="1A1814"/>
                </a:solidFill>
                <a:latin typeface="Georgia" panose="02040502050405020303" pitchFamily="34" charset="0"/>
                <a:ea typeface="Georgia" panose="02040502050405020303" pitchFamily="34" charset="-122"/>
                <a:cs typeface="Georgia" panose="02040502050405020303" pitchFamily="34" charset="-120"/>
              </a:rPr>
              <a:t>Kos &amp; kontrakan</a:t>
            </a:r>
            <a:endParaRPr lang="en-US" sz="1560" dirty="0"/>
          </a:p>
        </p:txBody>
      </p:sp>
      <p:sp>
        <p:nvSpPr>
          <p:cNvPr id="43" name="Text 41"/>
          <p:cNvSpPr/>
          <p:nvPr/>
        </p:nvSpPr>
        <p:spPr>
          <a:xfrm>
            <a:off x="9143771" y="5510646"/>
            <a:ext cx="1828754" cy="609585"/>
          </a:xfrm>
          <a:prstGeom prst="rect">
            <a:avLst/>
          </a:prstGeom>
          <a:noFill/>
        </p:spPr>
        <p:txBody>
          <a:bodyPr wrap="square" lIns="0" tIns="0" rIns="0" bIns="0" rtlCol="0" anchor="t"/>
          <a:lstStyle/>
          <a:p>
            <a:pPr marL="0" indent="0" algn="ctr">
              <a:buNone/>
            </a:pPr>
            <a:r>
              <a:rPr lang="en-AU" altLang="en-US" sz="1260" dirty="0">
                <a:solidFill>
                  <a:srgbClr val="3F382F"/>
                </a:solidFill>
                <a:latin typeface="Calibri" panose="020F0502020204030204" pitchFamily="34" charset="0"/>
                <a:ea typeface="Calibri" panose="020F0502020204030204" pitchFamily="34" charset="-122"/>
                <a:cs typeface="Calibri" panose="020F0502020204030204" pitchFamily="34" charset="-120"/>
              </a:rPr>
              <a:t>Admin, Maintennance , Security</a:t>
            </a:r>
            <a:endParaRPr lang="en-AU" altLang="en-US" sz="1260" dirty="0">
              <a:solidFill>
                <a:srgbClr val="3F382F"/>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EFE6"/>
          </a:solidFill>
        </p:spPr>
        <p:txBody>
          <a:bodyPr/>
          <a:p/>
        </p:txBody>
      </p:sp>
      <p:sp>
        <p:nvSpPr>
          <p:cNvPr id="3" name="Shape 1"/>
          <p:cNvSpPr/>
          <p:nvPr/>
        </p:nvSpPr>
        <p:spPr>
          <a:xfrm>
            <a:off x="0" y="0"/>
            <a:ext cx="91440" cy="6858000"/>
          </a:xfrm>
          <a:prstGeom prst="rect">
            <a:avLst/>
          </a:prstGeom>
          <a:solidFill>
            <a:srgbClr val="C4622D"/>
          </a:solidFill>
        </p:spPr>
        <p:txBody>
          <a:bodyPr/>
          <a:p/>
        </p:txBody>
      </p:sp>
      <p:sp>
        <p:nvSpPr>
          <p:cNvPr id="4" name="Shape 2"/>
          <p:cNvSpPr/>
          <p:nvPr/>
        </p:nvSpPr>
        <p:spPr>
          <a:xfrm>
            <a:off x="0" y="6601968"/>
            <a:ext cx="12191695" cy="256032"/>
          </a:xfrm>
          <a:prstGeom prst="rect">
            <a:avLst/>
          </a:prstGeom>
          <a:solidFill>
            <a:srgbClr val="1A1814"/>
          </a:solidFill>
        </p:spPr>
        <p:txBody>
          <a:bodyPr/>
          <a:p/>
        </p:txBody>
      </p:sp>
      <p:sp>
        <p:nvSpPr>
          <p:cNvPr id="5" name="Text 3"/>
          <p:cNvSpPr/>
          <p:nvPr/>
        </p:nvSpPr>
        <p:spPr>
          <a:xfrm>
            <a:off x="347472" y="6601968"/>
            <a:ext cx="9144000" cy="256032"/>
          </a:xfrm>
          <a:prstGeom prst="rect">
            <a:avLst/>
          </a:prstGeom>
          <a:noFill/>
        </p:spPr>
        <p:txBody>
          <a:bodyPr wrap="square" lIns="0" tIns="0" rIns="0" bIns="0" rtlCol="0" anchor="ctr"/>
          <a:lstStyle/>
          <a:p>
            <a:pPr marL="0" indent="0">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HUNI   ·   Proposal website kos &amp; kontrakan   ·   Oktober 2026</a:t>
            </a:r>
            <a:endParaRPr lang="en-US" sz="1100" dirty="0"/>
          </a:p>
        </p:txBody>
      </p:sp>
      <p:sp>
        <p:nvSpPr>
          <p:cNvPr id="6" name="Text 4"/>
          <p:cNvSpPr/>
          <p:nvPr/>
        </p:nvSpPr>
        <p:spPr>
          <a:xfrm>
            <a:off x="9509760" y="6601968"/>
            <a:ext cx="2331720" cy="256032"/>
          </a:xfrm>
          <a:prstGeom prst="rect">
            <a:avLst/>
          </a:prstGeom>
          <a:noFill/>
        </p:spPr>
        <p:txBody>
          <a:bodyPr wrap="square" lIns="0" tIns="0" rIns="0" bIns="0" rtlCol="0" anchor="ctr"/>
          <a:lstStyle/>
          <a:p>
            <a:pPr marL="0" indent="0" algn="r">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17  /  36</a:t>
            </a:r>
            <a:endParaRPr lang="en-US" sz="1100" dirty="0"/>
          </a:p>
        </p:txBody>
      </p:sp>
      <p:sp>
        <p:nvSpPr>
          <p:cNvPr id="7" name="Text 5"/>
          <p:cNvSpPr/>
          <p:nvPr/>
        </p:nvSpPr>
        <p:spPr>
          <a:xfrm>
            <a:off x="426709" y="304792"/>
            <a:ext cx="11338277" cy="731502"/>
          </a:xfrm>
          <a:prstGeom prst="rect">
            <a:avLst/>
          </a:prstGeom>
          <a:noFill/>
        </p:spPr>
        <p:txBody>
          <a:bodyPr wrap="square" lIns="0" tIns="0" rIns="0" bIns="0" rtlCol="0" anchor="ctr"/>
          <a:lstStyle/>
          <a:p>
            <a:pPr marL="0" indent="0">
              <a:buNone/>
            </a:pPr>
            <a:r>
              <a:rPr lang="en-US" sz="3120" b="1" dirty="0">
                <a:solidFill>
                  <a:srgbClr val="1A1814"/>
                </a:solidFill>
                <a:latin typeface="Georgia" panose="02040502050405020303" pitchFamily="34" charset="0"/>
                <a:ea typeface="Georgia" panose="02040502050405020303" pitchFamily="34" charset="-122"/>
                <a:cs typeface="Georgia" panose="02040502050405020303" pitchFamily="34" charset="-120"/>
              </a:rPr>
              <a:t>Pelaporan: dashboard terhubung ke POS</a:t>
            </a:r>
            <a:endParaRPr lang="en-US" sz="3120" dirty="0"/>
          </a:p>
        </p:txBody>
      </p:sp>
      <p:sp>
        <p:nvSpPr>
          <p:cNvPr id="8" name="Text 6"/>
          <p:cNvSpPr/>
          <p:nvPr/>
        </p:nvSpPr>
        <p:spPr>
          <a:xfrm>
            <a:off x="426709" y="1072869"/>
            <a:ext cx="11338277" cy="487668"/>
          </a:xfrm>
          <a:prstGeom prst="rect">
            <a:avLst/>
          </a:prstGeom>
          <a:noFill/>
        </p:spPr>
        <p:txBody>
          <a:bodyPr wrap="square" lIns="0" tIns="0" rIns="0" bIns="0" rtlCol="0" anchor="ctr"/>
          <a:lstStyle/>
          <a:p>
            <a:pPr marL="0" indent="0">
              <a:buNone/>
            </a:pPr>
            <a:r>
              <a:rPr lang="en-US" sz="1560" dirty="0">
                <a:solidFill>
                  <a:srgbClr val="6F675C"/>
                </a:solidFill>
                <a:latin typeface="Calibri" panose="020F0502020204030204" pitchFamily="34" charset="0"/>
                <a:ea typeface="Calibri" panose="020F0502020204030204" pitchFamily="34" charset="-122"/>
                <a:cs typeface="Calibri" panose="020F0502020204030204" pitchFamily="34" charset="-120"/>
              </a:rPr>
              <a:t>Tahap berikut setelah operasional jalan. Biaya POS &amp; dashboard sudah masuk jatah 2% cafe.</a:t>
            </a:r>
            <a:endParaRPr lang="en-US" sz="1560" dirty="0"/>
          </a:p>
        </p:txBody>
      </p:sp>
      <p:sp>
        <p:nvSpPr>
          <p:cNvPr id="9" name="Shape 7"/>
          <p:cNvSpPr/>
          <p:nvPr/>
        </p:nvSpPr>
        <p:spPr>
          <a:xfrm>
            <a:off x="426709" y="1828754"/>
            <a:ext cx="3596550" cy="4145176"/>
          </a:xfrm>
          <a:prstGeom prst="roundRect">
            <a:avLst>
              <a:gd name="adj" fmla="val 2034"/>
            </a:avLst>
          </a:prstGeom>
          <a:solidFill>
            <a:srgbClr val="FBF8F3"/>
          </a:solidFill>
          <a:ln w="9525">
            <a:solidFill>
              <a:srgbClr val="D9CFBF"/>
            </a:solidFill>
            <a:prstDash val="solid"/>
          </a:ln>
        </p:spPr>
        <p:txBody>
          <a:bodyPr/>
          <a:p/>
        </p:txBody>
      </p:sp>
      <p:sp>
        <p:nvSpPr>
          <p:cNvPr id="10" name="Text 8"/>
          <p:cNvSpPr/>
          <p:nvPr/>
        </p:nvSpPr>
        <p:spPr>
          <a:xfrm>
            <a:off x="609585" y="1950671"/>
            <a:ext cx="3230799" cy="426709"/>
          </a:xfrm>
          <a:prstGeom prst="rect">
            <a:avLst/>
          </a:prstGeom>
          <a:noFill/>
        </p:spPr>
        <p:txBody>
          <a:bodyPr wrap="square" lIns="0" tIns="0" rIns="0" bIns="0" rtlCol="0" anchor="ctr"/>
          <a:lstStyle/>
          <a:p>
            <a:pPr marL="0" indent="0">
              <a:buNone/>
            </a:pPr>
            <a:r>
              <a:rPr lang="en-US" sz="1680" b="1" dirty="0">
                <a:solidFill>
                  <a:srgbClr val="1A1814"/>
                </a:solidFill>
                <a:latin typeface="Georgia" panose="02040502050405020303" pitchFamily="34" charset="0"/>
                <a:ea typeface="Georgia" panose="02040502050405020303" pitchFamily="34" charset="-122"/>
                <a:cs typeface="Georgia" panose="02040502050405020303" pitchFamily="34" charset="-120"/>
              </a:rPr>
              <a:t>1. Sumber data</a:t>
            </a:r>
            <a:endParaRPr lang="en-US" sz="1680" dirty="0"/>
          </a:p>
        </p:txBody>
      </p:sp>
      <p:sp>
        <p:nvSpPr>
          <p:cNvPr id="11" name="Text 9"/>
          <p:cNvSpPr/>
          <p:nvPr/>
        </p:nvSpPr>
        <p:spPr>
          <a:xfrm>
            <a:off x="609585" y="2438339"/>
            <a:ext cx="3230799" cy="3413675"/>
          </a:xfrm>
          <a:prstGeom prst="rect">
            <a:avLst/>
          </a:prstGeom>
          <a:noFill/>
        </p:spPr>
        <p:txBody>
          <a:bodyPr wrap="square" lIns="0" tIns="0" rIns="0" bIns="0" rtlCol="0" anchor="t"/>
          <a:lstStyle/>
          <a:p>
            <a:pPr marL="342900" indent="-342900">
              <a:spcAft>
                <a:spcPts val="400"/>
              </a:spcAft>
              <a:buSzPct val="100000"/>
              <a:buChar char="•"/>
            </a:pPr>
            <a:r>
              <a:rPr lang="en-US" sz="1380" dirty="0">
                <a:solidFill>
                  <a:srgbClr val="3F382F"/>
                </a:solidFill>
              </a:rPr>
              <a:t>POS cafe: transaksi, menu terjual, kasir</a:t>
            </a:r>
            <a:endParaRPr lang="en-US" sz="1380" dirty="0"/>
          </a:p>
          <a:p>
            <a:pPr marL="342900" indent="-342900">
              <a:spcAft>
                <a:spcPts val="400"/>
              </a:spcAft>
              <a:buSzPct val="100000"/>
              <a:buChar char="•"/>
            </a:pPr>
            <a:r>
              <a:rPr lang="en-US" sz="1380" dirty="0">
                <a:solidFill>
                  <a:srgbClr val="3F382F"/>
                </a:solidFill>
              </a:rPr>
              <a:t>Booking futsal dari web HUNI</a:t>
            </a:r>
            <a:endParaRPr lang="en-US" sz="1380" dirty="0"/>
          </a:p>
          <a:p>
            <a:pPr marL="342900" indent="-342900">
              <a:spcAft>
                <a:spcPts val="400"/>
              </a:spcAft>
              <a:buSzPct val="100000"/>
              <a:buChar char="•"/>
            </a:pPr>
            <a:r>
              <a:rPr lang="en-US" sz="1380" dirty="0">
                <a:solidFill>
                  <a:srgbClr val="3F382F"/>
                </a:solidFill>
              </a:rPr>
              <a:t>Catatan sewa kos dan pembayaran</a:t>
            </a:r>
            <a:endParaRPr lang="en-US" sz="1380" dirty="0"/>
          </a:p>
          <a:p>
            <a:pPr marL="342900" indent="-342900">
              <a:spcAft>
                <a:spcPts val="400"/>
              </a:spcAft>
              <a:buSzPct val="100000"/>
              <a:buChar char="•"/>
            </a:pPr>
            <a:r>
              <a:rPr lang="en-US" sz="1380" dirty="0">
                <a:solidFill>
                  <a:srgbClr val="3F382F"/>
                </a:solidFill>
              </a:rPr>
              <a:t>Input stok dan absensi karyawan</a:t>
            </a:r>
            <a:endParaRPr lang="en-US" sz="1380" dirty="0"/>
          </a:p>
        </p:txBody>
      </p:sp>
      <p:sp>
        <p:nvSpPr>
          <p:cNvPr id="12" name="Shape 10"/>
          <p:cNvSpPr/>
          <p:nvPr/>
        </p:nvSpPr>
        <p:spPr>
          <a:xfrm>
            <a:off x="4206135" y="1828754"/>
            <a:ext cx="3596550" cy="4145176"/>
          </a:xfrm>
          <a:prstGeom prst="roundRect">
            <a:avLst>
              <a:gd name="adj" fmla="val 2034"/>
            </a:avLst>
          </a:prstGeom>
          <a:solidFill>
            <a:srgbClr val="2F5D50"/>
          </a:solidFill>
          <a:ln w="9525">
            <a:solidFill>
              <a:srgbClr val="D9CFBF"/>
            </a:solidFill>
            <a:prstDash val="solid"/>
          </a:ln>
        </p:spPr>
        <p:txBody>
          <a:bodyPr/>
          <a:p/>
        </p:txBody>
      </p:sp>
      <p:sp>
        <p:nvSpPr>
          <p:cNvPr id="13" name="Text 11"/>
          <p:cNvSpPr/>
          <p:nvPr/>
        </p:nvSpPr>
        <p:spPr>
          <a:xfrm>
            <a:off x="4389010" y="1950671"/>
            <a:ext cx="3230799" cy="426709"/>
          </a:xfrm>
          <a:prstGeom prst="rect">
            <a:avLst/>
          </a:prstGeom>
          <a:noFill/>
        </p:spPr>
        <p:txBody>
          <a:bodyPr wrap="square" lIns="0" tIns="0" rIns="0" bIns="0" rtlCol="0" anchor="ctr"/>
          <a:lstStyle/>
          <a:p>
            <a:pPr marL="0" indent="0">
              <a:buNone/>
            </a:pPr>
            <a:r>
              <a:rPr lang="en-US" sz="1680" b="1" dirty="0">
                <a:solidFill>
                  <a:srgbClr val="F4EFE6"/>
                </a:solidFill>
                <a:latin typeface="Georgia" panose="02040502050405020303" pitchFamily="34" charset="0"/>
                <a:ea typeface="Georgia" panose="02040502050405020303" pitchFamily="34" charset="-122"/>
                <a:cs typeface="Georgia" panose="02040502050405020303" pitchFamily="34" charset="-120"/>
              </a:rPr>
              <a:t>2. Dashboard</a:t>
            </a:r>
            <a:endParaRPr lang="en-US" sz="1680" dirty="0"/>
          </a:p>
        </p:txBody>
      </p:sp>
      <p:sp>
        <p:nvSpPr>
          <p:cNvPr id="14" name="Text 12"/>
          <p:cNvSpPr/>
          <p:nvPr/>
        </p:nvSpPr>
        <p:spPr>
          <a:xfrm>
            <a:off x="4389010" y="2438339"/>
            <a:ext cx="3230799" cy="3413675"/>
          </a:xfrm>
          <a:prstGeom prst="rect">
            <a:avLst/>
          </a:prstGeom>
          <a:noFill/>
        </p:spPr>
        <p:txBody>
          <a:bodyPr wrap="square" lIns="0" tIns="0" rIns="0" bIns="0" rtlCol="0" anchor="t"/>
          <a:lstStyle/>
          <a:p>
            <a:pPr marL="342900" indent="-342900">
              <a:spcAft>
                <a:spcPts val="400"/>
              </a:spcAft>
              <a:buSzPct val="100000"/>
              <a:buChar char="•"/>
            </a:pPr>
            <a:r>
              <a:rPr lang="en-US" sz="1380" dirty="0">
                <a:solidFill>
                  <a:srgbClr val="E7DCC8"/>
                </a:solidFill>
              </a:rPr>
              <a:t>Omzet harian dan bulanan per unit</a:t>
            </a:r>
            <a:endParaRPr lang="en-US" sz="1380" dirty="0"/>
          </a:p>
          <a:p>
            <a:pPr marL="342900" indent="-342900">
              <a:spcAft>
                <a:spcPts val="400"/>
              </a:spcAft>
              <a:buSzPct val="100000"/>
              <a:buChar char="•"/>
            </a:pPr>
            <a:r>
              <a:rPr lang="en-US" sz="1380" dirty="0">
                <a:solidFill>
                  <a:srgbClr val="E7DCC8"/>
                </a:solidFill>
              </a:rPr>
              <a:t>HPP vs omzet, jam futsal terisi</a:t>
            </a:r>
            <a:endParaRPr lang="en-US" sz="1380" dirty="0"/>
          </a:p>
          <a:p>
            <a:pPr marL="342900" indent="-342900">
              <a:spcAft>
                <a:spcPts val="400"/>
              </a:spcAft>
              <a:buSzPct val="100000"/>
              <a:buChar char="•"/>
            </a:pPr>
            <a:r>
              <a:rPr lang="en-US" sz="1380" dirty="0">
                <a:solidFill>
                  <a:srgbClr val="E7DCC8"/>
                </a:solidFill>
              </a:rPr>
              <a:t>Hunian kamar kos</a:t>
            </a:r>
            <a:endParaRPr lang="en-US" sz="1380" dirty="0"/>
          </a:p>
          <a:p>
            <a:pPr marL="342900" indent="-342900">
              <a:spcAft>
                <a:spcPts val="400"/>
              </a:spcAft>
              <a:buSzPct val="100000"/>
              <a:buChar char="•"/>
            </a:pPr>
            <a:r>
              <a:rPr lang="en-US" sz="1380" dirty="0">
                <a:solidFill>
                  <a:srgbClr val="E7DCC8"/>
                </a:solidFill>
              </a:rPr>
              <a:t>Pembagian: pengelola, karyawan, owner</a:t>
            </a:r>
            <a:endParaRPr lang="en-US" sz="1380" dirty="0"/>
          </a:p>
        </p:txBody>
      </p:sp>
      <p:sp>
        <p:nvSpPr>
          <p:cNvPr id="15" name="Shape 13"/>
          <p:cNvSpPr/>
          <p:nvPr/>
        </p:nvSpPr>
        <p:spPr>
          <a:xfrm>
            <a:off x="7985560" y="1828754"/>
            <a:ext cx="3779426" cy="4145176"/>
          </a:xfrm>
          <a:prstGeom prst="roundRect">
            <a:avLst>
              <a:gd name="adj" fmla="val 1936"/>
            </a:avLst>
          </a:prstGeom>
          <a:solidFill>
            <a:srgbClr val="9A4518"/>
          </a:solidFill>
          <a:ln w="9525">
            <a:solidFill>
              <a:srgbClr val="D9CFBF"/>
            </a:solidFill>
            <a:prstDash val="solid"/>
          </a:ln>
        </p:spPr>
        <p:txBody>
          <a:bodyPr/>
          <a:p/>
        </p:txBody>
      </p:sp>
      <p:sp>
        <p:nvSpPr>
          <p:cNvPr id="16" name="Text 14"/>
          <p:cNvSpPr/>
          <p:nvPr/>
        </p:nvSpPr>
        <p:spPr>
          <a:xfrm>
            <a:off x="8168436" y="1950671"/>
            <a:ext cx="3413675" cy="426709"/>
          </a:xfrm>
          <a:prstGeom prst="rect">
            <a:avLst/>
          </a:prstGeom>
          <a:noFill/>
        </p:spPr>
        <p:txBody>
          <a:bodyPr wrap="square" lIns="0" tIns="0" rIns="0" bIns="0" rtlCol="0" anchor="ctr"/>
          <a:lstStyle/>
          <a:p>
            <a:pPr marL="0" indent="0">
              <a:buNone/>
            </a:pPr>
            <a:r>
              <a:rPr lang="en-US" sz="1680" b="1" dirty="0">
                <a:solidFill>
                  <a:srgbClr val="F4EFE6"/>
                </a:solidFill>
                <a:latin typeface="Georgia" panose="02040502050405020303" pitchFamily="34" charset="0"/>
                <a:ea typeface="Georgia" panose="02040502050405020303" pitchFamily="34" charset="-122"/>
                <a:cs typeface="Georgia" panose="02040502050405020303" pitchFamily="34" charset="-120"/>
              </a:rPr>
              <a:t>3. Laporan &amp; approval</a:t>
            </a:r>
            <a:endParaRPr lang="en-US" sz="1680" dirty="0"/>
          </a:p>
        </p:txBody>
      </p:sp>
      <p:sp>
        <p:nvSpPr>
          <p:cNvPr id="17" name="Text 15"/>
          <p:cNvSpPr/>
          <p:nvPr/>
        </p:nvSpPr>
        <p:spPr>
          <a:xfrm>
            <a:off x="8168436" y="2438339"/>
            <a:ext cx="3413675" cy="3413675"/>
          </a:xfrm>
          <a:prstGeom prst="rect">
            <a:avLst/>
          </a:prstGeom>
          <a:noFill/>
        </p:spPr>
        <p:txBody>
          <a:bodyPr wrap="square" lIns="0" tIns="0" rIns="0" bIns="0" rtlCol="0" anchor="t"/>
          <a:lstStyle/>
          <a:p>
            <a:pPr marL="342900" indent="-342900">
              <a:spcAft>
                <a:spcPts val="400"/>
              </a:spcAft>
              <a:buSzPct val="100000"/>
              <a:buChar char="•"/>
            </a:pPr>
            <a:r>
              <a:rPr lang="en-US" sz="1380" dirty="0">
                <a:solidFill>
                  <a:srgbClr val="E7DCC8"/>
                </a:solidFill>
              </a:rPr>
              <a:t>Laporan mingguan dan bulanan otomatis</a:t>
            </a:r>
            <a:endParaRPr lang="en-US" sz="1380" dirty="0"/>
          </a:p>
          <a:p>
            <a:pPr marL="342900" indent="-342900">
              <a:spcAft>
                <a:spcPts val="400"/>
              </a:spcAft>
              <a:buSzPct val="100000"/>
              <a:buChar char="•"/>
            </a:pPr>
            <a:r>
              <a:rPr lang="en-US" sz="1380" dirty="0">
                <a:solidFill>
                  <a:srgbClr val="E7DCC8"/>
                </a:solidFill>
              </a:rPr>
              <a:t>Pak Riki: lihat ringkasan semua unit</a:t>
            </a:r>
            <a:endParaRPr lang="en-US" sz="1380" dirty="0"/>
          </a:p>
          <a:p>
            <a:pPr marL="342900" indent="-342900">
              <a:spcAft>
                <a:spcPts val="400"/>
              </a:spcAft>
              <a:buSzPct val="100000"/>
              <a:buChar char="•"/>
            </a:pPr>
            <a:r>
              <a:rPr lang="en-US" sz="1380" dirty="0">
                <a:solidFill>
                  <a:srgbClr val="E7DCC8"/>
                </a:solidFill>
              </a:rPr>
              <a:t>Pak Nana: approval pengeluaran dan laporan</a:t>
            </a:r>
            <a:endParaRPr lang="en-US" sz="1380" dirty="0"/>
          </a:p>
          <a:p>
            <a:pPr marL="342900" indent="-342900">
              <a:spcAft>
                <a:spcPts val="400"/>
              </a:spcAft>
              <a:buSzPct val="100000"/>
              <a:buChar char="•"/>
            </a:pPr>
            <a:r>
              <a:rPr lang="en-US" sz="1380" dirty="0">
                <a:solidFill>
                  <a:srgbClr val="E7DCC8"/>
                </a:solidFill>
              </a:rPr>
              <a:t>Andre: input dan tindak lanjut</a:t>
            </a:r>
            <a:endParaRPr lang="en-US" sz="138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A1814"/>
          </a:solidFill>
        </p:spPr>
        <p:txBody>
          <a:bodyPr/>
          <a:p/>
        </p:txBody>
      </p:sp>
      <p:sp>
        <p:nvSpPr>
          <p:cNvPr id="3" name="Text 1"/>
          <p:cNvSpPr/>
          <p:nvPr/>
        </p:nvSpPr>
        <p:spPr>
          <a:xfrm>
            <a:off x="640080" y="1737360"/>
            <a:ext cx="10972800" cy="914400"/>
          </a:xfrm>
          <a:prstGeom prst="rect">
            <a:avLst/>
          </a:prstGeom>
          <a:noFill/>
        </p:spPr>
        <p:txBody>
          <a:bodyPr wrap="square" lIns="0" tIns="0" rIns="0" bIns="0" rtlCol="0" anchor="ctr"/>
          <a:lstStyle/>
          <a:p>
            <a:pPr marL="0" indent="0">
              <a:buNone/>
            </a:pPr>
            <a:r>
              <a:rPr lang="en-US" sz="4400" b="1" dirty="0">
                <a:solidFill>
                  <a:srgbClr val="F4EFE6"/>
                </a:solidFill>
                <a:latin typeface="Georgia" panose="02040502050405020303" pitchFamily="34" charset="0"/>
                <a:ea typeface="Georgia" panose="02040502050405020303" pitchFamily="34" charset="-122"/>
                <a:cs typeface="Georgia" panose="02040502050405020303" pitchFamily="34" charset="-120"/>
              </a:rPr>
              <a:t>Futsal &amp; Cafe</a:t>
            </a:r>
            <a:endParaRPr lang="en-US" sz="4400" dirty="0"/>
          </a:p>
        </p:txBody>
      </p:sp>
      <p:sp>
        <p:nvSpPr>
          <p:cNvPr id="4" name="Text 2"/>
          <p:cNvSpPr/>
          <p:nvPr/>
        </p:nvSpPr>
        <p:spPr>
          <a:xfrm>
            <a:off x="640080" y="2834640"/>
            <a:ext cx="10972800" cy="914400"/>
          </a:xfrm>
          <a:prstGeom prst="rect">
            <a:avLst/>
          </a:prstGeom>
          <a:noFill/>
        </p:spPr>
        <p:txBody>
          <a:bodyPr wrap="square" lIns="0" tIns="0" rIns="0" bIns="0" rtlCol="0" anchor="ctr"/>
          <a:lstStyle/>
          <a:p>
            <a:pPr marL="0" indent="0">
              <a:buNone/>
            </a:pPr>
            <a:r>
              <a:rPr lang="en-US" sz="2000" dirty="0">
                <a:solidFill>
                  <a:srgbClr val="E7DCC8"/>
                </a:solidFill>
                <a:latin typeface="Calibri" panose="020F0502020204030204" pitchFamily="34" charset="0"/>
                <a:ea typeface="Calibri" panose="020F0502020204030204" pitchFamily="34" charset="-122"/>
                <a:cs typeface="Calibri" panose="020F0502020204030204" pitchFamily="34" charset="-120"/>
              </a:rPr>
              <a:t>Dua skenario: Realistis dan Target. Futsal didorong turnamen sekolah dan tim marketing,</a:t>
            </a:r>
            <a:endParaRPr lang="en-US" sz="2000" dirty="0"/>
          </a:p>
          <a:p>
            <a:pPr marL="0" indent="0">
              <a:buNone/>
            </a:pPr>
            <a:r>
              <a:rPr lang="en-US" sz="2000" dirty="0">
                <a:solidFill>
                  <a:srgbClr val="E7DCC8"/>
                </a:solidFill>
                <a:latin typeface="Calibri" panose="020F0502020204030204" pitchFamily="34" charset="0"/>
                <a:ea typeface="Calibri" panose="020F0502020204030204" pitchFamily="34" charset="-122"/>
                <a:cs typeface="Calibri" panose="020F0502020204030204" pitchFamily="34" charset="-120"/>
              </a:rPr>
              <a:t>cafe ditargetkan Rp80 jt per bulan lewat marketing dan kerja sama event.</a:t>
            </a:r>
            <a:endParaRPr lang="en-US" sz="2000" dirty="0"/>
          </a:p>
        </p:txBody>
      </p:sp>
      <p:sp>
        <p:nvSpPr>
          <p:cNvPr id="5" name="Shape 3"/>
          <p:cNvSpPr/>
          <p:nvPr/>
        </p:nvSpPr>
        <p:spPr>
          <a:xfrm>
            <a:off x="640080" y="4023360"/>
            <a:ext cx="1463040" cy="73152"/>
          </a:xfrm>
          <a:prstGeom prst="rect">
            <a:avLst/>
          </a:prstGeom>
          <a:solidFill>
            <a:srgbClr val="C4622D"/>
          </a:solidFill>
        </p:spPr>
        <p:txBody>
          <a:bodyPr/>
          <a:p/>
        </p:txBody>
      </p:sp>
      <p:sp>
        <p:nvSpPr>
          <p:cNvPr id="6" name="Text 4"/>
          <p:cNvSpPr/>
          <p:nvPr/>
        </p:nvSpPr>
        <p:spPr>
          <a:xfrm>
            <a:off x="640080" y="4297680"/>
            <a:ext cx="10972800" cy="457200"/>
          </a:xfrm>
          <a:prstGeom prst="rect">
            <a:avLst/>
          </a:prstGeom>
          <a:noFill/>
        </p:spPr>
        <p:txBody>
          <a:bodyPr wrap="square" lIns="0" tIns="0" rIns="0" bIns="0" rtlCol="0" anchor="ctr"/>
          <a:lstStyle/>
          <a:p>
            <a:pPr marL="0" indent="0">
              <a:buNone/>
            </a:pPr>
            <a:r>
              <a:rPr lang="en-US" sz="1400" dirty="0">
                <a:solidFill>
                  <a:srgbClr val="D9CFBF"/>
                </a:solidFill>
                <a:latin typeface="Calibri" panose="020F0502020204030204" pitchFamily="34" charset="0"/>
                <a:ea typeface="Calibri" panose="020F0502020204030204" pitchFamily="34" charset="-122"/>
                <a:cs typeface="Calibri" panose="020F0502020204030204" pitchFamily="34" charset="-120"/>
              </a:rPr>
              <a:t>Futsal: 30% dari revenue   ·   Cafe: 20% dari omzet   ·   Angka asumsi, divalidasi lewat dashboard POS</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EFE6"/>
          </a:solidFill>
        </p:spPr>
        <p:txBody>
          <a:bodyPr/>
          <a:p/>
        </p:txBody>
      </p:sp>
      <p:sp>
        <p:nvSpPr>
          <p:cNvPr id="3" name="Shape 1"/>
          <p:cNvSpPr/>
          <p:nvPr/>
        </p:nvSpPr>
        <p:spPr>
          <a:xfrm>
            <a:off x="0" y="0"/>
            <a:ext cx="91440" cy="6858000"/>
          </a:xfrm>
          <a:prstGeom prst="rect">
            <a:avLst/>
          </a:prstGeom>
          <a:solidFill>
            <a:srgbClr val="C4622D"/>
          </a:solidFill>
        </p:spPr>
        <p:txBody>
          <a:bodyPr/>
          <a:p/>
        </p:txBody>
      </p:sp>
      <p:sp>
        <p:nvSpPr>
          <p:cNvPr id="4" name="Shape 2"/>
          <p:cNvSpPr/>
          <p:nvPr/>
        </p:nvSpPr>
        <p:spPr>
          <a:xfrm>
            <a:off x="0" y="6601968"/>
            <a:ext cx="12191695" cy="256032"/>
          </a:xfrm>
          <a:prstGeom prst="rect">
            <a:avLst/>
          </a:prstGeom>
          <a:solidFill>
            <a:srgbClr val="1A1814"/>
          </a:solidFill>
        </p:spPr>
        <p:txBody>
          <a:bodyPr/>
          <a:p/>
        </p:txBody>
      </p:sp>
      <p:sp>
        <p:nvSpPr>
          <p:cNvPr id="5" name="Text 3"/>
          <p:cNvSpPr/>
          <p:nvPr/>
        </p:nvSpPr>
        <p:spPr>
          <a:xfrm>
            <a:off x="347472" y="6601968"/>
            <a:ext cx="9144000" cy="256032"/>
          </a:xfrm>
          <a:prstGeom prst="rect">
            <a:avLst/>
          </a:prstGeom>
          <a:noFill/>
        </p:spPr>
        <p:txBody>
          <a:bodyPr wrap="square" lIns="0" tIns="0" rIns="0" bIns="0" rtlCol="0" anchor="ctr"/>
          <a:lstStyle/>
          <a:p>
            <a:pPr marL="0" indent="0">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HUNI   ·   Proposal website kos &amp; kontrakan   ·   Oktober 2026</a:t>
            </a:r>
            <a:endParaRPr lang="en-US" sz="1100" dirty="0"/>
          </a:p>
        </p:txBody>
      </p:sp>
      <p:sp>
        <p:nvSpPr>
          <p:cNvPr id="6" name="Text 4"/>
          <p:cNvSpPr/>
          <p:nvPr/>
        </p:nvSpPr>
        <p:spPr>
          <a:xfrm>
            <a:off x="9509760" y="6601968"/>
            <a:ext cx="2331720" cy="256032"/>
          </a:xfrm>
          <a:prstGeom prst="rect">
            <a:avLst/>
          </a:prstGeom>
          <a:noFill/>
        </p:spPr>
        <p:txBody>
          <a:bodyPr wrap="square" lIns="0" tIns="0" rIns="0" bIns="0" rtlCol="0" anchor="ctr"/>
          <a:lstStyle/>
          <a:p>
            <a:pPr marL="0" indent="0" algn="r">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26  /  36</a:t>
            </a:r>
            <a:endParaRPr lang="en-US" sz="1100" dirty="0"/>
          </a:p>
        </p:txBody>
      </p:sp>
      <p:sp>
        <p:nvSpPr>
          <p:cNvPr id="7" name="Text 5"/>
          <p:cNvSpPr/>
          <p:nvPr/>
        </p:nvSpPr>
        <p:spPr>
          <a:xfrm>
            <a:off x="426709" y="304792"/>
            <a:ext cx="11338277" cy="731502"/>
          </a:xfrm>
          <a:prstGeom prst="rect">
            <a:avLst/>
          </a:prstGeom>
          <a:noFill/>
        </p:spPr>
        <p:txBody>
          <a:bodyPr wrap="square" lIns="0" tIns="0" rIns="0" bIns="0" rtlCol="0" anchor="ctr"/>
          <a:lstStyle/>
          <a:p>
            <a:pPr marL="0" indent="0">
              <a:buNone/>
            </a:pPr>
            <a:r>
              <a:rPr lang="en-US" sz="3120" b="1" dirty="0">
                <a:solidFill>
                  <a:srgbClr val="1A1814"/>
                </a:solidFill>
                <a:latin typeface="Georgia" panose="02040502050405020303" pitchFamily="34" charset="0"/>
                <a:ea typeface="Georgia" panose="02040502050405020303" pitchFamily="34" charset="-122"/>
                <a:cs typeface="Georgia" panose="02040502050405020303" pitchFamily="34" charset="-120"/>
              </a:rPr>
              <a:t>Futsal: pendapatan per bulan</a:t>
            </a:r>
            <a:endParaRPr lang="en-US" sz="3120" dirty="0"/>
          </a:p>
        </p:txBody>
      </p:sp>
      <p:sp>
        <p:nvSpPr>
          <p:cNvPr id="8" name="Text 6"/>
          <p:cNvSpPr/>
          <p:nvPr/>
        </p:nvSpPr>
        <p:spPr>
          <a:xfrm>
            <a:off x="426709" y="1072869"/>
            <a:ext cx="11338277" cy="487668"/>
          </a:xfrm>
          <a:prstGeom prst="rect">
            <a:avLst/>
          </a:prstGeom>
          <a:noFill/>
        </p:spPr>
        <p:txBody>
          <a:bodyPr wrap="square" lIns="0" tIns="0" rIns="0" bIns="0" rtlCol="0" anchor="ctr"/>
          <a:lstStyle/>
          <a:p>
            <a:pPr marL="0" indent="0">
              <a:buNone/>
            </a:pPr>
            <a:r>
              <a:rPr lang="en-US" sz="1560" dirty="0">
                <a:solidFill>
                  <a:srgbClr val="6F675C"/>
                </a:solidFill>
                <a:latin typeface="Calibri" panose="020F0502020204030204" pitchFamily="34" charset="0"/>
                <a:ea typeface="Calibri" panose="020F0502020204030204" pitchFamily="34" charset="-122"/>
                <a:cs typeface="Calibri" panose="020F0502020204030204" pitchFamily="34" charset="-120"/>
              </a:rPr>
              <a:t>2 lapangan, rate Rp120 rb per jam. Target didorong turnamen sekolah dan tim marketing.</a:t>
            </a:r>
            <a:endParaRPr lang="en-US" sz="1560" dirty="0"/>
          </a:p>
        </p:txBody>
      </p:sp>
      <p:graphicFrame>
        <p:nvGraphicFramePr>
          <p:cNvPr id="20" name="Table 0"/>
          <p:cNvGraphicFramePr>
            <a:graphicFrameLocks noGrp="1"/>
          </p:cNvGraphicFramePr>
          <p:nvPr/>
        </p:nvGraphicFramePr>
        <p:xfrm>
          <a:off x="426709" y="1767796"/>
          <a:ext cx="11338277" cy="4096408"/>
        </p:xfrm>
        <a:graphic>
          <a:graphicData uri="http://schemas.openxmlformats.org/drawingml/2006/table">
            <a:tbl>
              <a:tblPr/>
              <a:tblGrid>
                <a:gridCol w="5486263"/>
                <a:gridCol w="2926007"/>
                <a:gridCol w="2926007"/>
              </a:tblGrid>
              <a:tr h="512051">
                <a:tc>
                  <a:txBody>
                    <a:bodyPr/>
                    <a:lstStyle/>
                    <a:p>
                      <a:pPr marL="0" indent="0" algn="l">
                        <a:buNone/>
                      </a:pPr>
                      <a:r>
                        <a:rPr lang="en-US" sz="1320" b="1" dirty="0">
                          <a:solidFill>
                            <a:srgbClr val="F4EFE6"/>
                          </a:solidFill>
                        </a:rPr>
                        <a:t>Komponen</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1A1814"/>
                    </a:solidFill>
                  </a:tcPr>
                </a:tc>
                <a:tc>
                  <a:txBody>
                    <a:bodyPr/>
                    <a:lstStyle/>
                    <a:p>
                      <a:pPr marL="0" indent="0" algn="l">
                        <a:buNone/>
                      </a:pPr>
                      <a:r>
                        <a:rPr lang="en-US" sz="1320" b="1" dirty="0">
                          <a:solidFill>
                            <a:srgbClr val="F4EFE6"/>
                          </a:solidFill>
                        </a:rPr>
                        <a:t>Realistis</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1A1814"/>
                    </a:solidFill>
                  </a:tcPr>
                </a:tc>
                <a:tc>
                  <a:txBody>
                    <a:bodyPr/>
                    <a:lstStyle/>
                    <a:p>
                      <a:pPr marL="0" indent="0" algn="l">
                        <a:buNone/>
                      </a:pPr>
                      <a:r>
                        <a:rPr lang="en-US" sz="1320" b="1" dirty="0">
                          <a:solidFill>
                            <a:srgbClr val="F4EFE6"/>
                          </a:solidFill>
                        </a:rPr>
                        <a:t>Target</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1A1814"/>
                    </a:solidFill>
                  </a:tcPr>
                </a:tc>
              </a:tr>
              <a:tr h="512051">
                <a:tc>
                  <a:txBody>
                    <a:bodyPr/>
                    <a:lstStyle/>
                    <a:p>
                      <a:pPr marL="0" indent="0" algn="l">
                        <a:buNone/>
                      </a:pPr>
                      <a:r>
                        <a:rPr lang="en-US" sz="1320" dirty="0">
                          <a:solidFill>
                            <a:srgbClr val="1A1814"/>
                          </a:solidFill>
                        </a:rPr>
                        <a:t>Jam terjual / hari / lapangan</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r">
                        <a:buNone/>
                      </a:pPr>
                      <a:r>
                        <a:rPr lang="en-US" sz="1320" dirty="0">
                          <a:solidFill>
                            <a:srgbClr val="1A1814"/>
                          </a:solidFill>
                        </a:rPr>
                        <a:t>5</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r">
                        <a:buNone/>
                      </a:pPr>
                      <a:r>
                        <a:rPr lang="en-US" sz="1320" dirty="0">
                          <a:solidFill>
                            <a:srgbClr val="1A1814"/>
                          </a:solidFill>
                        </a:rPr>
                        <a:t>7</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r>
              <a:tr h="512051">
                <a:tc>
                  <a:txBody>
                    <a:bodyPr/>
                    <a:lstStyle/>
                    <a:p>
                      <a:pPr marL="0" indent="0" algn="l">
                        <a:buNone/>
                      </a:pPr>
                      <a:r>
                        <a:rPr lang="en-US" sz="1320" dirty="0">
                          <a:solidFill>
                            <a:srgbClr val="1A1814"/>
                          </a:solidFill>
                        </a:rPr>
                        <a:t>Total jam terjual / bulan</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c>
                  <a:txBody>
                    <a:bodyPr/>
                    <a:lstStyle/>
                    <a:p>
                      <a:pPr marL="0" indent="0" algn="r">
                        <a:buNone/>
                      </a:pPr>
                      <a:r>
                        <a:rPr lang="en-US" sz="1320" dirty="0">
                          <a:solidFill>
                            <a:srgbClr val="1A1814"/>
                          </a:solidFill>
                        </a:rPr>
                        <a:t>280</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c>
                  <a:txBody>
                    <a:bodyPr/>
                    <a:lstStyle/>
                    <a:p>
                      <a:pPr marL="0" indent="0" algn="r">
                        <a:buNone/>
                      </a:pPr>
                      <a:r>
                        <a:rPr lang="en-US" sz="1320" dirty="0">
                          <a:solidFill>
                            <a:srgbClr val="1A1814"/>
                          </a:solidFill>
                        </a:rPr>
                        <a:t>392</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r>
              <a:tr h="512051">
                <a:tc>
                  <a:txBody>
                    <a:bodyPr/>
                    <a:lstStyle/>
                    <a:p>
                      <a:pPr marL="0" indent="0" algn="l">
                        <a:buNone/>
                      </a:pPr>
                      <a:r>
                        <a:rPr lang="en-US" sz="1320" dirty="0">
                          <a:solidFill>
                            <a:srgbClr val="1A1814"/>
                          </a:solidFill>
                        </a:rPr>
                        <a:t>Sewa lapangan</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r">
                        <a:buNone/>
                      </a:pPr>
                      <a:r>
                        <a:rPr lang="en-US" sz="1320" dirty="0">
                          <a:solidFill>
                            <a:srgbClr val="1A1814"/>
                          </a:solidFill>
                        </a:rPr>
                        <a:t>33,60 jt</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r">
                        <a:buNone/>
                      </a:pPr>
                      <a:r>
                        <a:rPr lang="en-US" sz="1320" dirty="0">
                          <a:solidFill>
                            <a:srgbClr val="1A1814"/>
                          </a:solidFill>
                        </a:rPr>
                        <a:t>47,04 jt</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r>
              <a:tr h="512051">
                <a:tc>
                  <a:txBody>
                    <a:bodyPr/>
                    <a:lstStyle/>
                    <a:p>
                      <a:pPr marL="0" indent="0" algn="l">
                        <a:buNone/>
                      </a:pPr>
                      <a:r>
                        <a:rPr lang="en-US" sz="1320" dirty="0">
                          <a:solidFill>
                            <a:srgbClr val="1A1814"/>
                          </a:solidFill>
                        </a:rPr>
                        <a:t>Turnamen sekolah / event (bersih)</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c>
                  <a:txBody>
                    <a:bodyPr/>
                    <a:lstStyle/>
                    <a:p>
                      <a:pPr marL="0" indent="0" algn="r">
                        <a:buNone/>
                      </a:pPr>
                      <a:r>
                        <a:rPr lang="en-US" sz="1320" dirty="0">
                          <a:solidFill>
                            <a:srgbClr val="1A1814"/>
                          </a:solidFill>
                        </a:rPr>
                        <a:t>3,00 jt</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c>
                  <a:txBody>
                    <a:bodyPr/>
                    <a:lstStyle/>
                    <a:p>
                      <a:pPr marL="0" indent="0" algn="r">
                        <a:buNone/>
                      </a:pPr>
                      <a:r>
                        <a:rPr lang="en-US" sz="1320" dirty="0">
                          <a:solidFill>
                            <a:srgbClr val="1A1814"/>
                          </a:solidFill>
                        </a:rPr>
                        <a:t>5,00 jt</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r>
              <a:tr h="512051">
                <a:tc>
                  <a:txBody>
                    <a:bodyPr/>
                    <a:lstStyle/>
                    <a:p>
                      <a:pPr marL="0" indent="0" algn="l">
                        <a:buNone/>
                      </a:pPr>
                      <a:r>
                        <a:rPr lang="en-US" sz="1320" b="1" dirty="0">
                          <a:solidFill>
                            <a:srgbClr val="1A1814"/>
                          </a:solidFill>
                        </a:rPr>
                        <a:t>Total </a:t>
                      </a:r>
                      <a:r>
                        <a:rPr lang="en-AU" altLang="en-US" sz="1320" b="1" dirty="0">
                          <a:solidFill>
                            <a:srgbClr val="1A1814"/>
                          </a:solidFill>
                        </a:rPr>
                        <a:t>gross </a:t>
                      </a:r>
                      <a:r>
                        <a:rPr lang="en-US" sz="1320" b="1" dirty="0">
                          <a:solidFill>
                            <a:srgbClr val="1A1814"/>
                          </a:solidFill>
                        </a:rPr>
                        <a:t>revenue</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E7DCC8"/>
                    </a:solidFill>
                  </a:tcPr>
                </a:tc>
                <a:tc>
                  <a:txBody>
                    <a:bodyPr/>
                    <a:lstStyle/>
                    <a:p>
                      <a:pPr marL="0" indent="0" algn="r">
                        <a:buNone/>
                      </a:pPr>
                      <a:r>
                        <a:rPr lang="en-US" sz="1320" b="1" dirty="0">
                          <a:solidFill>
                            <a:srgbClr val="1A1814"/>
                          </a:solidFill>
                        </a:rPr>
                        <a:t>36,60 jt</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E7DCC8"/>
                    </a:solidFill>
                  </a:tcPr>
                </a:tc>
                <a:tc>
                  <a:txBody>
                    <a:bodyPr/>
                    <a:lstStyle/>
                    <a:p>
                      <a:pPr marL="0" indent="0" algn="r">
                        <a:buNone/>
                      </a:pPr>
                      <a:r>
                        <a:rPr lang="en-US" sz="1320" b="1" dirty="0">
                          <a:solidFill>
                            <a:srgbClr val="1A1814"/>
                          </a:solidFill>
                        </a:rPr>
                        <a:t>52,04 jt</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E7DCC8"/>
                    </a:solidFill>
                  </a:tcPr>
                </a:tc>
              </a:tr>
              <a:tr h="512051">
                <a:tc>
                  <a:txBody>
                    <a:bodyPr/>
                    <a:lstStyle/>
                    <a:p>
                      <a:pPr marL="0" indent="0" algn="l">
                        <a:buNone/>
                      </a:pPr>
                      <a:r>
                        <a:rPr lang="en-AU" altLang="en-US" sz="1320" dirty="0">
                          <a:solidFill>
                            <a:srgbClr val="1A1814"/>
                          </a:solidFill>
                        </a:rPr>
                        <a:t>Total biaya pengelolaan </a:t>
                      </a:r>
                      <a:r>
                        <a:rPr lang="en-US" sz="1320" dirty="0">
                          <a:solidFill>
                            <a:srgbClr val="1A1814"/>
                          </a:solidFill>
                        </a:rPr>
                        <a:t>30%</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c>
                  <a:txBody>
                    <a:bodyPr/>
                    <a:lstStyle/>
                    <a:p>
                      <a:pPr marL="0" indent="0" algn="r">
                        <a:buNone/>
                      </a:pPr>
                      <a:r>
                        <a:rPr lang="en-US" sz="1320" dirty="0">
                          <a:solidFill>
                            <a:srgbClr val="1A1814"/>
                          </a:solidFill>
                        </a:rPr>
                        <a:t>10,98 jt</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c>
                  <a:txBody>
                    <a:bodyPr/>
                    <a:lstStyle/>
                    <a:p>
                      <a:pPr marL="0" indent="0" algn="r">
                        <a:buNone/>
                      </a:pPr>
                      <a:r>
                        <a:rPr lang="en-US" sz="1320" dirty="0">
                          <a:solidFill>
                            <a:srgbClr val="1A1814"/>
                          </a:solidFill>
                        </a:rPr>
                        <a:t>15,61 jt</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r>
              <a:tr h="512051">
                <a:tc>
                  <a:txBody>
                    <a:bodyPr/>
                    <a:lstStyle/>
                    <a:p>
                      <a:pPr marL="0" indent="0" algn="l">
                        <a:buNone/>
                      </a:pPr>
                      <a:r>
                        <a:rPr lang="en-US" sz="1320" b="1" dirty="0">
                          <a:solidFill>
                            <a:srgbClr val="1A1814"/>
                          </a:solidFill>
                        </a:rPr>
                        <a:t>Net income owner 70%</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E7DCC8"/>
                    </a:solidFill>
                  </a:tcPr>
                </a:tc>
                <a:tc>
                  <a:txBody>
                    <a:bodyPr/>
                    <a:lstStyle/>
                    <a:p>
                      <a:pPr marL="0" indent="0" algn="r">
                        <a:buNone/>
                      </a:pPr>
                      <a:r>
                        <a:rPr lang="en-US" sz="1320" b="1" dirty="0">
                          <a:solidFill>
                            <a:srgbClr val="1A1814"/>
                          </a:solidFill>
                        </a:rPr>
                        <a:t>25,62 jt</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E7DCC8"/>
                    </a:solidFill>
                  </a:tcPr>
                </a:tc>
                <a:tc>
                  <a:txBody>
                    <a:bodyPr/>
                    <a:lstStyle/>
                    <a:p>
                      <a:pPr marL="0" indent="0" algn="r">
                        <a:buNone/>
                      </a:pPr>
                      <a:r>
                        <a:rPr lang="en-US" sz="1320" b="1" dirty="0">
                          <a:solidFill>
                            <a:srgbClr val="1A1814"/>
                          </a:solidFill>
                        </a:rPr>
                        <a:t>36,43 jt</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E7DCC8"/>
                    </a:solidFill>
                  </a:tcPr>
                </a:tc>
              </a:tr>
            </a:tbl>
          </a:graphicData>
        </a:graphic>
      </p:graphicFrame>
      <p:sp>
        <p:nvSpPr>
          <p:cNvPr id="10" name="Text 7"/>
          <p:cNvSpPr/>
          <p:nvPr/>
        </p:nvSpPr>
        <p:spPr>
          <a:xfrm>
            <a:off x="426709" y="6034889"/>
            <a:ext cx="11338277" cy="365751"/>
          </a:xfrm>
          <a:prstGeom prst="rect">
            <a:avLst/>
          </a:prstGeom>
          <a:noFill/>
        </p:spPr>
        <p:txBody>
          <a:bodyPr wrap="square" lIns="0" tIns="0" rIns="0" bIns="0" rtlCol="0" anchor="ctr"/>
          <a:lstStyle/>
          <a:p>
            <a:pPr marL="0" indent="0">
              <a:buNone/>
            </a:pPr>
            <a:r>
              <a:rPr lang="en-US" sz="1440" dirty="0">
                <a:solidFill>
                  <a:srgbClr val="6F675C"/>
                </a:solidFill>
                <a:latin typeface="Calibri" panose="020F0502020204030204" pitchFamily="34" charset="0"/>
                <a:ea typeface="Calibri" panose="020F0502020204030204" pitchFamily="34" charset="-122"/>
                <a:cs typeface="Calibri" panose="020F0502020204030204" pitchFamily="34" charset="-120"/>
              </a:rPr>
              <a:t>Setahun: revenue 439,20 jt (realistis) / 624,48 jt (target).</a:t>
            </a:r>
            <a:endParaRPr lang="en-US" sz="144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EFE6"/>
          </a:solidFill>
        </p:spPr>
        <p:txBody>
          <a:bodyPr/>
          <a:p/>
        </p:txBody>
      </p:sp>
      <p:sp>
        <p:nvSpPr>
          <p:cNvPr id="3" name="Shape 1"/>
          <p:cNvSpPr/>
          <p:nvPr/>
        </p:nvSpPr>
        <p:spPr>
          <a:xfrm>
            <a:off x="0" y="0"/>
            <a:ext cx="91440" cy="6858000"/>
          </a:xfrm>
          <a:prstGeom prst="rect">
            <a:avLst/>
          </a:prstGeom>
          <a:solidFill>
            <a:srgbClr val="C4622D"/>
          </a:solidFill>
        </p:spPr>
        <p:txBody>
          <a:bodyPr/>
          <a:p/>
        </p:txBody>
      </p:sp>
      <p:sp>
        <p:nvSpPr>
          <p:cNvPr id="4" name="Shape 2"/>
          <p:cNvSpPr/>
          <p:nvPr/>
        </p:nvSpPr>
        <p:spPr>
          <a:xfrm>
            <a:off x="0" y="6601968"/>
            <a:ext cx="12191695" cy="256032"/>
          </a:xfrm>
          <a:prstGeom prst="rect">
            <a:avLst/>
          </a:prstGeom>
          <a:solidFill>
            <a:srgbClr val="1A1814"/>
          </a:solidFill>
        </p:spPr>
        <p:txBody>
          <a:bodyPr/>
          <a:p/>
        </p:txBody>
      </p:sp>
      <p:sp>
        <p:nvSpPr>
          <p:cNvPr id="5" name="Text 3"/>
          <p:cNvSpPr/>
          <p:nvPr/>
        </p:nvSpPr>
        <p:spPr>
          <a:xfrm>
            <a:off x="347472" y="6601968"/>
            <a:ext cx="9144000" cy="256032"/>
          </a:xfrm>
          <a:prstGeom prst="rect">
            <a:avLst/>
          </a:prstGeom>
          <a:noFill/>
        </p:spPr>
        <p:txBody>
          <a:bodyPr wrap="square" lIns="0" tIns="0" rIns="0" bIns="0" rtlCol="0" anchor="ctr"/>
          <a:lstStyle/>
          <a:p>
            <a:pPr marL="0" indent="0">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HUNI   ·   Proposal website kos &amp; kontrakan   ·   Oktober 2026</a:t>
            </a:r>
            <a:endParaRPr lang="en-US" sz="1100" dirty="0"/>
          </a:p>
        </p:txBody>
      </p:sp>
      <p:sp>
        <p:nvSpPr>
          <p:cNvPr id="6" name="Text 4"/>
          <p:cNvSpPr/>
          <p:nvPr/>
        </p:nvSpPr>
        <p:spPr>
          <a:xfrm>
            <a:off x="9509760" y="6601968"/>
            <a:ext cx="2331720" cy="256032"/>
          </a:xfrm>
          <a:prstGeom prst="rect">
            <a:avLst/>
          </a:prstGeom>
          <a:noFill/>
        </p:spPr>
        <p:txBody>
          <a:bodyPr wrap="square" lIns="0" tIns="0" rIns="0" bIns="0" rtlCol="0" anchor="ctr"/>
          <a:lstStyle/>
          <a:p>
            <a:pPr marL="0" indent="0" algn="r">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27  /  36</a:t>
            </a:r>
            <a:endParaRPr lang="en-US" sz="1100" dirty="0"/>
          </a:p>
        </p:txBody>
      </p:sp>
      <p:sp>
        <p:nvSpPr>
          <p:cNvPr id="7" name="Text 5"/>
          <p:cNvSpPr/>
          <p:nvPr/>
        </p:nvSpPr>
        <p:spPr>
          <a:xfrm>
            <a:off x="426709" y="304792"/>
            <a:ext cx="11338277" cy="731502"/>
          </a:xfrm>
          <a:prstGeom prst="rect">
            <a:avLst/>
          </a:prstGeom>
          <a:noFill/>
        </p:spPr>
        <p:txBody>
          <a:bodyPr wrap="square" lIns="0" tIns="0" rIns="0" bIns="0" rtlCol="0" anchor="ctr"/>
          <a:lstStyle/>
          <a:p>
            <a:pPr marL="0" indent="0">
              <a:buNone/>
            </a:pPr>
            <a:r>
              <a:rPr lang="en-US" sz="3120" b="1" dirty="0">
                <a:solidFill>
                  <a:srgbClr val="1A1814"/>
                </a:solidFill>
                <a:latin typeface="Georgia" panose="02040502050405020303" pitchFamily="34" charset="0"/>
                <a:ea typeface="Georgia" panose="02040502050405020303" pitchFamily="34" charset="-122"/>
                <a:cs typeface="Georgia" panose="02040502050405020303" pitchFamily="34" charset="-120"/>
              </a:rPr>
              <a:t>Futsal: 30% dipakai untuk apa</a:t>
            </a:r>
            <a:endParaRPr lang="en-US" sz="3120" dirty="0"/>
          </a:p>
        </p:txBody>
      </p:sp>
      <p:sp>
        <p:nvSpPr>
          <p:cNvPr id="8" name="Text 6"/>
          <p:cNvSpPr/>
          <p:nvPr/>
        </p:nvSpPr>
        <p:spPr>
          <a:xfrm>
            <a:off x="426709" y="1072869"/>
            <a:ext cx="11338277" cy="487668"/>
          </a:xfrm>
          <a:prstGeom prst="rect">
            <a:avLst/>
          </a:prstGeom>
          <a:noFill/>
        </p:spPr>
        <p:txBody>
          <a:bodyPr wrap="square" lIns="0" tIns="0" rIns="0" bIns="0" rtlCol="0" anchor="ctr"/>
          <a:lstStyle/>
          <a:p>
            <a:pPr marL="0" indent="0">
              <a:buNone/>
            </a:pPr>
            <a:r>
              <a:rPr lang="en-US" sz="1560" dirty="0">
                <a:solidFill>
                  <a:srgbClr val="6F675C"/>
                </a:solidFill>
                <a:latin typeface="Calibri" panose="020F0502020204030204" pitchFamily="34" charset="0"/>
                <a:ea typeface="Calibri" panose="020F0502020204030204" pitchFamily="34" charset="-122"/>
                <a:cs typeface="Calibri" panose="020F0502020204030204" pitchFamily="34" charset="-120"/>
              </a:rPr>
              <a:t>Maintenance 8 · event 9 · marketing 9 · fee pengelola 4.</a:t>
            </a:r>
            <a:endParaRPr lang="en-US" sz="1560" dirty="0"/>
          </a:p>
        </p:txBody>
      </p:sp>
      <p:graphicFrame>
        <p:nvGraphicFramePr>
          <p:cNvPr id="21" name="Table 0"/>
          <p:cNvGraphicFramePr>
            <a:graphicFrameLocks noGrp="1"/>
          </p:cNvGraphicFramePr>
          <p:nvPr/>
        </p:nvGraphicFramePr>
        <p:xfrm>
          <a:off x="426709" y="1767796"/>
          <a:ext cx="11338277" cy="3072306"/>
        </p:xfrm>
        <a:graphic>
          <a:graphicData uri="http://schemas.openxmlformats.org/drawingml/2006/table">
            <a:tbl>
              <a:tblPr/>
              <a:tblGrid>
                <a:gridCol w="5242429"/>
                <a:gridCol w="1463003"/>
                <a:gridCol w="2316422"/>
                <a:gridCol w="2316422"/>
              </a:tblGrid>
              <a:tr h="512051">
                <a:tc>
                  <a:txBody>
                    <a:bodyPr/>
                    <a:lstStyle/>
                    <a:p>
                      <a:pPr marL="0" indent="0" algn="l">
                        <a:buNone/>
                      </a:pPr>
                      <a:r>
                        <a:rPr lang="en-US" sz="1320" b="1" dirty="0">
                          <a:solidFill>
                            <a:srgbClr val="F4EFE6"/>
                          </a:solidFill>
                        </a:rPr>
                        <a:t>Pos (dari 30%)</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1A1814"/>
                    </a:solidFill>
                  </a:tcPr>
                </a:tc>
                <a:tc>
                  <a:txBody>
                    <a:bodyPr/>
                    <a:lstStyle/>
                    <a:p>
                      <a:pPr marL="0" indent="0" algn="l">
                        <a:buNone/>
                      </a:pPr>
                      <a:r>
                        <a:rPr lang="en-US" sz="1320" b="1" dirty="0">
                          <a:solidFill>
                            <a:srgbClr val="F4EFE6"/>
                          </a:solidFill>
                        </a:rPr>
                        <a:t>Porsi</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1A1814"/>
                    </a:solidFill>
                  </a:tcPr>
                </a:tc>
                <a:tc>
                  <a:txBody>
                    <a:bodyPr/>
                    <a:lstStyle/>
                    <a:p>
                      <a:pPr marL="0" indent="0" algn="l">
                        <a:buNone/>
                      </a:pPr>
                      <a:r>
                        <a:rPr lang="en-US" sz="1320" b="1" dirty="0">
                          <a:solidFill>
                            <a:srgbClr val="F4EFE6"/>
                          </a:solidFill>
                        </a:rPr>
                        <a:t>Realistis</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1A1814"/>
                    </a:solidFill>
                  </a:tcPr>
                </a:tc>
                <a:tc>
                  <a:txBody>
                    <a:bodyPr/>
                    <a:lstStyle/>
                    <a:p>
                      <a:pPr marL="0" indent="0" algn="l">
                        <a:buNone/>
                      </a:pPr>
                      <a:r>
                        <a:rPr lang="en-US" sz="1320" b="1" dirty="0">
                          <a:solidFill>
                            <a:srgbClr val="F4EFE6"/>
                          </a:solidFill>
                        </a:rPr>
                        <a:t>Target</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1A1814"/>
                    </a:solidFill>
                  </a:tcPr>
                </a:tc>
              </a:tr>
              <a:tr h="512051">
                <a:tc>
                  <a:txBody>
                    <a:bodyPr/>
                    <a:lstStyle/>
                    <a:p>
                      <a:pPr marL="0" indent="0" algn="l">
                        <a:buNone/>
                      </a:pPr>
                      <a:r>
                        <a:rPr lang="en-US" sz="1320" dirty="0">
                          <a:solidFill>
                            <a:srgbClr val="1A1814"/>
                          </a:solidFill>
                        </a:rPr>
                        <a:t>Maintenance lapangan</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r">
                        <a:buNone/>
                      </a:pPr>
                      <a:r>
                        <a:rPr lang="en-US" sz="1320" dirty="0">
                          <a:solidFill>
                            <a:srgbClr val="1A1814"/>
                          </a:solidFill>
                        </a:rPr>
                        <a:t>8%</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r">
                        <a:buNone/>
                      </a:pPr>
                      <a:r>
                        <a:rPr lang="en-US" sz="1320" dirty="0">
                          <a:solidFill>
                            <a:srgbClr val="1A1814"/>
                          </a:solidFill>
                        </a:rPr>
                        <a:t>2,93 jt</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r">
                        <a:buNone/>
                      </a:pPr>
                      <a:r>
                        <a:rPr lang="en-US" sz="1320" dirty="0">
                          <a:solidFill>
                            <a:srgbClr val="1A1814"/>
                          </a:solidFill>
                        </a:rPr>
                        <a:t>4,16 jt</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r>
              <a:tr h="512051">
                <a:tc>
                  <a:txBody>
                    <a:bodyPr/>
                    <a:lstStyle/>
                    <a:p>
                      <a:pPr marL="0" indent="0" algn="l">
                        <a:buNone/>
                      </a:pPr>
                      <a:r>
                        <a:rPr lang="en-US" sz="1320" dirty="0">
                          <a:solidFill>
                            <a:srgbClr val="1A1814"/>
                          </a:solidFill>
                        </a:rPr>
                        <a:t>Event management (turnamen sekolah)</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c>
                  <a:txBody>
                    <a:bodyPr/>
                    <a:lstStyle/>
                    <a:p>
                      <a:pPr marL="0" indent="0" algn="r">
                        <a:buNone/>
                      </a:pPr>
                      <a:r>
                        <a:rPr lang="en-US" sz="1320" dirty="0">
                          <a:solidFill>
                            <a:srgbClr val="1A1814"/>
                          </a:solidFill>
                        </a:rPr>
                        <a:t>9%</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c>
                  <a:txBody>
                    <a:bodyPr/>
                    <a:lstStyle/>
                    <a:p>
                      <a:pPr marL="0" indent="0" algn="r">
                        <a:buNone/>
                      </a:pPr>
                      <a:r>
                        <a:rPr lang="en-US" sz="1320" dirty="0">
                          <a:solidFill>
                            <a:srgbClr val="1A1814"/>
                          </a:solidFill>
                        </a:rPr>
                        <a:t>3,29 jt</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c>
                  <a:txBody>
                    <a:bodyPr/>
                    <a:lstStyle/>
                    <a:p>
                      <a:pPr marL="0" indent="0" algn="r">
                        <a:buNone/>
                      </a:pPr>
                      <a:r>
                        <a:rPr lang="en-US" sz="1320" dirty="0">
                          <a:solidFill>
                            <a:srgbClr val="1A1814"/>
                          </a:solidFill>
                        </a:rPr>
                        <a:t>4,68 jt</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r>
              <a:tr h="512051">
                <a:tc>
                  <a:txBody>
                    <a:bodyPr/>
                    <a:lstStyle/>
                    <a:p>
                      <a:pPr marL="0" indent="0" algn="l">
                        <a:buNone/>
                      </a:pPr>
                      <a:r>
                        <a:rPr lang="en-US" sz="1320" dirty="0">
                          <a:solidFill>
                            <a:srgbClr val="1A1814"/>
                          </a:solidFill>
                        </a:rPr>
                        <a:t>Marketing (tim marketing)</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r">
                        <a:buNone/>
                      </a:pPr>
                      <a:r>
                        <a:rPr lang="en-US" sz="1320" dirty="0">
                          <a:solidFill>
                            <a:srgbClr val="1A1814"/>
                          </a:solidFill>
                        </a:rPr>
                        <a:t>9%</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r">
                        <a:buNone/>
                      </a:pPr>
                      <a:r>
                        <a:rPr lang="en-US" sz="1320" dirty="0">
                          <a:solidFill>
                            <a:srgbClr val="1A1814"/>
                          </a:solidFill>
                        </a:rPr>
                        <a:t>3,29 jt</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r">
                        <a:buNone/>
                      </a:pPr>
                      <a:r>
                        <a:rPr lang="en-US" sz="1320" dirty="0">
                          <a:solidFill>
                            <a:srgbClr val="1A1814"/>
                          </a:solidFill>
                        </a:rPr>
                        <a:t>4,68 jt</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r>
              <a:tr h="512051">
                <a:tc>
                  <a:txBody>
                    <a:bodyPr/>
                    <a:lstStyle/>
                    <a:p>
                      <a:pPr marL="0" indent="0" algn="l">
                        <a:buNone/>
                      </a:pPr>
                      <a:r>
                        <a:rPr lang="en-US" sz="1320" dirty="0">
                          <a:solidFill>
                            <a:srgbClr val="1A1814"/>
                          </a:solidFill>
                        </a:rPr>
                        <a:t>Fee pengelola / operasional</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c>
                  <a:txBody>
                    <a:bodyPr/>
                    <a:lstStyle/>
                    <a:p>
                      <a:pPr marL="0" indent="0" algn="r">
                        <a:buNone/>
                      </a:pPr>
                      <a:r>
                        <a:rPr lang="en-US" sz="1320" dirty="0">
                          <a:solidFill>
                            <a:srgbClr val="1A1814"/>
                          </a:solidFill>
                        </a:rPr>
                        <a:t>4%</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c>
                  <a:txBody>
                    <a:bodyPr/>
                    <a:lstStyle/>
                    <a:p>
                      <a:pPr marL="0" indent="0" algn="r">
                        <a:buNone/>
                      </a:pPr>
                      <a:r>
                        <a:rPr lang="en-US" sz="1320" dirty="0">
                          <a:solidFill>
                            <a:srgbClr val="1A1814"/>
                          </a:solidFill>
                        </a:rPr>
                        <a:t>1,46 jt</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c>
                  <a:txBody>
                    <a:bodyPr/>
                    <a:lstStyle/>
                    <a:p>
                      <a:pPr marL="0" indent="0" algn="r">
                        <a:buNone/>
                      </a:pPr>
                      <a:r>
                        <a:rPr lang="en-US" sz="1320" dirty="0">
                          <a:solidFill>
                            <a:srgbClr val="1A1814"/>
                          </a:solidFill>
                        </a:rPr>
                        <a:t>2,08 jt</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r>
              <a:tr h="512051">
                <a:tc>
                  <a:txBody>
                    <a:bodyPr/>
                    <a:lstStyle/>
                    <a:p>
                      <a:pPr marL="0" indent="0" algn="l">
                        <a:buNone/>
                      </a:pPr>
                      <a:r>
                        <a:rPr lang="en-US" sz="1320" b="1" dirty="0">
                          <a:solidFill>
                            <a:srgbClr val="1A1814"/>
                          </a:solidFill>
                        </a:rPr>
                        <a:t>Total bagian pengelola</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r">
                        <a:buNone/>
                      </a:pPr>
                      <a:r>
                        <a:rPr lang="en-US" sz="1320" b="1" dirty="0">
                          <a:solidFill>
                            <a:srgbClr val="1A1814"/>
                          </a:solidFill>
                        </a:rPr>
                        <a:t>30%</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r">
                        <a:buNone/>
                      </a:pPr>
                      <a:r>
                        <a:rPr lang="en-US" sz="1320" b="1" dirty="0">
                          <a:solidFill>
                            <a:srgbClr val="1A1814"/>
                          </a:solidFill>
                        </a:rPr>
                        <a:t>10,98 jt</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r">
                        <a:buNone/>
                      </a:pPr>
                      <a:r>
                        <a:rPr lang="en-US" sz="1320" b="1" dirty="0">
                          <a:solidFill>
                            <a:srgbClr val="1A1814"/>
                          </a:solidFill>
                        </a:rPr>
                        <a:t>15,61 jt</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r>
            </a:tbl>
          </a:graphicData>
        </a:graphic>
      </p:graphicFrame>
      <p:graphicFrame>
        <p:nvGraphicFramePr>
          <p:cNvPr id="10" name="Chart 0"/>
          <p:cNvGraphicFramePr/>
          <p:nvPr/>
        </p:nvGraphicFramePr>
        <p:xfrm>
          <a:off x="426709" y="4998595"/>
          <a:ext cx="11338277" cy="1402045"/>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EFE6"/>
          </a:solidFill>
        </p:spPr>
        <p:txBody>
          <a:bodyPr/>
          <a:p/>
        </p:txBody>
      </p:sp>
      <p:sp>
        <p:nvSpPr>
          <p:cNvPr id="3" name="Shape 1"/>
          <p:cNvSpPr/>
          <p:nvPr/>
        </p:nvSpPr>
        <p:spPr>
          <a:xfrm>
            <a:off x="0" y="0"/>
            <a:ext cx="91440" cy="6858000"/>
          </a:xfrm>
          <a:prstGeom prst="rect">
            <a:avLst/>
          </a:prstGeom>
          <a:solidFill>
            <a:srgbClr val="C4622D"/>
          </a:solidFill>
        </p:spPr>
        <p:txBody>
          <a:bodyPr/>
          <a:p/>
        </p:txBody>
      </p:sp>
      <p:sp>
        <p:nvSpPr>
          <p:cNvPr id="4" name="Shape 2"/>
          <p:cNvSpPr/>
          <p:nvPr/>
        </p:nvSpPr>
        <p:spPr>
          <a:xfrm>
            <a:off x="0" y="6601968"/>
            <a:ext cx="12191695" cy="256032"/>
          </a:xfrm>
          <a:prstGeom prst="rect">
            <a:avLst/>
          </a:prstGeom>
          <a:solidFill>
            <a:srgbClr val="1A1814"/>
          </a:solidFill>
        </p:spPr>
        <p:txBody>
          <a:bodyPr/>
          <a:p/>
        </p:txBody>
      </p:sp>
      <p:sp>
        <p:nvSpPr>
          <p:cNvPr id="5" name="Text 3"/>
          <p:cNvSpPr/>
          <p:nvPr/>
        </p:nvSpPr>
        <p:spPr>
          <a:xfrm>
            <a:off x="347472" y="6601968"/>
            <a:ext cx="9144000" cy="256032"/>
          </a:xfrm>
          <a:prstGeom prst="rect">
            <a:avLst/>
          </a:prstGeom>
          <a:noFill/>
        </p:spPr>
        <p:txBody>
          <a:bodyPr wrap="square" lIns="0" tIns="0" rIns="0" bIns="0" rtlCol="0" anchor="ctr"/>
          <a:lstStyle/>
          <a:p>
            <a:pPr marL="0" indent="0">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HUNI   ·   Proposal website kos &amp; kontrakan   ·   Oktober 2026</a:t>
            </a:r>
            <a:endParaRPr lang="en-US" sz="1100" dirty="0"/>
          </a:p>
        </p:txBody>
      </p:sp>
      <p:sp>
        <p:nvSpPr>
          <p:cNvPr id="6" name="Text 4"/>
          <p:cNvSpPr/>
          <p:nvPr/>
        </p:nvSpPr>
        <p:spPr>
          <a:xfrm>
            <a:off x="9509760" y="6601968"/>
            <a:ext cx="2331720" cy="256032"/>
          </a:xfrm>
          <a:prstGeom prst="rect">
            <a:avLst/>
          </a:prstGeom>
          <a:noFill/>
        </p:spPr>
        <p:txBody>
          <a:bodyPr wrap="square" lIns="0" tIns="0" rIns="0" bIns="0" rtlCol="0" anchor="ctr"/>
          <a:lstStyle/>
          <a:p>
            <a:pPr marL="0" indent="0" algn="r">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28  /  36</a:t>
            </a:r>
            <a:endParaRPr lang="en-US" sz="1100" dirty="0"/>
          </a:p>
        </p:txBody>
      </p:sp>
      <p:sp>
        <p:nvSpPr>
          <p:cNvPr id="7" name="Text 5"/>
          <p:cNvSpPr/>
          <p:nvPr/>
        </p:nvSpPr>
        <p:spPr>
          <a:xfrm>
            <a:off x="426709" y="304792"/>
            <a:ext cx="11338277" cy="731502"/>
          </a:xfrm>
          <a:prstGeom prst="rect">
            <a:avLst/>
          </a:prstGeom>
          <a:noFill/>
        </p:spPr>
        <p:txBody>
          <a:bodyPr wrap="square" lIns="0" tIns="0" rIns="0" bIns="0" rtlCol="0" anchor="ctr"/>
          <a:lstStyle/>
          <a:p>
            <a:pPr marL="0" indent="0">
              <a:buNone/>
            </a:pPr>
            <a:r>
              <a:rPr lang="en-US" sz="3120" b="1" dirty="0">
                <a:solidFill>
                  <a:srgbClr val="1A1814"/>
                </a:solidFill>
                <a:latin typeface="Georgia" panose="02040502050405020303" pitchFamily="34" charset="0"/>
                <a:ea typeface="Georgia" panose="02040502050405020303" pitchFamily="34" charset="-122"/>
                <a:cs typeface="Georgia" panose="02040502050405020303" pitchFamily="34" charset="-120"/>
              </a:rPr>
              <a:t>Futsal: turnamen sekolah &amp; tim marketing</a:t>
            </a:r>
            <a:endParaRPr lang="en-US" sz="3120" dirty="0"/>
          </a:p>
        </p:txBody>
      </p:sp>
      <p:sp>
        <p:nvSpPr>
          <p:cNvPr id="8" name="Text 6"/>
          <p:cNvSpPr/>
          <p:nvPr/>
        </p:nvSpPr>
        <p:spPr>
          <a:xfrm>
            <a:off x="426709" y="1072869"/>
            <a:ext cx="11338277" cy="487668"/>
          </a:xfrm>
          <a:prstGeom prst="rect">
            <a:avLst/>
          </a:prstGeom>
          <a:noFill/>
        </p:spPr>
        <p:txBody>
          <a:bodyPr wrap="square" lIns="0" tIns="0" rIns="0" bIns="0" rtlCol="0" anchor="ctr"/>
          <a:lstStyle/>
          <a:p>
            <a:pPr marL="0" indent="0">
              <a:buNone/>
            </a:pPr>
            <a:r>
              <a:rPr lang="en-US" sz="1560" dirty="0">
                <a:solidFill>
                  <a:srgbClr val="6F675C"/>
                </a:solidFill>
                <a:latin typeface="Calibri" panose="020F0502020204030204" pitchFamily="34" charset="0"/>
                <a:ea typeface="Calibri" panose="020F0502020204030204" pitchFamily="34" charset="-122"/>
                <a:cs typeface="Calibri" panose="020F0502020204030204" pitchFamily="34" charset="-120"/>
              </a:rPr>
              <a:t>Dibiayai dari porsi event 9% dan marketing 9%.</a:t>
            </a:r>
            <a:endParaRPr lang="en-US" sz="1560" dirty="0"/>
          </a:p>
        </p:txBody>
      </p:sp>
      <p:sp>
        <p:nvSpPr>
          <p:cNvPr id="9" name="Shape 7"/>
          <p:cNvSpPr/>
          <p:nvPr/>
        </p:nvSpPr>
        <p:spPr>
          <a:xfrm>
            <a:off x="426709" y="1828754"/>
            <a:ext cx="5547221" cy="4267093"/>
          </a:xfrm>
          <a:prstGeom prst="roundRect">
            <a:avLst>
              <a:gd name="adj" fmla="val 1714"/>
            </a:avLst>
          </a:prstGeom>
          <a:solidFill>
            <a:srgbClr val="FBF8F3"/>
          </a:solidFill>
          <a:ln w="9525">
            <a:solidFill>
              <a:srgbClr val="D9CFBF"/>
            </a:solidFill>
            <a:prstDash val="solid"/>
          </a:ln>
        </p:spPr>
        <p:txBody>
          <a:bodyPr/>
          <a:p/>
        </p:txBody>
      </p:sp>
      <p:sp>
        <p:nvSpPr>
          <p:cNvPr id="10" name="Text 8"/>
          <p:cNvSpPr/>
          <p:nvPr/>
        </p:nvSpPr>
        <p:spPr>
          <a:xfrm>
            <a:off x="609585" y="1950671"/>
            <a:ext cx="5181470" cy="426709"/>
          </a:xfrm>
          <a:prstGeom prst="rect">
            <a:avLst/>
          </a:prstGeom>
          <a:noFill/>
        </p:spPr>
        <p:txBody>
          <a:bodyPr wrap="square" lIns="0" tIns="0" rIns="0" bIns="0" rtlCol="0" anchor="ctr"/>
          <a:lstStyle/>
          <a:p>
            <a:pPr marL="0" indent="0">
              <a:buNone/>
            </a:pPr>
            <a:r>
              <a:rPr lang="en-US" sz="1680" b="1" dirty="0">
                <a:solidFill>
                  <a:srgbClr val="1A1814"/>
                </a:solidFill>
                <a:latin typeface="Georgia" panose="02040502050405020303" pitchFamily="34" charset="0"/>
                <a:ea typeface="Georgia" panose="02040502050405020303" pitchFamily="34" charset="-122"/>
                <a:cs typeface="Georgia" panose="02040502050405020303" pitchFamily="34" charset="-120"/>
              </a:rPr>
              <a:t>Turnamen antar sekolah</a:t>
            </a:r>
            <a:endParaRPr lang="en-US" sz="1680" dirty="0"/>
          </a:p>
        </p:txBody>
      </p:sp>
      <p:sp>
        <p:nvSpPr>
          <p:cNvPr id="11" name="Text 9"/>
          <p:cNvSpPr/>
          <p:nvPr/>
        </p:nvSpPr>
        <p:spPr>
          <a:xfrm>
            <a:off x="609585" y="2438339"/>
            <a:ext cx="5181470" cy="3535592"/>
          </a:xfrm>
          <a:prstGeom prst="rect">
            <a:avLst/>
          </a:prstGeom>
          <a:noFill/>
        </p:spPr>
        <p:txBody>
          <a:bodyPr wrap="square" lIns="0" tIns="0" rIns="0" bIns="0" rtlCol="0" anchor="t"/>
          <a:lstStyle/>
          <a:p>
            <a:pPr marL="342900" indent="-342900">
              <a:spcAft>
                <a:spcPts val="400"/>
              </a:spcAft>
              <a:buSzPct val="100000"/>
              <a:buChar char="•"/>
            </a:pPr>
            <a:r>
              <a:rPr lang="en-US" sz="1380" dirty="0">
                <a:solidFill>
                  <a:srgbClr val="3F382F"/>
                </a:solidFill>
              </a:rPr>
              <a:t>Liga pelajar SMP/SMA tiap bulan atau kuartal</a:t>
            </a:r>
            <a:endParaRPr lang="en-US" sz="1380" dirty="0"/>
          </a:p>
          <a:p>
            <a:pPr marL="342900" indent="-342900">
              <a:spcAft>
                <a:spcPts val="400"/>
              </a:spcAft>
              <a:buSzPct val="100000"/>
              <a:buChar char="•"/>
            </a:pPr>
            <a:r>
              <a:rPr lang="en-US" sz="1380" dirty="0">
                <a:solidFill>
                  <a:srgbClr val="3F382F"/>
                </a:solidFill>
              </a:rPr>
              <a:t>Biaya daftar per tim, sponsor lokal, kantin</a:t>
            </a:r>
            <a:endParaRPr lang="en-US" sz="1380" dirty="0"/>
          </a:p>
          <a:p>
            <a:pPr marL="342900" indent="-342900">
              <a:spcAft>
                <a:spcPts val="400"/>
              </a:spcAft>
              <a:buSzPct val="100000"/>
              <a:buChar char="•"/>
            </a:pPr>
            <a:r>
              <a:rPr lang="en-US" sz="1380" dirty="0">
                <a:solidFill>
                  <a:srgbClr val="3F382F"/>
                </a:solidFill>
              </a:rPr>
              <a:t>Final di lapangan sendiri, dokumentasi untuk konten</a:t>
            </a:r>
            <a:endParaRPr lang="en-US" sz="1380" dirty="0"/>
          </a:p>
          <a:p>
            <a:pPr marL="342900" indent="-342900">
              <a:spcAft>
                <a:spcPts val="400"/>
              </a:spcAft>
              <a:buSzPct val="100000"/>
              <a:buChar char="•"/>
            </a:pPr>
            <a:r>
              <a:rPr lang="en-US" sz="1380" dirty="0">
                <a:solidFill>
                  <a:srgbClr val="3F382F"/>
                </a:solidFill>
              </a:rPr>
              <a:t>Tugas: jadwal, wasit, hadiah, laporan hasil</a:t>
            </a:r>
            <a:endParaRPr lang="en-US" sz="1380" dirty="0"/>
          </a:p>
        </p:txBody>
      </p:sp>
      <p:sp>
        <p:nvSpPr>
          <p:cNvPr id="12" name="Shape 10"/>
          <p:cNvSpPr/>
          <p:nvPr/>
        </p:nvSpPr>
        <p:spPr>
          <a:xfrm>
            <a:off x="6217765" y="1828754"/>
            <a:ext cx="5547221" cy="4267093"/>
          </a:xfrm>
          <a:prstGeom prst="roundRect">
            <a:avLst>
              <a:gd name="adj" fmla="val 1714"/>
            </a:avLst>
          </a:prstGeom>
          <a:solidFill>
            <a:srgbClr val="2F5D50"/>
          </a:solidFill>
          <a:ln w="9525">
            <a:solidFill>
              <a:srgbClr val="D9CFBF"/>
            </a:solidFill>
            <a:prstDash val="solid"/>
          </a:ln>
        </p:spPr>
        <p:txBody>
          <a:bodyPr/>
          <a:p/>
        </p:txBody>
      </p:sp>
      <p:sp>
        <p:nvSpPr>
          <p:cNvPr id="13" name="Text 11"/>
          <p:cNvSpPr/>
          <p:nvPr/>
        </p:nvSpPr>
        <p:spPr>
          <a:xfrm>
            <a:off x="6400640" y="1950671"/>
            <a:ext cx="5181470" cy="426709"/>
          </a:xfrm>
          <a:prstGeom prst="rect">
            <a:avLst/>
          </a:prstGeom>
          <a:noFill/>
        </p:spPr>
        <p:txBody>
          <a:bodyPr wrap="square" lIns="0" tIns="0" rIns="0" bIns="0" rtlCol="0" anchor="ctr"/>
          <a:lstStyle/>
          <a:p>
            <a:pPr marL="0" indent="0">
              <a:buNone/>
            </a:pPr>
            <a:r>
              <a:rPr lang="en-US" sz="1680" b="1" dirty="0">
                <a:solidFill>
                  <a:srgbClr val="F4EFE6"/>
                </a:solidFill>
                <a:latin typeface="Georgia" panose="02040502050405020303" pitchFamily="34" charset="0"/>
                <a:ea typeface="Georgia" panose="02040502050405020303" pitchFamily="34" charset="-122"/>
                <a:cs typeface="Georgia" panose="02040502050405020303" pitchFamily="34" charset="-120"/>
              </a:rPr>
              <a:t>Tim marketing bergerak</a:t>
            </a:r>
            <a:endParaRPr lang="en-US" sz="1680" dirty="0"/>
          </a:p>
        </p:txBody>
      </p:sp>
      <p:sp>
        <p:nvSpPr>
          <p:cNvPr id="14" name="Text 12"/>
          <p:cNvSpPr/>
          <p:nvPr/>
        </p:nvSpPr>
        <p:spPr>
          <a:xfrm>
            <a:off x="6400640" y="2438339"/>
            <a:ext cx="5181470" cy="3535592"/>
          </a:xfrm>
          <a:prstGeom prst="rect">
            <a:avLst/>
          </a:prstGeom>
          <a:noFill/>
        </p:spPr>
        <p:txBody>
          <a:bodyPr wrap="square" lIns="0" tIns="0" rIns="0" bIns="0" rtlCol="0" anchor="t"/>
          <a:lstStyle/>
          <a:p>
            <a:pPr marL="342900" indent="-342900">
              <a:spcAft>
                <a:spcPts val="400"/>
              </a:spcAft>
              <a:buSzPct val="100000"/>
              <a:buChar char="•"/>
            </a:pPr>
            <a:r>
              <a:rPr lang="en-US" sz="1380" dirty="0">
                <a:solidFill>
                  <a:srgbClr val="E7DCC8"/>
                </a:solidFill>
              </a:rPr>
              <a:t>Kunjungan ke sekolah dan guru olahraga</a:t>
            </a:r>
            <a:endParaRPr lang="en-US" sz="1380" dirty="0"/>
          </a:p>
          <a:p>
            <a:pPr marL="342900" indent="-342900">
              <a:spcAft>
                <a:spcPts val="400"/>
              </a:spcAft>
              <a:buSzPct val="100000"/>
              <a:buChar char="•"/>
            </a:pPr>
            <a:r>
              <a:rPr lang="en-US" sz="1380" dirty="0">
                <a:solidFill>
                  <a:srgbClr val="E7DCC8"/>
                </a:solidFill>
              </a:rPr>
              <a:t>IG/TikTok: highlight match, slot kosong harian</a:t>
            </a:r>
            <a:endParaRPr lang="en-US" sz="1380" dirty="0"/>
          </a:p>
          <a:p>
            <a:pPr marL="342900" indent="-342900">
              <a:spcAft>
                <a:spcPts val="400"/>
              </a:spcAft>
              <a:buSzPct val="100000"/>
              <a:buChar char="•"/>
            </a:pPr>
            <a:r>
              <a:rPr lang="en-US" sz="1380" dirty="0">
                <a:solidFill>
                  <a:srgbClr val="E7DCC8"/>
                </a:solidFill>
              </a:rPr>
              <a:t>Broadcast WhatsApp ke komunitas dan kantor</a:t>
            </a:r>
            <a:endParaRPr lang="en-US" sz="1380" dirty="0"/>
          </a:p>
          <a:p>
            <a:pPr marL="342900" indent="-342900">
              <a:spcAft>
                <a:spcPts val="400"/>
              </a:spcAft>
              <a:buSzPct val="100000"/>
              <a:buChar char="•"/>
            </a:pPr>
            <a:r>
              <a:rPr lang="en-US" sz="1380" dirty="0">
                <a:solidFill>
                  <a:srgbClr val="E7DCC8"/>
                </a:solidFill>
              </a:rPr>
              <a:t>Promo jam sepi hari kerja</a:t>
            </a:r>
            <a:endParaRPr lang="en-US" sz="1380" dirty="0"/>
          </a:p>
          <a:p>
            <a:pPr marL="342900" indent="-342900">
              <a:spcAft>
                <a:spcPts val="400"/>
              </a:spcAft>
              <a:buSzPct val="100000"/>
              <a:buChar char="•"/>
            </a:pPr>
            <a:r>
              <a:rPr lang="en-US" sz="1380" dirty="0">
                <a:solidFill>
                  <a:srgbClr val="E7DCC8"/>
                </a:solidFill>
              </a:rPr>
              <a:t>Booking lewat web (halaman /futsal HUNI)</a:t>
            </a:r>
            <a:endParaRPr lang="en-US" sz="138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EFE6"/>
          </a:solidFill>
        </p:spPr>
        <p:txBody>
          <a:bodyPr/>
          <a:p/>
        </p:txBody>
      </p:sp>
      <p:sp>
        <p:nvSpPr>
          <p:cNvPr id="3" name="Shape 1"/>
          <p:cNvSpPr/>
          <p:nvPr/>
        </p:nvSpPr>
        <p:spPr>
          <a:xfrm>
            <a:off x="0" y="0"/>
            <a:ext cx="91440" cy="6858000"/>
          </a:xfrm>
          <a:prstGeom prst="rect">
            <a:avLst/>
          </a:prstGeom>
          <a:solidFill>
            <a:srgbClr val="C4622D"/>
          </a:solidFill>
        </p:spPr>
        <p:txBody>
          <a:bodyPr/>
          <a:p/>
        </p:txBody>
      </p:sp>
      <p:sp>
        <p:nvSpPr>
          <p:cNvPr id="4" name="Shape 2"/>
          <p:cNvSpPr/>
          <p:nvPr/>
        </p:nvSpPr>
        <p:spPr>
          <a:xfrm>
            <a:off x="0" y="6601968"/>
            <a:ext cx="12191695" cy="256032"/>
          </a:xfrm>
          <a:prstGeom prst="rect">
            <a:avLst/>
          </a:prstGeom>
          <a:solidFill>
            <a:srgbClr val="1A1814"/>
          </a:solidFill>
        </p:spPr>
        <p:txBody>
          <a:bodyPr/>
          <a:p/>
        </p:txBody>
      </p:sp>
      <p:sp>
        <p:nvSpPr>
          <p:cNvPr id="5" name="Text 3"/>
          <p:cNvSpPr/>
          <p:nvPr/>
        </p:nvSpPr>
        <p:spPr>
          <a:xfrm>
            <a:off x="347472" y="6601968"/>
            <a:ext cx="9144000" cy="256032"/>
          </a:xfrm>
          <a:prstGeom prst="rect">
            <a:avLst/>
          </a:prstGeom>
          <a:noFill/>
        </p:spPr>
        <p:txBody>
          <a:bodyPr wrap="square" lIns="0" tIns="0" rIns="0" bIns="0" rtlCol="0" anchor="ctr"/>
          <a:lstStyle/>
          <a:p>
            <a:pPr marL="0" indent="0">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HUNI   ·   Proposal website kos &amp; kontrakan   ·   Oktober 2026</a:t>
            </a:r>
            <a:endParaRPr lang="en-US" sz="1100" dirty="0"/>
          </a:p>
        </p:txBody>
      </p:sp>
      <p:sp>
        <p:nvSpPr>
          <p:cNvPr id="6" name="Text 4"/>
          <p:cNvSpPr/>
          <p:nvPr/>
        </p:nvSpPr>
        <p:spPr>
          <a:xfrm>
            <a:off x="9509760" y="6601968"/>
            <a:ext cx="2331720" cy="256032"/>
          </a:xfrm>
          <a:prstGeom prst="rect">
            <a:avLst/>
          </a:prstGeom>
          <a:noFill/>
        </p:spPr>
        <p:txBody>
          <a:bodyPr wrap="square" lIns="0" tIns="0" rIns="0" bIns="0" rtlCol="0" anchor="ctr"/>
          <a:lstStyle/>
          <a:p>
            <a:pPr marL="0" indent="0" algn="r">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29  /  36</a:t>
            </a:r>
            <a:endParaRPr lang="en-US" sz="1100" dirty="0"/>
          </a:p>
        </p:txBody>
      </p:sp>
      <p:sp>
        <p:nvSpPr>
          <p:cNvPr id="7" name="Text 5"/>
          <p:cNvSpPr/>
          <p:nvPr/>
        </p:nvSpPr>
        <p:spPr>
          <a:xfrm>
            <a:off x="426709" y="304792"/>
            <a:ext cx="11338277" cy="731502"/>
          </a:xfrm>
          <a:prstGeom prst="rect">
            <a:avLst/>
          </a:prstGeom>
          <a:noFill/>
        </p:spPr>
        <p:txBody>
          <a:bodyPr wrap="square" lIns="0" tIns="0" rIns="0" bIns="0" rtlCol="0" anchor="ctr"/>
          <a:lstStyle/>
          <a:p>
            <a:pPr marL="0" indent="0">
              <a:buNone/>
            </a:pPr>
            <a:r>
              <a:rPr lang="en-US" sz="3120" b="1" dirty="0">
                <a:solidFill>
                  <a:srgbClr val="1A1814"/>
                </a:solidFill>
                <a:latin typeface="Georgia" panose="02040502050405020303" pitchFamily="34" charset="0"/>
                <a:ea typeface="Georgia" panose="02040502050405020303" pitchFamily="34" charset="-122"/>
                <a:cs typeface="Georgia" panose="02040502050405020303" pitchFamily="34" charset="-120"/>
              </a:rPr>
              <a:t>Cafe: dasar hitungan</a:t>
            </a:r>
            <a:endParaRPr lang="en-US" sz="3120" dirty="0"/>
          </a:p>
        </p:txBody>
      </p:sp>
      <p:sp>
        <p:nvSpPr>
          <p:cNvPr id="8" name="Text 6"/>
          <p:cNvSpPr/>
          <p:nvPr/>
        </p:nvSpPr>
        <p:spPr>
          <a:xfrm>
            <a:off x="426709" y="1072869"/>
            <a:ext cx="11338277" cy="487668"/>
          </a:xfrm>
          <a:prstGeom prst="rect">
            <a:avLst/>
          </a:prstGeom>
          <a:noFill/>
        </p:spPr>
        <p:txBody>
          <a:bodyPr wrap="square" lIns="0" tIns="0" rIns="0" bIns="0" rtlCol="0" anchor="ctr"/>
          <a:lstStyle/>
          <a:p>
            <a:pPr marL="0" indent="0">
              <a:buNone/>
            </a:pPr>
            <a:r>
              <a:rPr lang="en-US" sz="1560" dirty="0">
                <a:solidFill>
                  <a:srgbClr val="6F675C"/>
                </a:solidFill>
                <a:latin typeface="Calibri" panose="020F0502020204030204" pitchFamily="34" charset="0"/>
                <a:ea typeface="Calibri" panose="020F0502020204030204" pitchFamily="34" charset="-122"/>
                <a:cs typeface="Calibri" panose="020F0502020204030204" pitchFamily="34" charset="-120"/>
              </a:rPr>
              <a:t>Dua skenario. Target omzet Rp80 jt per bulan.</a:t>
            </a:r>
            <a:endParaRPr lang="en-US" sz="1560" dirty="0"/>
          </a:p>
        </p:txBody>
      </p:sp>
      <p:sp>
        <p:nvSpPr>
          <p:cNvPr id="9" name="Shape 7"/>
          <p:cNvSpPr/>
          <p:nvPr/>
        </p:nvSpPr>
        <p:spPr>
          <a:xfrm>
            <a:off x="426709" y="1828754"/>
            <a:ext cx="5547221" cy="4267093"/>
          </a:xfrm>
          <a:prstGeom prst="roundRect">
            <a:avLst>
              <a:gd name="adj" fmla="val 1714"/>
            </a:avLst>
          </a:prstGeom>
          <a:solidFill>
            <a:srgbClr val="FBF8F3"/>
          </a:solidFill>
          <a:ln w="9525">
            <a:solidFill>
              <a:srgbClr val="D9CFBF"/>
            </a:solidFill>
            <a:prstDash val="solid"/>
          </a:ln>
        </p:spPr>
        <p:txBody>
          <a:bodyPr/>
          <a:p/>
        </p:txBody>
      </p:sp>
      <p:sp>
        <p:nvSpPr>
          <p:cNvPr id="10" name="Text 8"/>
          <p:cNvSpPr/>
          <p:nvPr/>
        </p:nvSpPr>
        <p:spPr>
          <a:xfrm>
            <a:off x="609585" y="1950671"/>
            <a:ext cx="5181470" cy="426709"/>
          </a:xfrm>
          <a:prstGeom prst="rect">
            <a:avLst/>
          </a:prstGeom>
          <a:noFill/>
        </p:spPr>
        <p:txBody>
          <a:bodyPr wrap="square" lIns="0" tIns="0" rIns="0" bIns="0" rtlCol="0" anchor="ctr"/>
          <a:lstStyle/>
          <a:p>
            <a:pPr marL="0" indent="0">
              <a:buNone/>
            </a:pPr>
            <a:r>
              <a:rPr lang="en-US" sz="1680" b="1" dirty="0">
                <a:solidFill>
                  <a:srgbClr val="1A1814"/>
                </a:solidFill>
                <a:latin typeface="Georgia" panose="02040502050405020303" pitchFamily="34" charset="0"/>
                <a:ea typeface="Georgia" panose="02040502050405020303" pitchFamily="34" charset="-122"/>
                <a:cs typeface="Georgia" panose="02040502050405020303" pitchFamily="34" charset="-120"/>
              </a:rPr>
              <a:t>Omzet</a:t>
            </a:r>
            <a:endParaRPr lang="en-US" sz="1680" dirty="0"/>
          </a:p>
        </p:txBody>
      </p:sp>
      <p:sp>
        <p:nvSpPr>
          <p:cNvPr id="11" name="Text 9"/>
          <p:cNvSpPr/>
          <p:nvPr/>
        </p:nvSpPr>
        <p:spPr>
          <a:xfrm>
            <a:off x="609585" y="2438339"/>
            <a:ext cx="5181470" cy="3535592"/>
          </a:xfrm>
          <a:prstGeom prst="rect">
            <a:avLst/>
          </a:prstGeom>
          <a:noFill/>
        </p:spPr>
        <p:txBody>
          <a:bodyPr wrap="square" lIns="0" tIns="0" rIns="0" bIns="0" rtlCol="0" anchor="t"/>
          <a:lstStyle/>
          <a:p>
            <a:pPr marL="342900" indent="-342900">
              <a:spcAft>
                <a:spcPts val="400"/>
              </a:spcAft>
              <a:buSzPct val="100000"/>
              <a:buChar char="•"/>
            </a:pPr>
            <a:r>
              <a:rPr lang="en-US" sz="1380" dirty="0">
                <a:solidFill>
                  <a:srgbClr val="3F382F"/>
                </a:solidFill>
              </a:rPr>
              <a:t>Realistis: 70 pelanggan x Rp33 rb x 30 hari = Rp69,3 jt</a:t>
            </a:r>
            <a:endParaRPr lang="en-US" sz="1380" dirty="0"/>
          </a:p>
          <a:p>
            <a:pPr marL="342900" indent="-342900">
              <a:spcAft>
                <a:spcPts val="400"/>
              </a:spcAft>
              <a:buSzPct val="100000"/>
              <a:buChar char="•"/>
            </a:pPr>
            <a:r>
              <a:rPr lang="en-US" sz="1380" dirty="0">
                <a:solidFill>
                  <a:srgbClr val="3F382F"/>
                </a:solidFill>
              </a:rPr>
              <a:t>Target: 80 pelanggan per hari = Rp80 jt</a:t>
            </a:r>
            <a:endParaRPr lang="en-US" sz="1380" dirty="0"/>
          </a:p>
          <a:p>
            <a:pPr marL="342900" indent="-342900">
              <a:spcAft>
                <a:spcPts val="400"/>
              </a:spcAft>
              <a:buSzPct val="100000"/>
              <a:buChar char="•"/>
            </a:pPr>
            <a:r>
              <a:rPr lang="en-US" sz="1380" dirty="0">
                <a:solidFill>
                  <a:srgbClr val="3F382F"/>
                </a:solidFill>
              </a:rPr>
              <a:t>Push lewat tim marketing dan kerja sama event</a:t>
            </a:r>
            <a:endParaRPr lang="en-US" sz="1380" dirty="0"/>
          </a:p>
          <a:p>
            <a:pPr marL="342900" indent="-342900">
              <a:spcAft>
                <a:spcPts val="400"/>
              </a:spcAft>
              <a:buSzPct val="100000"/>
              <a:buChar char="•"/>
            </a:pPr>
            <a:r>
              <a:rPr lang="en-US" sz="1380" dirty="0">
                <a:solidFill>
                  <a:srgbClr val="3F382F"/>
                </a:solidFill>
              </a:rPr>
              <a:t>Buka 30 hari, 10.00–21.00</a:t>
            </a:r>
            <a:endParaRPr lang="en-US" sz="1380" dirty="0"/>
          </a:p>
        </p:txBody>
      </p:sp>
      <p:sp>
        <p:nvSpPr>
          <p:cNvPr id="12" name="Shape 10"/>
          <p:cNvSpPr/>
          <p:nvPr/>
        </p:nvSpPr>
        <p:spPr>
          <a:xfrm>
            <a:off x="6217765" y="1828754"/>
            <a:ext cx="5547221" cy="4267093"/>
          </a:xfrm>
          <a:prstGeom prst="roundRect">
            <a:avLst>
              <a:gd name="adj" fmla="val 1714"/>
            </a:avLst>
          </a:prstGeom>
          <a:solidFill>
            <a:srgbClr val="2F5D50"/>
          </a:solidFill>
          <a:ln w="9525">
            <a:solidFill>
              <a:srgbClr val="D9CFBF"/>
            </a:solidFill>
            <a:prstDash val="solid"/>
          </a:ln>
        </p:spPr>
        <p:txBody>
          <a:bodyPr/>
          <a:p/>
        </p:txBody>
      </p:sp>
      <p:sp>
        <p:nvSpPr>
          <p:cNvPr id="13" name="Text 11"/>
          <p:cNvSpPr/>
          <p:nvPr/>
        </p:nvSpPr>
        <p:spPr>
          <a:xfrm>
            <a:off x="6400640" y="1950671"/>
            <a:ext cx="5181470" cy="426709"/>
          </a:xfrm>
          <a:prstGeom prst="rect">
            <a:avLst/>
          </a:prstGeom>
          <a:noFill/>
        </p:spPr>
        <p:txBody>
          <a:bodyPr wrap="square" lIns="0" tIns="0" rIns="0" bIns="0" rtlCol="0" anchor="ctr"/>
          <a:lstStyle/>
          <a:p>
            <a:pPr marL="0" indent="0">
              <a:buNone/>
            </a:pPr>
            <a:r>
              <a:rPr lang="en-US" sz="1680" b="1" dirty="0">
                <a:solidFill>
                  <a:srgbClr val="F4EFE6"/>
                </a:solidFill>
                <a:latin typeface="Georgia" panose="02040502050405020303" pitchFamily="34" charset="0"/>
                <a:ea typeface="Georgia" panose="02040502050405020303" pitchFamily="34" charset="-122"/>
                <a:cs typeface="Georgia" panose="02040502050405020303" pitchFamily="34" charset="-120"/>
              </a:rPr>
              <a:t>Cara hitung</a:t>
            </a:r>
            <a:endParaRPr lang="en-US" sz="1680" dirty="0"/>
          </a:p>
        </p:txBody>
      </p:sp>
      <p:sp>
        <p:nvSpPr>
          <p:cNvPr id="14" name="Text 12"/>
          <p:cNvSpPr/>
          <p:nvPr/>
        </p:nvSpPr>
        <p:spPr>
          <a:xfrm>
            <a:off x="6400640" y="2438339"/>
            <a:ext cx="5181470" cy="3535592"/>
          </a:xfrm>
          <a:prstGeom prst="rect">
            <a:avLst/>
          </a:prstGeom>
          <a:noFill/>
        </p:spPr>
        <p:txBody>
          <a:bodyPr wrap="square" lIns="0" tIns="0" rIns="0" bIns="0" rtlCol="0" anchor="t"/>
          <a:lstStyle/>
          <a:p>
            <a:pPr marL="342900" indent="-342900">
              <a:spcAft>
                <a:spcPts val="400"/>
              </a:spcAft>
              <a:buSzPct val="100000"/>
              <a:buChar char="•"/>
            </a:pPr>
            <a:r>
              <a:rPr lang="en-US" sz="1380" dirty="0">
                <a:solidFill>
                  <a:srgbClr val="E7DCC8"/>
                </a:solidFill>
              </a:rPr>
              <a:t>Pengelola 20% omzet: marketing, branding, operasional, biaya POS</a:t>
            </a:r>
            <a:endParaRPr lang="en-US" sz="1380" dirty="0"/>
          </a:p>
          <a:p>
            <a:pPr marL="342900" indent="-342900">
              <a:spcAft>
                <a:spcPts val="400"/>
              </a:spcAft>
              <a:buSzPct val="100000"/>
              <a:buChar char="•"/>
            </a:pPr>
            <a:r>
              <a:rPr lang="en-US" sz="1380" dirty="0">
                <a:solidFill>
                  <a:srgbClr val="E7DCC8"/>
                </a:solidFill>
              </a:rPr>
              <a:t>Karyawan 3 orang + BPJS/THR dihitung terpisah</a:t>
            </a:r>
            <a:endParaRPr lang="en-US" sz="1380" dirty="0"/>
          </a:p>
          <a:p>
            <a:pPr marL="342900" indent="-342900">
              <a:spcAft>
                <a:spcPts val="400"/>
              </a:spcAft>
              <a:buSzPct val="100000"/>
              <a:buChar char="•"/>
            </a:pPr>
            <a:r>
              <a:rPr lang="en-US" sz="1380" dirty="0">
                <a:solidFill>
                  <a:srgbClr val="E7DCC8"/>
                </a:solidFill>
              </a:rPr>
              <a:t>Biaya pemilik: bahan baku, packaging, listrik, air, gas, internet</a:t>
            </a:r>
            <a:endParaRPr lang="en-US" sz="1380" dirty="0"/>
          </a:p>
          <a:p>
            <a:pPr marL="342900" indent="-342900">
              <a:spcAft>
                <a:spcPts val="400"/>
              </a:spcAft>
              <a:buSzPct val="100000"/>
              <a:buChar char="•"/>
            </a:pPr>
            <a:r>
              <a:rPr lang="en-US" sz="1380" dirty="0">
                <a:solidFill>
                  <a:srgbClr val="E7DCC8"/>
                </a:solidFill>
              </a:rPr>
              <a:t>Sisanya net income owner</a:t>
            </a:r>
            <a:endParaRPr lang="en-US" sz="138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EFE6"/>
          </a:solidFill>
        </p:spPr>
        <p:txBody>
          <a:bodyPr/>
          <a:p/>
        </p:txBody>
      </p:sp>
      <p:sp>
        <p:nvSpPr>
          <p:cNvPr id="3" name="Shape 1"/>
          <p:cNvSpPr/>
          <p:nvPr/>
        </p:nvSpPr>
        <p:spPr>
          <a:xfrm>
            <a:off x="0" y="0"/>
            <a:ext cx="91440" cy="6858000"/>
          </a:xfrm>
          <a:prstGeom prst="rect">
            <a:avLst/>
          </a:prstGeom>
          <a:solidFill>
            <a:srgbClr val="C4622D"/>
          </a:solidFill>
        </p:spPr>
        <p:txBody>
          <a:bodyPr/>
          <a:p/>
        </p:txBody>
      </p:sp>
      <p:sp>
        <p:nvSpPr>
          <p:cNvPr id="4" name="Shape 2"/>
          <p:cNvSpPr/>
          <p:nvPr/>
        </p:nvSpPr>
        <p:spPr>
          <a:xfrm>
            <a:off x="0" y="6601968"/>
            <a:ext cx="12191695" cy="256032"/>
          </a:xfrm>
          <a:prstGeom prst="rect">
            <a:avLst/>
          </a:prstGeom>
          <a:solidFill>
            <a:srgbClr val="1A1814"/>
          </a:solidFill>
        </p:spPr>
        <p:txBody>
          <a:bodyPr/>
          <a:p/>
        </p:txBody>
      </p:sp>
      <p:sp>
        <p:nvSpPr>
          <p:cNvPr id="5" name="Text 3"/>
          <p:cNvSpPr/>
          <p:nvPr/>
        </p:nvSpPr>
        <p:spPr>
          <a:xfrm>
            <a:off x="347472" y="6601968"/>
            <a:ext cx="9144000" cy="256032"/>
          </a:xfrm>
          <a:prstGeom prst="rect">
            <a:avLst/>
          </a:prstGeom>
          <a:noFill/>
        </p:spPr>
        <p:txBody>
          <a:bodyPr wrap="square" lIns="0" tIns="0" rIns="0" bIns="0" rtlCol="0" anchor="ctr"/>
          <a:lstStyle/>
          <a:p>
            <a:pPr marL="0" indent="0">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HUNI   ·   Proposal website kos &amp; kontrakan   ·   Oktober 2026</a:t>
            </a:r>
            <a:endParaRPr lang="en-US" sz="1100" dirty="0"/>
          </a:p>
        </p:txBody>
      </p:sp>
      <p:sp>
        <p:nvSpPr>
          <p:cNvPr id="6" name="Text 4"/>
          <p:cNvSpPr/>
          <p:nvPr/>
        </p:nvSpPr>
        <p:spPr>
          <a:xfrm>
            <a:off x="9509760" y="6601968"/>
            <a:ext cx="2331720" cy="256032"/>
          </a:xfrm>
          <a:prstGeom prst="rect">
            <a:avLst/>
          </a:prstGeom>
          <a:noFill/>
        </p:spPr>
        <p:txBody>
          <a:bodyPr wrap="square" lIns="0" tIns="0" rIns="0" bIns="0" rtlCol="0" anchor="ctr"/>
          <a:lstStyle/>
          <a:p>
            <a:pPr marL="0" indent="0" algn="r">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30  /  36</a:t>
            </a:r>
            <a:endParaRPr lang="en-US" sz="1100" dirty="0"/>
          </a:p>
        </p:txBody>
      </p:sp>
      <p:sp>
        <p:nvSpPr>
          <p:cNvPr id="7" name="Text 5"/>
          <p:cNvSpPr/>
          <p:nvPr/>
        </p:nvSpPr>
        <p:spPr>
          <a:xfrm>
            <a:off x="426709" y="304792"/>
            <a:ext cx="11338277" cy="731502"/>
          </a:xfrm>
          <a:prstGeom prst="rect">
            <a:avLst/>
          </a:prstGeom>
          <a:noFill/>
        </p:spPr>
        <p:txBody>
          <a:bodyPr wrap="square" lIns="0" tIns="0" rIns="0" bIns="0" rtlCol="0" anchor="ctr"/>
          <a:lstStyle/>
          <a:p>
            <a:pPr marL="0" indent="0">
              <a:buNone/>
            </a:pPr>
            <a:r>
              <a:rPr lang="en-US" sz="3120" b="1" dirty="0">
                <a:solidFill>
                  <a:srgbClr val="1A1814"/>
                </a:solidFill>
                <a:latin typeface="Georgia" panose="02040502050405020303" pitchFamily="34" charset="0"/>
                <a:ea typeface="Georgia" panose="02040502050405020303" pitchFamily="34" charset="-122"/>
                <a:cs typeface="Georgia" panose="02040502050405020303" pitchFamily="34" charset="-120"/>
              </a:rPr>
              <a:t>Cafe: ringkasan per bulan</a:t>
            </a:r>
            <a:endParaRPr lang="en-US" sz="3120" dirty="0"/>
          </a:p>
        </p:txBody>
      </p:sp>
      <p:sp>
        <p:nvSpPr>
          <p:cNvPr id="8" name="Text 6"/>
          <p:cNvSpPr/>
          <p:nvPr/>
        </p:nvSpPr>
        <p:spPr>
          <a:xfrm>
            <a:off x="426709" y="1072869"/>
            <a:ext cx="11338277" cy="487668"/>
          </a:xfrm>
          <a:prstGeom prst="rect">
            <a:avLst/>
          </a:prstGeom>
          <a:noFill/>
        </p:spPr>
        <p:txBody>
          <a:bodyPr wrap="square" lIns="0" tIns="0" rIns="0" bIns="0" rtlCol="0" anchor="ctr"/>
          <a:lstStyle/>
          <a:p>
            <a:pPr marL="0" indent="0">
              <a:buNone/>
            </a:pPr>
            <a:r>
              <a:rPr lang="en-US" sz="1560" dirty="0">
                <a:solidFill>
                  <a:srgbClr val="6F675C"/>
                </a:solidFill>
                <a:latin typeface="Calibri" panose="020F0502020204030204" pitchFamily="34" charset="0"/>
                <a:ea typeface="Calibri" panose="020F0502020204030204" pitchFamily="34" charset="-122"/>
                <a:cs typeface="Calibri" panose="020F0502020204030204" pitchFamily="34" charset="-120"/>
              </a:rPr>
              <a:t>Omzet dikurangi bagian pengelola, karyawan, dan biaya pemilik.</a:t>
            </a:r>
            <a:endParaRPr lang="en-US" sz="1560" dirty="0"/>
          </a:p>
        </p:txBody>
      </p:sp>
      <p:graphicFrame>
        <p:nvGraphicFramePr>
          <p:cNvPr id="24" name="Table 0"/>
          <p:cNvGraphicFramePr>
            <a:graphicFrameLocks noGrp="1"/>
          </p:cNvGraphicFramePr>
          <p:nvPr/>
        </p:nvGraphicFramePr>
        <p:xfrm>
          <a:off x="426709" y="1828754"/>
          <a:ext cx="11338277" cy="3657510"/>
        </p:xfrm>
        <a:graphic>
          <a:graphicData uri="http://schemas.openxmlformats.org/drawingml/2006/table">
            <a:tbl>
              <a:tblPr/>
              <a:tblGrid>
                <a:gridCol w="6461598"/>
                <a:gridCol w="2438339"/>
                <a:gridCol w="2438339"/>
              </a:tblGrid>
              <a:tr h="609585">
                <a:tc>
                  <a:txBody>
                    <a:bodyPr/>
                    <a:lstStyle/>
                    <a:p>
                      <a:pPr marL="0" indent="0" algn="l">
                        <a:buNone/>
                      </a:pPr>
                      <a:r>
                        <a:rPr lang="en-US" sz="1320" b="1" dirty="0">
                          <a:solidFill>
                            <a:srgbClr val="F4EFE6"/>
                          </a:solidFill>
                        </a:rPr>
                        <a:t>Komponen</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1A1814"/>
                    </a:solidFill>
                  </a:tcPr>
                </a:tc>
                <a:tc>
                  <a:txBody>
                    <a:bodyPr/>
                    <a:lstStyle/>
                    <a:p>
                      <a:pPr marL="0" indent="0" algn="l">
                        <a:buNone/>
                      </a:pPr>
                      <a:r>
                        <a:rPr lang="en-US" sz="1320" b="1" dirty="0">
                          <a:solidFill>
                            <a:srgbClr val="F4EFE6"/>
                          </a:solidFill>
                        </a:rPr>
                        <a:t>Realistis</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1A1814"/>
                    </a:solidFill>
                  </a:tcPr>
                </a:tc>
                <a:tc>
                  <a:txBody>
                    <a:bodyPr/>
                    <a:lstStyle/>
                    <a:p>
                      <a:pPr marL="0" indent="0" algn="l">
                        <a:buNone/>
                      </a:pPr>
                      <a:r>
                        <a:rPr lang="en-US" sz="1320" b="1" dirty="0">
                          <a:solidFill>
                            <a:srgbClr val="F4EFE6"/>
                          </a:solidFill>
                        </a:rPr>
                        <a:t>Target</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1A1814"/>
                    </a:solidFill>
                  </a:tcPr>
                </a:tc>
              </a:tr>
              <a:tr h="609585">
                <a:tc>
                  <a:txBody>
                    <a:bodyPr/>
                    <a:lstStyle/>
                    <a:p>
                      <a:pPr marL="0" indent="0" algn="l">
                        <a:buNone/>
                      </a:pPr>
                      <a:r>
                        <a:rPr lang="en-US" sz="1320" dirty="0">
                          <a:solidFill>
                            <a:srgbClr val="1A1814"/>
                          </a:solidFill>
                        </a:rPr>
                        <a:t>Omzet / bulan</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r">
                        <a:buNone/>
                      </a:pPr>
                      <a:r>
                        <a:rPr lang="en-US" sz="1320" dirty="0">
                          <a:solidFill>
                            <a:srgbClr val="1A1814"/>
                          </a:solidFill>
                        </a:rPr>
                        <a:t>69,30 jt</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r">
                        <a:buNone/>
                      </a:pPr>
                      <a:r>
                        <a:rPr lang="en-US" sz="1320" dirty="0">
                          <a:solidFill>
                            <a:srgbClr val="1A1814"/>
                          </a:solidFill>
                        </a:rPr>
                        <a:t>80,00 jt</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r>
              <a:tr h="609585">
                <a:tc>
                  <a:txBody>
                    <a:bodyPr/>
                    <a:lstStyle/>
                    <a:p>
                      <a:pPr marL="0" indent="0" algn="l">
                        <a:buNone/>
                      </a:pPr>
                      <a:r>
                        <a:rPr lang="en-US" sz="1320" dirty="0">
                          <a:solidFill>
                            <a:srgbClr val="1A1814"/>
                          </a:solidFill>
                        </a:rPr>
                        <a:t>Bagian pengelola 20% (marketing, branding, operasional, POS)</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c>
                  <a:txBody>
                    <a:bodyPr/>
                    <a:lstStyle/>
                    <a:p>
                      <a:pPr marL="0" indent="0" algn="r">
                        <a:buNone/>
                      </a:pPr>
                      <a:r>
                        <a:rPr lang="en-US" sz="1320" dirty="0">
                          <a:solidFill>
                            <a:srgbClr val="1A1814"/>
                          </a:solidFill>
                        </a:rPr>
                        <a:t>13,86 jt</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c>
                  <a:txBody>
                    <a:bodyPr/>
                    <a:lstStyle/>
                    <a:p>
                      <a:pPr marL="0" indent="0" algn="r">
                        <a:buNone/>
                      </a:pPr>
                      <a:r>
                        <a:rPr lang="en-US" sz="1320" dirty="0">
                          <a:solidFill>
                            <a:srgbClr val="1A1814"/>
                          </a:solidFill>
                        </a:rPr>
                        <a:t>16,00 jt</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r>
              <a:tr h="609585">
                <a:tc>
                  <a:txBody>
                    <a:bodyPr/>
                    <a:lstStyle/>
                    <a:p>
                      <a:pPr marL="0" indent="0" algn="l">
                        <a:buNone/>
                      </a:pPr>
                      <a:r>
                        <a:rPr lang="en-US" sz="1320" dirty="0">
                          <a:solidFill>
                            <a:srgbClr val="1A1814"/>
                          </a:solidFill>
                        </a:rPr>
                        <a:t>Karyawan 3 orang + BPJS/THR</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r">
                        <a:buNone/>
                      </a:pPr>
                      <a:r>
                        <a:rPr lang="en-US" sz="1320" dirty="0">
                          <a:solidFill>
                            <a:srgbClr val="1A1814"/>
                          </a:solidFill>
                        </a:rPr>
                        <a:t>8,47 jt</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r">
                        <a:buNone/>
                      </a:pPr>
                      <a:r>
                        <a:rPr lang="en-US" sz="1320" dirty="0">
                          <a:solidFill>
                            <a:srgbClr val="1A1814"/>
                          </a:solidFill>
                        </a:rPr>
                        <a:t>8,47 jt</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r>
              <a:tr h="609585">
                <a:tc>
                  <a:txBody>
                    <a:bodyPr/>
                    <a:lstStyle/>
                    <a:p>
                      <a:pPr marL="0" indent="0" algn="l">
                        <a:buNone/>
                      </a:pPr>
                      <a:r>
                        <a:rPr lang="en-US" sz="1320" dirty="0">
                          <a:solidFill>
                            <a:srgbClr val="1A1814"/>
                          </a:solidFill>
                        </a:rPr>
                        <a:t>Biaya pemilik (bahan, listrik, dll)</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c>
                  <a:txBody>
                    <a:bodyPr/>
                    <a:lstStyle/>
                    <a:p>
                      <a:pPr marL="0" indent="0" algn="r">
                        <a:buNone/>
                      </a:pPr>
                      <a:r>
                        <a:rPr lang="en-US" sz="1320" dirty="0">
                          <a:solidFill>
                            <a:srgbClr val="1A1814"/>
                          </a:solidFill>
                        </a:rPr>
                        <a:t>30,43 jt</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c>
                  <a:txBody>
                    <a:bodyPr/>
                    <a:lstStyle/>
                    <a:p>
                      <a:pPr marL="0" indent="0" algn="r">
                        <a:buNone/>
                      </a:pPr>
                      <a:r>
                        <a:rPr lang="en-US" sz="1320" dirty="0">
                          <a:solidFill>
                            <a:srgbClr val="1A1814"/>
                          </a:solidFill>
                        </a:rPr>
                        <a:t>34,50 jt</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r>
              <a:tr h="609585">
                <a:tc>
                  <a:txBody>
                    <a:bodyPr/>
                    <a:lstStyle/>
                    <a:p>
                      <a:pPr marL="0" indent="0" algn="l">
                        <a:buNone/>
                      </a:pPr>
                      <a:r>
                        <a:rPr lang="en-US" sz="1320" b="1" dirty="0">
                          <a:solidFill>
                            <a:srgbClr val="1A1814"/>
                          </a:solidFill>
                        </a:rPr>
                        <a:t>Net income owner</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r">
                        <a:buNone/>
                      </a:pPr>
                      <a:r>
                        <a:rPr lang="en-US" sz="1320" b="1" dirty="0">
                          <a:solidFill>
                            <a:srgbClr val="1A1814"/>
                          </a:solidFill>
                        </a:rPr>
                        <a:t>16,54 jt</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r">
                        <a:buNone/>
                      </a:pPr>
                      <a:r>
                        <a:rPr lang="en-US" sz="1320" b="1" dirty="0">
                          <a:solidFill>
                            <a:srgbClr val="1A1814"/>
                          </a:solidFill>
                        </a:rPr>
                        <a:t>21,03 jt</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r>
            </a:tbl>
          </a:graphicData>
        </a:graphic>
      </p:graphicFrame>
      <p:sp>
        <p:nvSpPr>
          <p:cNvPr id="10" name="Text 7"/>
          <p:cNvSpPr/>
          <p:nvPr/>
        </p:nvSpPr>
        <p:spPr>
          <a:xfrm>
            <a:off x="426709" y="5730097"/>
            <a:ext cx="11338277" cy="426709"/>
          </a:xfrm>
          <a:prstGeom prst="rect">
            <a:avLst/>
          </a:prstGeom>
          <a:noFill/>
        </p:spPr>
        <p:txBody>
          <a:bodyPr wrap="square" lIns="0" tIns="0" rIns="0" bIns="0" rtlCol="0" anchor="ctr"/>
          <a:lstStyle/>
          <a:p>
            <a:pPr marL="0" indent="0">
              <a:buNone/>
            </a:pPr>
            <a:r>
              <a:rPr lang="en-US" sz="1560" b="1" dirty="0">
                <a:solidFill>
                  <a:srgbClr val="2F5D50"/>
                </a:solidFill>
                <a:latin typeface="Calibri" panose="020F0502020204030204" pitchFamily="34" charset="0"/>
                <a:ea typeface="Calibri" panose="020F0502020204030204" pitchFamily="34" charset="-122"/>
                <a:cs typeface="Calibri" panose="020F0502020204030204" pitchFamily="34" charset="-120"/>
              </a:rPr>
              <a:t>Setahun: net owner 198,43 jt (realistis) / 252,36 jt (target).</a:t>
            </a:r>
            <a:endParaRPr lang="en-US" sz="156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EFE6"/>
          </a:solidFill>
        </p:spPr>
        <p:txBody>
          <a:bodyPr/>
          <a:p/>
        </p:txBody>
      </p:sp>
      <p:sp>
        <p:nvSpPr>
          <p:cNvPr id="3" name="Shape 1"/>
          <p:cNvSpPr/>
          <p:nvPr/>
        </p:nvSpPr>
        <p:spPr>
          <a:xfrm>
            <a:off x="0" y="0"/>
            <a:ext cx="91440" cy="6858000"/>
          </a:xfrm>
          <a:prstGeom prst="rect">
            <a:avLst/>
          </a:prstGeom>
          <a:solidFill>
            <a:srgbClr val="C4622D"/>
          </a:solidFill>
        </p:spPr>
        <p:txBody>
          <a:bodyPr/>
          <a:p/>
        </p:txBody>
      </p:sp>
      <p:sp>
        <p:nvSpPr>
          <p:cNvPr id="4" name="Shape 2"/>
          <p:cNvSpPr/>
          <p:nvPr/>
        </p:nvSpPr>
        <p:spPr>
          <a:xfrm>
            <a:off x="0" y="6601968"/>
            <a:ext cx="12191695" cy="256032"/>
          </a:xfrm>
          <a:prstGeom prst="rect">
            <a:avLst/>
          </a:prstGeom>
          <a:solidFill>
            <a:srgbClr val="1A1814"/>
          </a:solidFill>
        </p:spPr>
        <p:txBody>
          <a:bodyPr/>
          <a:p/>
        </p:txBody>
      </p:sp>
      <p:sp>
        <p:nvSpPr>
          <p:cNvPr id="5" name="Text 3"/>
          <p:cNvSpPr/>
          <p:nvPr/>
        </p:nvSpPr>
        <p:spPr>
          <a:xfrm>
            <a:off x="347472" y="6601968"/>
            <a:ext cx="9144000" cy="256032"/>
          </a:xfrm>
          <a:prstGeom prst="rect">
            <a:avLst/>
          </a:prstGeom>
          <a:noFill/>
        </p:spPr>
        <p:txBody>
          <a:bodyPr wrap="square" lIns="0" tIns="0" rIns="0" bIns="0" rtlCol="0" anchor="ctr"/>
          <a:lstStyle/>
          <a:p>
            <a:pPr marL="0" indent="0">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HUNI   ·   Proposal website kos &amp; kontrakan   ·   Oktober 2026</a:t>
            </a:r>
            <a:endParaRPr lang="en-US" sz="1100" dirty="0"/>
          </a:p>
        </p:txBody>
      </p:sp>
      <p:sp>
        <p:nvSpPr>
          <p:cNvPr id="6" name="Text 4"/>
          <p:cNvSpPr/>
          <p:nvPr/>
        </p:nvSpPr>
        <p:spPr>
          <a:xfrm>
            <a:off x="9509760" y="6601968"/>
            <a:ext cx="2331720" cy="256032"/>
          </a:xfrm>
          <a:prstGeom prst="rect">
            <a:avLst/>
          </a:prstGeom>
          <a:noFill/>
        </p:spPr>
        <p:txBody>
          <a:bodyPr wrap="square" lIns="0" tIns="0" rIns="0" bIns="0" rtlCol="0" anchor="ctr"/>
          <a:lstStyle/>
          <a:p>
            <a:pPr marL="0" indent="0" algn="r">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31  /  36</a:t>
            </a:r>
            <a:endParaRPr lang="en-US" sz="1100" dirty="0"/>
          </a:p>
        </p:txBody>
      </p:sp>
      <p:sp>
        <p:nvSpPr>
          <p:cNvPr id="7" name="Text 5"/>
          <p:cNvSpPr/>
          <p:nvPr/>
        </p:nvSpPr>
        <p:spPr>
          <a:xfrm>
            <a:off x="426709" y="304792"/>
            <a:ext cx="11338277" cy="731502"/>
          </a:xfrm>
          <a:prstGeom prst="rect">
            <a:avLst/>
          </a:prstGeom>
          <a:noFill/>
        </p:spPr>
        <p:txBody>
          <a:bodyPr wrap="square" lIns="0" tIns="0" rIns="0" bIns="0" rtlCol="0" anchor="ctr"/>
          <a:lstStyle/>
          <a:p>
            <a:pPr marL="0" indent="0">
              <a:buNone/>
            </a:pPr>
            <a:r>
              <a:rPr lang="en-US" sz="3120" b="1" dirty="0">
                <a:solidFill>
                  <a:srgbClr val="1A1814"/>
                </a:solidFill>
                <a:latin typeface="Georgia" panose="02040502050405020303" pitchFamily="34" charset="0"/>
                <a:ea typeface="Georgia" panose="02040502050405020303" pitchFamily="34" charset="-122"/>
                <a:cs typeface="Georgia" panose="02040502050405020303" pitchFamily="34" charset="-120"/>
              </a:rPr>
              <a:t>Cafe: 20% pengelola dipakai untuk apa</a:t>
            </a:r>
            <a:endParaRPr lang="en-US" sz="3120" dirty="0"/>
          </a:p>
        </p:txBody>
      </p:sp>
      <p:sp>
        <p:nvSpPr>
          <p:cNvPr id="8" name="Text 6"/>
          <p:cNvSpPr/>
          <p:nvPr/>
        </p:nvSpPr>
        <p:spPr>
          <a:xfrm>
            <a:off x="426709" y="1072869"/>
            <a:ext cx="11338277" cy="487668"/>
          </a:xfrm>
          <a:prstGeom prst="rect">
            <a:avLst/>
          </a:prstGeom>
          <a:noFill/>
        </p:spPr>
        <p:txBody>
          <a:bodyPr wrap="square" lIns="0" tIns="0" rIns="0" bIns="0" rtlCol="0" anchor="ctr"/>
          <a:lstStyle/>
          <a:p>
            <a:pPr marL="0" indent="0">
              <a:buNone/>
            </a:pPr>
            <a:r>
              <a:rPr lang="en-US" sz="1560" dirty="0">
                <a:solidFill>
                  <a:srgbClr val="6F675C"/>
                </a:solidFill>
                <a:latin typeface="Calibri" panose="020F0502020204030204" pitchFamily="34" charset="0"/>
                <a:ea typeface="Calibri" panose="020F0502020204030204" pitchFamily="34" charset="-122"/>
                <a:cs typeface="Calibri" panose="020F0502020204030204" pitchFamily="34" charset="-120"/>
              </a:rPr>
              <a:t>Operasional 8 · marketing &amp; event 7 · branding 3 · POS &amp; dashboard 2.</a:t>
            </a:r>
            <a:endParaRPr lang="en-US" sz="1560" dirty="0"/>
          </a:p>
        </p:txBody>
      </p:sp>
      <p:graphicFrame>
        <p:nvGraphicFramePr>
          <p:cNvPr id="25" name="Table 0"/>
          <p:cNvGraphicFramePr>
            <a:graphicFrameLocks noGrp="1"/>
          </p:cNvGraphicFramePr>
          <p:nvPr/>
        </p:nvGraphicFramePr>
        <p:xfrm>
          <a:off x="426709" y="1767796"/>
          <a:ext cx="11338277" cy="3072306"/>
        </p:xfrm>
        <a:graphic>
          <a:graphicData uri="http://schemas.openxmlformats.org/drawingml/2006/table">
            <a:tbl>
              <a:tblPr/>
              <a:tblGrid>
                <a:gridCol w="5486263"/>
                <a:gridCol w="1341086"/>
                <a:gridCol w="2255464"/>
                <a:gridCol w="2255464"/>
              </a:tblGrid>
              <a:tr h="512051">
                <a:tc>
                  <a:txBody>
                    <a:bodyPr/>
                    <a:lstStyle/>
                    <a:p>
                      <a:pPr marL="0" indent="0" algn="l">
                        <a:buNone/>
                      </a:pPr>
                      <a:r>
                        <a:rPr lang="en-US" sz="1320" b="1" dirty="0">
                          <a:solidFill>
                            <a:srgbClr val="F4EFE6"/>
                          </a:solidFill>
                        </a:rPr>
                        <a:t>Pos (dari 20%)</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1A1814"/>
                    </a:solidFill>
                  </a:tcPr>
                </a:tc>
                <a:tc>
                  <a:txBody>
                    <a:bodyPr/>
                    <a:lstStyle/>
                    <a:p>
                      <a:pPr marL="0" indent="0" algn="l">
                        <a:buNone/>
                      </a:pPr>
                      <a:r>
                        <a:rPr lang="en-US" sz="1320" b="1" dirty="0">
                          <a:solidFill>
                            <a:srgbClr val="F4EFE6"/>
                          </a:solidFill>
                        </a:rPr>
                        <a:t>Porsi</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1A1814"/>
                    </a:solidFill>
                  </a:tcPr>
                </a:tc>
                <a:tc>
                  <a:txBody>
                    <a:bodyPr/>
                    <a:lstStyle/>
                    <a:p>
                      <a:pPr marL="0" indent="0" algn="l">
                        <a:buNone/>
                      </a:pPr>
                      <a:r>
                        <a:rPr lang="en-US" sz="1320" b="1" dirty="0">
                          <a:solidFill>
                            <a:srgbClr val="F4EFE6"/>
                          </a:solidFill>
                        </a:rPr>
                        <a:t>Realistis</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1A1814"/>
                    </a:solidFill>
                  </a:tcPr>
                </a:tc>
                <a:tc>
                  <a:txBody>
                    <a:bodyPr/>
                    <a:lstStyle/>
                    <a:p>
                      <a:pPr marL="0" indent="0" algn="l">
                        <a:buNone/>
                      </a:pPr>
                      <a:r>
                        <a:rPr lang="en-US" sz="1320" b="1" dirty="0">
                          <a:solidFill>
                            <a:srgbClr val="F4EFE6"/>
                          </a:solidFill>
                        </a:rPr>
                        <a:t>Target</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1A1814"/>
                    </a:solidFill>
                  </a:tcPr>
                </a:tc>
              </a:tr>
              <a:tr h="512051">
                <a:tc>
                  <a:txBody>
                    <a:bodyPr/>
                    <a:lstStyle/>
                    <a:p>
                      <a:pPr marL="0" indent="0" algn="l">
                        <a:buNone/>
                      </a:pPr>
                      <a:r>
                        <a:rPr lang="en-US" sz="1320" dirty="0">
                          <a:solidFill>
                            <a:srgbClr val="1A1814"/>
                          </a:solidFill>
                        </a:rPr>
                        <a:t>Operasional (PPIC, pengawasan harian)</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r">
                        <a:buNone/>
                      </a:pPr>
                      <a:r>
                        <a:rPr lang="en-US" sz="1320" dirty="0">
                          <a:solidFill>
                            <a:srgbClr val="1A1814"/>
                          </a:solidFill>
                        </a:rPr>
                        <a:t>8%</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r">
                        <a:buNone/>
                      </a:pPr>
                      <a:r>
                        <a:rPr lang="en-US" sz="1320" dirty="0">
                          <a:solidFill>
                            <a:srgbClr val="1A1814"/>
                          </a:solidFill>
                        </a:rPr>
                        <a:t>5,54 jt</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r">
                        <a:buNone/>
                      </a:pPr>
                      <a:r>
                        <a:rPr lang="en-US" sz="1320" dirty="0">
                          <a:solidFill>
                            <a:srgbClr val="1A1814"/>
                          </a:solidFill>
                        </a:rPr>
                        <a:t>6,40 jt</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r>
              <a:tr h="512051">
                <a:tc>
                  <a:txBody>
                    <a:bodyPr/>
                    <a:lstStyle/>
                    <a:p>
                      <a:pPr marL="0" indent="0" algn="l">
                        <a:buNone/>
                      </a:pPr>
                      <a:r>
                        <a:rPr lang="en-US" sz="1320" dirty="0">
                          <a:solidFill>
                            <a:srgbClr val="1A1814"/>
                          </a:solidFill>
                        </a:rPr>
                        <a:t>Marketing &amp; event (tim marketing, partner)</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c>
                  <a:txBody>
                    <a:bodyPr/>
                    <a:lstStyle/>
                    <a:p>
                      <a:pPr marL="0" indent="0" algn="r">
                        <a:buNone/>
                      </a:pPr>
                      <a:r>
                        <a:rPr lang="en-US" sz="1320" dirty="0">
                          <a:solidFill>
                            <a:srgbClr val="1A1814"/>
                          </a:solidFill>
                        </a:rPr>
                        <a:t>7%</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c>
                  <a:txBody>
                    <a:bodyPr/>
                    <a:lstStyle/>
                    <a:p>
                      <a:pPr marL="0" indent="0" algn="r">
                        <a:buNone/>
                      </a:pPr>
                      <a:r>
                        <a:rPr lang="en-US" sz="1320" dirty="0">
                          <a:solidFill>
                            <a:srgbClr val="1A1814"/>
                          </a:solidFill>
                        </a:rPr>
                        <a:t>4,85 jt</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c>
                  <a:txBody>
                    <a:bodyPr/>
                    <a:lstStyle/>
                    <a:p>
                      <a:pPr marL="0" indent="0" algn="r">
                        <a:buNone/>
                      </a:pPr>
                      <a:r>
                        <a:rPr lang="en-US" sz="1320" dirty="0">
                          <a:solidFill>
                            <a:srgbClr val="1A1814"/>
                          </a:solidFill>
                        </a:rPr>
                        <a:t>5,60 jt</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r>
              <a:tr h="512051">
                <a:tc>
                  <a:txBody>
                    <a:bodyPr/>
                    <a:lstStyle/>
                    <a:p>
                      <a:pPr marL="0" indent="0" algn="l">
                        <a:buNone/>
                      </a:pPr>
                      <a:r>
                        <a:rPr lang="en-US" sz="1320" dirty="0">
                          <a:solidFill>
                            <a:srgbClr val="1A1814"/>
                          </a:solidFill>
                        </a:rPr>
                        <a:t>Branding (konten, desain, media)</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r">
                        <a:buNone/>
                      </a:pPr>
                      <a:r>
                        <a:rPr lang="en-US" sz="1320" dirty="0">
                          <a:solidFill>
                            <a:srgbClr val="1A1814"/>
                          </a:solidFill>
                        </a:rPr>
                        <a:t>3%</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r">
                        <a:buNone/>
                      </a:pPr>
                      <a:r>
                        <a:rPr lang="en-US" sz="1320" dirty="0">
                          <a:solidFill>
                            <a:srgbClr val="1A1814"/>
                          </a:solidFill>
                        </a:rPr>
                        <a:t>2,08 jt</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r">
                        <a:buNone/>
                      </a:pPr>
                      <a:r>
                        <a:rPr lang="en-US" sz="1320" dirty="0">
                          <a:solidFill>
                            <a:srgbClr val="1A1814"/>
                          </a:solidFill>
                        </a:rPr>
                        <a:t>2,40 jt</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r>
              <a:tr h="512051">
                <a:tc>
                  <a:txBody>
                    <a:bodyPr/>
                    <a:lstStyle/>
                    <a:p>
                      <a:pPr marL="0" indent="0" algn="l">
                        <a:buNone/>
                      </a:pPr>
                      <a:r>
                        <a:rPr lang="en-US" sz="1320" dirty="0">
                          <a:solidFill>
                            <a:srgbClr val="1A1814"/>
                          </a:solidFill>
                        </a:rPr>
                        <a:t>Biaya POS &amp; dashboard</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c>
                  <a:txBody>
                    <a:bodyPr/>
                    <a:lstStyle/>
                    <a:p>
                      <a:pPr marL="0" indent="0" algn="r">
                        <a:buNone/>
                      </a:pPr>
                      <a:r>
                        <a:rPr lang="en-US" sz="1320" dirty="0">
                          <a:solidFill>
                            <a:srgbClr val="1A1814"/>
                          </a:solidFill>
                        </a:rPr>
                        <a:t>2%</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c>
                  <a:txBody>
                    <a:bodyPr/>
                    <a:lstStyle/>
                    <a:p>
                      <a:pPr marL="0" indent="0" algn="r">
                        <a:buNone/>
                      </a:pPr>
                      <a:r>
                        <a:rPr lang="en-US" sz="1320" dirty="0">
                          <a:solidFill>
                            <a:srgbClr val="1A1814"/>
                          </a:solidFill>
                        </a:rPr>
                        <a:t>1,39 jt</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c>
                  <a:txBody>
                    <a:bodyPr/>
                    <a:lstStyle/>
                    <a:p>
                      <a:pPr marL="0" indent="0" algn="r">
                        <a:buNone/>
                      </a:pPr>
                      <a:r>
                        <a:rPr lang="en-US" sz="1320" dirty="0">
                          <a:solidFill>
                            <a:srgbClr val="1A1814"/>
                          </a:solidFill>
                        </a:rPr>
                        <a:t>1,60 jt</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r>
              <a:tr h="512051">
                <a:tc>
                  <a:txBody>
                    <a:bodyPr/>
                    <a:lstStyle/>
                    <a:p>
                      <a:pPr marL="0" indent="0" algn="l">
                        <a:buNone/>
                      </a:pPr>
                      <a:r>
                        <a:rPr lang="en-US" sz="1320" b="1" dirty="0">
                          <a:solidFill>
                            <a:srgbClr val="1A1814"/>
                          </a:solidFill>
                        </a:rPr>
                        <a:t>Total bagian pengelola</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r">
                        <a:buNone/>
                      </a:pPr>
                      <a:r>
                        <a:rPr lang="en-US" sz="1320" b="1" dirty="0">
                          <a:solidFill>
                            <a:srgbClr val="1A1814"/>
                          </a:solidFill>
                        </a:rPr>
                        <a:t>20%</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r">
                        <a:buNone/>
                      </a:pPr>
                      <a:r>
                        <a:rPr lang="en-US" sz="1320" b="1" dirty="0">
                          <a:solidFill>
                            <a:srgbClr val="1A1814"/>
                          </a:solidFill>
                        </a:rPr>
                        <a:t>13,86 jt</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r">
                        <a:buNone/>
                      </a:pPr>
                      <a:r>
                        <a:rPr lang="en-US" sz="1320" b="1" dirty="0">
                          <a:solidFill>
                            <a:srgbClr val="1A1814"/>
                          </a:solidFill>
                        </a:rPr>
                        <a:t>16,00 jt</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r>
            </a:tbl>
          </a:graphicData>
        </a:graphic>
      </p:graphicFrame>
      <p:graphicFrame>
        <p:nvGraphicFramePr>
          <p:cNvPr id="10" name="Chart 0"/>
          <p:cNvGraphicFramePr/>
          <p:nvPr/>
        </p:nvGraphicFramePr>
        <p:xfrm>
          <a:off x="426709" y="4998595"/>
          <a:ext cx="11338277" cy="1402045"/>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EFE6"/>
          </a:solidFill>
        </p:spPr>
        <p:txBody>
          <a:bodyPr/>
          <a:p/>
        </p:txBody>
      </p:sp>
      <p:sp>
        <p:nvSpPr>
          <p:cNvPr id="3" name="Shape 1"/>
          <p:cNvSpPr/>
          <p:nvPr/>
        </p:nvSpPr>
        <p:spPr>
          <a:xfrm>
            <a:off x="0" y="0"/>
            <a:ext cx="91440" cy="6858000"/>
          </a:xfrm>
          <a:prstGeom prst="rect">
            <a:avLst/>
          </a:prstGeom>
          <a:solidFill>
            <a:srgbClr val="C4622D"/>
          </a:solidFill>
        </p:spPr>
        <p:txBody>
          <a:bodyPr/>
          <a:p/>
        </p:txBody>
      </p:sp>
      <p:sp>
        <p:nvSpPr>
          <p:cNvPr id="4" name="Shape 2"/>
          <p:cNvSpPr/>
          <p:nvPr/>
        </p:nvSpPr>
        <p:spPr>
          <a:xfrm>
            <a:off x="0" y="6601968"/>
            <a:ext cx="12191695" cy="256032"/>
          </a:xfrm>
          <a:prstGeom prst="rect">
            <a:avLst/>
          </a:prstGeom>
          <a:solidFill>
            <a:srgbClr val="1A1814"/>
          </a:solidFill>
        </p:spPr>
        <p:txBody>
          <a:bodyPr/>
          <a:p/>
        </p:txBody>
      </p:sp>
      <p:sp>
        <p:nvSpPr>
          <p:cNvPr id="5" name="Text 3"/>
          <p:cNvSpPr/>
          <p:nvPr/>
        </p:nvSpPr>
        <p:spPr>
          <a:xfrm>
            <a:off x="347472" y="6601968"/>
            <a:ext cx="9144000" cy="256032"/>
          </a:xfrm>
          <a:prstGeom prst="rect">
            <a:avLst/>
          </a:prstGeom>
          <a:noFill/>
        </p:spPr>
        <p:txBody>
          <a:bodyPr wrap="square" lIns="0" tIns="0" rIns="0" bIns="0" rtlCol="0" anchor="ctr"/>
          <a:lstStyle/>
          <a:p>
            <a:pPr marL="0" indent="0">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HUNI   ·   Proposal website kos &amp; kontrakan   ·   Oktober 2026</a:t>
            </a:r>
            <a:endParaRPr lang="en-US" sz="1100" dirty="0"/>
          </a:p>
        </p:txBody>
      </p:sp>
      <p:sp>
        <p:nvSpPr>
          <p:cNvPr id="6" name="Text 4"/>
          <p:cNvSpPr/>
          <p:nvPr/>
        </p:nvSpPr>
        <p:spPr>
          <a:xfrm>
            <a:off x="9509760" y="6601968"/>
            <a:ext cx="2331720" cy="256032"/>
          </a:xfrm>
          <a:prstGeom prst="rect">
            <a:avLst/>
          </a:prstGeom>
          <a:noFill/>
        </p:spPr>
        <p:txBody>
          <a:bodyPr wrap="square" lIns="0" tIns="0" rIns="0" bIns="0" rtlCol="0" anchor="ctr"/>
          <a:lstStyle/>
          <a:p>
            <a:pPr marL="0" indent="0" algn="r">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32  /  36</a:t>
            </a:r>
            <a:endParaRPr lang="en-US" sz="1100" dirty="0"/>
          </a:p>
        </p:txBody>
      </p:sp>
      <p:sp>
        <p:nvSpPr>
          <p:cNvPr id="7" name="Text 5"/>
          <p:cNvSpPr/>
          <p:nvPr/>
        </p:nvSpPr>
        <p:spPr>
          <a:xfrm>
            <a:off x="426709" y="304792"/>
            <a:ext cx="11338277" cy="731502"/>
          </a:xfrm>
          <a:prstGeom prst="rect">
            <a:avLst/>
          </a:prstGeom>
          <a:noFill/>
        </p:spPr>
        <p:txBody>
          <a:bodyPr wrap="square" lIns="0" tIns="0" rIns="0" bIns="0" rtlCol="0" anchor="ctr"/>
          <a:lstStyle/>
          <a:p>
            <a:pPr marL="0" indent="0">
              <a:buNone/>
            </a:pPr>
            <a:r>
              <a:rPr lang="en-US" sz="3120" b="1" dirty="0">
                <a:solidFill>
                  <a:srgbClr val="1A1814"/>
                </a:solidFill>
                <a:latin typeface="Georgia" panose="02040502050405020303" pitchFamily="34" charset="0"/>
                <a:ea typeface="Georgia" panose="02040502050405020303" pitchFamily="34" charset="-122"/>
                <a:cs typeface="Georgia" panose="02040502050405020303" pitchFamily="34" charset="-120"/>
              </a:rPr>
              <a:t>Cafe: biaya pemilik</a:t>
            </a:r>
            <a:endParaRPr lang="en-US" sz="3120" dirty="0"/>
          </a:p>
        </p:txBody>
      </p:sp>
      <p:sp>
        <p:nvSpPr>
          <p:cNvPr id="8" name="Text 6"/>
          <p:cNvSpPr/>
          <p:nvPr/>
        </p:nvSpPr>
        <p:spPr>
          <a:xfrm>
            <a:off x="426709" y="1072869"/>
            <a:ext cx="11338277" cy="487668"/>
          </a:xfrm>
          <a:prstGeom prst="rect">
            <a:avLst/>
          </a:prstGeom>
          <a:noFill/>
        </p:spPr>
        <p:txBody>
          <a:bodyPr wrap="square" lIns="0" tIns="0" rIns="0" bIns="0" rtlCol="0" anchor="ctr"/>
          <a:lstStyle/>
          <a:p>
            <a:pPr marL="0" indent="0">
              <a:buNone/>
            </a:pPr>
            <a:r>
              <a:rPr lang="en-US" sz="1560" dirty="0">
                <a:solidFill>
                  <a:srgbClr val="6F675C"/>
                </a:solidFill>
                <a:latin typeface="Calibri" panose="020F0502020204030204" pitchFamily="34" charset="0"/>
                <a:ea typeface="Calibri" panose="020F0502020204030204" pitchFamily="34" charset="-122"/>
                <a:cs typeface="Calibri" panose="020F0502020204030204" pitchFamily="34" charset="-120"/>
              </a:rPr>
              <a:t>Bahan baku, packaging, dan biaya tetap.</a:t>
            </a:r>
            <a:endParaRPr lang="en-US" sz="1560" dirty="0"/>
          </a:p>
        </p:txBody>
      </p:sp>
      <p:graphicFrame>
        <p:nvGraphicFramePr>
          <p:cNvPr id="26" name="Table 0"/>
          <p:cNvGraphicFramePr>
            <a:graphicFrameLocks noGrp="1"/>
          </p:cNvGraphicFramePr>
          <p:nvPr/>
        </p:nvGraphicFramePr>
        <p:xfrm>
          <a:off x="426709" y="1828754"/>
          <a:ext cx="11338277" cy="3840382"/>
        </p:xfrm>
        <a:graphic>
          <a:graphicData uri="http://schemas.openxmlformats.org/drawingml/2006/table">
            <a:tbl>
              <a:tblPr/>
              <a:tblGrid>
                <a:gridCol w="6461598"/>
                <a:gridCol w="2438339"/>
                <a:gridCol w="2438339"/>
              </a:tblGrid>
              <a:tr h="548626">
                <a:tc>
                  <a:txBody>
                    <a:bodyPr/>
                    <a:lstStyle/>
                    <a:p>
                      <a:pPr marL="0" indent="0" algn="l">
                        <a:buNone/>
                      </a:pPr>
                      <a:r>
                        <a:rPr lang="en-US" sz="1320" b="1" dirty="0">
                          <a:solidFill>
                            <a:srgbClr val="F4EFE6"/>
                          </a:solidFill>
                        </a:rPr>
                        <a:t>Pos</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1A1814"/>
                    </a:solidFill>
                  </a:tcPr>
                </a:tc>
                <a:tc>
                  <a:txBody>
                    <a:bodyPr/>
                    <a:lstStyle/>
                    <a:p>
                      <a:pPr marL="0" indent="0" algn="l">
                        <a:buNone/>
                      </a:pPr>
                      <a:r>
                        <a:rPr lang="en-US" sz="1320" b="1" dirty="0">
                          <a:solidFill>
                            <a:srgbClr val="F4EFE6"/>
                          </a:solidFill>
                        </a:rPr>
                        <a:t>Realistis</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1A1814"/>
                    </a:solidFill>
                  </a:tcPr>
                </a:tc>
                <a:tc>
                  <a:txBody>
                    <a:bodyPr/>
                    <a:lstStyle/>
                    <a:p>
                      <a:pPr marL="0" indent="0" algn="l">
                        <a:buNone/>
                      </a:pPr>
                      <a:r>
                        <a:rPr lang="en-US" sz="1320" b="1" dirty="0">
                          <a:solidFill>
                            <a:srgbClr val="F4EFE6"/>
                          </a:solidFill>
                        </a:rPr>
                        <a:t>Target</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1A1814"/>
                    </a:solidFill>
                  </a:tcPr>
                </a:tc>
              </a:tr>
              <a:tr h="548626">
                <a:tc>
                  <a:txBody>
                    <a:bodyPr/>
                    <a:lstStyle/>
                    <a:p>
                      <a:pPr marL="0" indent="0" algn="l">
                        <a:buNone/>
                      </a:pPr>
                      <a:r>
                        <a:rPr lang="en-US" sz="1320" dirty="0">
                          <a:solidFill>
                            <a:srgbClr val="1A1814"/>
                          </a:solidFill>
                        </a:rPr>
                        <a:t>Bahan baku (35%)</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r">
                        <a:buNone/>
                      </a:pPr>
                      <a:r>
                        <a:rPr lang="en-US" sz="1320" dirty="0">
                          <a:solidFill>
                            <a:srgbClr val="1A1814"/>
                          </a:solidFill>
                        </a:rPr>
                        <a:t>24,25 jt</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r">
                        <a:buNone/>
                      </a:pPr>
                      <a:r>
                        <a:rPr lang="en-US" sz="1320" dirty="0">
                          <a:solidFill>
                            <a:srgbClr val="1A1814"/>
                          </a:solidFill>
                        </a:rPr>
                        <a:t>28,00 jt</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r>
              <a:tr h="548626">
                <a:tc>
                  <a:txBody>
                    <a:bodyPr/>
                    <a:lstStyle/>
                    <a:p>
                      <a:pPr marL="0" indent="0" algn="l">
                        <a:buNone/>
                      </a:pPr>
                      <a:r>
                        <a:rPr lang="en-US" sz="1320" dirty="0">
                          <a:solidFill>
                            <a:srgbClr val="1A1814"/>
                          </a:solidFill>
                        </a:rPr>
                        <a:t>Packaging &amp; habis pakai (3%)</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c>
                  <a:txBody>
                    <a:bodyPr/>
                    <a:lstStyle/>
                    <a:p>
                      <a:pPr marL="0" indent="0" algn="r">
                        <a:buNone/>
                      </a:pPr>
                      <a:r>
                        <a:rPr lang="en-US" sz="1320" dirty="0">
                          <a:solidFill>
                            <a:srgbClr val="1A1814"/>
                          </a:solidFill>
                        </a:rPr>
                        <a:t>2,08 jt</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c>
                  <a:txBody>
                    <a:bodyPr/>
                    <a:lstStyle/>
                    <a:p>
                      <a:pPr marL="0" indent="0" algn="r">
                        <a:buNone/>
                      </a:pPr>
                      <a:r>
                        <a:rPr lang="en-US" sz="1320" dirty="0">
                          <a:solidFill>
                            <a:srgbClr val="1A1814"/>
                          </a:solidFill>
                        </a:rPr>
                        <a:t>2,40 jt</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r>
              <a:tr h="548626">
                <a:tc>
                  <a:txBody>
                    <a:bodyPr/>
                    <a:lstStyle/>
                    <a:p>
                      <a:pPr marL="0" indent="0" algn="l">
                        <a:buNone/>
                      </a:pPr>
                      <a:r>
                        <a:rPr lang="en-US" sz="1320" dirty="0">
                          <a:solidFill>
                            <a:srgbClr val="1A1814"/>
                          </a:solidFill>
                        </a:rPr>
                        <a:t>Listrik 2,5 · air 0,4 · gas 0,5</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r">
                        <a:buNone/>
                      </a:pPr>
                      <a:r>
                        <a:rPr lang="en-US" sz="1320" dirty="0">
                          <a:solidFill>
                            <a:srgbClr val="1A1814"/>
                          </a:solidFill>
                        </a:rPr>
                        <a:t>3,40 jt</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r">
                        <a:buNone/>
                      </a:pPr>
                      <a:r>
                        <a:rPr lang="en-US" sz="1320" dirty="0">
                          <a:solidFill>
                            <a:srgbClr val="1A1814"/>
                          </a:solidFill>
                        </a:rPr>
                        <a:t>3,40 jt</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r>
              <a:tr h="548626">
                <a:tc>
                  <a:txBody>
                    <a:bodyPr/>
                    <a:lstStyle/>
                    <a:p>
                      <a:pPr marL="0" indent="0" algn="l">
                        <a:buNone/>
                      </a:pPr>
                      <a:r>
                        <a:rPr lang="en-US" sz="1320" dirty="0">
                          <a:solidFill>
                            <a:srgbClr val="1A1814"/>
                          </a:solidFill>
                        </a:rPr>
                        <a:t>Internet 0,4 · kebersihan 0,3</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c>
                  <a:txBody>
                    <a:bodyPr/>
                    <a:lstStyle/>
                    <a:p>
                      <a:pPr marL="0" indent="0" algn="r">
                        <a:buNone/>
                      </a:pPr>
                      <a:r>
                        <a:rPr lang="en-US" sz="1320" dirty="0">
                          <a:solidFill>
                            <a:srgbClr val="1A1814"/>
                          </a:solidFill>
                        </a:rPr>
                        <a:t>0,70 jt</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c>
                  <a:txBody>
                    <a:bodyPr/>
                    <a:lstStyle/>
                    <a:p>
                      <a:pPr marL="0" indent="0" algn="r">
                        <a:buNone/>
                      </a:pPr>
                      <a:r>
                        <a:rPr lang="en-US" sz="1320" dirty="0">
                          <a:solidFill>
                            <a:srgbClr val="1A1814"/>
                          </a:solidFill>
                        </a:rPr>
                        <a:t>0,70 jt</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r>
              <a:tr h="548626">
                <a:tc>
                  <a:txBody>
                    <a:bodyPr/>
                    <a:lstStyle/>
                    <a:p>
                      <a:pPr marL="0" indent="0" algn="l">
                        <a:buNone/>
                      </a:pPr>
                      <a:r>
                        <a:rPr lang="en-US" sz="1320" dirty="0">
                          <a:solidFill>
                            <a:srgbClr val="1A1814"/>
                          </a:solidFill>
                        </a:rPr>
                        <a:t>Sewa tempat (0 = milik sendiri)</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r">
                        <a:buNone/>
                      </a:pPr>
                      <a:r>
                        <a:rPr lang="en-US" sz="1320" dirty="0">
                          <a:solidFill>
                            <a:srgbClr val="1A1814"/>
                          </a:solidFill>
                        </a:rPr>
                        <a:t>0,00 jt</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r">
                        <a:buNone/>
                      </a:pPr>
                      <a:r>
                        <a:rPr lang="en-US" sz="1320" dirty="0">
                          <a:solidFill>
                            <a:srgbClr val="1A1814"/>
                          </a:solidFill>
                        </a:rPr>
                        <a:t>0,00 jt</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r>
              <a:tr h="548626">
                <a:tc>
                  <a:txBody>
                    <a:bodyPr/>
                    <a:lstStyle/>
                    <a:p>
                      <a:pPr marL="0" indent="0" algn="l">
                        <a:buNone/>
                      </a:pPr>
                      <a:r>
                        <a:rPr lang="en-US" sz="1320" b="1" dirty="0">
                          <a:solidFill>
                            <a:srgbClr val="1A1814"/>
                          </a:solidFill>
                        </a:rPr>
                        <a:t>Total biaya pemilik</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c>
                  <a:txBody>
                    <a:bodyPr/>
                    <a:lstStyle/>
                    <a:p>
                      <a:pPr marL="0" indent="0" algn="r">
                        <a:buNone/>
                      </a:pPr>
                      <a:r>
                        <a:rPr lang="en-US" sz="1320" b="1" dirty="0">
                          <a:solidFill>
                            <a:srgbClr val="1A1814"/>
                          </a:solidFill>
                        </a:rPr>
                        <a:t>30,43 jt</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c>
                  <a:txBody>
                    <a:bodyPr/>
                    <a:lstStyle/>
                    <a:p>
                      <a:pPr marL="0" indent="0" algn="r">
                        <a:buNone/>
                      </a:pPr>
                      <a:r>
                        <a:rPr lang="en-US" sz="1320" b="1" dirty="0">
                          <a:solidFill>
                            <a:srgbClr val="1A1814"/>
                          </a:solidFill>
                        </a:rPr>
                        <a:t>34,50 jt</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EFE6"/>
          </a:solidFill>
        </p:spPr>
        <p:txBody>
          <a:bodyPr/>
          <a:p/>
        </p:txBody>
      </p:sp>
      <p:sp>
        <p:nvSpPr>
          <p:cNvPr id="3" name="Shape 1"/>
          <p:cNvSpPr/>
          <p:nvPr/>
        </p:nvSpPr>
        <p:spPr>
          <a:xfrm>
            <a:off x="0" y="0"/>
            <a:ext cx="91440" cy="6858000"/>
          </a:xfrm>
          <a:prstGeom prst="rect">
            <a:avLst/>
          </a:prstGeom>
          <a:solidFill>
            <a:srgbClr val="C4622D"/>
          </a:solidFill>
        </p:spPr>
        <p:txBody>
          <a:bodyPr/>
          <a:p/>
        </p:txBody>
      </p:sp>
      <p:sp>
        <p:nvSpPr>
          <p:cNvPr id="4" name="Shape 2"/>
          <p:cNvSpPr/>
          <p:nvPr/>
        </p:nvSpPr>
        <p:spPr>
          <a:xfrm>
            <a:off x="0" y="6601968"/>
            <a:ext cx="12191695" cy="256032"/>
          </a:xfrm>
          <a:prstGeom prst="rect">
            <a:avLst/>
          </a:prstGeom>
          <a:solidFill>
            <a:srgbClr val="1A1814"/>
          </a:solidFill>
        </p:spPr>
        <p:txBody>
          <a:bodyPr/>
          <a:p/>
        </p:txBody>
      </p:sp>
      <p:sp>
        <p:nvSpPr>
          <p:cNvPr id="5" name="Text 3"/>
          <p:cNvSpPr/>
          <p:nvPr/>
        </p:nvSpPr>
        <p:spPr>
          <a:xfrm>
            <a:off x="347472" y="6601968"/>
            <a:ext cx="9144000" cy="256032"/>
          </a:xfrm>
          <a:prstGeom prst="rect">
            <a:avLst/>
          </a:prstGeom>
          <a:noFill/>
        </p:spPr>
        <p:txBody>
          <a:bodyPr wrap="square" lIns="0" tIns="0" rIns="0" bIns="0" rtlCol="0" anchor="ctr"/>
          <a:lstStyle/>
          <a:p>
            <a:pPr marL="0" indent="0">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HUNI   ·   Proposal website kos &amp; kontrakan   ·   Oktober 2026</a:t>
            </a:r>
            <a:endParaRPr lang="en-US" sz="1100" dirty="0"/>
          </a:p>
        </p:txBody>
      </p:sp>
      <p:sp>
        <p:nvSpPr>
          <p:cNvPr id="6" name="Text 4"/>
          <p:cNvSpPr/>
          <p:nvPr/>
        </p:nvSpPr>
        <p:spPr>
          <a:xfrm>
            <a:off x="9509760" y="6601968"/>
            <a:ext cx="2331720" cy="256032"/>
          </a:xfrm>
          <a:prstGeom prst="rect">
            <a:avLst/>
          </a:prstGeom>
          <a:noFill/>
        </p:spPr>
        <p:txBody>
          <a:bodyPr wrap="square" lIns="0" tIns="0" rIns="0" bIns="0" rtlCol="0" anchor="ctr"/>
          <a:lstStyle/>
          <a:p>
            <a:pPr marL="0" indent="0" algn="r">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33  /  36</a:t>
            </a:r>
            <a:endParaRPr lang="en-US" sz="1100" dirty="0"/>
          </a:p>
        </p:txBody>
      </p:sp>
      <p:sp>
        <p:nvSpPr>
          <p:cNvPr id="7" name="Text 5"/>
          <p:cNvSpPr/>
          <p:nvPr/>
        </p:nvSpPr>
        <p:spPr>
          <a:xfrm>
            <a:off x="426709" y="304792"/>
            <a:ext cx="11338277" cy="731502"/>
          </a:xfrm>
          <a:prstGeom prst="rect">
            <a:avLst/>
          </a:prstGeom>
          <a:noFill/>
        </p:spPr>
        <p:txBody>
          <a:bodyPr wrap="square" lIns="0" tIns="0" rIns="0" bIns="0" rtlCol="0" anchor="ctr"/>
          <a:lstStyle/>
          <a:p>
            <a:pPr marL="0" indent="0">
              <a:buNone/>
            </a:pPr>
            <a:r>
              <a:rPr lang="en-US" sz="3120" b="1" dirty="0">
                <a:solidFill>
                  <a:srgbClr val="1A1814"/>
                </a:solidFill>
                <a:latin typeface="Georgia" panose="02040502050405020303" pitchFamily="34" charset="0"/>
                <a:ea typeface="Georgia" panose="02040502050405020303" pitchFamily="34" charset="-122"/>
                <a:cs typeface="Georgia" panose="02040502050405020303" pitchFamily="34" charset="-120"/>
              </a:rPr>
              <a:t>Cafe: 3 karyawan dan penggajian</a:t>
            </a:r>
            <a:endParaRPr lang="en-US" sz="3120" dirty="0"/>
          </a:p>
        </p:txBody>
      </p:sp>
      <p:sp>
        <p:nvSpPr>
          <p:cNvPr id="8" name="Text 6"/>
          <p:cNvSpPr/>
          <p:nvPr/>
        </p:nvSpPr>
        <p:spPr>
          <a:xfrm>
            <a:off x="426709" y="1072869"/>
            <a:ext cx="11338277" cy="487668"/>
          </a:xfrm>
          <a:prstGeom prst="rect">
            <a:avLst/>
          </a:prstGeom>
          <a:noFill/>
        </p:spPr>
        <p:txBody>
          <a:bodyPr wrap="square" lIns="0" tIns="0" rIns="0" bIns="0" rtlCol="0" anchor="ctr"/>
          <a:lstStyle/>
          <a:p>
            <a:pPr marL="0" indent="0">
              <a:buNone/>
            </a:pPr>
            <a:r>
              <a:rPr lang="en-US" sz="1560" dirty="0">
                <a:solidFill>
                  <a:srgbClr val="6F675C"/>
                </a:solidFill>
                <a:latin typeface="Calibri" panose="020F0502020204030204" pitchFamily="34" charset="0"/>
                <a:ea typeface="Calibri" panose="020F0502020204030204" pitchFamily="34" charset="-122"/>
                <a:cs typeface="Calibri" panose="020F0502020204030204" pitchFamily="34" charset="-120"/>
              </a:rPr>
              <a:t>Dihitung terpisah dari bagian pengelola. Gaji pokok asumsi, cek UMK setempat.</a:t>
            </a:r>
            <a:endParaRPr lang="en-US" sz="1560" dirty="0"/>
          </a:p>
        </p:txBody>
      </p:sp>
      <p:graphicFrame>
        <p:nvGraphicFramePr>
          <p:cNvPr id="27" name="Table 0"/>
          <p:cNvGraphicFramePr>
            <a:graphicFrameLocks noGrp="1"/>
          </p:cNvGraphicFramePr>
          <p:nvPr/>
        </p:nvGraphicFramePr>
        <p:xfrm>
          <a:off x="426709" y="1828754"/>
          <a:ext cx="11338277" cy="3291756"/>
        </p:xfrm>
        <a:graphic>
          <a:graphicData uri="http://schemas.openxmlformats.org/drawingml/2006/table">
            <a:tbl>
              <a:tblPr/>
              <a:tblGrid>
                <a:gridCol w="3657509"/>
                <a:gridCol w="2682173"/>
                <a:gridCol w="4998595"/>
              </a:tblGrid>
              <a:tr h="548626">
                <a:tc>
                  <a:txBody>
                    <a:bodyPr/>
                    <a:lstStyle/>
                    <a:p>
                      <a:pPr marL="0" indent="0" algn="l">
                        <a:buNone/>
                      </a:pPr>
                      <a:r>
                        <a:rPr lang="en-US" sz="1320" b="1" dirty="0">
                          <a:solidFill>
                            <a:srgbClr val="F4EFE6"/>
                          </a:solidFill>
                        </a:rPr>
                        <a:t>Posisi</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1A1814"/>
                    </a:solidFill>
                  </a:tcPr>
                </a:tc>
                <a:tc>
                  <a:txBody>
                    <a:bodyPr/>
                    <a:lstStyle/>
                    <a:p>
                      <a:pPr marL="0" indent="0" algn="l">
                        <a:buNone/>
                      </a:pPr>
                      <a:r>
                        <a:rPr lang="en-US" sz="1320" b="1" dirty="0">
                          <a:solidFill>
                            <a:srgbClr val="F4EFE6"/>
                          </a:solidFill>
                        </a:rPr>
                        <a:t>Gaji / bulan</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1A1814"/>
                    </a:solidFill>
                  </a:tcPr>
                </a:tc>
                <a:tc>
                  <a:txBody>
                    <a:bodyPr/>
                    <a:lstStyle/>
                    <a:p>
                      <a:pPr marL="0" indent="0" algn="l">
                        <a:buNone/>
                      </a:pPr>
                      <a:r>
                        <a:rPr lang="en-US" sz="1320" b="1" dirty="0">
                          <a:solidFill>
                            <a:srgbClr val="F4EFE6"/>
                          </a:solidFill>
                        </a:rPr>
                        <a:t>Tugas</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1A1814"/>
                    </a:solidFill>
                  </a:tcPr>
                </a:tc>
              </a:tr>
              <a:tr h="548626">
                <a:tc>
                  <a:txBody>
                    <a:bodyPr/>
                    <a:lstStyle/>
                    <a:p>
                      <a:pPr marL="0" indent="0" algn="l">
                        <a:buNone/>
                      </a:pPr>
                      <a:r>
                        <a:rPr lang="en-US" sz="1320" dirty="0">
                          <a:solidFill>
                            <a:srgbClr val="1A1814"/>
                          </a:solidFill>
                        </a:rPr>
                        <a:t>Waiters</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r">
                        <a:buNone/>
                      </a:pPr>
                      <a:r>
                        <a:rPr lang="en-US" sz="1320" dirty="0">
                          <a:solidFill>
                            <a:srgbClr val="1A1814"/>
                          </a:solidFill>
                        </a:rPr>
                        <a:t>Rp2.400.000</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l">
                        <a:buNone/>
                      </a:pPr>
                      <a:r>
                        <a:rPr lang="en-US" sz="1320" dirty="0">
                          <a:solidFill>
                            <a:srgbClr val="1A1814"/>
                          </a:solidFill>
                        </a:rPr>
                        <a:t>Antar pesanan, bersih meja, layani pelanggan</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r>
              <a:tr h="548626">
                <a:tc>
                  <a:txBody>
                    <a:bodyPr/>
                    <a:lstStyle/>
                    <a:p>
                      <a:pPr marL="0" indent="0" algn="l">
                        <a:buNone/>
                      </a:pPr>
                      <a:r>
                        <a:rPr lang="en-US" sz="1320" dirty="0">
                          <a:solidFill>
                            <a:srgbClr val="1A1814"/>
                          </a:solidFill>
                        </a:rPr>
                        <a:t>Cooks</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c>
                  <a:txBody>
                    <a:bodyPr/>
                    <a:lstStyle/>
                    <a:p>
                      <a:pPr marL="0" indent="0" algn="r">
                        <a:buNone/>
                      </a:pPr>
                      <a:r>
                        <a:rPr lang="en-US" sz="1320" dirty="0">
                          <a:solidFill>
                            <a:srgbClr val="1A1814"/>
                          </a:solidFill>
                        </a:rPr>
                        <a:t>Rp2.800.000</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c>
                  <a:txBody>
                    <a:bodyPr/>
                    <a:lstStyle/>
                    <a:p>
                      <a:pPr marL="0" indent="0" algn="l">
                        <a:buNone/>
                      </a:pPr>
                      <a:r>
                        <a:rPr lang="en-US" sz="1320" dirty="0">
                          <a:solidFill>
                            <a:srgbClr val="1A1814"/>
                          </a:solidFill>
                        </a:rPr>
                        <a:t>Masak, siapkan bahan, jaga stok dapur</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r>
              <a:tr h="548626">
                <a:tc>
                  <a:txBody>
                    <a:bodyPr/>
                    <a:lstStyle/>
                    <a:p>
                      <a:pPr marL="0" indent="0" algn="l">
                        <a:buNone/>
                      </a:pPr>
                      <a:r>
                        <a:rPr lang="en-US" sz="1320" dirty="0">
                          <a:solidFill>
                            <a:srgbClr val="1A1814"/>
                          </a:solidFill>
                        </a:rPr>
                        <a:t>Kasir</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r">
                        <a:buNone/>
                      </a:pPr>
                      <a:r>
                        <a:rPr lang="en-US" sz="1320" dirty="0">
                          <a:solidFill>
                            <a:srgbClr val="1A1814"/>
                          </a:solidFill>
                        </a:rPr>
                        <a:t>Rp2.500.000</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l">
                        <a:buNone/>
                      </a:pPr>
                      <a:r>
                        <a:rPr lang="en-US" sz="1320" dirty="0">
                          <a:solidFill>
                            <a:srgbClr val="1A1814"/>
                          </a:solidFill>
                        </a:rPr>
                        <a:t>Transaksi POS, catat penjualan, tutup kas harian</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r>
              <a:tr h="548626">
                <a:tc>
                  <a:txBody>
                    <a:bodyPr/>
                    <a:lstStyle/>
                    <a:p>
                      <a:pPr marL="0" indent="0" algn="l">
                        <a:buNone/>
                      </a:pPr>
                      <a:r>
                        <a:rPr lang="en-US" sz="1320" dirty="0">
                          <a:solidFill>
                            <a:srgbClr val="1A1814"/>
                          </a:solidFill>
                        </a:rPr>
                        <a:t>BPJS / THR cadangan 10%</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c>
                  <a:txBody>
                    <a:bodyPr/>
                    <a:lstStyle/>
                    <a:p>
                      <a:pPr marL="0" indent="0" algn="r">
                        <a:buNone/>
                      </a:pPr>
                      <a:r>
                        <a:rPr lang="en-US" sz="1320" dirty="0">
                          <a:solidFill>
                            <a:srgbClr val="1A1814"/>
                          </a:solidFill>
                        </a:rPr>
                        <a:t>Rp770.000</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c>
                  <a:txBody>
                    <a:bodyPr/>
                    <a:lstStyle/>
                    <a:p>
                      <a:pPr marL="0" indent="0" algn="l">
                        <a:buNone/>
                      </a:pP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r>
              <a:tr h="548626">
                <a:tc>
                  <a:txBody>
                    <a:bodyPr/>
                    <a:lstStyle/>
                    <a:p>
                      <a:pPr marL="0" indent="0" algn="l">
                        <a:buNone/>
                      </a:pPr>
                      <a:r>
                        <a:rPr lang="en-US" sz="1320" b="1" dirty="0">
                          <a:solidFill>
                            <a:srgbClr val="1A1814"/>
                          </a:solidFill>
                        </a:rPr>
                        <a:t>Total per bulan</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r">
                        <a:buNone/>
                      </a:pPr>
                      <a:r>
                        <a:rPr lang="en-US" sz="1320" b="1" dirty="0">
                          <a:solidFill>
                            <a:srgbClr val="1A1814"/>
                          </a:solidFill>
                        </a:rPr>
                        <a:t>Rp8.470.000</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l">
                        <a:buNone/>
                      </a:pP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r>
            </a:tbl>
          </a:graphicData>
        </a:graphic>
      </p:graphicFrame>
      <p:sp>
        <p:nvSpPr>
          <p:cNvPr id="10" name="Text 7"/>
          <p:cNvSpPr/>
          <p:nvPr/>
        </p:nvSpPr>
        <p:spPr>
          <a:xfrm>
            <a:off x="426709" y="5486263"/>
            <a:ext cx="11338277" cy="731502"/>
          </a:xfrm>
          <a:prstGeom prst="rect">
            <a:avLst/>
          </a:prstGeom>
          <a:noFill/>
        </p:spPr>
        <p:txBody>
          <a:bodyPr wrap="square" lIns="0" tIns="0" rIns="0" bIns="0" rtlCol="0" anchor="ctr"/>
          <a:lstStyle/>
          <a:p>
            <a:pPr marL="0" indent="0">
              <a:buNone/>
            </a:pPr>
            <a:r>
              <a:rPr lang="en-US" sz="1440" dirty="0">
                <a:solidFill>
                  <a:srgbClr val="6F675C"/>
                </a:solidFill>
                <a:latin typeface="Calibri" panose="020F0502020204030204" pitchFamily="34" charset="0"/>
                <a:ea typeface="Calibri" panose="020F0502020204030204" pitchFamily="34" charset="-122"/>
                <a:cs typeface="Calibri" panose="020F0502020204030204" pitchFamily="34" charset="-120"/>
              </a:rPr>
              <a:t>Catatan: dengan 3 orang tanpa pengganti, hari libur harus ditutup Andre sebagai operasional atau jam buka dipendekkan. Gaji dibayar tanggal 1.</a:t>
            </a:r>
            <a:endParaRPr lang="en-US" sz="144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EFE6"/>
          </a:solidFill>
        </p:spPr>
        <p:txBody>
          <a:bodyPr/>
          <a:p/>
        </p:txBody>
      </p:sp>
      <p:sp>
        <p:nvSpPr>
          <p:cNvPr id="3" name="Shape 1"/>
          <p:cNvSpPr/>
          <p:nvPr/>
        </p:nvSpPr>
        <p:spPr>
          <a:xfrm>
            <a:off x="0" y="0"/>
            <a:ext cx="91440" cy="6858000"/>
          </a:xfrm>
          <a:prstGeom prst="rect">
            <a:avLst/>
          </a:prstGeom>
          <a:solidFill>
            <a:srgbClr val="C4622D"/>
          </a:solidFill>
        </p:spPr>
        <p:txBody>
          <a:bodyPr/>
          <a:p/>
        </p:txBody>
      </p:sp>
      <p:sp>
        <p:nvSpPr>
          <p:cNvPr id="4" name="Shape 2"/>
          <p:cNvSpPr/>
          <p:nvPr/>
        </p:nvSpPr>
        <p:spPr>
          <a:xfrm>
            <a:off x="0" y="6601968"/>
            <a:ext cx="12191695" cy="256032"/>
          </a:xfrm>
          <a:prstGeom prst="rect">
            <a:avLst/>
          </a:prstGeom>
          <a:solidFill>
            <a:srgbClr val="1A1814"/>
          </a:solidFill>
        </p:spPr>
        <p:txBody>
          <a:bodyPr/>
          <a:p/>
        </p:txBody>
      </p:sp>
      <p:sp>
        <p:nvSpPr>
          <p:cNvPr id="5" name="Text 3"/>
          <p:cNvSpPr/>
          <p:nvPr/>
        </p:nvSpPr>
        <p:spPr>
          <a:xfrm>
            <a:off x="347472" y="6601968"/>
            <a:ext cx="9144000" cy="256032"/>
          </a:xfrm>
          <a:prstGeom prst="rect">
            <a:avLst/>
          </a:prstGeom>
          <a:noFill/>
        </p:spPr>
        <p:txBody>
          <a:bodyPr wrap="square" lIns="0" tIns="0" rIns="0" bIns="0" rtlCol="0" anchor="ctr"/>
          <a:lstStyle/>
          <a:p>
            <a:pPr marL="0" indent="0">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HUNI   ·   Proposal website kos &amp; kontrakan   ·   Oktober 2026</a:t>
            </a:r>
            <a:endParaRPr lang="en-US" sz="1100" dirty="0"/>
          </a:p>
        </p:txBody>
      </p:sp>
      <p:sp>
        <p:nvSpPr>
          <p:cNvPr id="6" name="Text 4"/>
          <p:cNvSpPr/>
          <p:nvPr/>
        </p:nvSpPr>
        <p:spPr>
          <a:xfrm>
            <a:off x="9509760" y="6601968"/>
            <a:ext cx="2331720" cy="256032"/>
          </a:xfrm>
          <a:prstGeom prst="rect">
            <a:avLst/>
          </a:prstGeom>
          <a:noFill/>
        </p:spPr>
        <p:txBody>
          <a:bodyPr wrap="square" lIns="0" tIns="0" rIns="0" bIns="0" rtlCol="0" anchor="ctr"/>
          <a:lstStyle/>
          <a:p>
            <a:pPr marL="0" indent="0" algn="r">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34  /  36</a:t>
            </a:r>
            <a:endParaRPr lang="en-US" sz="1100" dirty="0"/>
          </a:p>
        </p:txBody>
      </p:sp>
      <p:sp>
        <p:nvSpPr>
          <p:cNvPr id="7" name="Text 5"/>
          <p:cNvSpPr/>
          <p:nvPr/>
        </p:nvSpPr>
        <p:spPr>
          <a:xfrm>
            <a:off x="426709" y="304792"/>
            <a:ext cx="11338277" cy="731502"/>
          </a:xfrm>
          <a:prstGeom prst="rect">
            <a:avLst/>
          </a:prstGeom>
          <a:noFill/>
        </p:spPr>
        <p:txBody>
          <a:bodyPr wrap="square" lIns="0" tIns="0" rIns="0" bIns="0" rtlCol="0" anchor="ctr"/>
          <a:lstStyle/>
          <a:p>
            <a:pPr marL="0" indent="0">
              <a:buNone/>
            </a:pPr>
            <a:r>
              <a:rPr lang="en-AU" altLang="en-US" sz="3120" b="1" dirty="0">
                <a:solidFill>
                  <a:srgbClr val="1A1814"/>
                </a:solidFill>
                <a:latin typeface="Georgia" panose="02040502050405020303" pitchFamily="34" charset="0"/>
                <a:ea typeface="Georgia" panose="02040502050405020303" pitchFamily="34" charset="-122"/>
                <a:cs typeface="Georgia" panose="02040502050405020303" pitchFamily="34" charset="-120"/>
              </a:rPr>
              <a:t>TOTAL PNL REVENUE OWNER</a:t>
            </a:r>
            <a:endParaRPr lang="en-AU" altLang="en-US" sz="3120" b="1" dirty="0">
              <a:solidFill>
                <a:srgbClr val="1A1814"/>
              </a:solidFill>
              <a:latin typeface="Georgia" panose="02040502050405020303" pitchFamily="34" charset="0"/>
              <a:ea typeface="Georgia" panose="02040502050405020303" pitchFamily="34" charset="-122"/>
              <a:cs typeface="Georgia" panose="02040502050405020303" pitchFamily="34" charset="-120"/>
            </a:endParaRPr>
          </a:p>
        </p:txBody>
      </p:sp>
      <p:sp>
        <p:nvSpPr>
          <p:cNvPr id="8" name="Text 6"/>
          <p:cNvSpPr/>
          <p:nvPr/>
        </p:nvSpPr>
        <p:spPr>
          <a:xfrm>
            <a:off x="426709" y="1072869"/>
            <a:ext cx="11338277" cy="487668"/>
          </a:xfrm>
          <a:prstGeom prst="rect">
            <a:avLst/>
          </a:prstGeom>
          <a:noFill/>
        </p:spPr>
        <p:txBody>
          <a:bodyPr wrap="square" lIns="0" tIns="0" rIns="0" bIns="0" rtlCol="0" anchor="ctr"/>
          <a:lstStyle/>
          <a:p>
            <a:pPr marL="0" indent="0">
              <a:buNone/>
            </a:pPr>
            <a:r>
              <a:rPr lang="en-AU" altLang="en-US" sz="1560" dirty="0">
                <a:solidFill>
                  <a:srgbClr val="6F675C"/>
                </a:solidFill>
                <a:latin typeface="Calibri" panose="020F0502020204030204" pitchFamily="34" charset="0"/>
                <a:ea typeface="Calibri" panose="020F0502020204030204" pitchFamily="34" charset="-122"/>
                <a:cs typeface="Calibri" panose="020F0502020204030204" pitchFamily="34" charset="-120"/>
              </a:rPr>
              <a:t>TOTAL PNL OMZET / BULAN</a:t>
            </a:r>
            <a:endParaRPr lang="en-AU" altLang="en-US" sz="1560" dirty="0">
              <a:solidFill>
                <a:srgbClr val="6F675C"/>
              </a:solidFill>
              <a:latin typeface="Calibri" panose="020F0502020204030204" pitchFamily="34" charset="0"/>
              <a:ea typeface="Calibri" panose="020F0502020204030204" pitchFamily="34" charset="-122"/>
              <a:cs typeface="Calibri" panose="020F0502020204030204" pitchFamily="34" charset="-120"/>
            </a:endParaRPr>
          </a:p>
        </p:txBody>
      </p:sp>
      <p:graphicFrame>
        <p:nvGraphicFramePr>
          <p:cNvPr id="27" name="Table 0"/>
          <p:cNvGraphicFramePr>
            <a:graphicFrameLocks noGrp="1"/>
          </p:cNvGraphicFramePr>
          <p:nvPr/>
        </p:nvGraphicFramePr>
        <p:xfrm>
          <a:off x="426709" y="1828754"/>
          <a:ext cx="11338277" cy="3291756"/>
        </p:xfrm>
        <a:graphic>
          <a:graphicData uri="http://schemas.openxmlformats.org/drawingml/2006/table">
            <a:tbl>
              <a:tblPr/>
              <a:tblGrid>
                <a:gridCol w="3657509"/>
                <a:gridCol w="2682173"/>
                <a:gridCol w="4998595"/>
              </a:tblGrid>
              <a:tr h="548626">
                <a:tc>
                  <a:txBody>
                    <a:bodyPr/>
                    <a:lstStyle/>
                    <a:p>
                      <a:pPr marL="0" indent="0" algn="l">
                        <a:buNone/>
                      </a:pPr>
                      <a:r>
                        <a:rPr lang="en-AU" altLang="en-US" sz="1320" b="1" dirty="0">
                          <a:solidFill>
                            <a:srgbClr val="F4EFE6"/>
                          </a:solidFill>
                        </a:rPr>
                        <a:t>SUMMARY</a:t>
                      </a:r>
                      <a:endParaRPr lang="en-AU" altLang="en-US" sz="1320" b="1" dirty="0">
                        <a:solidFill>
                          <a:srgbClr val="F4EFE6"/>
                        </a:solidFill>
                      </a:endParaRPr>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1A1814"/>
                    </a:solidFill>
                  </a:tcPr>
                </a:tc>
                <a:tc>
                  <a:txBody>
                    <a:bodyPr/>
                    <a:lstStyle/>
                    <a:p>
                      <a:pPr marL="0" indent="0" algn="l">
                        <a:buNone/>
                      </a:pPr>
                      <a:r>
                        <a:rPr lang="en-AU" altLang="en-US" sz="1320" b="1" dirty="0">
                          <a:solidFill>
                            <a:srgbClr val="F4EFE6"/>
                          </a:solidFill>
                        </a:rPr>
                        <a:t>GROSS (Target Income)</a:t>
                      </a:r>
                      <a:endParaRPr lang="en-AU" altLang="en-US" sz="1320" b="1" dirty="0">
                        <a:solidFill>
                          <a:srgbClr val="F4EFE6"/>
                        </a:solidFill>
                      </a:endParaRPr>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1A1814"/>
                    </a:solidFill>
                  </a:tcPr>
                </a:tc>
                <a:tc>
                  <a:txBody>
                    <a:bodyPr/>
                    <a:lstStyle/>
                    <a:p>
                      <a:pPr marL="0" indent="0" algn="l">
                        <a:buNone/>
                      </a:pPr>
                      <a:r>
                        <a:rPr lang="en-AU" altLang="en-US" sz="1320" dirty="0">
                          <a:solidFill>
                            <a:schemeClr val="bg1"/>
                          </a:solidFill>
                        </a:rPr>
                        <a:t>OPERASIONAL</a:t>
                      </a:r>
                      <a:endParaRPr lang="en-AU" altLang="en-US" sz="1320" dirty="0">
                        <a:solidFill>
                          <a:schemeClr val="bg1"/>
                        </a:solidFill>
                      </a:endParaRPr>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1A1814"/>
                    </a:solidFill>
                  </a:tcPr>
                </a:tc>
              </a:tr>
              <a:tr h="548626">
                <a:tc>
                  <a:txBody>
                    <a:bodyPr/>
                    <a:lstStyle/>
                    <a:p>
                      <a:pPr marL="0" indent="0" algn="l">
                        <a:buNone/>
                      </a:pPr>
                      <a:r>
                        <a:rPr lang="en-AU" altLang="en-US" sz="1320" dirty="0">
                          <a:solidFill>
                            <a:srgbClr val="1A1814"/>
                          </a:solidFill>
                        </a:rPr>
                        <a:t>CAFE</a:t>
                      </a:r>
                      <a:endParaRPr lang="en-AU" altLang="en-US" sz="1320" dirty="0">
                        <a:solidFill>
                          <a:srgbClr val="1A1814"/>
                        </a:solidFill>
                      </a:endParaRPr>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r">
                        <a:buNone/>
                      </a:pPr>
                      <a:r>
                        <a:rPr lang="en-US" sz="1320" dirty="0">
                          <a:solidFill>
                            <a:srgbClr val="1A1814"/>
                          </a:solidFill>
                        </a:rPr>
                        <a:t>Rp</a:t>
                      </a:r>
                      <a:r>
                        <a:rPr lang="en-AU" altLang="en-US" sz="1320" dirty="0">
                          <a:solidFill>
                            <a:srgbClr val="1A1814"/>
                          </a:solidFill>
                        </a:rPr>
                        <a:t>79.999.200</a:t>
                      </a:r>
                      <a:endParaRPr lang="en-AU" altLang="en-US" sz="1320" dirty="0">
                        <a:solidFill>
                          <a:srgbClr val="1A1814"/>
                        </a:solidFill>
                      </a:endParaRPr>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l">
                        <a:buNone/>
                      </a:pPr>
                      <a:r>
                        <a:rPr lang="en-AU" altLang="en-US" sz="1320" dirty="0"/>
                        <a:t>Rp34.499.696</a:t>
                      </a:r>
                      <a:endParaRPr lang="en-AU" alt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r>
              <a:tr h="548626">
                <a:tc>
                  <a:txBody>
                    <a:bodyPr/>
                    <a:lstStyle/>
                    <a:p>
                      <a:pPr marL="0" indent="0" algn="l">
                        <a:buNone/>
                      </a:pPr>
                      <a:r>
                        <a:rPr lang="en-AU" altLang="en-US" sz="1320" dirty="0">
                          <a:solidFill>
                            <a:srgbClr val="1A1814"/>
                          </a:solidFill>
                        </a:rPr>
                        <a:t>KOSAN / KONTRAKAN</a:t>
                      </a:r>
                      <a:endParaRPr lang="en-AU" altLang="en-US" sz="1320" dirty="0">
                        <a:solidFill>
                          <a:srgbClr val="1A1814"/>
                        </a:solidFill>
                      </a:endParaRPr>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c>
                  <a:txBody>
                    <a:bodyPr/>
                    <a:lstStyle/>
                    <a:p>
                      <a:pPr marL="0" indent="0" algn="r">
                        <a:buNone/>
                      </a:pPr>
                      <a:r>
                        <a:rPr lang="en-US" sz="1320" dirty="0">
                          <a:solidFill>
                            <a:srgbClr val="1A1814"/>
                          </a:solidFill>
                        </a:rPr>
                        <a:t>Rp</a:t>
                      </a:r>
                      <a:r>
                        <a:rPr lang="en-AU" altLang="en-US" sz="1320" dirty="0">
                          <a:solidFill>
                            <a:srgbClr val="1A1814"/>
                          </a:solidFill>
                        </a:rPr>
                        <a:t>44.400.000</a:t>
                      </a:r>
                      <a:endParaRPr lang="en-AU" altLang="en-US" sz="1320" dirty="0">
                        <a:solidFill>
                          <a:srgbClr val="1A1814"/>
                        </a:solidFill>
                      </a:endParaRPr>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c>
                  <a:txBody>
                    <a:bodyPr/>
                    <a:lstStyle/>
                    <a:p>
                      <a:pPr marL="0" indent="0" algn="l">
                        <a:buNone/>
                      </a:pPr>
                      <a:r>
                        <a:rPr lang="en-AU" altLang="en-US" sz="1320" dirty="0">
                          <a:solidFill>
                            <a:srgbClr val="1A1814"/>
                          </a:solidFill>
                        </a:rPr>
                        <a:t>Rp13.320.000</a:t>
                      </a:r>
                      <a:endParaRPr lang="en-AU" altLang="en-US" sz="1320" dirty="0">
                        <a:solidFill>
                          <a:srgbClr val="1A1814"/>
                        </a:solidFill>
                      </a:endParaRPr>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r>
              <a:tr h="548626">
                <a:tc>
                  <a:txBody>
                    <a:bodyPr/>
                    <a:lstStyle/>
                    <a:p>
                      <a:pPr marL="0" indent="0" algn="l">
                        <a:buNone/>
                      </a:pPr>
                      <a:r>
                        <a:rPr lang="en-AU" altLang="en-US" sz="1320" dirty="0">
                          <a:solidFill>
                            <a:srgbClr val="1A1814"/>
                          </a:solidFill>
                        </a:rPr>
                        <a:t>FUTSAL</a:t>
                      </a:r>
                      <a:endParaRPr lang="en-AU" altLang="en-US" sz="1320" dirty="0">
                        <a:solidFill>
                          <a:srgbClr val="1A1814"/>
                        </a:solidFill>
                      </a:endParaRPr>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r">
                        <a:buNone/>
                      </a:pPr>
                      <a:r>
                        <a:rPr lang="en-US" sz="1320" dirty="0">
                          <a:solidFill>
                            <a:srgbClr val="1A1814"/>
                          </a:solidFill>
                        </a:rPr>
                        <a:t>Rp</a:t>
                      </a:r>
                      <a:r>
                        <a:rPr lang="en-AU" altLang="en-US" sz="1320" dirty="0">
                          <a:solidFill>
                            <a:srgbClr val="1A1814"/>
                          </a:solidFill>
                        </a:rPr>
                        <a:t>36.600.000</a:t>
                      </a:r>
                      <a:endParaRPr lang="en-AU" altLang="en-US" sz="1320" dirty="0">
                        <a:solidFill>
                          <a:srgbClr val="1A1814"/>
                        </a:solidFill>
                      </a:endParaRPr>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l">
                        <a:buNone/>
                      </a:pPr>
                      <a:r>
                        <a:rPr lang="en-AU" altLang="en-US" sz="1320" dirty="0">
                          <a:solidFill>
                            <a:srgbClr val="1A1814"/>
                          </a:solidFill>
                        </a:rPr>
                        <a:t>Rp10.980.000</a:t>
                      </a:r>
                      <a:endParaRPr lang="en-AU" altLang="en-US" sz="1320" dirty="0">
                        <a:solidFill>
                          <a:srgbClr val="1A1814"/>
                        </a:solidFill>
                      </a:endParaRPr>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r>
              <a:tr h="548626">
                <a:tc>
                  <a:txBody>
                    <a:bodyPr/>
                    <a:lstStyle/>
                    <a:p>
                      <a:pPr marL="0" indent="0" algn="l">
                        <a:buNone/>
                      </a:pPr>
                      <a:r>
                        <a:rPr lang="en-AU" altLang="en-US" sz="1320" dirty="0"/>
                        <a:t>Total </a:t>
                      </a:r>
                      <a:r>
                        <a:rPr lang="en-AU" altLang="en-US" sz="1320" b="1" dirty="0"/>
                        <a:t>GROSS INCOME &amp; OPERASIONAL</a:t>
                      </a:r>
                      <a:endParaRPr lang="en-AU" altLang="en-US" sz="1320" b="1"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c>
                  <a:txBody>
                    <a:bodyPr/>
                    <a:lstStyle/>
                    <a:p>
                      <a:pPr marL="0" indent="0" algn="r">
                        <a:buNone/>
                      </a:pPr>
                      <a:r>
                        <a:rPr lang="en-AU" altLang="en-US" sz="1320" dirty="0">
                          <a:highlight>
                            <a:srgbClr val="FFFF00"/>
                          </a:highlight>
                        </a:rPr>
                        <a:t>Rp</a:t>
                      </a:r>
                      <a:r>
                        <a:rPr lang="en-US" altLang="en-US" sz="1320" dirty="0">
                          <a:highlight>
                            <a:srgbClr val="FFFF00"/>
                          </a:highlight>
                        </a:rPr>
                        <a:t>160,999,200</a:t>
                      </a:r>
                      <a:endParaRPr lang="en-US" altLang="en-US" sz="1320" dirty="0">
                        <a:highlight>
                          <a:srgbClr val="FFFF00"/>
                        </a:highlight>
                      </a:endParaRPr>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c>
                  <a:txBody>
                    <a:bodyPr/>
                    <a:lstStyle/>
                    <a:p>
                      <a:pPr marL="0" indent="0" algn="l">
                        <a:buNone/>
                      </a:pPr>
                      <a:r>
                        <a:rPr lang="en-AU" altLang="en-US" sz="1320" dirty="0">
                          <a:highlight>
                            <a:srgbClr val="FFFF00"/>
                          </a:highlight>
                        </a:rPr>
                        <a:t>Rp</a:t>
                      </a:r>
                      <a:r>
                        <a:rPr lang="en-US" altLang="en-US" sz="1320" dirty="0">
                          <a:highlight>
                            <a:srgbClr val="FFFF00"/>
                          </a:highlight>
                        </a:rPr>
                        <a:t>58,799,696</a:t>
                      </a:r>
                      <a:endParaRPr lang="en-US" altLang="en-US" sz="1320" dirty="0">
                        <a:highlight>
                          <a:srgbClr val="FFFF00"/>
                        </a:highlight>
                      </a:endParaRPr>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r>
              <a:tr h="548626">
                <a:tc>
                  <a:txBody>
                    <a:bodyPr/>
                    <a:lstStyle/>
                    <a:p>
                      <a:pPr marL="0" indent="0" algn="l">
                        <a:buNone/>
                      </a:pPr>
                      <a:r>
                        <a:rPr lang="en-US" sz="1320" b="1" dirty="0">
                          <a:solidFill>
                            <a:srgbClr val="1A1814"/>
                          </a:solidFill>
                        </a:rPr>
                        <a:t>Total </a:t>
                      </a:r>
                      <a:r>
                        <a:rPr lang="en-AU" altLang="en-US" sz="1320" b="1" dirty="0">
                          <a:solidFill>
                            <a:srgbClr val="1A1814"/>
                          </a:solidFill>
                        </a:rPr>
                        <a:t>Income Owner</a:t>
                      </a:r>
                      <a:endParaRPr lang="en-AU" altLang="en-US" sz="1320" b="1" dirty="0">
                        <a:solidFill>
                          <a:srgbClr val="1A1814"/>
                        </a:solidFill>
                      </a:endParaRPr>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r">
                        <a:buNone/>
                      </a:pPr>
                      <a:endParaRPr lang="en-AU" altLang="en-US" sz="1320" b="1" dirty="0">
                        <a:solidFill>
                          <a:srgbClr val="1A1814"/>
                        </a:solidFill>
                      </a:endParaRPr>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l">
                        <a:buNone/>
                      </a:pPr>
                      <a:r>
                        <a:rPr lang="en-AU" altLang="en-US" sz="1320" b="1" dirty="0"/>
                        <a:t>Rp</a:t>
                      </a:r>
                      <a:r>
                        <a:rPr lang="en-US" altLang="en-US" sz="1320" b="1" dirty="0"/>
                        <a:t>102,199,504</a:t>
                      </a:r>
                      <a:endParaRPr lang="en-US" altLang="en-US" sz="1320" b="1"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r>
            </a:tbl>
          </a:graphicData>
        </a:graphic>
      </p:graphicFrame>
      <p:sp>
        <p:nvSpPr>
          <p:cNvPr id="10" name="Text 7"/>
          <p:cNvSpPr/>
          <p:nvPr/>
        </p:nvSpPr>
        <p:spPr>
          <a:xfrm>
            <a:off x="426709" y="5486263"/>
            <a:ext cx="11338277" cy="731502"/>
          </a:xfrm>
          <a:prstGeom prst="rect">
            <a:avLst/>
          </a:prstGeom>
          <a:noFill/>
        </p:spPr>
        <p:txBody>
          <a:bodyPr wrap="square" lIns="0" tIns="0" rIns="0" bIns="0" rtlCol="0" anchor="ctr"/>
          <a:lstStyle/>
          <a:p>
            <a:pPr marL="0" indent="0">
              <a:buNone/>
            </a:pPr>
            <a:r>
              <a:rPr lang="en-US" sz="1440" dirty="0">
                <a:solidFill>
                  <a:srgbClr val="6F675C"/>
                </a:solidFill>
                <a:latin typeface="Calibri" panose="020F0502020204030204" pitchFamily="34" charset="0"/>
                <a:ea typeface="Calibri" panose="020F0502020204030204" pitchFamily="34" charset="-122"/>
                <a:cs typeface="Calibri" panose="020F0502020204030204" pitchFamily="34" charset="-120"/>
              </a:rPr>
              <a:t>Catatan: dengan 3 orang tanpa pengganti, hari libur harus ditutup Andre sebagai operasional atau jam buka dipendekkan. Gaji dibayar tanggal 1.</a:t>
            </a:r>
            <a:endParaRPr lang="en-US" sz="144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EFE6"/>
          </a:solidFill>
        </p:spPr>
        <p:txBody>
          <a:bodyPr/>
          <a:p/>
        </p:txBody>
      </p:sp>
      <p:sp>
        <p:nvSpPr>
          <p:cNvPr id="3" name="Shape 1"/>
          <p:cNvSpPr/>
          <p:nvPr/>
        </p:nvSpPr>
        <p:spPr>
          <a:xfrm>
            <a:off x="0" y="0"/>
            <a:ext cx="91440" cy="6858000"/>
          </a:xfrm>
          <a:prstGeom prst="rect">
            <a:avLst/>
          </a:prstGeom>
          <a:solidFill>
            <a:srgbClr val="C4622D"/>
          </a:solidFill>
        </p:spPr>
        <p:txBody>
          <a:bodyPr/>
          <a:p/>
        </p:txBody>
      </p:sp>
      <p:sp>
        <p:nvSpPr>
          <p:cNvPr id="4" name="Shape 2"/>
          <p:cNvSpPr/>
          <p:nvPr/>
        </p:nvSpPr>
        <p:spPr>
          <a:xfrm>
            <a:off x="0" y="6601968"/>
            <a:ext cx="12191695" cy="256032"/>
          </a:xfrm>
          <a:prstGeom prst="rect">
            <a:avLst/>
          </a:prstGeom>
          <a:solidFill>
            <a:srgbClr val="1A1814"/>
          </a:solidFill>
        </p:spPr>
        <p:txBody>
          <a:bodyPr/>
          <a:p/>
        </p:txBody>
      </p:sp>
      <p:sp>
        <p:nvSpPr>
          <p:cNvPr id="5" name="Text 3"/>
          <p:cNvSpPr/>
          <p:nvPr/>
        </p:nvSpPr>
        <p:spPr>
          <a:xfrm>
            <a:off x="347472" y="6601968"/>
            <a:ext cx="9144000" cy="256032"/>
          </a:xfrm>
          <a:prstGeom prst="rect">
            <a:avLst/>
          </a:prstGeom>
          <a:noFill/>
        </p:spPr>
        <p:txBody>
          <a:bodyPr wrap="square" lIns="0" tIns="0" rIns="0" bIns="0" rtlCol="0" anchor="ctr"/>
          <a:lstStyle/>
          <a:p>
            <a:pPr marL="0" indent="0">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HUNI   ·   Proposal website kos &amp; kontrakan   ·   Oktober 2026</a:t>
            </a:r>
            <a:endParaRPr lang="en-US" sz="1100" dirty="0"/>
          </a:p>
        </p:txBody>
      </p:sp>
      <p:sp>
        <p:nvSpPr>
          <p:cNvPr id="6" name="Text 4"/>
          <p:cNvSpPr/>
          <p:nvPr/>
        </p:nvSpPr>
        <p:spPr>
          <a:xfrm>
            <a:off x="9509760" y="6601968"/>
            <a:ext cx="2331720" cy="256032"/>
          </a:xfrm>
          <a:prstGeom prst="rect">
            <a:avLst/>
          </a:prstGeom>
          <a:noFill/>
        </p:spPr>
        <p:txBody>
          <a:bodyPr wrap="square" lIns="0" tIns="0" rIns="0" bIns="0" rtlCol="0" anchor="ctr"/>
          <a:lstStyle/>
          <a:p>
            <a:pPr marL="0" indent="0" algn="r">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35  /  36</a:t>
            </a:r>
            <a:endParaRPr lang="en-US" sz="1100" dirty="0"/>
          </a:p>
        </p:txBody>
      </p:sp>
      <p:sp>
        <p:nvSpPr>
          <p:cNvPr id="7" name="Text 5"/>
          <p:cNvSpPr/>
          <p:nvPr/>
        </p:nvSpPr>
        <p:spPr>
          <a:xfrm>
            <a:off x="426709" y="304792"/>
            <a:ext cx="11338277" cy="731502"/>
          </a:xfrm>
          <a:prstGeom prst="rect">
            <a:avLst/>
          </a:prstGeom>
          <a:noFill/>
        </p:spPr>
        <p:txBody>
          <a:bodyPr wrap="square" lIns="0" tIns="0" rIns="0" bIns="0" rtlCol="0" anchor="ctr"/>
          <a:lstStyle/>
          <a:p>
            <a:pPr marL="0" indent="0">
              <a:buNone/>
            </a:pPr>
            <a:r>
              <a:rPr lang="en-US" sz="3120" b="1" dirty="0">
                <a:solidFill>
                  <a:srgbClr val="1A1814"/>
                </a:solidFill>
                <a:latin typeface="Georgia" panose="02040502050405020303" pitchFamily="34" charset="0"/>
                <a:ea typeface="Georgia" panose="02040502050405020303" pitchFamily="34" charset="-122"/>
                <a:cs typeface="Georgia" panose="02040502050405020303" pitchFamily="34" charset="-120"/>
              </a:rPr>
              <a:t>Cafe: event &amp; kerja sama partner</a:t>
            </a:r>
            <a:endParaRPr lang="en-US" sz="3120" dirty="0"/>
          </a:p>
        </p:txBody>
      </p:sp>
      <p:sp>
        <p:nvSpPr>
          <p:cNvPr id="8" name="Text 6"/>
          <p:cNvSpPr/>
          <p:nvPr/>
        </p:nvSpPr>
        <p:spPr>
          <a:xfrm>
            <a:off x="426709" y="1072869"/>
            <a:ext cx="11338277" cy="487668"/>
          </a:xfrm>
          <a:prstGeom prst="rect">
            <a:avLst/>
          </a:prstGeom>
          <a:noFill/>
        </p:spPr>
        <p:txBody>
          <a:bodyPr wrap="square" lIns="0" tIns="0" rIns="0" bIns="0" rtlCol="0" anchor="ctr"/>
          <a:lstStyle/>
          <a:p>
            <a:pPr marL="0" indent="0">
              <a:buNone/>
            </a:pPr>
            <a:r>
              <a:rPr lang="en-US" sz="1560" dirty="0">
                <a:solidFill>
                  <a:srgbClr val="6F675C"/>
                </a:solidFill>
                <a:latin typeface="Calibri" panose="020F0502020204030204" pitchFamily="34" charset="0"/>
                <a:ea typeface="Calibri" panose="020F0502020204030204" pitchFamily="34" charset="-122"/>
                <a:cs typeface="Calibri" panose="020F0502020204030204" pitchFamily="34" charset="-120"/>
              </a:rPr>
              <a:t>Dibiayai dari porsi marketing &amp; event 7%, dibantu sponsor partner.</a:t>
            </a:r>
            <a:endParaRPr lang="en-US" sz="1560" dirty="0"/>
          </a:p>
        </p:txBody>
      </p:sp>
      <p:sp>
        <p:nvSpPr>
          <p:cNvPr id="9" name="Shape 7"/>
          <p:cNvSpPr/>
          <p:nvPr/>
        </p:nvSpPr>
        <p:spPr>
          <a:xfrm>
            <a:off x="426709" y="1828754"/>
            <a:ext cx="5547221" cy="2682173"/>
          </a:xfrm>
          <a:prstGeom prst="roundRect">
            <a:avLst>
              <a:gd name="adj" fmla="val 2727"/>
            </a:avLst>
          </a:prstGeom>
          <a:solidFill>
            <a:srgbClr val="FBF8F3"/>
          </a:solidFill>
          <a:ln w="9525">
            <a:solidFill>
              <a:srgbClr val="D9CFBF"/>
            </a:solidFill>
            <a:prstDash val="solid"/>
          </a:ln>
        </p:spPr>
        <p:txBody>
          <a:bodyPr/>
          <a:p/>
        </p:txBody>
      </p:sp>
      <p:sp>
        <p:nvSpPr>
          <p:cNvPr id="10" name="Text 8"/>
          <p:cNvSpPr/>
          <p:nvPr/>
        </p:nvSpPr>
        <p:spPr>
          <a:xfrm>
            <a:off x="609585" y="1950671"/>
            <a:ext cx="5181470" cy="426709"/>
          </a:xfrm>
          <a:prstGeom prst="rect">
            <a:avLst/>
          </a:prstGeom>
          <a:noFill/>
        </p:spPr>
        <p:txBody>
          <a:bodyPr wrap="square" lIns="0" tIns="0" rIns="0" bIns="0" rtlCol="0" anchor="ctr"/>
          <a:lstStyle/>
          <a:p>
            <a:pPr marL="0" indent="0">
              <a:buNone/>
            </a:pPr>
            <a:r>
              <a:rPr lang="en-US" sz="1680" b="1" dirty="0">
                <a:solidFill>
                  <a:srgbClr val="1A1814"/>
                </a:solidFill>
                <a:latin typeface="Georgia" panose="02040502050405020303" pitchFamily="34" charset="0"/>
                <a:ea typeface="Georgia" panose="02040502050405020303" pitchFamily="34" charset="-122"/>
                <a:cs typeface="Georgia" panose="02040502050405020303" pitchFamily="34" charset="-120"/>
              </a:rPr>
              <a:t>Event cafe</a:t>
            </a:r>
            <a:endParaRPr lang="en-US" sz="1680" dirty="0"/>
          </a:p>
        </p:txBody>
      </p:sp>
      <p:sp>
        <p:nvSpPr>
          <p:cNvPr id="11" name="Text 9"/>
          <p:cNvSpPr/>
          <p:nvPr/>
        </p:nvSpPr>
        <p:spPr>
          <a:xfrm>
            <a:off x="609585" y="2438339"/>
            <a:ext cx="5181470" cy="1950671"/>
          </a:xfrm>
          <a:prstGeom prst="rect">
            <a:avLst/>
          </a:prstGeom>
          <a:noFill/>
        </p:spPr>
        <p:txBody>
          <a:bodyPr wrap="square" lIns="0" tIns="0" rIns="0" bIns="0" rtlCol="0" anchor="t"/>
          <a:lstStyle/>
          <a:p>
            <a:pPr marL="342900" indent="-342900">
              <a:spcAft>
                <a:spcPts val="400"/>
              </a:spcAft>
              <a:buSzPct val="100000"/>
              <a:buChar char="•"/>
            </a:pPr>
            <a:r>
              <a:rPr lang="en-US" sz="1380" dirty="0">
                <a:solidFill>
                  <a:srgbClr val="3F382F"/>
                </a:solidFill>
              </a:rPr>
              <a:t>Live music akustik tiap Jumat malam</a:t>
            </a:r>
            <a:endParaRPr lang="en-US" sz="1380" dirty="0"/>
          </a:p>
          <a:p>
            <a:pPr marL="342900" indent="-342900">
              <a:spcAft>
                <a:spcPts val="400"/>
              </a:spcAft>
              <a:buSzPct val="100000"/>
              <a:buChar char="•"/>
            </a:pPr>
            <a:r>
              <a:rPr lang="en-US" sz="1380" dirty="0">
                <a:solidFill>
                  <a:srgbClr val="3F382F"/>
                </a:solidFill>
              </a:rPr>
              <a:t>Nobar, kuis, kelas kopi, workshop komunitas</a:t>
            </a:r>
            <a:endParaRPr lang="en-US" sz="1380" dirty="0"/>
          </a:p>
          <a:p>
            <a:pPr marL="342900" indent="-342900">
              <a:spcAft>
                <a:spcPts val="400"/>
              </a:spcAft>
              <a:buSzPct val="100000"/>
              <a:buChar char="•"/>
            </a:pPr>
            <a:r>
              <a:rPr lang="en-US" sz="1380" dirty="0">
                <a:solidFill>
                  <a:srgbClr val="3F382F"/>
                </a:solidFill>
              </a:rPr>
              <a:t>Paket gabungan main futsal + ngopi</a:t>
            </a:r>
            <a:endParaRPr lang="en-US" sz="1380" dirty="0"/>
          </a:p>
        </p:txBody>
      </p:sp>
      <p:sp>
        <p:nvSpPr>
          <p:cNvPr id="12" name="Shape 10"/>
          <p:cNvSpPr/>
          <p:nvPr/>
        </p:nvSpPr>
        <p:spPr>
          <a:xfrm>
            <a:off x="6217765" y="1828754"/>
            <a:ext cx="5547221" cy="2682173"/>
          </a:xfrm>
          <a:prstGeom prst="roundRect">
            <a:avLst>
              <a:gd name="adj" fmla="val 2727"/>
            </a:avLst>
          </a:prstGeom>
          <a:solidFill>
            <a:srgbClr val="2F5D50"/>
          </a:solidFill>
          <a:ln w="9525">
            <a:solidFill>
              <a:srgbClr val="D9CFBF"/>
            </a:solidFill>
            <a:prstDash val="solid"/>
          </a:ln>
        </p:spPr>
        <p:txBody>
          <a:bodyPr/>
          <a:p/>
        </p:txBody>
      </p:sp>
      <p:sp>
        <p:nvSpPr>
          <p:cNvPr id="13" name="Text 11"/>
          <p:cNvSpPr/>
          <p:nvPr/>
        </p:nvSpPr>
        <p:spPr>
          <a:xfrm>
            <a:off x="6400640" y="1950671"/>
            <a:ext cx="5181470" cy="426709"/>
          </a:xfrm>
          <a:prstGeom prst="rect">
            <a:avLst/>
          </a:prstGeom>
          <a:noFill/>
        </p:spPr>
        <p:txBody>
          <a:bodyPr wrap="square" lIns="0" tIns="0" rIns="0" bIns="0" rtlCol="0" anchor="ctr"/>
          <a:lstStyle/>
          <a:p>
            <a:pPr marL="0" indent="0">
              <a:buNone/>
            </a:pPr>
            <a:r>
              <a:rPr lang="en-US" sz="1680" b="1" dirty="0">
                <a:solidFill>
                  <a:srgbClr val="F4EFE6"/>
                </a:solidFill>
                <a:latin typeface="Georgia" panose="02040502050405020303" pitchFamily="34" charset="0"/>
                <a:ea typeface="Georgia" panose="02040502050405020303" pitchFamily="34" charset="-122"/>
                <a:cs typeface="Georgia" panose="02040502050405020303" pitchFamily="34" charset="-120"/>
              </a:rPr>
              <a:t>Partner event</a:t>
            </a:r>
            <a:endParaRPr lang="en-US" sz="1680" dirty="0"/>
          </a:p>
        </p:txBody>
      </p:sp>
      <p:sp>
        <p:nvSpPr>
          <p:cNvPr id="14" name="Text 12"/>
          <p:cNvSpPr/>
          <p:nvPr/>
        </p:nvSpPr>
        <p:spPr>
          <a:xfrm>
            <a:off x="6400640" y="2438339"/>
            <a:ext cx="5181470" cy="1950671"/>
          </a:xfrm>
          <a:prstGeom prst="rect">
            <a:avLst/>
          </a:prstGeom>
          <a:noFill/>
        </p:spPr>
        <p:txBody>
          <a:bodyPr wrap="square" lIns="0" tIns="0" rIns="0" bIns="0" rtlCol="0" anchor="t"/>
          <a:lstStyle/>
          <a:p>
            <a:pPr marL="342900" indent="-342900">
              <a:spcAft>
                <a:spcPts val="400"/>
              </a:spcAft>
              <a:buSzPct val="100000"/>
              <a:buChar char="•"/>
            </a:pPr>
            <a:r>
              <a:rPr lang="en-US" sz="1380" dirty="0">
                <a:solidFill>
                  <a:srgbClr val="E7DCC8"/>
                </a:solidFill>
              </a:rPr>
              <a:t>Tim event atau EO luar, brand besar (mis. Djarum atau lainnya)</a:t>
            </a:r>
            <a:endParaRPr lang="en-US" sz="1380" dirty="0"/>
          </a:p>
          <a:p>
            <a:pPr marL="342900" indent="-342900">
              <a:spcAft>
                <a:spcPts val="400"/>
              </a:spcAft>
              <a:buSzPct val="100000"/>
              <a:buChar char="•"/>
            </a:pPr>
            <a:r>
              <a:rPr lang="en-US" sz="1380" dirty="0">
                <a:solidFill>
                  <a:srgbClr val="E7DCC8"/>
                </a:solidFill>
              </a:rPr>
              <a:t>Partner membawa sponsor dan peserta, kita sediakan venue dan F&amp;B</a:t>
            </a:r>
            <a:endParaRPr lang="en-US" sz="1380" dirty="0"/>
          </a:p>
          <a:p>
            <a:pPr marL="342900" indent="-342900">
              <a:spcAft>
                <a:spcPts val="400"/>
              </a:spcAft>
              <a:buSzPct val="100000"/>
              <a:buChar char="•"/>
            </a:pPr>
            <a:r>
              <a:rPr lang="en-US" sz="1380" dirty="0">
                <a:solidFill>
                  <a:srgbClr val="E7DCC8"/>
                </a:solidFill>
              </a:rPr>
              <a:t>Hitung bagi hasil per event, tidak ditanggung porsi 20%</a:t>
            </a:r>
            <a:endParaRPr lang="en-US" sz="1380" dirty="0"/>
          </a:p>
        </p:txBody>
      </p:sp>
      <p:sp>
        <p:nvSpPr>
          <p:cNvPr id="15" name="Shape 13"/>
          <p:cNvSpPr/>
          <p:nvPr/>
        </p:nvSpPr>
        <p:spPr>
          <a:xfrm>
            <a:off x="426709" y="4693803"/>
            <a:ext cx="11338277" cy="1645879"/>
          </a:xfrm>
          <a:prstGeom prst="roundRect">
            <a:avLst>
              <a:gd name="adj" fmla="val 4445"/>
            </a:avLst>
          </a:prstGeom>
          <a:solidFill>
            <a:srgbClr val="9A4518"/>
          </a:solidFill>
          <a:ln w="9525">
            <a:solidFill>
              <a:srgbClr val="D9CFBF"/>
            </a:solidFill>
            <a:prstDash val="solid"/>
          </a:ln>
        </p:spPr>
        <p:txBody>
          <a:bodyPr/>
          <a:p/>
        </p:txBody>
      </p:sp>
      <p:sp>
        <p:nvSpPr>
          <p:cNvPr id="16" name="Text 14"/>
          <p:cNvSpPr/>
          <p:nvPr/>
        </p:nvSpPr>
        <p:spPr>
          <a:xfrm>
            <a:off x="609585" y="4815720"/>
            <a:ext cx="10972526" cy="426709"/>
          </a:xfrm>
          <a:prstGeom prst="rect">
            <a:avLst/>
          </a:prstGeom>
          <a:noFill/>
        </p:spPr>
        <p:txBody>
          <a:bodyPr wrap="square" lIns="0" tIns="0" rIns="0" bIns="0" rtlCol="0" anchor="ctr"/>
          <a:lstStyle/>
          <a:p>
            <a:pPr marL="0" indent="0">
              <a:buNone/>
            </a:pPr>
            <a:r>
              <a:rPr lang="en-US" sz="1680" b="1" dirty="0">
                <a:solidFill>
                  <a:srgbClr val="F4EFE6"/>
                </a:solidFill>
                <a:latin typeface="Georgia" panose="02040502050405020303" pitchFamily="34" charset="0"/>
                <a:ea typeface="Georgia" panose="02040502050405020303" pitchFamily="34" charset="-122"/>
                <a:cs typeface="Georgia" panose="02040502050405020303" pitchFamily="34" charset="-120"/>
              </a:rPr>
              <a:t>Catatan aturan sponsor rokok</a:t>
            </a:r>
            <a:endParaRPr lang="en-US" sz="1680" dirty="0"/>
          </a:p>
        </p:txBody>
      </p:sp>
      <p:sp>
        <p:nvSpPr>
          <p:cNvPr id="17" name="Text 15"/>
          <p:cNvSpPr/>
          <p:nvPr/>
        </p:nvSpPr>
        <p:spPr>
          <a:xfrm>
            <a:off x="609585" y="5303387"/>
            <a:ext cx="10972526" cy="914377"/>
          </a:xfrm>
          <a:prstGeom prst="rect">
            <a:avLst/>
          </a:prstGeom>
          <a:noFill/>
        </p:spPr>
        <p:txBody>
          <a:bodyPr wrap="square" lIns="0" tIns="0" rIns="0" bIns="0" rtlCol="0" anchor="t"/>
          <a:lstStyle/>
          <a:p>
            <a:pPr marL="342900" indent="-342900">
              <a:spcAft>
                <a:spcPts val="400"/>
              </a:spcAft>
              <a:buSzPct val="100000"/>
              <a:buChar char="•"/>
            </a:pPr>
            <a:r>
              <a:rPr lang="en-US" sz="1380" dirty="0">
                <a:solidFill>
                  <a:srgbClr val="E7DCC8"/>
                </a:solidFill>
              </a:rPr>
              <a:t>PP 28/2024 tidak melarang sponsor perusahaan rokok, tetapi promosi produk tembakau dibatasi dan iklan luar ruang dilarang dalam radius 500 m dari sekolah</a:t>
            </a:r>
            <a:endParaRPr lang="en-US" sz="1380" dirty="0"/>
          </a:p>
          <a:p>
            <a:pPr marL="342900" indent="-342900">
              <a:spcAft>
                <a:spcPts val="400"/>
              </a:spcAft>
              <a:buSzPct val="100000"/>
              <a:buChar char="•"/>
            </a:pPr>
            <a:r>
              <a:rPr lang="en-US" sz="1380" dirty="0">
                <a:solidFill>
                  <a:srgbClr val="E7DCC8"/>
                </a:solidFill>
              </a:rPr>
              <a:t>Untuk event sekolah, pakai sponsor non-rokok atau tanpa logo/merek produk rokok; cek ke sekolah dan dinas dulu</a:t>
            </a:r>
            <a:endParaRPr lang="en-US" sz="138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EFE6"/>
          </a:solidFill>
        </p:spPr>
        <p:txBody>
          <a:bodyPr/>
          <a:p/>
        </p:txBody>
      </p:sp>
      <p:sp>
        <p:nvSpPr>
          <p:cNvPr id="3" name="Shape 1"/>
          <p:cNvSpPr/>
          <p:nvPr/>
        </p:nvSpPr>
        <p:spPr>
          <a:xfrm>
            <a:off x="0" y="0"/>
            <a:ext cx="91440" cy="6858000"/>
          </a:xfrm>
          <a:prstGeom prst="rect">
            <a:avLst/>
          </a:prstGeom>
          <a:solidFill>
            <a:srgbClr val="C4622D"/>
          </a:solidFill>
        </p:spPr>
        <p:txBody>
          <a:bodyPr/>
          <a:p/>
        </p:txBody>
      </p:sp>
      <p:sp>
        <p:nvSpPr>
          <p:cNvPr id="4" name="Shape 2"/>
          <p:cNvSpPr/>
          <p:nvPr/>
        </p:nvSpPr>
        <p:spPr>
          <a:xfrm>
            <a:off x="0" y="6601968"/>
            <a:ext cx="12191695" cy="256032"/>
          </a:xfrm>
          <a:prstGeom prst="rect">
            <a:avLst/>
          </a:prstGeom>
          <a:solidFill>
            <a:srgbClr val="1A1814"/>
          </a:solidFill>
        </p:spPr>
        <p:txBody>
          <a:bodyPr/>
          <a:p/>
        </p:txBody>
      </p:sp>
      <p:sp>
        <p:nvSpPr>
          <p:cNvPr id="5" name="Text 3"/>
          <p:cNvSpPr/>
          <p:nvPr/>
        </p:nvSpPr>
        <p:spPr>
          <a:xfrm>
            <a:off x="347472" y="6601968"/>
            <a:ext cx="9144000" cy="256032"/>
          </a:xfrm>
          <a:prstGeom prst="rect">
            <a:avLst/>
          </a:prstGeom>
          <a:noFill/>
        </p:spPr>
        <p:txBody>
          <a:bodyPr wrap="square" lIns="0" tIns="0" rIns="0" bIns="0" rtlCol="0" anchor="ctr"/>
          <a:lstStyle/>
          <a:p>
            <a:pPr marL="0" indent="0">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HUNI   ·   Proposal website kos &amp; kontrakan   ·   Oktober 2026</a:t>
            </a:r>
            <a:endParaRPr lang="en-US" sz="1100" dirty="0"/>
          </a:p>
        </p:txBody>
      </p:sp>
      <p:sp>
        <p:nvSpPr>
          <p:cNvPr id="6" name="Text 4"/>
          <p:cNvSpPr/>
          <p:nvPr/>
        </p:nvSpPr>
        <p:spPr>
          <a:xfrm>
            <a:off x="9509760" y="6601968"/>
            <a:ext cx="2331720" cy="256032"/>
          </a:xfrm>
          <a:prstGeom prst="rect">
            <a:avLst/>
          </a:prstGeom>
          <a:noFill/>
        </p:spPr>
        <p:txBody>
          <a:bodyPr wrap="square" lIns="0" tIns="0" rIns="0" bIns="0" rtlCol="0" anchor="ctr"/>
          <a:lstStyle/>
          <a:p>
            <a:pPr marL="0" indent="0" algn="r">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36  /  36</a:t>
            </a:r>
            <a:endParaRPr lang="en-US" sz="1100" dirty="0"/>
          </a:p>
        </p:txBody>
      </p:sp>
      <p:sp>
        <p:nvSpPr>
          <p:cNvPr id="7" name="Text 5"/>
          <p:cNvSpPr/>
          <p:nvPr/>
        </p:nvSpPr>
        <p:spPr>
          <a:xfrm>
            <a:off x="426709" y="304792"/>
            <a:ext cx="11338277" cy="731502"/>
          </a:xfrm>
          <a:prstGeom prst="rect">
            <a:avLst/>
          </a:prstGeom>
          <a:noFill/>
        </p:spPr>
        <p:txBody>
          <a:bodyPr wrap="square" lIns="0" tIns="0" rIns="0" bIns="0" rtlCol="0" anchor="ctr"/>
          <a:lstStyle/>
          <a:p>
            <a:pPr marL="0" indent="0">
              <a:buNone/>
            </a:pPr>
            <a:r>
              <a:rPr lang="en-US" sz="3120" b="1" dirty="0">
                <a:solidFill>
                  <a:srgbClr val="1A1814"/>
                </a:solidFill>
                <a:latin typeface="Georgia" panose="02040502050405020303" pitchFamily="34" charset="0"/>
                <a:ea typeface="Georgia" panose="02040502050405020303" pitchFamily="34" charset="-122"/>
                <a:cs typeface="Georgia" panose="02040502050405020303" pitchFamily="34" charset="-120"/>
              </a:rPr>
              <a:t>Yang perlu diputuskan sebelum jalan</a:t>
            </a:r>
            <a:endParaRPr lang="en-US" sz="3120" dirty="0"/>
          </a:p>
        </p:txBody>
      </p:sp>
      <p:sp>
        <p:nvSpPr>
          <p:cNvPr id="8" name="Shape 6"/>
          <p:cNvSpPr/>
          <p:nvPr/>
        </p:nvSpPr>
        <p:spPr>
          <a:xfrm>
            <a:off x="426709" y="1463003"/>
            <a:ext cx="11338277" cy="2316422"/>
          </a:xfrm>
          <a:prstGeom prst="roundRect">
            <a:avLst>
              <a:gd name="adj" fmla="val 3158"/>
            </a:avLst>
          </a:prstGeom>
          <a:solidFill>
            <a:srgbClr val="9A4518"/>
          </a:solidFill>
          <a:ln w="9525">
            <a:solidFill>
              <a:srgbClr val="D9CFBF"/>
            </a:solidFill>
            <a:prstDash val="solid"/>
          </a:ln>
        </p:spPr>
        <p:txBody>
          <a:bodyPr/>
          <a:p/>
        </p:txBody>
      </p:sp>
      <p:sp>
        <p:nvSpPr>
          <p:cNvPr id="9" name="Text 7"/>
          <p:cNvSpPr/>
          <p:nvPr/>
        </p:nvSpPr>
        <p:spPr>
          <a:xfrm>
            <a:off x="609585" y="1584920"/>
            <a:ext cx="10972526" cy="426709"/>
          </a:xfrm>
          <a:prstGeom prst="rect">
            <a:avLst/>
          </a:prstGeom>
          <a:noFill/>
        </p:spPr>
        <p:txBody>
          <a:bodyPr wrap="square" lIns="0" tIns="0" rIns="0" bIns="0" rtlCol="0" anchor="ctr"/>
          <a:lstStyle/>
          <a:p>
            <a:pPr marL="0" indent="0">
              <a:buNone/>
            </a:pPr>
            <a:r>
              <a:rPr lang="en-US" sz="1680" b="1" dirty="0">
                <a:solidFill>
                  <a:srgbClr val="F4EFE6"/>
                </a:solidFill>
                <a:latin typeface="Georgia" panose="02040502050405020303" pitchFamily="34" charset="0"/>
                <a:ea typeface="Georgia" panose="02040502050405020303" pitchFamily="34" charset="-122"/>
                <a:cs typeface="Georgia" panose="02040502050405020303" pitchFamily="34" charset="-120"/>
              </a:rPr>
              <a:t>Angka kunci</a:t>
            </a:r>
            <a:endParaRPr lang="en-US" sz="1680" dirty="0"/>
          </a:p>
        </p:txBody>
      </p:sp>
      <p:sp>
        <p:nvSpPr>
          <p:cNvPr id="10" name="Text 8"/>
          <p:cNvSpPr/>
          <p:nvPr/>
        </p:nvSpPr>
        <p:spPr>
          <a:xfrm>
            <a:off x="609585" y="2072588"/>
            <a:ext cx="10972526" cy="1584920"/>
          </a:xfrm>
          <a:prstGeom prst="rect">
            <a:avLst/>
          </a:prstGeom>
          <a:noFill/>
        </p:spPr>
        <p:txBody>
          <a:bodyPr wrap="square" lIns="0" tIns="0" rIns="0" bIns="0" rtlCol="0" anchor="t"/>
          <a:lstStyle/>
          <a:p>
            <a:pPr marL="342900" indent="-342900">
              <a:spcAft>
                <a:spcPts val="400"/>
              </a:spcAft>
              <a:buSzPct val="100000"/>
              <a:buChar char="•"/>
            </a:pPr>
            <a:r>
              <a:rPr lang="en-US" sz="1380" dirty="0">
                <a:solidFill>
                  <a:srgbClr val="E7DCC8"/>
                </a:solidFill>
              </a:rPr>
              <a:t>Cafe target 80,00 jt: pengelola 16,00 jt, net owner 21,03 jt (26% omzet).</a:t>
            </a:r>
            <a:endParaRPr lang="en-US" sz="1380" dirty="0"/>
          </a:p>
          <a:p>
            <a:pPr marL="342900" indent="-342900">
              <a:spcAft>
                <a:spcPts val="400"/>
              </a:spcAft>
              <a:buSzPct val="100000"/>
              <a:buChar char="•"/>
            </a:pPr>
            <a:r>
              <a:rPr lang="en-US" sz="1380" dirty="0">
                <a:solidFill>
                  <a:srgbClr val="E7DCC8"/>
                </a:solidFill>
              </a:rPr>
              <a:t>Futsal target 52,04 jt: pengelola 15,61 jt, net owner 36,43 jt. Butuh 7 jam terjual per hari per lapangan.</a:t>
            </a:r>
            <a:endParaRPr lang="en-US" sz="1380" dirty="0"/>
          </a:p>
          <a:p>
            <a:pPr marL="342900" indent="-342900">
              <a:spcAft>
                <a:spcPts val="400"/>
              </a:spcAft>
              <a:buSzPct val="100000"/>
              <a:buChar char="•"/>
            </a:pPr>
            <a:r>
              <a:rPr lang="en-US" sz="1380" dirty="0">
                <a:solidFill>
                  <a:srgbClr val="E7DCC8"/>
                </a:solidFill>
              </a:rPr>
              <a:t>Target butuh push nyata: 80 pelanggan cafe per hari dan turnamen sekolah rutin.</a:t>
            </a:r>
            <a:endParaRPr lang="en-US" sz="1380" dirty="0"/>
          </a:p>
        </p:txBody>
      </p:sp>
      <p:sp>
        <p:nvSpPr>
          <p:cNvPr id="11" name="Shape 9"/>
          <p:cNvSpPr/>
          <p:nvPr/>
        </p:nvSpPr>
        <p:spPr>
          <a:xfrm>
            <a:off x="426709" y="3962301"/>
            <a:ext cx="11338277" cy="2377381"/>
          </a:xfrm>
          <a:prstGeom prst="roundRect">
            <a:avLst>
              <a:gd name="adj" fmla="val 3077"/>
            </a:avLst>
          </a:prstGeom>
          <a:solidFill>
            <a:srgbClr val="FBF8F3"/>
          </a:solidFill>
          <a:ln w="9525">
            <a:solidFill>
              <a:srgbClr val="D9CFBF"/>
            </a:solidFill>
            <a:prstDash val="solid"/>
          </a:ln>
        </p:spPr>
        <p:txBody>
          <a:bodyPr/>
          <a:p/>
        </p:txBody>
      </p:sp>
      <p:sp>
        <p:nvSpPr>
          <p:cNvPr id="12" name="Text 10"/>
          <p:cNvSpPr/>
          <p:nvPr/>
        </p:nvSpPr>
        <p:spPr>
          <a:xfrm>
            <a:off x="609585" y="4084218"/>
            <a:ext cx="10972526" cy="426709"/>
          </a:xfrm>
          <a:prstGeom prst="rect">
            <a:avLst/>
          </a:prstGeom>
          <a:noFill/>
        </p:spPr>
        <p:txBody>
          <a:bodyPr wrap="square" lIns="0" tIns="0" rIns="0" bIns="0" rtlCol="0" anchor="ctr"/>
          <a:lstStyle/>
          <a:p>
            <a:pPr marL="0" indent="0">
              <a:buNone/>
            </a:pPr>
            <a:r>
              <a:rPr lang="en-US" sz="1680" b="1" dirty="0">
                <a:solidFill>
                  <a:srgbClr val="1A1814"/>
                </a:solidFill>
                <a:latin typeface="Georgia" panose="02040502050405020303" pitchFamily="34" charset="0"/>
                <a:ea typeface="Georgia" panose="02040502050405020303" pitchFamily="34" charset="-122"/>
                <a:cs typeface="Georgia" panose="02040502050405020303" pitchFamily="34" charset="-120"/>
              </a:rPr>
              <a:t>Langkah berikut</a:t>
            </a:r>
            <a:endParaRPr lang="en-US" sz="1680" dirty="0"/>
          </a:p>
        </p:txBody>
      </p:sp>
      <p:sp>
        <p:nvSpPr>
          <p:cNvPr id="13" name="Text 11"/>
          <p:cNvSpPr/>
          <p:nvPr/>
        </p:nvSpPr>
        <p:spPr>
          <a:xfrm>
            <a:off x="609585" y="4571886"/>
            <a:ext cx="10972526" cy="1645879"/>
          </a:xfrm>
          <a:prstGeom prst="rect">
            <a:avLst/>
          </a:prstGeom>
          <a:noFill/>
        </p:spPr>
        <p:txBody>
          <a:bodyPr wrap="square" lIns="0" tIns="0" rIns="0" bIns="0" rtlCol="0" anchor="t"/>
          <a:lstStyle/>
          <a:p>
            <a:pPr marL="342900" indent="-342900">
              <a:spcAft>
                <a:spcPts val="400"/>
              </a:spcAft>
              <a:buSzPct val="100000"/>
              <a:buChar char="•"/>
            </a:pPr>
            <a:r>
              <a:rPr lang="en-US" sz="1380" dirty="0">
                <a:solidFill>
                  <a:srgbClr val="3F382F"/>
                </a:solidFill>
              </a:rPr>
              <a:t>Ganti asumsi di Excel dengan data lokasi (tarif, gaji, listrik, sewa)</a:t>
            </a:r>
            <a:endParaRPr lang="en-US" sz="1380" dirty="0"/>
          </a:p>
          <a:p>
            <a:pPr marL="342900" indent="-342900">
              <a:spcAft>
                <a:spcPts val="400"/>
              </a:spcAft>
              <a:buSzPct val="100000"/>
              <a:buChar char="•"/>
            </a:pPr>
            <a:r>
              <a:rPr lang="en-US" sz="1380" dirty="0">
                <a:solidFill>
                  <a:srgbClr val="3F382F"/>
                </a:solidFill>
              </a:rPr>
              <a:t>Pak Nana approval kontrak dan angka; Pak Riki putuskan jalan</a:t>
            </a:r>
            <a:endParaRPr lang="en-US" sz="1380" dirty="0"/>
          </a:p>
          <a:p>
            <a:pPr marL="342900" indent="-342900">
              <a:spcAft>
                <a:spcPts val="400"/>
              </a:spcAft>
              <a:buSzPct val="100000"/>
              <a:buChar char="•"/>
            </a:pPr>
            <a:r>
              <a:rPr lang="en-US" sz="1380" dirty="0">
                <a:solidFill>
                  <a:srgbClr val="3F382F"/>
                </a:solidFill>
              </a:rPr>
              <a:t>Pasang POS, hubungkan ke dashboard, evaluasi tiap bulan selama 3 bulan pertama</a:t>
            </a:r>
            <a:endParaRPr lang="en-US" sz="1380" dirty="0"/>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1695" cy="6858000"/>
          </a:xfrm>
          <a:prstGeom prst="rect">
            <a:avLst/>
          </a:prstGeom>
          <a:solidFill>
            <a:srgbClr val="F4EFE6"/>
          </a:solidFill>
        </p:spPr>
        <p:txBody>
          <a:bodyPr/>
          <a:p/>
        </p:txBody>
      </p:sp>
      <p:sp>
        <p:nvSpPr>
          <p:cNvPr id="3" name="Shape 1"/>
          <p:cNvSpPr/>
          <p:nvPr/>
        </p:nvSpPr>
        <p:spPr>
          <a:xfrm>
            <a:off x="0" y="0"/>
            <a:ext cx="91440" cy="6858000"/>
          </a:xfrm>
          <a:prstGeom prst="rect">
            <a:avLst/>
          </a:prstGeom>
          <a:solidFill>
            <a:srgbClr val="C4622D"/>
          </a:solidFill>
        </p:spPr>
        <p:txBody>
          <a:bodyPr/>
          <a:p/>
        </p:txBody>
      </p:sp>
      <p:sp>
        <p:nvSpPr>
          <p:cNvPr id="4" name="Shape 2"/>
          <p:cNvSpPr/>
          <p:nvPr/>
        </p:nvSpPr>
        <p:spPr>
          <a:xfrm>
            <a:off x="0" y="6601968"/>
            <a:ext cx="12191695" cy="256032"/>
          </a:xfrm>
          <a:prstGeom prst="rect">
            <a:avLst/>
          </a:prstGeom>
          <a:solidFill>
            <a:srgbClr val="1A1814"/>
          </a:solidFill>
        </p:spPr>
        <p:txBody>
          <a:bodyPr/>
          <a:p/>
        </p:txBody>
      </p:sp>
      <p:sp>
        <p:nvSpPr>
          <p:cNvPr id="5" name="Text 3"/>
          <p:cNvSpPr/>
          <p:nvPr/>
        </p:nvSpPr>
        <p:spPr>
          <a:xfrm>
            <a:off x="347472" y="6601968"/>
            <a:ext cx="9144000" cy="256032"/>
          </a:xfrm>
          <a:prstGeom prst="rect">
            <a:avLst/>
          </a:prstGeom>
          <a:noFill/>
        </p:spPr>
        <p:txBody>
          <a:bodyPr wrap="square" lIns="0" tIns="0" rIns="0" bIns="0" rtlCol="0" anchor="ctr"/>
          <a:lstStyle/>
          <a:p>
            <a:pPr marL="0" indent="0">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HUNI   ·   Proposal website kos &amp; kontrakan   ·   Oktober 2026</a:t>
            </a:r>
            <a:endParaRPr lang="en-US" sz="1100" dirty="0"/>
          </a:p>
        </p:txBody>
      </p:sp>
      <p:sp>
        <p:nvSpPr>
          <p:cNvPr id="6" name="Text 4"/>
          <p:cNvSpPr/>
          <p:nvPr/>
        </p:nvSpPr>
        <p:spPr>
          <a:xfrm>
            <a:off x="9509760" y="6601968"/>
            <a:ext cx="2331720" cy="256032"/>
          </a:xfrm>
          <a:prstGeom prst="rect">
            <a:avLst/>
          </a:prstGeom>
          <a:noFill/>
        </p:spPr>
        <p:txBody>
          <a:bodyPr wrap="square" lIns="0" tIns="0" rIns="0" bIns="0" rtlCol="0" anchor="ctr"/>
          <a:lstStyle/>
          <a:p>
            <a:pPr marL="0" indent="0" algn="r">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18  /  36</a:t>
            </a:r>
            <a:endParaRPr lang="en-US" sz="1100" dirty="0"/>
          </a:p>
        </p:txBody>
      </p:sp>
      <p:sp>
        <p:nvSpPr>
          <p:cNvPr id="7" name="Text 5"/>
          <p:cNvSpPr/>
          <p:nvPr/>
        </p:nvSpPr>
        <p:spPr>
          <a:xfrm>
            <a:off x="426709" y="304792"/>
            <a:ext cx="11338277" cy="731502"/>
          </a:xfrm>
          <a:prstGeom prst="rect">
            <a:avLst/>
          </a:prstGeom>
          <a:noFill/>
        </p:spPr>
        <p:txBody>
          <a:bodyPr wrap="square" lIns="0" tIns="0" rIns="0" bIns="0" rtlCol="0" anchor="ctr"/>
          <a:lstStyle/>
          <a:p>
            <a:pPr marL="0" indent="0">
              <a:buNone/>
            </a:pPr>
            <a:r>
              <a:rPr lang="en-US" sz="3120" b="1" dirty="0">
                <a:solidFill>
                  <a:srgbClr val="1A1814"/>
                </a:solidFill>
                <a:latin typeface="Georgia" panose="02040502050405020303" pitchFamily="34" charset="0"/>
                <a:ea typeface="Georgia" panose="02040502050405020303" pitchFamily="34" charset="-122"/>
                <a:cs typeface="Georgia" panose="02040502050405020303" pitchFamily="34" charset="-120"/>
              </a:rPr>
              <a:t>Dashboard analytics: satu layar per peran</a:t>
            </a:r>
            <a:endParaRPr lang="en-US" sz="3120" dirty="0"/>
          </a:p>
        </p:txBody>
      </p:sp>
      <p:sp>
        <p:nvSpPr>
          <p:cNvPr id="8" name="Text 6"/>
          <p:cNvSpPr/>
          <p:nvPr/>
        </p:nvSpPr>
        <p:spPr>
          <a:xfrm>
            <a:off x="426709" y="1072869"/>
            <a:ext cx="11338277" cy="487668"/>
          </a:xfrm>
          <a:prstGeom prst="rect">
            <a:avLst/>
          </a:prstGeom>
          <a:noFill/>
        </p:spPr>
        <p:txBody>
          <a:bodyPr wrap="square" lIns="0" tIns="0" rIns="0" bIns="0" rtlCol="0" anchor="ctr"/>
          <a:lstStyle/>
          <a:p>
            <a:pPr marL="0" indent="0">
              <a:buNone/>
            </a:pPr>
            <a:r>
              <a:rPr lang="en-US" sz="1560" dirty="0">
                <a:solidFill>
                  <a:srgbClr val="6F675C"/>
                </a:solidFill>
                <a:latin typeface="Calibri" panose="020F0502020204030204" pitchFamily="34" charset="0"/>
                <a:ea typeface="Calibri" panose="020F0502020204030204" pitchFamily="34" charset="-122"/>
                <a:cs typeface="Calibri" panose="020F0502020204030204" pitchFamily="34" charset="-120"/>
              </a:rPr>
              <a:t>Admin lihat semua modul. Peran lain hanya modul kerjanya.</a:t>
            </a:r>
            <a:endParaRPr lang="en-US" sz="1560" dirty="0"/>
          </a:p>
        </p:txBody>
      </p:sp>
      <p:graphicFrame>
        <p:nvGraphicFramePr>
          <p:cNvPr id="14" name="Table 0"/>
          <p:cNvGraphicFramePr>
            <a:graphicFrameLocks noGrp="1"/>
          </p:cNvGraphicFramePr>
          <p:nvPr/>
        </p:nvGraphicFramePr>
        <p:xfrm>
          <a:off x="426709" y="1828754"/>
          <a:ext cx="11338560" cy="3291756"/>
        </p:xfrm>
        <a:graphic>
          <a:graphicData uri="http://schemas.openxmlformats.org/drawingml/2006/table">
            <a:tbl>
              <a:tblPr/>
              <a:tblGrid>
                <a:gridCol w="1828800"/>
                <a:gridCol w="5669280"/>
                <a:gridCol w="3840480"/>
              </a:tblGrid>
              <a:tr h="548626">
                <a:tc>
                  <a:txBody>
                    <a:bodyPr/>
                    <a:lstStyle/>
                    <a:p>
                      <a:pPr marL="0" indent="0" algn="l">
                        <a:buNone/>
                      </a:pPr>
                      <a:r>
                        <a:rPr lang="en-US" sz="1320" b="1" dirty="0">
                          <a:solidFill>
                            <a:srgbClr val="F4EFE6"/>
                          </a:solidFill>
                        </a:rPr>
                        <a:t>Peran</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1A1814"/>
                    </a:solidFill>
                  </a:tcPr>
                </a:tc>
                <a:tc>
                  <a:txBody>
                    <a:bodyPr/>
                    <a:lstStyle/>
                    <a:p>
                      <a:pPr marL="0" indent="0" algn="l">
                        <a:buNone/>
                      </a:pPr>
                      <a:r>
                        <a:rPr lang="en-US" sz="1320" b="1" dirty="0">
                          <a:solidFill>
                            <a:srgbClr val="F4EFE6"/>
                          </a:solidFill>
                        </a:rPr>
                        <a:t>Yang dilihat</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1A1814"/>
                    </a:solidFill>
                  </a:tcPr>
                </a:tc>
                <a:tc>
                  <a:txBody>
                    <a:bodyPr/>
                    <a:lstStyle/>
                    <a:p>
                      <a:pPr marL="0" indent="0" algn="l">
                        <a:buNone/>
                      </a:pPr>
                      <a:r>
                        <a:rPr lang="en-US" sz="1320" b="1" dirty="0">
                          <a:solidFill>
                            <a:srgbClr val="F4EFE6"/>
                          </a:solidFill>
                        </a:rPr>
                        <a:t>Aksi</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1A1814"/>
                    </a:solidFill>
                  </a:tcPr>
                </a:tc>
              </a:tr>
              <a:tr h="548626">
                <a:tc>
                  <a:txBody>
                    <a:bodyPr/>
                    <a:lstStyle/>
                    <a:p>
                      <a:pPr marL="0" indent="0" algn="l">
                        <a:buNone/>
                      </a:pPr>
                      <a:r>
                        <a:rPr lang="en-US" sz="1320" dirty="0">
                          <a:solidFill>
                            <a:srgbClr val="1A1814"/>
                          </a:solidFill>
                        </a:rPr>
                        <a:t>Admin / owner</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l">
                        <a:buNone/>
                      </a:pPr>
                      <a:r>
                        <a:rPr lang="en-US" sz="1320" dirty="0">
                          <a:solidFill>
                            <a:srgbClr val="1A1814"/>
                          </a:solidFill>
                        </a:rPr>
                        <a:t>Hunian, keuangan cafe &amp; kos, pembayaran, semua modul</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l">
                        <a:buNone/>
                      </a:pPr>
                      <a:r>
                        <a:rPr lang="en-US" sz="1320" dirty="0">
                          <a:solidFill>
                            <a:srgbClr val="1A1814"/>
                          </a:solidFill>
                        </a:rPr>
                        <a:t>Semua modul, approval</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r>
              <a:tr h="548626">
                <a:tc>
                  <a:txBody>
                    <a:bodyPr/>
                    <a:lstStyle/>
                    <a:p>
                      <a:pPr marL="0" indent="0" algn="l">
                        <a:buNone/>
                      </a:pPr>
                      <a:r>
                        <a:rPr lang="en-US" sz="1320" dirty="0">
                          <a:solidFill>
                            <a:srgbClr val="1A1814"/>
                          </a:solidFill>
                        </a:rPr>
                        <a:t>Kasir</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c>
                  <a:txBody>
                    <a:bodyPr/>
                    <a:lstStyle/>
                    <a:p>
                      <a:pPr marL="0" indent="0" algn="l">
                        <a:buNone/>
                      </a:pPr>
                      <a:r>
                        <a:rPr lang="en-US" sz="1320" dirty="0">
                          <a:solidFill>
                            <a:srgbClr val="1A1814"/>
                          </a:solidFill>
                        </a:rPr>
                        <a:t>Penjualan harian, pembayaran</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c>
                  <a:txBody>
                    <a:bodyPr/>
                    <a:lstStyle/>
                    <a:p>
                      <a:pPr marL="0" indent="0" algn="l">
                        <a:buNone/>
                      </a:pPr>
                      <a:r>
                        <a:rPr lang="en-US" sz="1320" dirty="0">
                          <a:solidFill>
                            <a:srgbClr val="1A1814"/>
                          </a:solidFill>
                        </a:rPr>
                        <a:t>Input jual, stok terpotong</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r>
              <a:tr h="548626">
                <a:tc>
                  <a:txBody>
                    <a:bodyPr/>
                    <a:lstStyle/>
                    <a:p>
                      <a:pPr marL="0" indent="0" algn="l">
                        <a:buNone/>
                      </a:pPr>
                      <a:r>
                        <a:rPr lang="en-US" sz="1320" dirty="0">
                          <a:solidFill>
                            <a:srgbClr val="1A1814"/>
                          </a:solidFill>
                        </a:rPr>
                        <a:t>Gudang</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l">
                        <a:buNone/>
                      </a:pPr>
                      <a:r>
                        <a:rPr lang="en-US" sz="1320" dirty="0">
                          <a:solidFill>
                            <a:srgbClr val="1A1814"/>
                          </a:solidFill>
                        </a:rPr>
                        <a:t>Stok per batch, riwayat beli</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l">
                        <a:buNone/>
                      </a:pPr>
                      <a:r>
                        <a:rPr lang="en-US" sz="1320" dirty="0">
                          <a:solidFill>
                            <a:srgbClr val="1A1814"/>
                          </a:solidFill>
                        </a:rPr>
                        <a:t>Catat pembelian, cek FIFO</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r>
              <a:tr h="548626">
                <a:tc>
                  <a:txBody>
                    <a:bodyPr/>
                    <a:lstStyle/>
                    <a:p>
                      <a:pPr marL="0" indent="0" algn="l">
                        <a:buNone/>
                      </a:pPr>
                      <a:r>
                        <a:rPr lang="en-US" sz="1320" dirty="0">
                          <a:solidFill>
                            <a:srgbClr val="1A1814"/>
                          </a:solidFill>
                        </a:rPr>
                        <a:t>Marketing</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c>
                  <a:txBody>
                    <a:bodyPr/>
                    <a:lstStyle/>
                    <a:p>
                      <a:pPr marL="0" indent="0" algn="l">
                        <a:buNone/>
                      </a:pPr>
                      <a:r>
                        <a:rPr lang="en-US" sz="1320" dirty="0">
                          <a:solidFill>
                            <a:srgbClr val="1A1814"/>
                          </a:solidFill>
                        </a:rPr>
                        <a:t>KOL &amp; influencer: fee, kode, redeem</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c>
                  <a:txBody>
                    <a:bodyPr/>
                    <a:lstStyle/>
                    <a:p>
                      <a:pPr marL="0" indent="0" algn="l">
                        <a:buNone/>
                      </a:pPr>
                      <a:r>
                        <a:rPr lang="en-US" sz="1320" dirty="0">
                          <a:solidFill>
                            <a:srgbClr val="1A1814"/>
                          </a:solidFill>
                        </a:rPr>
                        <a:t>Pantau ROI per KOL</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r>
              <a:tr h="548626">
                <a:tc>
                  <a:txBody>
                    <a:bodyPr/>
                    <a:lstStyle/>
                    <a:p>
                      <a:pPr marL="0" indent="0" algn="l">
                        <a:buNone/>
                      </a:pPr>
                      <a:r>
                        <a:rPr lang="en-US" sz="1320" dirty="0">
                          <a:solidFill>
                            <a:srgbClr val="1A1814"/>
                          </a:solidFill>
                        </a:rPr>
                        <a:t>Chef R&amp;D</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l">
                        <a:buNone/>
                      </a:pPr>
                      <a:r>
                        <a:rPr lang="en-US" sz="1320" dirty="0">
                          <a:solidFill>
                            <a:srgbClr val="1A1814"/>
                          </a:solidFill>
                        </a:rPr>
                        <a:t>Resep per menu, HPP, margin</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l">
                        <a:buNone/>
                      </a:pPr>
                      <a:r>
                        <a:rPr lang="en-US" sz="1320" dirty="0">
                          <a:solidFill>
                            <a:srgbClr val="1A1814"/>
                          </a:solidFill>
                        </a:rPr>
                        <a:t>Cek HPP vs target 35%</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r>
              <a:tr h="548626">
                <a:tc>
                  <a:txBody>
                    <a:bodyPr/>
                    <a:lstStyle/>
                    <a:p>
                      <a:pPr marL="0" indent="0" algn="l">
                        <a:buNone/>
                      </a:pPr>
                      <a:r>
                        <a:rPr lang="en-US" sz="1320" dirty="0">
                          <a:solidFill>
                            <a:srgbClr val="1A1814"/>
                          </a:solidFill>
                        </a:rPr>
                        <a:t>Pengelola kos</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c>
                  <a:txBody>
                    <a:bodyPr/>
                    <a:lstStyle/>
                    <a:p>
                      <a:pPr marL="0" indent="0" algn="l">
                        <a:buNone/>
                      </a:pPr>
                      <a:r>
                        <a:rPr lang="en-US" sz="1320" dirty="0">
                          <a:solidFill>
                            <a:srgbClr val="1A1814"/>
                          </a:solidFill>
                        </a:rPr>
                        <a:t>Hunian kamar, tagihan sewa</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c>
                  <a:txBody>
                    <a:bodyPr/>
                    <a:lstStyle/>
                    <a:p>
                      <a:pPr marL="0" indent="0" algn="l">
                        <a:buNone/>
                      </a:pPr>
                      <a:r>
                        <a:rPr lang="en-US" sz="1320" dirty="0">
                          <a:solidFill>
                            <a:srgbClr val="1A1814"/>
                          </a:solidFill>
                        </a:rPr>
                        <a:t>Tandai lunas</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r>
            </a:tbl>
          </a:graphicData>
        </a:graphic>
      </p:graphicFrame>
      <p:sp>
        <p:nvSpPr>
          <p:cNvPr id="10" name="Text 7"/>
          <p:cNvSpPr/>
          <p:nvPr/>
        </p:nvSpPr>
        <p:spPr>
          <a:xfrm>
            <a:off x="426709" y="5852160"/>
            <a:ext cx="11338277" cy="487668"/>
          </a:xfrm>
          <a:prstGeom prst="rect">
            <a:avLst/>
          </a:prstGeom>
          <a:noFill/>
        </p:spPr>
        <p:txBody>
          <a:bodyPr wrap="square" lIns="0" tIns="0" rIns="0" bIns="0" rtlCol="0" anchor="ctr"/>
          <a:lstStyle/>
          <a:p>
            <a:pPr marL="0" indent="0">
              <a:buNone/>
            </a:pPr>
            <a:r>
              <a:rPr lang="en-US" sz="1680" b="1" dirty="0">
                <a:solidFill>
                  <a:srgbClr val="2F5D50"/>
                </a:solidFill>
                <a:latin typeface="Calibri" panose="020F0502020204030204" pitchFamily="34" charset="0"/>
                <a:ea typeface="Calibri" panose="020F0502020204030204" pitchFamily="34" charset="-122"/>
                <a:cs typeface="Calibri" panose="020F0502020204030204" pitchFamily="34" charset="-120"/>
              </a:rPr>
              <a:t>Contoh jalan di halaman /dashboard web HUNI. Data contoh, belum terhubung ke POS.</a:t>
            </a:r>
            <a:endParaRPr lang="en-US" sz="1680" dirty="0"/>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1695" cy="6858000"/>
          </a:xfrm>
          <a:prstGeom prst="rect">
            <a:avLst/>
          </a:prstGeom>
          <a:solidFill>
            <a:srgbClr val="F4EFE6"/>
          </a:solidFill>
        </p:spPr>
        <p:txBody>
          <a:bodyPr/>
          <a:p/>
        </p:txBody>
      </p:sp>
      <p:sp>
        <p:nvSpPr>
          <p:cNvPr id="3" name="Shape 1"/>
          <p:cNvSpPr/>
          <p:nvPr/>
        </p:nvSpPr>
        <p:spPr>
          <a:xfrm>
            <a:off x="0" y="0"/>
            <a:ext cx="91440" cy="6858000"/>
          </a:xfrm>
          <a:prstGeom prst="rect">
            <a:avLst/>
          </a:prstGeom>
          <a:solidFill>
            <a:srgbClr val="C4622D"/>
          </a:solidFill>
        </p:spPr>
        <p:txBody>
          <a:bodyPr/>
          <a:p/>
        </p:txBody>
      </p:sp>
      <p:sp>
        <p:nvSpPr>
          <p:cNvPr id="4" name="Shape 2"/>
          <p:cNvSpPr/>
          <p:nvPr/>
        </p:nvSpPr>
        <p:spPr>
          <a:xfrm>
            <a:off x="0" y="6601968"/>
            <a:ext cx="12191695" cy="256032"/>
          </a:xfrm>
          <a:prstGeom prst="rect">
            <a:avLst/>
          </a:prstGeom>
          <a:solidFill>
            <a:srgbClr val="1A1814"/>
          </a:solidFill>
        </p:spPr>
        <p:txBody>
          <a:bodyPr/>
          <a:p/>
        </p:txBody>
      </p:sp>
      <p:sp>
        <p:nvSpPr>
          <p:cNvPr id="5" name="Text 3"/>
          <p:cNvSpPr/>
          <p:nvPr/>
        </p:nvSpPr>
        <p:spPr>
          <a:xfrm>
            <a:off x="347472" y="6601968"/>
            <a:ext cx="9144000" cy="256032"/>
          </a:xfrm>
          <a:prstGeom prst="rect">
            <a:avLst/>
          </a:prstGeom>
          <a:noFill/>
        </p:spPr>
        <p:txBody>
          <a:bodyPr wrap="square" lIns="0" tIns="0" rIns="0" bIns="0" rtlCol="0" anchor="ctr"/>
          <a:lstStyle/>
          <a:p>
            <a:pPr marL="0" indent="0">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HUNI   ·   Proposal website kos &amp; kontrakan   ·   Oktober 2026</a:t>
            </a:r>
            <a:endParaRPr lang="en-US" sz="1100" dirty="0"/>
          </a:p>
        </p:txBody>
      </p:sp>
      <p:sp>
        <p:nvSpPr>
          <p:cNvPr id="6" name="Text 4"/>
          <p:cNvSpPr/>
          <p:nvPr/>
        </p:nvSpPr>
        <p:spPr>
          <a:xfrm>
            <a:off x="9509760" y="6601968"/>
            <a:ext cx="2331720" cy="256032"/>
          </a:xfrm>
          <a:prstGeom prst="rect">
            <a:avLst/>
          </a:prstGeom>
          <a:noFill/>
        </p:spPr>
        <p:txBody>
          <a:bodyPr wrap="square" lIns="0" tIns="0" rIns="0" bIns="0" rtlCol="0" anchor="ctr"/>
          <a:lstStyle/>
          <a:p>
            <a:pPr marL="0" indent="0" algn="r">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20  /  36</a:t>
            </a:r>
            <a:endParaRPr lang="en-US" sz="1100" dirty="0"/>
          </a:p>
        </p:txBody>
      </p:sp>
      <p:sp>
        <p:nvSpPr>
          <p:cNvPr id="7" name="Text 5"/>
          <p:cNvSpPr/>
          <p:nvPr/>
        </p:nvSpPr>
        <p:spPr>
          <a:xfrm>
            <a:off x="426709" y="304792"/>
            <a:ext cx="11338277" cy="731502"/>
          </a:xfrm>
          <a:prstGeom prst="rect">
            <a:avLst/>
          </a:prstGeom>
          <a:noFill/>
        </p:spPr>
        <p:txBody>
          <a:bodyPr wrap="square" lIns="0" tIns="0" rIns="0" bIns="0" rtlCol="0" anchor="ctr"/>
          <a:lstStyle/>
          <a:p>
            <a:pPr marL="0" indent="0">
              <a:buNone/>
            </a:pPr>
            <a:r>
              <a:rPr lang="en-US" sz="3120" b="1" dirty="0">
                <a:solidFill>
                  <a:srgbClr val="1A1814"/>
                </a:solidFill>
                <a:latin typeface="Georgia" panose="02040502050405020303" pitchFamily="34" charset="0"/>
                <a:ea typeface="Georgia" panose="02040502050405020303" pitchFamily="34" charset="-122"/>
                <a:cs typeface="Georgia" panose="02040502050405020303" pitchFamily="34" charset="-120"/>
              </a:rPr>
              <a:t>Gudang: stok FIFO per batch</a:t>
            </a:r>
            <a:endParaRPr lang="en-US" sz="3120" dirty="0"/>
          </a:p>
        </p:txBody>
      </p:sp>
      <p:sp>
        <p:nvSpPr>
          <p:cNvPr id="8" name="Text 6"/>
          <p:cNvSpPr/>
          <p:nvPr/>
        </p:nvSpPr>
        <p:spPr>
          <a:xfrm>
            <a:off x="426709" y="1072869"/>
            <a:ext cx="11338277" cy="487668"/>
          </a:xfrm>
          <a:prstGeom prst="rect">
            <a:avLst/>
          </a:prstGeom>
          <a:noFill/>
        </p:spPr>
        <p:txBody>
          <a:bodyPr wrap="square" lIns="0" tIns="0" rIns="0" bIns="0" rtlCol="0" anchor="ctr"/>
          <a:lstStyle/>
          <a:p>
            <a:pPr marL="0" indent="0">
              <a:buNone/>
            </a:pPr>
            <a:r>
              <a:rPr lang="en-US" sz="1560" dirty="0">
                <a:solidFill>
                  <a:srgbClr val="6F675C"/>
                </a:solidFill>
                <a:latin typeface="Calibri" panose="020F0502020204030204" pitchFamily="34" charset="0"/>
                <a:ea typeface="Calibri" panose="020F0502020204030204" pitchFamily="34" charset="-122"/>
                <a:cs typeface="Calibri" panose="020F0502020204030204" pitchFamily="34" charset="-120"/>
              </a:rPr>
              <a:t>Tiap pembelian jadi satu batch. Penjualan memotong batch tertua dulu.</a:t>
            </a:r>
            <a:endParaRPr lang="en-US" sz="1560" dirty="0"/>
          </a:p>
        </p:txBody>
      </p:sp>
      <p:graphicFrame>
        <p:nvGraphicFramePr>
          <p:cNvPr id="14" name="Table 0"/>
          <p:cNvGraphicFramePr>
            <a:graphicFrameLocks noGrp="1"/>
          </p:cNvGraphicFramePr>
          <p:nvPr/>
        </p:nvGraphicFramePr>
        <p:xfrm>
          <a:off x="426709" y="1828754"/>
          <a:ext cx="11338560" cy="3291756"/>
        </p:xfrm>
        <a:graphic>
          <a:graphicData uri="http://schemas.openxmlformats.org/drawingml/2006/table">
            <a:tbl>
              <a:tblPr/>
              <a:tblGrid>
                <a:gridCol w="4572000"/>
                <a:gridCol w="3840480"/>
                <a:gridCol w="2926080"/>
              </a:tblGrid>
              <a:tr h="548626">
                <a:tc>
                  <a:txBody>
                    <a:bodyPr/>
                    <a:lstStyle/>
                    <a:p>
                      <a:pPr marL="0" indent="0" algn="l">
                        <a:buNone/>
                      </a:pPr>
                      <a:r>
                        <a:rPr lang="en-US" sz="1320" b="1" dirty="0">
                          <a:solidFill>
                            <a:srgbClr val="F4EFE6"/>
                          </a:solidFill>
                        </a:rPr>
                        <a:t>Bahan / batch</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1A1814"/>
                    </a:solidFill>
                  </a:tcPr>
                </a:tc>
                <a:tc>
                  <a:txBody>
                    <a:bodyPr/>
                    <a:lstStyle/>
                    <a:p>
                      <a:pPr marL="0" indent="0" algn="l">
                        <a:buNone/>
                      </a:pPr>
                      <a:r>
                        <a:rPr lang="en-US" sz="1320" b="1" dirty="0">
                          <a:solidFill>
                            <a:srgbClr val="F4EFE6"/>
                          </a:solidFill>
                        </a:rPr>
                        <a:t>Masuk</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1A1814"/>
                    </a:solidFill>
                  </a:tcPr>
                </a:tc>
                <a:tc>
                  <a:txBody>
                    <a:bodyPr/>
                    <a:lstStyle/>
                    <a:p>
                      <a:pPr marL="0" indent="0" algn="l">
                        <a:buNone/>
                      </a:pPr>
                      <a:r>
                        <a:rPr lang="en-US" sz="1320" b="1" dirty="0">
                          <a:solidFill>
                            <a:srgbClr val="F4EFE6"/>
                          </a:solidFill>
                        </a:rPr>
                        <a:t>Harga per unit</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1A1814"/>
                    </a:solidFill>
                  </a:tcPr>
                </a:tc>
              </a:tr>
              <a:tr h="548626">
                <a:tc>
                  <a:txBody>
                    <a:bodyPr/>
                    <a:lstStyle/>
                    <a:p>
                      <a:pPr marL="0" indent="0" algn="l">
                        <a:buNone/>
                      </a:pPr>
                      <a:r>
                        <a:rPr lang="en-US" sz="1320" dirty="0">
                          <a:solidFill>
                            <a:srgbClr val="1A1814"/>
                          </a:solidFill>
                        </a:rPr>
                        <a:t>Biji kopi · batch 1</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l">
                        <a:buNone/>
                      </a:pPr>
                      <a:r>
                        <a:rPr lang="en-US" sz="1320" dirty="0">
                          <a:solidFill>
                            <a:srgbClr val="1A1814"/>
                          </a:solidFill>
                        </a:rPr>
                        <a:t>5 Okt · 2.000 g</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l">
                        <a:buNone/>
                      </a:pPr>
                      <a:r>
                        <a:rPr lang="en-US" sz="1320" dirty="0">
                          <a:solidFill>
                            <a:srgbClr val="1A1814"/>
                          </a:solidFill>
                        </a:rPr>
                        <a:t>Rp280/g</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r>
              <a:tr h="548626">
                <a:tc>
                  <a:txBody>
                    <a:bodyPr/>
                    <a:lstStyle/>
                    <a:p>
                      <a:pPr marL="0" indent="0" algn="l">
                        <a:buNone/>
                      </a:pPr>
                      <a:r>
                        <a:rPr lang="en-US" sz="1320" dirty="0">
                          <a:solidFill>
                            <a:srgbClr val="1A1814"/>
                          </a:solidFill>
                        </a:rPr>
                        <a:t>Biji kopi · batch 2</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c>
                  <a:txBody>
                    <a:bodyPr/>
                    <a:lstStyle/>
                    <a:p>
                      <a:pPr marL="0" indent="0" algn="l">
                        <a:buNone/>
                      </a:pPr>
                      <a:r>
                        <a:rPr lang="en-US" sz="1320" dirty="0">
                          <a:solidFill>
                            <a:srgbClr val="1A1814"/>
                          </a:solidFill>
                        </a:rPr>
                        <a:t>19 Okt · 3.000 g</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c>
                  <a:txBody>
                    <a:bodyPr/>
                    <a:lstStyle/>
                    <a:p>
                      <a:pPr marL="0" indent="0" algn="l">
                        <a:buNone/>
                      </a:pPr>
                      <a:r>
                        <a:rPr lang="en-US" sz="1320" dirty="0">
                          <a:solidFill>
                            <a:srgbClr val="1A1814"/>
                          </a:solidFill>
                        </a:rPr>
                        <a:t>Rp300/g</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r>
              <a:tr h="548626">
                <a:tc>
                  <a:txBody>
                    <a:bodyPr/>
                    <a:lstStyle/>
                    <a:p>
                      <a:pPr marL="0" indent="0" algn="l">
                        <a:buNone/>
                      </a:pPr>
                      <a:r>
                        <a:rPr lang="en-US" sz="1320" dirty="0">
                          <a:solidFill>
                            <a:srgbClr val="1A1814"/>
                          </a:solidFill>
                        </a:rPr>
                        <a:t>Susu · batch 1</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l">
                        <a:buNone/>
                      </a:pPr>
                      <a:r>
                        <a:rPr lang="en-US" sz="1320" dirty="0">
                          <a:solidFill>
                            <a:srgbClr val="1A1814"/>
                          </a:solidFill>
                        </a:rPr>
                        <a:t>12 Okt · 20.000 ml</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l">
                        <a:buNone/>
                      </a:pPr>
                      <a:r>
                        <a:rPr lang="en-US" sz="1320" dirty="0">
                          <a:solidFill>
                            <a:srgbClr val="1A1814"/>
                          </a:solidFill>
                        </a:rPr>
                        <a:t>Rp18/ml</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r>
              <a:tr h="548626">
                <a:tc>
                  <a:txBody>
                    <a:bodyPr/>
                    <a:lstStyle/>
                    <a:p>
                      <a:pPr marL="0" indent="0" algn="l">
                        <a:buNone/>
                      </a:pPr>
                      <a:r>
                        <a:rPr lang="en-US" sz="1320" dirty="0">
                          <a:solidFill>
                            <a:srgbClr val="1A1814"/>
                          </a:solidFill>
                        </a:rPr>
                        <a:t>Susu · batch 2</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c>
                  <a:txBody>
                    <a:bodyPr/>
                    <a:lstStyle/>
                    <a:p>
                      <a:pPr marL="0" indent="0" algn="l">
                        <a:buNone/>
                      </a:pPr>
                      <a:r>
                        <a:rPr lang="en-US" sz="1320" dirty="0">
                          <a:solidFill>
                            <a:srgbClr val="1A1814"/>
                          </a:solidFill>
                        </a:rPr>
                        <a:t>20 Okt · 20.000 ml</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c>
                  <a:txBody>
                    <a:bodyPr/>
                    <a:lstStyle/>
                    <a:p>
                      <a:pPr marL="0" indent="0" algn="l">
                        <a:buNone/>
                      </a:pPr>
                      <a:r>
                        <a:rPr lang="en-US" sz="1320" dirty="0">
                          <a:solidFill>
                            <a:srgbClr val="1A1814"/>
                          </a:solidFill>
                        </a:rPr>
                        <a:t>Rp19/ml</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r>
              <a:tr h="548626">
                <a:tc>
                  <a:txBody>
                    <a:bodyPr/>
                    <a:lstStyle/>
                    <a:p>
                      <a:pPr marL="0" indent="0" algn="l">
                        <a:buNone/>
                      </a:pPr>
                      <a:r>
                        <a:rPr lang="en-US" sz="1320" dirty="0">
                          <a:solidFill>
                            <a:srgbClr val="1A1814"/>
                          </a:solidFill>
                        </a:rPr>
                        <a:t>Ayam · batch 1</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l">
                        <a:buNone/>
                      </a:pPr>
                      <a:r>
                        <a:rPr lang="en-US" sz="1320" dirty="0">
                          <a:solidFill>
                            <a:srgbClr val="1A1814"/>
                          </a:solidFill>
                        </a:rPr>
                        <a:t>18 Okt · 6.000 g</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l">
                        <a:buNone/>
                      </a:pPr>
                      <a:r>
                        <a:rPr lang="en-US" sz="1320" dirty="0">
                          <a:solidFill>
                            <a:srgbClr val="1A1814"/>
                          </a:solidFill>
                        </a:rPr>
                        <a:t>Rp45/g</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r>
              <a:tr h="548626">
                <a:tc>
                  <a:txBody>
                    <a:bodyPr/>
                    <a:lstStyle/>
                    <a:p>
                      <a:pPr marL="0" indent="0" algn="l">
                        <a:buNone/>
                      </a:pPr>
                      <a:r>
                        <a:rPr lang="en-US" sz="1320" dirty="0">
                          <a:solidFill>
                            <a:srgbClr val="1A1814"/>
                          </a:solidFill>
                        </a:rPr>
                        <a:t>Ayam · batch 2</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c>
                  <a:txBody>
                    <a:bodyPr/>
                    <a:lstStyle/>
                    <a:p>
                      <a:pPr marL="0" indent="0" algn="l">
                        <a:buNone/>
                      </a:pPr>
                      <a:r>
                        <a:rPr lang="en-US" sz="1320" dirty="0">
                          <a:solidFill>
                            <a:srgbClr val="1A1814"/>
                          </a:solidFill>
                        </a:rPr>
                        <a:t>22 Okt · 8.000 g</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c>
                  <a:txBody>
                    <a:bodyPr/>
                    <a:lstStyle/>
                    <a:p>
                      <a:pPr marL="0" indent="0" algn="l">
                        <a:buNone/>
                      </a:pPr>
                      <a:r>
                        <a:rPr lang="en-US" sz="1320" dirty="0">
                          <a:solidFill>
                            <a:srgbClr val="1A1814"/>
                          </a:solidFill>
                        </a:rPr>
                        <a:t>Rp48/g</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r>
            </a:tbl>
          </a:graphicData>
        </a:graphic>
      </p:graphicFrame>
      <p:sp>
        <p:nvSpPr>
          <p:cNvPr id="10" name="Text 7"/>
          <p:cNvSpPr/>
          <p:nvPr/>
        </p:nvSpPr>
        <p:spPr>
          <a:xfrm>
            <a:off x="426709" y="5852160"/>
            <a:ext cx="11338277" cy="487668"/>
          </a:xfrm>
          <a:prstGeom prst="rect">
            <a:avLst/>
          </a:prstGeom>
          <a:noFill/>
        </p:spPr>
        <p:txBody>
          <a:bodyPr wrap="square" lIns="0" tIns="0" rIns="0" bIns="0" rtlCol="0" anchor="ctr"/>
          <a:lstStyle/>
          <a:p>
            <a:pPr marL="0" indent="0">
              <a:buNone/>
            </a:pPr>
            <a:r>
              <a:rPr lang="en-US" sz="1680" b="1" dirty="0">
                <a:solidFill>
                  <a:srgbClr val="2F5D50"/>
                </a:solidFill>
                <a:latin typeface="Calibri" panose="020F0502020204030204" pitchFamily="34" charset="0"/>
                <a:ea typeface="Calibri" panose="020F0502020204030204" pitchFamily="34" charset="-122"/>
                <a:cs typeface="Calibri" panose="020F0502020204030204" pitchFamily="34" charset="-120"/>
              </a:rPr>
              <a:t>Contoh: jual 1 Kopi Susu Aren memotong 18 g kopi batch 1, HPP Rp8.540.</a:t>
            </a:r>
            <a:endParaRPr lang="en-US" sz="1680" dirty="0"/>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1695" cy="6858000"/>
          </a:xfrm>
          <a:prstGeom prst="rect">
            <a:avLst/>
          </a:prstGeom>
          <a:solidFill>
            <a:srgbClr val="F4EFE6"/>
          </a:solidFill>
        </p:spPr>
        <p:txBody>
          <a:bodyPr/>
          <a:p/>
        </p:txBody>
      </p:sp>
      <p:sp>
        <p:nvSpPr>
          <p:cNvPr id="3" name="Shape 1"/>
          <p:cNvSpPr/>
          <p:nvPr/>
        </p:nvSpPr>
        <p:spPr>
          <a:xfrm>
            <a:off x="0" y="0"/>
            <a:ext cx="91440" cy="6858000"/>
          </a:xfrm>
          <a:prstGeom prst="rect">
            <a:avLst/>
          </a:prstGeom>
          <a:solidFill>
            <a:srgbClr val="C4622D"/>
          </a:solidFill>
        </p:spPr>
        <p:txBody>
          <a:bodyPr/>
          <a:p/>
        </p:txBody>
      </p:sp>
      <p:sp>
        <p:nvSpPr>
          <p:cNvPr id="4" name="Shape 2"/>
          <p:cNvSpPr/>
          <p:nvPr/>
        </p:nvSpPr>
        <p:spPr>
          <a:xfrm>
            <a:off x="0" y="6601968"/>
            <a:ext cx="12191695" cy="256032"/>
          </a:xfrm>
          <a:prstGeom prst="rect">
            <a:avLst/>
          </a:prstGeom>
          <a:solidFill>
            <a:srgbClr val="1A1814"/>
          </a:solidFill>
        </p:spPr>
        <p:txBody>
          <a:bodyPr/>
          <a:p/>
        </p:txBody>
      </p:sp>
      <p:sp>
        <p:nvSpPr>
          <p:cNvPr id="5" name="Text 3"/>
          <p:cNvSpPr/>
          <p:nvPr/>
        </p:nvSpPr>
        <p:spPr>
          <a:xfrm>
            <a:off x="347472" y="6601968"/>
            <a:ext cx="9144000" cy="256032"/>
          </a:xfrm>
          <a:prstGeom prst="rect">
            <a:avLst/>
          </a:prstGeom>
          <a:noFill/>
        </p:spPr>
        <p:txBody>
          <a:bodyPr wrap="square" lIns="0" tIns="0" rIns="0" bIns="0" rtlCol="0" anchor="ctr"/>
          <a:lstStyle/>
          <a:p>
            <a:pPr marL="0" indent="0">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HUNI   ·   Proposal website kos &amp; kontrakan   ·   Oktober 2026</a:t>
            </a:r>
            <a:endParaRPr lang="en-US" sz="1100" dirty="0"/>
          </a:p>
        </p:txBody>
      </p:sp>
      <p:sp>
        <p:nvSpPr>
          <p:cNvPr id="6" name="Text 4"/>
          <p:cNvSpPr/>
          <p:nvPr/>
        </p:nvSpPr>
        <p:spPr>
          <a:xfrm>
            <a:off x="9509760" y="6601968"/>
            <a:ext cx="2331720" cy="256032"/>
          </a:xfrm>
          <a:prstGeom prst="rect">
            <a:avLst/>
          </a:prstGeom>
          <a:noFill/>
        </p:spPr>
        <p:txBody>
          <a:bodyPr wrap="square" lIns="0" tIns="0" rIns="0" bIns="0" rtlCol="0" anchor="ctr"/>
          <a:lstStyle/>
          <a:p>
            <a:pPr marL="0" indent="0" algn="r">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22  /  36</a:t>
            </a:r>
            <a:endParaRPr lang="en-US" sz="1100" dirty="0"/>
          </a:p>
        </p:txBody>
      </p:sp>
      <p:sp>
        <p:nvSpPr>
          <p:cNvPr id="7" name="Text 5"/>
          <p:cNvSpPr/>
          <p:nvPr/>
        </p:nvSpPr>
        <p:spPr>
          <a:xfrm>
            <a:off x="426709" y="304792"/>
            <a:ext cx="11338277" cy="731502"/>
          </a:xfrm>
          <a:prstGeom prst="rect">
            <a:avLst/>
          </a:prstGeom>
          <a:noFill/>
        </p:spPr>
        <p:txBody>
          <a:bodyPr wrap="square" lIns="0" tIns="0" rIns="0" bIns="0" rtlCol="0" anchor="ctr"/>
          <a:lstStyle/>
          <a:p>
            <a:pPr marL="0" indent="0">
              <a:buNone/>
            </a:pPr>
            <a:r>
              <a:rPr lang="en-US" sz="3120" b="1" dirty="0">
                <a:solidFill>
                  <a:srgbClr val="1A1814"/>
                </a:solidFill>
                <a:latin typeface="Georgia" panose="02040502050405020303" pitchFamily="34" charset="0"/>
                <a:ea typeface="Georgia" panose="02040502050405020303" pitchFamily="34" charset="-122"/>
                <a:cs typeface="Georgia" panose="02040502050405020303" pitchFamily="34" charset="-120"/>
              </a:rPr>
              <a:t>R&amp;D menu: breakdown resep dan HPP</a:t>
            </a:r>
            <a:endParaRPr lang="en-US" sz="3120" dirty="0"/>
          </a:p>
        </p:txBody>
      </p:sp>
      <p:sp>
        <p:nvSpPr>
          <p:cNvPr id="8" name="Text 6"/>
          <p:cNvSpPr/>
          <p:nvPr/>
        </p:nvSpPr>
        <p:spPr>
          <a:xfrm>
            <a:off x="426709" y="1072869"/>
            <a:ext cx="11338277" cy="487668"/>
          </a:xfrm>
          <a:prstGeom prst="rect">
            <a:avLst/>
          </a:prstGeom>
          <a:noFill/>
        </p:spPr>
        <p:txBody>
          <a:bodyPr wrap="square" lIns="0" tIns="0" rIns="0" bIns="0" rtlCol="0" anchor="ctr"/>
          <a:lstStyle/>
          <a:p>
            <a:pPr marL="0" indent="0">
              <a:buNone/>
            </a:pPr>
            <a:r>
              <a:rPr lang="en-US" sz="1560" dirty="0">
                <a:solidFill>
                  <a:srgbClr val="6F675C"/>
                </a:solidFill>
                <a:latin typeface="Calibri" panose="020F0502020204030204" pitchFamily="34" charset="0"/>
                <a:ea typeface="Calibri" panose="020F0502020204030204" pitchFamily="34" charset="-122"/>
                <a:cs typeface="Calibri" panose="020F0502020204030204" pitchFamily="34" charset="-120"/>
              </a:rPr>
              <a:t>HPP dari harga batch FIFO. Target HPP cafe 35% dari omzet.</a:t>
            </a:r>
            <a:endParaRPr lang="en-US" sz="1560" dirty="0"/>
          </a:p>
        </p:txBody>
      </p:sp>
      <p:graphicFrame>
        <p:nvGraphicFramePr>
          <p:cNvPr id="14" name="Table 0"/>
          <p:cNvGraphicFramePr>
            <a:graphicFrameLocks noGrp="1"/>
          </p:cNvGraphicFramePr>
          <p:nvPr/>
        </p:nvGraphicFramePr>
        <p:xfrm>
          <a:off x="426709" y="1828754"/>
          <a:ext cx="11338560" cy="3291756"/>
        </p:xfrm>
        <a:graphic>
          <a:graphicData uri="http://schemas.openxmlformats.org/drawingml/2006/table">
            <a:tbl>
              <a:tblPr/>
              <a:tblGrid>
                <a:gridCol w="4937760"/>
                <a:gridCol w="3291840"/>
                <a:gridCol w="3108960"/>
              </a:tblGrid>
              <a:tr h="548626">
                <a:tc>
                  <a:txBody>
                    <a:bodyPr/>
                    <a:lstStyle/>
                    <a:p>
                      <a:pPr marL="0" indent="0" algn="l">
                        <a:buNone/>
                      </a:pPr>
                      <a:r>
                        <a:rPr lang="en-US" sz="1320" b="1" dirty="0">
                          <a:solidFill>
                            <a:srgbClr val="F4EFE6"/>
                          </a:solidFill>
                        </a:rPr>
                        <a:t>Menu &amp; resep</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1A1814"/>
                    </a:solidFill>
                  </a:tcPr>
                </a:tc>
                <a:tc>
                  <a:txBody>
                    <a:bodyPr/>
                    <a:lstStyle/>
                    <a:p>
                      <a:pPr marL="0" indent="0" algn="l">
                        <a:buNone/>
                      </a:pPr>
                      <a:r>
                        <a:rPr lang="en-US" sz="1320" b="1" dirty="0">
                          <a:solidFill>
                            <a:srgbClr val="F4EFE6"/>
                          </a:solidFill>
                        </a:rPr>
                        <a:t>Harga / HPP</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1A1814"/>
                    </a:solidFill>
                  </a:tcPr>
                </a:tc>
                <a:tc>
                  <a:txBody>
                    <a:bodyPr/>
                    <a:lstStyle/>
                    <a:p>
                      <a:pPr marL="0" indent="0" algn="l">
                        <a:buNone/>
                      </a:pPr>
                      <a:r>
                        <a:rPr lang="en-US" sz="1320" b="1" dirty="0">
                          <a:solidFill>
                            <a:srgbClr val="F4EFE6"/>
                          </a:solidFill>
                        </a:rPr>
                        <a:t>Margin</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1A1814"/>
                    </a:solidFill>
                  </a:tcPr>
                </a:tc>
              </a:tr>
              <a:tr h="548626">
                <a:tc>
                  <a:txBody>
                    <a:bodyPr/>
                    <a:lstStyle/>
                    <a:p>
                      <a:pPr marL="0" indent="0" algn="l">
                        <a:buNone/>
                      </a:pPr>
                      <a:r>
                        <a:rPr lang="en-US" sz="1320" dirty="0">
                          <a:solidFill>
                            <a:srgbClr val="1A1814"/>
                          </a:solidFill>
                        </a:rPr>
                        <a:t>Kopi Susu Aren: kopi 18 g, susu 150 ml, gula aren 20 ml</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l">
                        <a:buNone/>
                      </a:pPr>
                      <a:r>
                        <a:rPr lang="en-US" sz="1320" dirty="0">
                          <a:solidFill>
                            <a:srgbClr val="1A1814"/>
                          </a:solidFill>
                        </a:rPr>
                        <a:t>Rp22.000 / Rp8.540 (38,8%)</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l">
                        <a:buNone/>
                      </a:pPr>
                      <a:r>
                        <a:rPr lang="en-US" sz="1320" dirty="0">
                          <a:solidFill>
                            <a:srgbClr val="1A1814"/>
                          </a:solidFill>
                        </a:rPr>
                        <a:t>Rp13.460</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r>
              <a:tr h="548626">
                <a:tc>
                  <a:txBody>
                    <a:bodyPr/>
                    <a:lstStyle/>
                    <a:p>
                      <a:pPr marL="0" indent="0" algn="l">
                        <a:buNone/>
                      </a:pPr>
                      <a:r>
                        <a:rPr lang="en-US" sz="1320" dirty="0">
                          <a:solidFill>
                            <a:srgbClr val="1A1814"/>
                          </a:solidFill>
                        </a:rPr>
                        <a:t>Americano: kopi 18 g</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c>
                  <a:txBody>
                    <a:bodyPr/>
                    <a:lstStyle/>
                    <a:p>
                      <a:pPr marL="0" indent="0" algn="l">
                        <a:buNone/>
                      </a:pPr>
                      <a:r>
                        <a:rPr lang="en-US" sz="1320" dirty="0">
                          <a:solidFill>
                            <a:srgbClr val="1A1814"/>
                          </a:solidFill>
                        </a:rPr>
                        <a:t>Rp18.000 / Rp5.040 (28,0%)</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c>
                  <a:txBody>
                    <a:bodyPr/>
                    <a:lstStyle/>
                    <a:p>
                      <a:pPr marL="0" indent="0" algn="l">
                        <a:buNone/>
                      </a:pPr>
                      <a:r>
                        <a:rPr lang="en-US" sz="1320" dirty="0">
                          <a:solidFill>
                            <a:srgbClr val="1A1814"/>
                          </a:solidFill>
                        </a:rPr>
                        <a:t>Rp12.960</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r>
              <a:tr h="548626">
                <a:tc>
                  <a:txBody>
                    <a:bodyPr/>
                    <a:lstStyle/>
                    <a:p>
                      <a:pPr marL="0" indent="0" algn="l">
                        <a:buNone/>
                      </a:pPr>
                      <a:r>
                        <a:rPr lang="en-US" sz="1320" dirty="0">
                          <a:solidFill>
                            <a:srgbClr val="1A1814"/>
                          </a:solidFill>
                        </a:rPr>
                        <a:t>Ayam Geprek + Nasi: ayam 120 g, beras 150 g, cabai 15 g</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l">
                        <a:buNone/>
                      </a:pPr>
                      <a:r>
                        <a:rPr lang="en-US" sz="1320" dirty="0">
                          <a:solidFill>
                            <a:srgbClr val="1A1814"/>
                          </a:solidFill>
                        </a:rPr>
                        <a:t>Rp28.000 / Rp8.550 (30,5%)</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l">
                        <a:buNone/>
                      </a:pPr>
                      <a:r>
                        <a:rPr lang="en-US" sz="1320" dirty="0">
                          <a:solidFill>
                            <a:srgbClr val="1A1814"/>
                          </a:solidFill>
                        </a:rPr>
                        <a:t>Rp19.450</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r>
            </a:tbl>
          </a:graphicData>
        </a:graphic>
      </p:graphicFrame>
      <p:sp>
        <p:nvSpPr>
          <p:cNvPr id="10" name="Text 7"/>
          <p:cNvSpPr/>
          <p:nvPr/>
        </p:nvSpPr>
        <p:spPr>
          <a:xfrm>
            <a:off x="426709" y="5852160"/>
            <a:ext cx="11338277" cy="487668"/>
          </a:xfrm>
          <a:prstGeom prst="rect">
            <a:avLst/>
          </a:prstGeom>
          <a:noFill/>
        </p:spPr>
        <p:txBody>
          <a:bodyPr wrap="square" lIns="0" tIns="0" rIns="0" bIns="0" rtlCol="0" anchor="ctr"/>
          <a:lstStyle/>
          <a:p>
            <a:pPr marL="0" indent="0">
              <a:buNone/>
            </a:pPr>
            <a:r>
              <a:rPr lang="en-US" sz="1680" b="1" dirty="0">
                <a:solidFill>
                  <a:srgbClr val="2F5D50"/>
                </a:solidFill>
                <a:latin typeface="Calibri" panose="020F0502020204030204" pitchFamily="34" charset="0"/>
                <a:ea typeface="Calibri" panose="020F0502020204030204" pitchFamily="34" charset="-122"/>
                <a:cs typeface="Calibri" panose="020F0502020204030204" pitchFamily="34" charset="-120"/>
              </a:rPr>
              <a:t>Kopi Susu Aren di atas target 35%. Harga pas di target: Rp24.400.</a:t>
            </a:r>
            <a:endParaRPr lang="en-US" sz="1680" dirty="0"/>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1695" cy="6858000"/>
          </a:xfrm>
          <a:prstGeom prst="rect">
            <a:avLst/>
          </a:prstGeom>
          <a:solidFill>
            <a:srgbClr val="F4EFE6"/>
          </a:solidFill>
        </p:spPr>
        <p:txBody>
          <a:bodyPr/>
          <a:p/>
        </p:txBody>
      </p:sp>
      <p:sp>
        <p:nvSpPr>
          <p:cNvPr id="3" name="Shape 1"/>
          <p:cNvSpPr/>
          <p:nvPr/>
        </p:nvSpPr>
        <p:spPr>
          <a:xfrm>
            <a:off x="0" y="0"/>
            <a:ext cx="91440" cy="6858000"/>
          </a:xfrm>
          <a:prstGeom prst="rect">
            <a:avLst/>
          </a:prstGeom>
          <a:solidFill>
            <a:srgbClr val="C4622D"/>
          </a:solidFill>
        </p:spPr>
        <p:txBody>
          <a:bodyPr/>
          <a:p/>
        </p:txBody>
      </p:sp>
      <p:sp>
        <p:nvSpPr>
          <p:cNvPr id="4" name="Shape 2"/>
          <p:cNvSpPr/>
          <p:nvPr/>
        </p:nvSpPr>
        <p:spPr>
          <a:xfrm>
            <a:off x="0" y="6601968"/>
            <a:ext cx="12191695" cy="256032"/>
          </a:xfrm>
          <a:prstGeom prst="rect">
            <a:avLst/>
          </a:prstGeom>
          <a:solidFill>
            <a:srgbClr val="1A1814"/>
          </a:solidFill>
        </p:spPr>
        <p:txBody>
          <a:bodyPr/>
          <a:p/>
        </p:txBody>
      </p:sp>
      <p:sp>
        <p:nvSpPr>
          <p:cNvPr id="5" name="Text 3"/>
          <p:cNvSpPr/>
          <p:nvPr/>
        </p:nvSpPr>
        <p:spPr>
          <a:xfrm>
            <a:off x="347472" y="6601968"/>
            <a:ext cx="9144000" cy="256032"/>
          </a:xfrm>
          <a:prstGeom prst="rect">
            <a:avLst/>
          </a:prstGeom>
          <a:noFill/>
        </p:spPr>
        <p:txBody>
          <a:bodyPr wrap="square" lIns="0" tIns="0" rIns="0" bIns="0" rtlCol="0" anchor="ctr"/>
          <a:lstStyle/>
          <a:p>
            <a:pPr marL="0" indent="0">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HUNI   ·   Proposal website kos &amp; kontrakan   ·   Oktober 2026</a:t>
            </a:r>
            <a:endParaRPr lang="en-US" sz="1100" dirty="0"/>
          </a:p>
        </p:txBody>
      </p:sp>
      <p:sp>
        <p:nvSpPr>
          <p:cNvPr id="6" name="Text 4"/>
          <p:cNvSpPr/>
          <p:nvPr/>
        </p:nvSpPr>
        <p:spPr>
          <a:xfrm>
            <a:off x="9509760" y="6601968"/>
            <a:ext cx="2331720" cy="256032"/>
          </a:xfrm>
          <a:prstGeom prst="rect">
            <a:avLst/>
          </a:prstGeom>
          <a:noFill/>
        </p:spPr>
        <p:txBody>
          <a:bodyPr wrap="square" lIns="0" tIns="0" rIns="0" bIns="0" rtlCol="0" anchor="ctr"/>
          <a:lstStyle/>
          <a:p>
            <a:pPr marL="0" indent="0" algn="r">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23  /  36</a:t>
            </a:r>
            <a:endParaRPr lang="en-US" sz="1100" dirty="0"/>
          </a:p>
        </p:txBody>
      </p:sp>
      <p:sp>
        <p:nvSpPr>
          <p:cNvPr id="7" name="Text 5"/>
          <p:cNvSpPr/>
          <p:nvPr/>
        </p:nvSpPr>
        <p:spPr>
          <a:xfrm>
            <a:off x="426709" y="304792"/>
            <a:ext cx="11338277" cy="731502"/>
          </a:xfrm>
          <a:prstGeom prst="rect">
            <a:avLst/>
          </a:prstGeom>
          <a:noFill/>
        </p:spPr>
        <p:txBody>
          <a:bodyPr wrap="square" lIns="0" tIns="0" rIns="0" bIns="0" rtlCol="0" anchor="ctr"/>
          <a:lstStyle/>
          <a:p>
            <a:pPr marL="0" indent="0">
              <a:buNone/>
            </a:pPr>
            <a:r>
              <a:rPr lang="en-US" sz="3120" b="1" dirty="0">
                <a:solidFill>
                  <a:srgbClr val="1A1814"/>
                </a:solidFill>
                <a:latin typeface="Georgia" panose="02040502050405020303" pitchFamily="34" charset="0"/>
                <a:ea typeface="Georgia" panose="02040502050405020303" pitchFamily="34" charset="-122"/>
                <a:cs typeface="Georgia" panose="02040502050405020303" pitchFamily="34" charset="-120"/>
              </a:rPr>
              <a:t>Marketing: KOL dan influencer</a:t>
            </a:r>
            <a:endParaRPr lang="en-US" sz="3120" dirty="0"/>
          </a:p>
        </p:txBody>
      </p:sp>
      <p:sp>
        <p:nvSpPr>
          <p:cNvPr id="8" name="Text 6"/>
          <p:cNvSpPr/>
          <p:nvPr/>
        </p:nvSpPr>
        <p:spPr>
          <a:xfrm>
            <a:off x="426709" y="1072869"/>
            <a:ext cx="11338277" cy="487668"/>
          </a:xfrm>
          <a:prstGeom prst="rect">
            <a:avLst/>
          </a:prstGeom>
          <a:noFill/>
        </p:spPr>
        <p:txBody>
          <a:bodyPr wrap="square" lIns="0" tIns="0" rIns="0" bIns="0" rtlCol="0" anchor="ctr"/>
          <a:lstStyle/>
          <a:p>
            <a:pPr marL="0" indent="0">
              <a:buNone/>
            </a:pPr>
            <a:r>
              <a:rPr lang="en-US" sz="1560" dirty="0">
                <a:solidFill>
                  <a:srgbClr val="6F675C"/>
                </a:solidFill>
                <a:latin typeface="Calibri" panose="020F0502020204030204" pitchFamily="34" charset="0"/>
                <a:ea typeface="Calibri" panose="020F0502020204030204" pitchFamily="34" charset="-122"/>
                <a:cs typeface="Calibri" panose="020F0502020204030204" pitchFamily="34" charset="-120"/>
              </a:rPr>
              <a:t>Tiap KOL punya kode promo. ROI = omzet dari kode dibagi fee.</a:t>
            </a:r>
            <a:endParaRPr lang="en-US" sz="1560" dirty="0"/>
          </a:p>
        </p:txBody>
      </p:sp>
      <p:graphicFrame>
        <p:nvGraphicFramePr>
          <p:cNvPr id="14" name="Table 0"/>
          <p:cNvGraphicFramePr>
            <a:graphicFrameLocks noGrp="1"/>
          </p:cNvGraphicFramePr>
          <p:nvPr/>
        </p:nvGraphicFramePr>
        <p:xfrm>
          <a:off x="426709" y="1828754"/>
          <a:ext cx="11338560" cy="3291756"/>
        </p:xfrm>
        <a:graphic>
          <a:graphicData uri="http://schemas.openxmlformats.org/drawingml/2006/table">
            <a:tbl>
              <a:tblPr/>
              <a:tblGrid>
                <a:gridCol w="4572000"/>
                <a:gridCol w="3474720"/>
                <a:gridCol w="3291840"/>
              </a:tblGrid>
              <a:tr h="548626">
                <a:tc>
                  <a:txBody>
                    <a:bodyPr/>
                    <a:lstStyle/>
                    <a:p>
                      <a:pPr marL="0" indent="0" algn="l">
                        <a:buNone/>
                      </a:pPr>
                      <a:r>
                        <a:rPr lang="en-US" sz="1320" b="1" dirty="0">
                          <a:solidFill>
                            <a:srgbClr val="F4EFE6"/>
                          </a:solidFill>
                        </a:rPr>
                        <a:t>KOL &amp; platform</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1A1814"/>
                    </a:solidFill>
                  </a:tcPr>
                </a:tc>
                <a:tc>
                  <a:txBody>
                    <a:bodyPr/>
                    <a:lstStyle/>
                    <a:p>
                      <a:pPr marL="0" indent="0" algn="l">
                        <a:buNone/>
                      </a:pPr>
                      <a:r>
                        <a:rPr lang="en-US" sz="1320" b="1" dirty="0">
                          <a:solidFill>
                            <a:srgbClr val="F4EFE6"/>
                          </a:solidFill>
                        </a:rPr>
                        <a:t>Fee · kode</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1A1814"/>
                    </a:solidFill>
                  </a:tcPr>
                </a:tc>
                <a:tc>
                  <a:txBody>
                    <a:bodyPr/>
                    <a:lstStyle/>
                    <a:p>
                      <a:pPr marL="0" indent="0" algn="l">
                        <a:buNone/>
                      </a:pPr>
                      <a:r>
                        <a:rPr lang="en-US" sz="1320" b="1" dirty="0">
                          <a:solidFill>
                            <a:srgbClr val="F4EFE6"/>
                          </a:solidFill>
                        </a:rPr>
                        <a:t>Hasil · ROI</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1A1814"/>
                    </a:solidFill>
                  </a:tcPr>
                </a:tc>
              </a:tr>
              <a:tr h="548626">
                <a:tc>
                  <a:txBody>
                    <a:bodyPr/>
                    <a:lstStyle/>
                    <a:p>
                      <a:pPr marL="0" indent="0" algn="l">
                        <a:buNone/>
                      </a:pPr>
                      <a:r>
                        <a:rPr lang="en-US" sz="1320" dirty="0">
                          <a:solidFill>
                            <a:srgbClr val="1A1814"/>
                          </a:solidFill>
                        </a:rPr>
                        <a:t>KOL Kuliner A (IG 85 rb) · Cafe</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l">
                        <a:buNone/>
                      </a:pPr>
                      <a:r>
                        <a:rPr lang="en-US" sz="1320" dirty="0">
                          <a:solidFill>
                            <a:srgbClr val="1A1814"/>
                          </a:solidFill>
                        </a:rPr>
                        <a:t>Rp1.500.000 · HUNI-A</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l">
                        <a:buNone/>
                      </a:pPr>
                      <a:r>
                        <a:rPr lang="en-US" sz="1320" dirty="0">
                          <a:solidFill>
                            <a:srgbClr val="1A1814"/>
                          </a:solidFill>
                        </a:rPr>
                        <a:t>120 redeem · Rp3.600.000 · 2,4x</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r>
              <a:tr h="548626">
                <a:tc>
                  <a:txBody>
                    <a:bodyPr/>
                    <a:lstStyle/>
                    <a:p>
                      <a:pPr marL="0" indent="0" algn="l">
                        <a:buNone/>
                      </a:pPr>
                      <a:r>
                        <a:rPr lang="en-US" sz="1320" dirty="0">
                          <a:solidFill>
                            <a:srgbClr val="1A1814"/>
                          </a:solidFill>
                        </a:rPr>
                        <a:t>Influencer Futsal B (TikTok 120 rb) · Futsal</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c>
                  <a:txBody>
                    <a:bodyPr/>
                    <a:lstStyle/>
                    <a:p>
                      <a:pPr marL="0" indent="0" algn="l">
                        <a:buNone/>
                      </a:pPr>
                      <a:r>
                        <a:rPr lang="en-US" sz="1320" dirty="0">
                          <a:solidFill>
                            <a:srgbClr val="1A1814"/>
                          </a:solidFill>
                        </a:rPr>
                        <a:t>Rp2.000.000 · FUTSAL-B</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c>
                  <a:txBody>
                    <a:bodyPr/>
                    <a:lstStyle/>
                    <a:p>
                      <a:pPr marL="0" indent="0" algn="l">
                        <a:buNone/>
                      </a:pPr>
                      <a:r>
                        <a:rPr lang="en-US" sz="1320" dirty="0">
                          <a:solidFill>
                            <a:srgbClr val="1A1814"/>
                          </a:solidFill>
                        </a:rPr>
                        <a:t>45 redeem · Rp5.400.000 · 2,7x</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BF8F3"/>
                    </a:solidFill>
                  </a:tcPr>
                </a:tc>
              </a:tr>
              <a:tr h="548626">
                <a:tc>
                  <a:txBody>
                    <a:bodyPr/>
                    <a:lstStyle/>
                    <a:p>
                      <a:pPr marL="0" indent="0" algn="l">
                        <a:buNone/>
                      </a:pPr>
                      <a:r>
                        <a:rPr lang="en-US" sz="1320" dirty="0">
                          <a:solidFill>
                            <a:srgbClr val="1A1814"/>
                          </a:solidFill>
                        </a:rPr>
                        <a:t>Mikro-influencer Kos C (IG 30 rb) · Kos</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l">
                        <a:buNone/>
                      </a:pPr>
                      <a:r>
                        <a:rPr lang="en-US" sz="1320" dirty="0">
                          <a:solidFill>
                            <a:srgbClr val="1A1814"/>
                          </a:solidFill>
                        </a:rPr>
                        <a:t>Rp800.000 · KOS-C</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c>
                  <a:txBody>
                    <a:bodyPr/>
                    <a:lstStyle/>
                    <a:p>
                      <a:pPr marL="0" indent="0" algn="l">
                        <a:buNone/>
                      </a:pPr>
                      <a:r>
                        <a:rPr lang="en-US" sz="1320" dirty="0">
                          <a:solidFill>
                            <a:srgbClr val="1A1814"/>
                          </a:solidFill>
                        </a:rPr>
                        <a:t>3 redeem · Rp6.900.000 · 8,6x</a:t>
                      </a:r>
                      <a:endParaRPr lang="en-US" sz="1320" dirty="0"/>
                    </a:p>
                  </a:txBody>
                  <a:tcPr marL="101600" marR="101600" marT="25400" marB="25400">
                    <a:lnL w="6350" cap="flat" cmpd="sng" algn="ctr">
                      <a:solidFill>
                        <a:srgbClr val="D9CFBF"/>
                      </a:solidFill>
                      <a:prstDash val="solid"/>
                      <a:round/>
                      <a:headEnd type="none" w="med" len="med"/>
                      <a:tailEnd type="none" w="med" len="med"/>
                    </a:lnL>
                    <a:lnR w="6350" cap="flat" cmpd="sng" algn="ctr">
                      <a:solidFill>
                        <a:srgbClr val="D9CFBF"/>
                      </a:solidFill>
                      <a:prstDash val="solid"/>
                      <a:round/>
                      <a:headEnd type="none" w="med" len="med"/>
                      <a:tailEnd type="none" w="med" len="med"/>
                    </a:lnR>
                    <a:lnT w="6350" cap="flat" cmpd="sng" algn="ctr">
                      <a:solidFill>
                        <a:srgbClr val="D9CFBF"/>
                      </a:solidFill>
                      <a:prstDash val="solid"/>
                      <a:round/>
                      <a:headEnd type="none" w="med" len="med"/>
                      <a:tailEnd type="none" w="med" len="med"/>
                    </a:lnT>
                    <a:lnB w="6350" cap="flat" cmpd="sng" algn="ctr">
                      <a:solidFill>
                        <a:srgbClr val="D9CFBF"/>
                      </a:solidFill>
                      <a:prstDash val="solid"/>
                      <a:round/>
                      <a:headEnd type="none" w="med" len="med"/>
                      <a:tailEnd type="none" w="med" len="med"/>
                    </a:lnB>
                    <a:solidFill>
                      <a:srgbClr val="F4EFE6"/>
                    </a:solidFill>
                  </a:tcPr>
                </a:tc>
              </a:tr>
            </a:tbl>
          </a:graphicData>
        </a:graphic>
      </p:graphicFrame>
      <p:sp>
        <p:nvSpPr>
          <p:cNvPr id="10" name="Text 7"/>
          <p:cNvSpPr/>
          <p:nvPr/>
        </p:nvSpPr>
        <p:spPr>
          <a:xfrm>
            <a:off x="426709" y="5852160"/>
            <a:ext cx="11338277" cy="487668"/>
          </a:xfrm>
          <a:prstGeom prst="rect">
            <a:avLst/>
          </a:prstGeom>
          <a:noFill/>
        </p:spPr>
        <p:txBody>
          <a:bodyPr wrap="square" lIns="0" tIns="0" rIns="0" bIns="0" rtlCol="0" anchor="ctr"/>
          <a:lstStyle/>
          <a:p>
            <a:pPr marL="0" indent="0">
              <a:buNone/>
            </a:pPr>
            <a:r>
              <a:rPr lang="en-US" sz="1680" b="1" dirty="0">
                <a:solidFill>
                  <a:srgbClr val="2F5D50"/>
                </a:solidFill>
                <a:latin typeface="Calibri" panose="020F0502020204030204" pitchFamily="34" charset="0"/>
                <a:ea typeface="Calibri" panose="020F0502020204030204" pitchFamily="34" charset="-122"/>
                <a:cs typeface="Calibri" panose="020F0502020204030204" pitchFamily="34" charset="-120"/>
              </a:rPr>
              <a:t>Angka contoh. Redeem tercatat di dashboard dan dibandingkan dengan fee tiap KOL.</a:t>
            </a:r>
            <a:endParaRPr lang="en-US" sz="1680" dirty="0"/>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1695" cy="6858000"/>
          </a:xfrm>
          <a:prstGeom prst="rect">
            <a:avLst/>
          </a:prstGeom>
          <a:solidFill>
            <a:srgbClr val="F4EFE6"/>
          </a:solidFill>
        </p:spPr>
        <p:txBody>
          <a:bodyPr/>
          <a:p/>
        </p:txBody>
      </p:sp>
      <p:sp>
        <p:nvSpPr>
          <p:cNvPr id="3" name="Shape 1"/>
          <p:cNvSpPr/>
          <p:nvPr/>
        </p:nvSpPr>
        <p:spPr>
          <a:xfrm>
            <a:off x="0" y="0"/>
            <a:ext cx="91440" cy="6858000"/>
          </a:xfrm>
          <a:prstGeom prst="rect">
            <a:avLst/>
          </a:prstGeom>
          <a:solidFill>
            <a:srgbClr val="C4622D"/>
          </a:solidFill>
        </p:spPr>
        <p:txBody>
          <a:bodyPr/>
          <a:p/>
        </p:txBody>
      </p:sp>
      <p:sp>
        <p:nvSpPr>
          <p:cNvPr id="4" name="Shape 2"/>
          <p:cNvSpPr/>
          <p:nvPr/>
        </p:nvSpPr>
        <p:spPr>
          <a:xfrm>
            <a:off x="0" y="6601968"/>
            <a:ext cx="12191695" cy="256032"/>
          </a:xfrm>
          <a:prstGeom prst="rect">
            <a:avLst/>
          </a:prstGeom>
          <a:solidFill>
            <a:srgbClr val="1A1814"/>
          </a:solidFill>
        </p:spPr>
        <p:txBody>
          <a:bodyPr/>
          <a:p/>
        </p:txBody>
      </p:sp>
      <p:sp>
        <p:nvSpPr>
          <p:cNvPr id="5" name="Text 3"/>
          <p:cNvSpPr/>
          <p:nvPr/>
        </p:nvSpPr>
        <p:spPr>
          <a:xfrm>
            <a:off x="347472" y="6601968"/>
            <a:ext cx="9144000" cy="256032"/>
          </a:xfrm>
          <a:prstGeom prst="rect">
            <a:avLst/>
          </a:prstGeom>
          <a:noFill/>
        </p:spPr>
        <p:txBody>
          <a:bodyPr wrap="square" lIns="0" tIns="0" rIns="0" bIns="0" rtlCol="0" anchor="ctr"/>
          <a:lstStyle/>
          <a:p>
            <a:pPr marL="0" indent="0">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HUNI   ·   Proposal website kos &amp; kontrakan   ·   Oktober 2026</a:t>
            </a:r>
            <a:endParaRPr lang="en-US" sz="1100" dirty="0"/>
          </a:p>
        </p:txBody>
      </p:sp>
      <p:sp>
        <p:nvSpPr>
          <p:cNvPr id="6" name="Text 4"/>
          <p:cNvSpPr/>
          <p:nvPr/>
        </p:nvSpPr>
        <p:spPr>
          <a:xfrm>
            <a:off x="9509760" y="6601968"/>
            <a:ext cx="2331720" cy="256032"/>
          </a:xfrm>
          <a:prstGeom prst="rect">
            <a:avLst/>
          </a:prstGeom>
          <a:noFill/>
        </p:spPr>
        <p:txBody>
          <a:bodyPr wrap="square" lIns="0" tIns="0" rIns="0" bIns="0" rtlCol="0" anchor="ctr"/>
          <a:lstStyle/>
          <a:p>
            <a:pPr marL="0" indent="0" algn="r">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19  /  36</a:t>
            </a:r>
            <a:endParaRPr lang="en-US" sz="1100" dirty="0"/>
          </a:p>
        </p:txBody>
      </p:sp>
      <p:sp>
        <p:nvSpPr>
          <p:cNvPr id="7" name="Text 5"/>
          <p:cNvSpPr/>
          <p:nvPr/>
        </p:nvSpPr>
        <p:spPr>
          <a:xfrm>
            <a:off x="426709" y="304792"/>
            <a:ext cx="11338277" cy="731502"/>
          </a:xfrm>
          <a:prstGeom prst="rect">
            <a:avLst/>
          </a:prstGeom>
          <a:noFill/>
        </p:spPr>
        <p:txBody>
          <a:bodyPr wrap="square" lIns="0" tIns="0" rIns="0" bIns="0" rtlCol="0" anchor="ctr"/>
          <a:lstStyle/>
          <a:p>
            <a:pPr marL="0" indent="0">
              <a:buNone/>
            </a:pPr>
            <a:r>
              <a:rPr lang="en-US" sz="3120" b="1" dirty="0">
                <a:solidFill>
                  <a:srgbClr val="1A1814"/>
                </a:solidFill>
                <a:latin typeface="Georgia" panose="02040502050405020303" pitchFamily="34" charset="0"/>
                <a:ea typeface="Georgia" panose="02040502050405020303" pitchFamily="34" charset="-122"/>
                <a:cs typeface="Georgia" panose="02040502050405020303" pitchFamily="34" charset="-120"/>
              </a:rPr>
              <a:t>Contoh tampilan: ringkasan dan pembayaran</a:t>
            </a:r>
            <a:endParaRPr lang="en-US" sz="3120" dirty="0"/>
          </a:p>
        </p:txBody>
      </p:sp>
      <p:sp>
        <p:nvSpPr>
          <p:cNvPr id="8" name="Text 6"/>
          <p:cNvSpPr/>
          <p:nvPr/>
        </p:nvSpPr>
        <p:spPr>
          <a:xfrm>
            <a:off x="426709" y="1072869"/>
            <a:ext cx="11338277" cy="487668"/>
          </a:xfrm>
          <a:prstGeom prst="rect">
            <a:avLst/>
          </a:prstGeom>
          <a:noFill/>
        </p:spPr>
        <p:txBody>
          <a:bodyPr wrap="square" lIns="0" tIns="0" rIns="0" bIns="0" rtlCol="0" anchor="ctr"/>
          <a:lstStyle/>
          <a:p>
            <a:pPr marL="0" indent="0">
              <a:buNone/>
            </a:pPr>
            <a:r>
              <a:rPr lang="en-US" sz="1560" dirty="0">
                <a:solidFill>
                  <a:srgbClr val="6F675C"/>
                </a:solidFill>
                <a:latin typeface="Calibri" panose="020F0502020204030204" pitchFamily="34" charset="0"/>
                <a:ea typeface="Calibri" panose="020F0502020204030204" pitchFamily="34" charset="-122"/>
                <a:cs typeface="Calibri" panose="020F0502020204030204" pitchFamily="34" charset="-120"/>
              </a:rPr>
              <a:t>Tampilan admin. Hunian, keuangan cafe dan kos, tagihan sewa. Data contoh.</a:t>
            </a:r>
            <a:endParaRPr lang="en-US" sz="1560" dirty="0"/>
          </a:p>
        </p:txBody>
      </p:sp>
      <p:pic>
        <p:nvPicPr>
          <p:cNvPr id="9" name="Picture 8" descr="d1.png"/>
          <p:cNvPicPr>
            <a:picLocks noChangeAspect="1"/>
          </p:cNvPicPr>
          <p:nvPr/>
        </p:nvPicPr>
        <p:blipFill>
          <a:blip r:embed="rId2"/>
          <a:stretch>
            <a:fillRect/>
          </a:stretch>
        </p:blipFill>
        <p:spPr>
          <a:xfrm>
            <a:off x="429768" y="1645920"/>
            <a:ext cx="11338560" cy="475488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1695" cy="6858000"/>
          </a:xfrm>
          <a:prstGeom prst="rect">
            <a:avLst/>
          </a:prstGeom>
          <a:solidFill>
            <a:srgbClr val="F4EFE6"/>
          </a:solidFill>
        </p:spPr>
        <p:txBody>
          <a:bodyPr/>
          <a:p/>
        </p:txBody>
      </p:sp>
      <p:sp>
        <p:nvSpPr>
          <p:cNvPr id="3" name="Shape 1"/>
          <p:cNvSpPr/>
          <p:nvPr/>
        </p:nvSpPr>
        <p:spPr>
          <a:xfrm>
            <a:off x="0" y="0"/>
            <a:ext cx="91440" cy="6858000"/>
          </a:xfrm>
          <a:prstGeom prst="rect">
            <a:avLst/>
          </a:prstGeom>
          <a:solidFill>
            <a:srgbClr val="C4622D"/>
          </a:solidFill>
        </p:spPr>
        <p:txBody>
          <a:bodyPr/>
          <a:p/>
        </p:txBody>
      </p:sp>
      <p:sp>
        <p:nvSpPr>
          <p:cNvPr id="4" name="Shape 2"/>
          <p:cNvSpPr/>
          <p:nvPr/>
        </p:nvSpPr>
        <p:spPr>
          <a:xfrm>
            <a:off x="0" y="6601968"/>
            <a:ext cx="12191695" cy="256032"/>
          </a:xfrm>
          <a:prstGeom prst="rect">
            <a:avLst/>
          </a:prstGeom>
          <a:solidFill>
            <a:srgbClr val="1A1814"/>
          </a:solidFill>
        </p:spPr>
        <p:txBody>
          <a:bodyPr/>
          <a:p/>
        </p:txBody>
      </p:sp>
      <p:sp>
        <p:nvSpPr>
          <p:cNvPr id="5" name="Text 3"/>
          <p:cNvSpPr/>
          <p:nvPr/>
        </p:nvSpPr>
        <p:spPr>
          <a:xfrm>
            <a:off x="347472" y="6601968"/>
            <a:ext cx="9144000" cy="256032"/>
          </a:xfrm>
          <a:prstGeom prst="rect">
            <a:avLst/>
          </a:prstGeom>
          <a:noFill/>
        </p:spPr>
        <p:txBody>
          <a:bodyPr wrap="square" lIns="0" tIns="0" rIns="0" bIns="0" rtlCol="0" anchor="ctr"/>
          <a:lstStyle/>
          <a:p>
            <a:pPr marL="0" indent="0">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HUNI   ·   Proposal website kos &amp; kontrakan   ·   Oktober 2026</a:t>
            </a:r>
            <a:endParaRPr lang="en-US" sz="1100" dirty="0"/>
          </a:p>
        </p:txBody>
      </p:sp>
      <p:sp>
        <p:nvSpPr>
          <p:cNvPr id="6" name="Text 4"/>
          <p:cNvSpPr/>
          <p:nvPr/>
        </p:nvSpPr>
        <p:spPr>
          <a:xfrm>
            <a:off x="9509760" y="6601968"/>
            <a:ext cx="2331720" cy="256032"/>
          </a:xfrm>
          <a:prstGeom prst="rect">
            <a:avLst/>
          </a:prstGeom>
          <a:noFill/>
        </p:spPr>
        <p:txBody>
          <a:bodyPr wrap="square" lIns="0" tIns="0" rIns="0" bIns="0" rtlCol="0" anchor="ctr"/>
          <a:lstStyle/>
          <a:p>
            <a:pPr marL="0" indent="0" algn="r">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21  /  36</a:t>
            </a:r>
            <a:endParaRPr lang="en-US" sz="1100" dirty="0"/>
          </a:p>
        </p:txBody>
      </p:sp>
      <p:sp>
        <p:nvSpPr>
          <p:cNvPr id="7" name="Text 5"/>
          <p:cNvSpPr/>
          <p:nvPr/>
        </p:nvSpPr>
        <p:spPr>
          <a:xfrm>
            <a:off x="426709" y="304792"/>
            <a:ext cx="11338277" cy="731502"/>
          </a:xfrm>
          <a:prstGeom prst="rect">
            <a:avLst/>
          </a:prstGeom>
          <a:noFill/>
        </p:spPr>
        <p:txBody>
          <a:bodyPr wrap="square" lIns="0" tIns="0" rIns="0" bIns="0" rtlCol="0" anchor="ctr"/>
          <a:lstStyle/>
          <a:p>
            <a:pPr marL="0" indent="0">
              <a:buNone/>
            </a:pPr>
            <a:r>
              <a:rPr lang="en-US" sz="3120" b="1" dirty="0">
                <a:solidFill>
                  <a:srgbClr val="1A1814"/>
                </a:solidFill>
                <a:latin typeface="Georgia" panose="02040502050405020303" pitchFamily="34" charset="0"/>
                <a:ea typeface="Georgia" panose="02040502050405020303" pitchFamily="34" charset="-122"/>
                <a:cs typeface="Georgia" panose="02040502050405020303" pitchFamily="34" charset="-120"/>
              </a:rPr>
              <a:t>Contoh tampilan: penjualan dan gudang FIFO</a:t>
            </a:r>
            <a:endParaRPr lang="en-US" sz="3120" dirty="0"/>
          </a:p>
        </p:txBody>
      </p:sp>
      <p:sp>
        <p:nvSpPr>
          <p:cNvPr id="8" name="Text 6"/>
          <p:cNvSpPr/>
          <p:nvPr/>
        </p:nvSpPr>
        <p:spPr>
          <a:xfrm>
            <a:off x="426709" y="1072869"/>
            <a:ext cx="11338277" cy="487668"/>
          </a:xfrm>
          <a:prstGeom prst="rect">
            <a:avLst/>
          </a:prstGeom>
          <a:noFill/>
        </p:spPr>
        <p:txBody>
          <a:bodyPr wrap="square" lIns="0" tIns="0" rIns="0" bIns="0" rtlCol="0" anchor="ctr"/>
          <a:lstStyle/>
          <a:p>
            <a:pPr marL="0" indent="0">
              <a:buNone/>
            </a:pPr>
            <a:r>
              <a:rPr lang="en-US" sz="1560" dirty="0">
                <a:solidFill>
                  <a:srgbClr val="6F675C"/>
                </a:solidFill>
                <a:latin typeface="Calibri" panose="020F0502020204030204" pitchFamily="34" charset="0"/>
                <a:ea typeface="Calibri" panose="020F0502020204030204" pitchFamily="34" charset="-122"/>
                <a:cs typeface="Calibri" panose="020F0502020204030204" pitchFamily="34" charset="-120"/>
              </a:rPr>
              <a:t>Jual 1 Kopi Susu Aren, stok kopi, susu, gula aren turun dari batch tertua. Data contoh.</a:t>
            </a:r>
            <a:endParaRPr lang="en-US" sz="1560" dirty="0"/>
          </a:p>
        </p:txBody>
      </p:sp>
      <p:pic>
        <p:nvPicPr>
          <p:cNvPr id="9" name="Picture 8" descr="d2.png"/>
          <p:cNvPicPr>
            <a:picLocks noChangeAspect="1"/>
          </p:cNvPicPr>
          <p:nvPr/>
        </p:nvPicPr>
        <p:blipFill>
          <a:blip r:embed="rId2"/>
          <a:stretch>
            <a:fillRect/>
          </a:stretch>
        </p:blipFill>
        <p:spPr>
          <a:xfrm>
            <a:off x="429768" y="1645920"/>
            <a:ext cx="11338560" cy="475488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1695" cy="6858000"/>
          </a:xfrm>
          <a:prstGeom prst="rect">
            <a:avLst/>
          </a:prstGeom>
          <a:solidFill>
            <a:srgbClr val="F4EFE6"/>
          </a:solidFill>
        </p:spPr>
        <p:txBody>
          <a:bodyPr/>
          <a:p/>
        </p:txBody>
      </p:sp>
      <p:sp>
        <p:nvSpPr>
          <p:cNvPr id="3" name="Shape 1"/>
          <p:cNvSpPr/>
          <p:nvPr/>
        </p:nvSpPr>
        <p:spPr>
          <a:xfrm>
            <a:off x="0" y="0"/>
            <a:ext cx="91440" cy="6858000"/>
          </a:xfrm>
          <a:prstGeom prst="rect">
            <a:avLst/>
          </a:prstGeom>
          <a:solidFill>
            <a:srgbClr val="C4622D"/>
          </a:solidFill>
        </p:spPr>
        <p:txBody>
          <a:bodyPr/>
          <a:p/>
        </p:txBody>
      </p:sp>
      <p:sp>
        <p:nvSpPr>
          <p:cNvPr id="4" name="Shape 2"/>
          <p:cNvSpPr/>
          <p:nvPr/>
        </p:nvSpPr>
        <p:spPr>
          <a:xfrm>
            <a:off x="0" y="6601968"/>
            <a:ext cx="12191695" cy="256032"/>
          </a:xfrm>
          <a:prstGeom prst="rect">
            <a:avLst/>
          </a:prstGeom>
          <a:solidFill>
            <a:srgbClr val="1A1814"/>
          </a:solidFill>
        </p:spPr>
        <p:txBody>
          <a:bodyPr/>
          <a:p/>
        </p:txBody>
      </p:sp>
      <p:sp>
        <p:nvSpPr>
          <p:cNvPr id="5" name="Text 3"/>
          <p:cNvSpPr/>
          <p:nvPr/>
        </p:nvSpPr>
        <p:spPr>
          <a:xfrm>
            <a:off x="347472" y="6601968"/>
            <a:ext cx="9144000" cy="256032"/>
          </a:xfrm>
          <a:prstGeom prst="rect">
            <a:avLst/>
          </a:prstGeom>
          <a:noFill/>
        </p:spPr>
        <p:txBody>
          <a:bodyPr wrap="square" lIns="0" tIns="0" rIns="0" bIns="0" rtlCol="0" anchor="ctr"/>
          <a:lstStyle/>
          <a:p>
            <a:pPr marL="0" indent="0">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HUNI   ·   Proposal website kos &amp; kontrakan   ·   Oktober 2026</a:t>
            </a:r>
            <a:endParaRPr lang="en-US" sz="1100" dirty="0"/>
          </a:p>
        </p:txBody>
      </p:sp>
      <p:sp>
        <p:nvSpPr>
          <p:cNvPr id="6" name="Text 4"/>
          <p:cNvSpPr/>
          <p:nvPr/>
        </p:nvSpPr>
        <p:spPr>
          <a:xfrm>
            <a:off x="9509760" y="6601968"/>
            <a:ext cx="2331720" cy="256032"/>
          </a:xfrm>
          <a:prstGeom prst="rect">
            <a:avLst/>
          </a:prstGeom>
          <a:noFill/>
        </p:spPr>
        <p:txBody>
          <a:bodyPr wrap="square" lIns="0" tIns="0" rIns="0" bIns="0" rtlCol="0" anchor="ctr"/>
          <a:lstStyle/>
          <a:p>
            <a:pPr marL="0" indent="0" algn="r">
              <a:buNone/>
            </a:pPr>
            <a:r>
              <a:rPr lang="en-US" sz="1100" dirty="0">
                <a:solidFill>
                  <a:srgbClr val="E7DCC8"/>
                </a:solidFill>
                <a:latin typeface="Calibri" panose="020F0502020204030204" pitchFamily="34" charset="0"/>
                <a:ea typeface="Calibri" panose="020F0502020204030204" pitchFamily="34" charset="-122"/>
                <a:cs typeface="Calibri" panose="020F0502020204030204" pitchFamily="34" charset="-120"/>
              </a:rPr>
              <a:t>24  /  36</a:t>
            </a:r>
            <a:endParaRPr lang="en-US" sz="1100" dirty="0"/>
          </a:p>
        </p:txBody>
      </p:sp>
      <p:sp>
        <p:nvSpPr>
          <p:cNvPr id="7" name="Text 5"/>
          <p:cNvSpPr/>
          <p:nvPr/>
        </p:nvSpPr>
        <p:spPr>
          <a:xfrm>
            <a:off x="426709" y="304792"/>
            <a:ext cx="11338277" cy="731502"/>
          </a:xfrm>
          <a:prstGeom prst="rect">
            <a:avLst/>
          </a:prstGeom>
          <a:noFill/>
        </p:spPr>
        <p:txBody>
          <a:bodyPr wrap="square" lIns="0" tIns="0" rIns="0" bIns="0" rtlCol="0" anchor="ctr"/>
          <a:lstStyle/>
          <a:p>
            <a:pPr marL="0" indent="0">
              <a:buNone/>
            </a:pPr>
            <a:r>
              <a:rPr lang="en-US" sz="3120" b="1" dirty="0">
                <a:solidFill>
                  <a:srgbClr val="1A1814"/>
                </a:solidFill>
                <a:latin typeface="Georgia" panose="02040502050405020303" pitchFamily="34" charset="0"/>
                <a:ea typeface="Georgia" panose="02040502050405020303" pitchFamily="34" charset="-122"/>
                <a:cs typeface="Georgia" panose="02040502050405020303" pitchFamily="34" charset="-120"/>
              </a:rPr>
              <a:t>Contoh tampilan: R&amp;D menu dan KOL</a:t>
            </a:r>
            <a:endParaRPr lang="en-US" sz="3120" dirty="0"/>
          </a:p>
        </p:txBody>
      </p:sp>
      <p:sp>
        <p:nvSpPr>
          <p:cNvPr id="8" name="Text 6"/>
          <p:cNvSpPr/>
          <p:nvPr/>
        </p:nvSpPr>
        <p:spPr>
          <a:xfrm>
            <a:off x="426709" y="1072869"/>
            <a:ext cx="11338277" cy="487668"/>
          </a:xfrm>
          <a:prstGeom prst="rect">
            <a:avLst/>
          </a:prstGeom>
          <a:noFill/>
        </p:spPr>
        <p:txBody>
          <a:bodyPr wrap="square" lIns="0" tIns="0" rIns="0" bIns="0" rtlCol="0" anchor="ctr"/>
          <a:lstStyle/>
          <a:p>
            <a:pPr marL="0" indent="0">
              <a:buNone/>
            </a:pPr>
            <a:r>
              <a:rPr lang="en-US" sz="1560" dirty="0">
                <a:solidFill>
                  <a:srgbClr val="6F675C"/>
                </a:solidFill>
                <a:latin typeface="Calibri" panose="020F0502020204030204" pitchFamily="34" charset="0"/>
                <a:ea typeface="Calibri" panose="020F0502020204030204" pitchFamily="34" charset="-122"/>
                <a:cs typeface="Calibri" panose="020F0502020204030204" pitchFamily="34" charset="-120"/>
              </a:rPr>
              <a:t>Breakdown resep per menu dan ROI tiap KOL. Data contoh.</a:t>
            </a:r>
            <a:endParaRPr lang="en-US" sz="1560" dirty="0"/>
          </a:p>
        </p:txBody>
      </p:sp>
      <p:pic>
        <p:nvPicPr>
          <p:cNvPr id="9" name="Picture 8" descr="d3.png"/>
          <p:cNvPicPr>
            <a:picLocks noChangeAspect="1"/>
          </p:cNvPicPr>
          <p:nvPr/>
        </p:nvPicPr>
        <p:blipFill>
          <a:blip r:embed="rId2"/>
          <a:stretch>
            <a:fillRect/>
          </a:stretch>
        </p:blipFill>
        <p:spPr>
          <a:xfrm>
            <a:off x="429768" y="1645920"/>
            <a:ext cx="11338560" cy="47548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13983</Words>
  <Application>WPS Presentation</Application>
  <PresentationFormat>On-screen Show (16:9)</PresentationFormat>
  <Paragraphs>970</Paragraphs>
  <Slides>29</Slides>
  <Notes>28</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29</vt:i4>
      </vt:variant>
    </vt:vector>
  </HeadingPairs>
  <TitlesOfParts>
    <vt:vector size="44" baseType="lpstr">
      <vt:lpstr>Arial</vt:lpstr>
      <vt:lpstr>SimSun</vt:lpstr>
      <vt:lpstr>Wingdings</vt:lpstr>
      <vt:lpstr>Georgia</vt:lpstr>
      <vt:lpstr>Georgia</vt:lpstr>
      <vt:lpstr>Georgia</vt:lpstr>
      <vt:lpstr>Calibri</vt:lpstr>
      <vt:lpstr>Calibri</vt:lpstr>
      <vt:lpstr>Calibri</vt:lpstr>
      <vt:lpstr>Microsoft YaHei</vt:lpstr>
      <vt:lpstr>Arial Unicode MS</vt:lpstr>
      <vt:lpstr>Arial</vt:lpstr>
      <vt:lpstr>Calibri</vt:lpstr>
      <vt:lpstr>Office Theme</vt:lpstr>
      <vt:lpstr>1_Office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HUNI — Proposal website kos dan kontrakan</dc:title>
  <dc:creator>HUNI</dc:creator>
  <dc:subject>Desain, proof of concept, model bagi hasil</dc:subject>
  <cp:lastModifiedBy>google1567717355</cp:lastModifiedBy>
  <cp:revision>2</cp:revision>
  <dcterms:created xsi:type="dcterms:W3CDTF">2026-10-24T04:22:00Z</dcterms:created>
  <dcterms:modified xsi:type="dcterms:W3CDTF">2026-10-24T05:19:51Z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0AB154A396484494892E5E722D4D4554_12</vt:lpwstr>
  </property>
  <property fmtid="{D5CDD505-2E9C-101B-9397-08002B2CF9AE}" pid="3" name="KSOProductBuildVer">
    <vt:lpwstr>1033-12.2.0.23155</vt:lpwstr>
  </property>
</Properties>
</file>