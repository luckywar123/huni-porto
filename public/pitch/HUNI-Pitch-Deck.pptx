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demo hidup, baru masuk ke harga. Jangan mulai dari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hero dan cari.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jalan di peramban.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sudah diuji.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Pengajuan dari form muncul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814"/>
          </a:solidFill>
          <a:ln/>
        </p:spPr>
      </p:sp>
      <p:pic>
        <p:nvPicPr>
          <p:cNvPr id="3" name="Image 0" descr="/workspace/public/media/ext.jpg">    </p:cNvPr>
          <p:cNvPicPr>
            <a:picLocks noChangeAspect="1"/>
          </p:cNvPicPr>
          <p:nvPr/>
        </p:nvPicPr>
        <p:blipFill>
          <a:blip r:embed="rId1"/>
          <a:srcRect l="0" r="0" t="0" b="0"/>
          <a:stretch/>
        </p:blipFill>
        <p:spPr>
          <a:xfrm>
            <a:off x="7452360" y="0"/>
            <a:ext cx="4739335" cy="6858000"/>
          </a:xfrm>
          <a:prstGeom prst="rect">
            <a:avLst/>
          </a:prstGeom>
        </p:spPr>
      </p:pic>
      <p:sp>
        <p:nvSpPr>
          <p:cNvPr id="4" name="Shape 1"/>
          <p:cNvSpPr/>
          <p:nvPr/>
        </p:nvSpPr>
        <p:spPr>
          <a:xfrm>
            <a:off x="438912" y="438912"/>
            <a:ext cx="640080" cy="73152"/>
          </a:xfrm>
          <a:prstGeom prst="rect">
            <a:avLst/>
          </a:prstGeom>
          <a:solidFill>
            <a:srgbClr val="C4622D"/>
          </a:solidFill>
          <a:ln/>
        </p:spPr>
      </p:sp>
      <p:sp>
        <p:nvSpPr>
          <p:cNvPr id="5" name="Text 2"/>
          <p:cNvSpPr/>
          <p:nvPr/>
        </p:nvSpPr>
        <p:spPr>
          <a:xfrm>
            <a:off x="438912" y="1371600"/>
            <a:ext cx="6583680" cy="1051560"/>
          </a:xfrm>
          <a:prstGeom prst="rect">
            <a:avLst/>
          </a:prstGeom>
          <a:noFill/>
          <a:ln/>
        </p:spPr>
        <p:txBody>
          <a:bodyPr wrap="square" lIns="0" tIns="0" rIns="0" bIns="0" rtlCol="0" anchor="ctr"/>
          <a:lstStyle/>
          <a:p>
            <a:pPr indent="0" marL="0">
              <a:buNone/>
            </a:pPr>
            <a:r>
              <a:rPr lang="en-US" sz="8000" dirty="0">
                <a:solidFill>
                  <a:srgbClr val="F4EFE6"/>
                </a:solidFill>
                <a:latin typeface="Georgia" pitchFamily="34" charset="0"/>
                <a:ea typeface="Georgia" pitchFamily="34" charset="-122"/>
                <a:cs typeface="Georgia" pitchFamily="34" charset="-120"/>
              </a:rPr>
              <a:t>HUNI</a:t>
            </a:r>
            <a:endParaRPr lang="en-US" sz="8000" dirty="0"/>
          </a:p>
        </p:txBody>
      </p:sp>
      <p:sp>
        <p:nvSpPr>
          <p:cNvPr id="6" name="Text 3"/>
          <p:cNvSpPr/>
          <p:nvPr/>
        </p:nvSpPr>
        <p:spPr>
          <a:xfrm>
            <a:off x="438912" y="2560320"/>
            <a:ext cx="6583680" cy="1234440"/>
          </a:xfrm>
          <a:prstGeom prst="rect">
            <a:avLst/>
          </a:prstGeom>
          <a:noFill/>
          <a:ln/>
        </p:spPr>
        <p:txBody>
          <a:bodyPr wrap="square" lIns="0" tIns="0" rIns="0" bIns="0" rtlCol="0" anchor="ctr"/>
          <a:lstStyle/>
          <a:p>
            <a:pPr indent="0" marL="0">
              <a:buNone/>
            </a:pPr>
            <a:r>
              <a:rPr lang="en-US" sz="2800" dirty="0">
                <a:solidFill>
                  <a:srgbClr val="E7DCC8"/>
                </a:solidFill>
                <a:latin typeface="Georgia" pitchFamily="34" charset="0"/>
                <a:ea typeface="Georgia" pitchFamily="34" charset="-122"/>
                <a:cs typeface="Georgia" pitchFamily="34" charset="-120"/>
              </a:rPr>
              <a:t>Website kos dan kontrakan,</a:t>
            </a:r>
            <a:endParaRPr lang="en-US" sz="2800" dirty="0"/>
          </a:p>
          <a:p>
            <a:pPr indent="0" marL="0">
              <a:buNone/>
            </a:pPr>
            <a:r>
              <a:rPr lang="en-US" sz="2800" dirty="0">
                <a:solidFill>
                  <a:srgbClr val="E7DCC8"/>
                </a:solidFill>
                <a:latin typeface="Georgia" pitchFamily="34" charset="0"/>
                <a:ea typeface="Georgia" pitchFamily="34" charset="-122"/>
                <a:cs typeface="Georgia" pitchFamily="34" charset="-120"/>
              </a:rPr>
              <a:t>end to end.</a:t>
            </a:r>
            <a:endParaRPr lang="en-US" sz="2800" dirty="0"/>
          </a:p>
        </p:txBody>
      </p:sp>
      <p:sp>
        <p:nvSpPr>
          <p:cNvPr id="7" name="Text 4"/>
          <p:cNvSpPr/>
          <p:nvPr/>
        </p:nvSpPr>
        <p:spPr>
          <a:xfrm>
            <a:off x="438912" y="4069080"/>
            <a:ext cx="6400800" cy="731520"/>
          </a:xfrm>
          <a:prstGeom prst="rect">
            <a:avLst/>
          </a:prstGeom>
          <a:noFill/>
          <a:ln/>
        </p:spPr>
        <p:txBody>
          <a:bodyPr wrap="square" lIns="0" tIns="0" rIns="0" bIns="0" rtlCol="0" anchor="ctr"/>
          <a:lstStyle/>
          <a:p>
            <a:pPr indent="0" marL="0">
              <a:buNone/>
            </a:pPr>
            <a:r>
              <a:rPr lang="en-US" sz="1600" dirty="0">
                <a:solidFill>
                  <a:srgbClr val="C8BBA8"/>
                </a:solidFill>
                <a:latin typeface="Calibri" pitchFamily="34" charset="0"/>
                <a:ea typeface="Calibri" pitchFamily="34" charset="-122"/>
                <a:cs typeface="Calibri" pitchFamily="34" charset="-120"/>
              </a:rPr>
              <a:t>Proposal untuk pemilik yang mau punya situs sendiri:</a:t>
            </a:r>
            <a:endParaRPr lang="en-US" sz="1600" dirty="0"/>
          </a:p>
          <a:p>
            <a:pPr indent="0" marL="0">
              <a:buNone/>
            </a:pPr>
            <a:r>
              <a:rPr lang="en-US" sz="1600" dirty="0">
                <a:solidFill>
                  <a:srgbClr val="C8BBA8"/>
                </a:solidFill>
                <a:latin typeface="Calibri" pitchFamily="34" charset="0"/>
                <a:ea typeface="Calibri" pitchFamily="34" charset="-122"/>
                <a:cs typeface="Calibri" pitchFamily="34" charset="-120"/>
              </a:rPr>
              <a:t>desain, proof of concept, harga bangun, dan biaya rawat.</a:t>
            </a:r>
            <a:endParaRPr lang="en-US" sz="1600" dirty="0"/>
          </a:p>
        </p:txBody>
      </p:sp>
      <p:sp>
        <p:nvSpPr>
          <p:cNvPr id="8" name="Text 5"/>
          <p:cNvSpPr/>
          <p:nvPr/>
        </p:nvSpPr>
        <p:spPr>
          <a:xfrm>
            <a:off x="438912" y="5989320"/>
            <a:ext cx="6400800" cy="292608"/>
          </a:xfrm>
          <a:prstGeom prst="rect">
            <a:avLst/>
          </a:prstGeom>
          <a:noFill/>
          <a:ln/>
        </p:spPr>
        <p:txBody>
          <a:bodyPr wrap="square" lIns="0" tIns="0" rIns="0" bIns="0" rtlCol="0" anchor="ctr"/>
          <a:lstStyle/>
          <a:p>
            <a:pPr indent="0" marL="0">
              <a:buNone/>
            </a:pPr>
            <a:r>
              <a:rPr lang="en-US" sz="1300" dirty="0">
                <a:solidFill>
                  <a:srgbClr val="C4622D"/>
                </a:solidFill>
                <a:latin typeface="Calibri" pitchFamily="34" charset="0"/>
                <a:ea typeface="Calibri" pitchFamily="34" charset="-122"/>
                <a:cs typeface="Calibri" pitchFamily="34" charset="-120"/>
              </a:rPr>
              <a:t>Oktober 2026   ·   Penawaran ilustrasi, belum mengikat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02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Kamar kosong sunyi. Chat-nya tidak.</a:t>
            </a:r>
            <a:endParaRPr lang="en-US" sz="2800" dirty="0"/>
          </a:p>
        </p:txBody>
      </p:sp>
      <p:sp>
        <p:nvSpPr>
          <p:cNvPr id="8" name="Text 6"/>
          <p:cNvSpPr/>
          <p:nvPr/>
        </p:nvSpPr>
        <p:spPr>
          <a:xfrm>
            <a:off x="384048" y="786384"/>
            <a:ext cx="10972800" cy="310896"/>
          </a:xfrm>
          <a:prstGeom prst="rect">
            <a:avLst/>
          </a:prstGeom>
          <a:noFill/>
          <a:ln/>
        </p:spPr>
        <p:txBody>
          <a:bodyPr wrap="square" lIns="0" tIns="0" rIns="0" bIns="0" rtlCol="0" anchor="ctr"/>
          <a:lstStyle/>
          <a:p>
            <a:pPr indent="0" marL="0">
              <a:buNone/>
            </a:pPr>
            <a:r>
              <a:rPr lang="en-US" sz="1500" dirty="0">
                <a:solidFill>
                  <a:srgbClr val="6F675C"/>
                </a:solidFill>
                <a:latin typeface="Calibri" pitchFamily="34" charset="0"/>
                <a:ea typeface="Calibri" pitchFamily="34" charset="-122"/>
                <a:cs typeface="Calibri" pitchFamily="34" charset="-120"/>
              </a:rPr>
              <a:t>Empat kebiasaan yang bikin unit sulit disewakan tanpa menambah kamar.</a:t>
            </a:r>
            <a:endParaRPr lang="en-US" sz="1500" dirty="0"/>
          </a:p>
        </p:txBody>
      </p:sp>
      <p:sp>
        <p:nvSpPr>
          <p:cNvPr id="9" name="Shape 7"/>
          <p:cNvSpPr/>
          <p:nvPr/>
        </p:nvSpPr>
        <p:spPr>
          <a:xfrm>
            <a:off x="384048" y="1280160"/>
            <a:ext cx="5623560" cy="2331720"/>
          </a:xfrm>
          <a:prstGeom prst="roundRect">
            <a:avLst>
              <a:gd name="adj" fmla="val 3137"/>
            </a:avLst>
          </a:prstGeom>
          <a:solidFill>
            <a:srgbClr val="FBF8F3"/>
          </a:solidFill>
          <a:ln w="12700">
            <a:solidFill>
              <a:srgbClr val="D9CFBF"/>
            </a:solidFill>
            <a:prstDash val="solid"/>
          </a:ln>
        </p:spPr>
      </p:sp>
      <p:sp>
        <p:nvSpPr>
          <p:cNvPr id="10" name="Text 8"/>
          <p:cNvSpPr/>
          <p:nvPr/>
        </p:nvSpPr>
        <p:spPr>
          <a:xfrm>
            <a:off x="640080" y="1481328"/>
            <a:ext cx="5120640" cy="329184"/>
          </a:xfrm>
          <a:prstGeom prst="rect">
            <a:avLst/>
          </a:prstGeom>
          <a:noFill/>
          <a:ln/>
        </p:spPr>
        <p:txBody>
          <a:bodyPr wrap="square" lIns="0" tIns="0" rIns="0" bIns="0" rtlCol="0" anchor="ctr"/>
          <a:lstStyle/>
          <a:p>
            <a:pPr indent="0" marL="0">
              <a:buNone/>
            </a:pPr>
            <a:r>
              <a:rPr lang="en-US" sz="2000" dirty="0">
                <a:solidFill>
                  <a:srgbClr val="1A1814"/>
                </a:solidFill>
                <a:latin typeface="Georgia" pitchFamily="34" charset="0"/>
                <a:ea typeface="Georgia" pitchFamily="34" charset="-122"/>
                <a:cs typeface="Georgia" pitchFamily="34" charset="-120"/>
              </a:rPr>
              <a:t>01   Grup chat</a:t>
            </a:r>
            <a:endParaRPr lang="en-US" sz="2000" dirty="0"/>
          </a:p>
        </p:txBody>
      </p:sp>
      <p:sp>
        <p:nvSpPr>
          <p:cNvPr id="11" name="Text 9"/>
          <p:cNvSpPr/>
          <p:nvPr/>
        </p:nvSpPr>
        <p:spPr>
          <a:xfrm>
            <a:off x="640080" y="1901952"/>
            <a:ext cx="5120640" cy="292608"/>
          </a:xfrm>
          <a:prstGeom prst="rect">
            <a:avLst/>
          </a:prstGeom>
          <a:noFill/>
          <a:ln/>
        </p:spPr>
        <p:txBody>
          <a:bodyPr wrap="square" lIns="0" tIns="0" rIns="0" bIns="0" rtlCol="0" anchor="ctr"/>
          <a:lstStyle/>
          <a:p>
            <a:pPr indent="0" marL="0">
              <a:buNone/>
            </a:pPr>
            <a:r>
              <a:rPr lang="en-US" sz="1400" b="1" dirty="0">
                <a:solidFill>
                  <a:srgbClr val="9A4518"/>
                </a:solidFill>
                <a:latin typeface="Calibri" pitchFamily="34" charset="0"/>
                <a:ea typeface="Calibri" pitchFamily="34" charset="-122"/>
                <a:cs typeface="Calibri" pitchFamily="34" charset="-120"/>
              </a:rPr>
              <a:t>Foto tenggelam besoknya.</a:t>
            </a:r>
            <a:endParaRPr lang="en-US" sz="1400" dirty="0"/>
          </a:p>
        </p:txBody>
      </p:sp>
      <p:sp>
        <p:nvSpPr>
          <p:cNvPr id="12" name="Text 10"/>
          <p:cNvSpPr/>
          <p:nvPr/>
        </p:nvSpPr>
        <p:spPr>
          <a:xfrm>
            <a:off x="640080" y="2286000"/>
            <a:ext cx="5120640" cy="1051560"/>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Harga di caption sering beda dengan harga yang diucap pengelola. Calon penyewa harus bertanya ulang.</a:t>
            </a:r>
            <a:endParaRPr lang="en-US" sz="1500" dirty="0"/>
          </a:p>
        </p:txBody>
      </p:sp>
      <p:sp>
        <p:nvSpPr>
          <p:cNvPr id="13" name="Shape 11"/>
          <p:cNvSpPr/>
          <p:nvPr/>
        </p:nvSpPr>
        <p:spPr>
          <a:xfrm>
            <a:off x="6236208" y="1280160"/>
            <a:ext cx="5623560" cy="2331720"/>
          </a:xfrm>
          <a:prstGeom prst="roundRect">
            <a:avLst>
              <a:gd name="adj" fmla="val 3137"/>
            </a:avLst>
          </a:prstGeom>
          <a:solidFill>
            <a:srgbClr val="FBF8F3"/>
          </a:solidFill>
          <a:ln w="12700">
            <a:solidFill>
              <a:srgbClr val="D9CFBF"/>
            </a:solidFill>
            <a:prstDash val="solid"/>
          </a:ln>
        </p:spPr>
      </p:sp>
      <p:sp>
        <p:nvSpPr>
          <p:cNvPr id="14" name="Text 12"/>
          <p:cNvSpPr/>
          <p:nvPr/>
        </p:nvSpPr>
        <p:spPr>
          <a:xfrm>
            <a:off x="6492240" y="1481328"/>
            <a:ext cx="5120640" cy="329184"/>
          </a:xfrm>
          <a:prstGeom prst="rect">
            <a:avLst/>
          </a:prstGeom>
          <a:noFill/>
          <a:ln/>
        </p:spPr>
        <p:txBody>
          <a:bodyPr wrap="square" lIns="0" tIns="0" rIns="0" bIns="0" rtlCol="0" anchor="ctr"/>
          <a:lstStyle/>
          <a:p>
            <a:pPr indent="0" marL="0">
              <a:buNone/>
            </a:pPr>
            <a:r>
              <a:rPr lang="en-US" sz="2000" dirty="0">
                <a:solidFill>
                  <a:srgbClr val="1A1814"/>
                </a:solidFill>
                <a:latin typeface="Georgia" pitchFamily="34" charset="0"/>
                <a:ea typeface="Georgia" pitchFamily="34" charset="-122"/>
                <a:cs typeface="Georgia" pitchFamily="34" charset="-120"/>
              </a:rPr>
              <a:t>02   Marketplace umum</a:t>
            </a:r>
            <a:endParaRPr lang="en-US" sz="2000" dirty="0"/>
          </a:p>
        </p:txBody>
      </p:sp>
      <p:sp>
        <p:nvSpPr>
          <p:cNvPr id="15" name="Text 13"/>
          <p:cNvSpPr/>
          <p:nvPr/>
        </p:nvSpPr>
        <p:spPr>
          <a:xfrm>
            <a:off x="6492240" y="1901952"/>
            <a:ext cx="5120640" cy="292608"/>
          </a:xfrm>
          <a:prstGeom prst="rect">
            <a:avLst/>
          </a:prstGeom>
          <a:noFill/>
          <a:ln/>
        </p:spPr>
        <p:txBody>
          <a:bodyPr wrap="square" lIns="0" tIns="0" rIns="0" bIns="0" rtlCol="0" anchor="ctr"/>
          <a:lstStyle/>
          <a:p>
            <a:pPr indent="0" marL="0">
              <a:buNone/>
            </a:pPr>
            <a:r>
              <a:rPr lang="en-US" sz="1400" b="1" dirty="0">
                <a:solidFill>
                  <a:srgbClr val="9A4518"/>
                </a:solidFill>
                <a:latin typeface="Calibri" pitchFamily="34" charset="0"/>
                <a:ea typeface="Calibri" pitchFamily="34" charset="-122"/>
                <a:cs typeface="Calibri" pitchFamily="34" charset="-120"/>
              </a:rPr>
              <a:t>Iklan, bukan operasional.</a:t>
            </a:r>
            <a:endParaRPr lang="en-US" sz="1400" dirty="0"/>
          </a:p>
        </p:txBody>
      </p:sp>
      <p:sp>
        <p:nvSpPr>
          <p:cNvPr id="16" name="Text 14"/>
          <p:cNvSpPr/>
          <p:nvPr/>
        </p:nvSpPr>
        <p:spPr>
          <a:xfrm>
            <a:off x="6492240" y="2286000"/>
            <a:ext cx="5120640" cy="1051560"/>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Unit tercampur dengan rumah dijual. Status kamar hari ini tidak ada. Begitu tersewa, iklannya tetap nongol.</a:t>
            </a:r>
            <a:endParaRPr lang="en-US" sz="1500" dirty="0"/>
          </a:p>
        </p:txBody>
      </p:sp>
      <p:sp>
        <p:nvSpPr>
          <p:cNvPr id="17" name="Shape 15"/>
          <p:cNvSpPr/>
          <p:nvPr/>
        </p:nvSpPr>
        <p:spPr>
          <a:xfrm>
            <a:off x="384048" y="3794760"/>
            <a:ext cx="5623560" cy="2331720"/>
          </a:xfrm>
          <a:prstGeom prst="roundRect">
            <a:avLst>
              <a:gd name="adj" fmla="val 3137"/>
            </a:avLst>
          </a:prstGeom>
          <a:solidFill>
            <a:srgbClr val="FBF8F3"/>
          </a:solidFill>
          <a:ln w="12700">
            <a:solidFill>
              <a:srgbClr val="D9CFBF"/>
            </a:solidFill>
            <a:prstDash val="solid"/>
          </a:ln>
        </p:spPr>
      </p:sp>
      <p:sp>
        <p:nvSpPr>
          <p:cNvPr id="18" name="Text 16"/>
          <p:cNvSpPr/>
          <p:nvPr/>
        </p:nvSpPr>
        <p:spPr>
          <a:xfrm>
            <a:off x="640080" y="3995928"/>
            <a:ext cx="5120640" cy="329184"/>
          </a:xfrm>
          <a:prstGeom prst="rect">
            <a:avLst/>
          </a:prstGeom>
          <a:noFill/>
          <a:ln/>
        </p:spPr>
        <p:txBody>
          <a:bodyPr wrap="square" lIns="0" tIns="0" rIns="0" bIns="0" rtlCol="0" anchor="ctr"/>
          <a:lstStyle/>
          <a:p>
            <a:pPr indent="0" marL="0">
              <a:buNone/>
            </a:pPr>
            <a:r>
              <a:rPr lang="en-US" sz="2000" dirty="0">
                <a:solidFill>
                  <a:srgbClr val="1A1814"/>
                </a:solidFill>
                <a:latin typeface="Georgia" pitchFamily="34" charset="0"/>
                <a:ea typeface="Georgia" pitchFamily="34" charset="-122"/>
                <a:cs typeface="Georgia" pitchFamily="34" charset="-120"/>
              </a:rPr>
              <a:t>03   Calo</a:t>
            </a:r>
            <a:endParaRPr lang="en-US" sz="2000" dirty="0"/>
          </a:p>
        </p:txBody>
      </p:sp>
      <p:sp>
        <p:nvSpPr>
          <p:cNvPr id="19" name="Text 17"/>
          <p:cNvSpPr/>
          <p:nvPr/>
        </p:nvSpPr>
        <p:spPr>
          <a:xfrm>
            <a:off x="640080" y="4416552"/>
            <a:ext cx="5120640" cy="292608"/>
          </a:xfrm>
          <a:prstGeom prst="rect">
            <a:avLst/>
          </a:prstGeom>
          <a:noFill/>
          <a:ln/>
        </p:spPr>
        <p:txBody>
          <a:bodyPr wrap="square" lIns="0" tIns="0" rIns="0" bIns="0" rtlCol="0" anchor="ctr"/>
          <a:lstStyle/>
          <a:p>
            <a:pPr indent="0" marL="0">
              <a:buNone/>
            </a:pPr>
            <a:r>
              <a:rPr lang="en-US" sz="1400" b="1" dirty="0">
                <a:solidFill>
                  <a:srgbClr val="9A4518"/>
                </a:solidFill>
                <a:latin typeface="Calibri" pitchFamily="34" charset="0"/>
                <a:ea typeface="Calibri" pitchFamily="34" charset="-122"/>
                <a:cs typeface="Calibri" pitchFamily="34" charset="-120"/>
              </a:rPr>
              <a:t>Satu bulan sewa per orang.</a:t>
            </a:r>
            <a:endParaRPr lang="en-US" sz="1400" dirty="0"/>
          </a:p>
        </p:txBody>
      </p:sp>
      <p:sp>
        <p:nvSpPr>
          <p:cNvPr id="20" name="Text 18"/>
          <p:cNvSpPr/>
          <p:nvPr/>
        </p:nvSpPr>
        <p:spPr>
          <a:xfrm>
            <a:off x="640080" y="4800600"/>
            <a:ext cx="5120640" cy="1051560"/>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Enam penempatan setahun pada kamar Rp1,2 juta berarti sekitar Rp7,2 juta yang tidak masuk ke pemilik.</a:t>
            </a:r>
            <a:endParaRPr lang="en-US" sz="1500" dirty="0"/>
          </a:p>
        </p:txBody>
      </p:sp>
      <p:sp>
        <p:nvSpPr>
          <p:cNvPr id="21" name="Shape 19"/>
          <p:cNvSpPr/>
          <p:nvPr/>
        </p:nvSpPr>
        <p:spPr>
          <a:xfrm>
            <a:off x="6236208" y="3794760"/>
            <a:ext cx="5623560" cy="2331720"/>
          </a:xfrm>
          <a:prstGeom prst="roundRect">
            <a:avLst>
              <a:gd name="adj" fmla="val 3137"/>
            </a:avLst>
          </a:prstGeom>
          <a:solidFill>
            <a:srgbClr val="FBF8F3"/>
          </a:solidFill>
          <a:ln w="12700">
            <a:solidFill>
              <a:srgbClr val="D9CFBF"/>
            </a:solidFill>
            <a:prstDash val="solid"/>
          </a:ln>
        </p:spPr>
      </p:sp>
      <p:sp>
        <p:nvSpPr>
          <p:cNvPr id="22" name="Text 20"/>
          <p:cNvSpPr/>
          <p:nvPr/>
        </p:nvSpPr>
        <p:spPr>
          <a:xfrm>
            <a:off x="6492240" y="3995928"/>
            <a:ext cx="5120640" cy="329184"/>
          </a:xfrm>
          <a:prstGeom prst="rect">
            <a:avLst/>
          </a:prstGeom>
          <a:noFill/>
          <a:ln/>
        </p:spPr>
        <p:txBody>
          <a:bodyPr wrap="square" lIns="0" tIns="0" rIns="0" bIns="0" rtlCol="0" anchor="ctr"/>
          <a:lstStyle/>
          <a:p>
            <a:pPr indent="0" marL="0">
              <a:buNone/>
            </a:pPr>
            <a:r>
              <a:rPr lang="en-US" sz="2000" dirty="0">
                <a:solidFill>
                  <a:srgbClr val="1A1814"/>
                </a:solidFill>
                <a:latin typeface="Georgia" pitchFamily="34" charset="0"/>
                <a:ea typeface="Georgia" pitchFamily="34" charset="-122"/>
                <a:cs typeface="Georgia" pitchFamily="34" charset="-120"/>
              </a:rPr>
              <a:t>04   Catatan di kepala</a:t>
            </a:r>
            <a:endParaRPr lang="en-US" sz="2000" dirty="0"/>
          </a:p>
        </p:txBody>
      </p:sp>
      <p:sp>
        <p:nvSpPr>
          <p:cNvPr id="23" name="Text 21"/>
          <p:cNvSpPr/>
          <p:nvPr/>
        </p:nvSpPr>
        <p:spPr>
          <a:xfrm>
            <a:off x="6492240" y="4416552"/>
            <a:ext cx="5120640" cy="292608"/>
          </a:xfrm>
          <a:prstGeom prst="rect">
            <a:avLst/>
          </a:prstGeom>
          <a:noFill/>
          <a:ln/>
        </p:spPr>
        <p:txBody>
          <a:bodyPr wrap="square" lIns="0" tIns="0" rIns="0" bIns="0" rtlCol="0" anchor="ctr"/>
          <a:lstStyle/>
          <a:p>
            <a:pPr indent="0" marL="0">
              <a:buNone/>
            </a:pPr>
            <a:r>
              <a:rPr lang="en-US" sz="1400" b="1" dirty="0">
                <a:solidFill>
                  <a:srgbClr val="9A4518"/>
                </a:solidFill>
                <a:latin typeface="Calibri" pitchFamily="34" charset="0"/>
                <a:ea typeface="Calibri" pitchFamily="34" charset="-122"/>
                <a:cs typeface="Calibri" pitchFamily="34" charset="-120"/>
              </a:rPr>
              <a:t>Pengganti tidak bisa nerusin.</a:t>
            </a:r>
            <a:endParaRPr lang="en-US" sz="1400" dirty="0"/>
          </a:p>
        </p:txBody>
      </p:sp>
      <p:sp>
        <p:nvSpPr>
          <p:cNvPr id="24" name="Text 22"/>
          <p:cNvSpPr/>
          <p:nvPr/>
        </p:nvSpPr>
        <p:spPr>
          <a:xfrm>
            <a:off x="6492240" y="4800600"/>
            <a:ext cx="5120640" cy="1051560"/>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Kamar mana yang booking, mana yang sudah bayar, ada di ingatan satu orang. Cuti sehari, jawabannya macet.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03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Satu situs. Dua sisi. Tidak lewat calo dulu.</a:t>
            </a:r>
            <a:endParaRPr lang="en-US" sz="2800" dirty="0"/>
          </a:p>
        </p:txBody>
      </p:sp>
      <p:sp>
        <p:nvSpPr>
          <p:cNvPr id="8" name="Text 6"/>
          <p:cNvSpPr/>
          <p:nvPr/>
        </p:nvSpPr>
        <p:spPr>
          <a:xfrm>
            <a:off x="384048" y="804672"/>
            <a:ext cx="11155680" cy="329184"/>
          </a:xfrm>
          <a:prstGeom prst="rect">
            <a:avLst/>
          </a:prstGeom>
          <a:noFill/>
          <a:ln/>
        </p:spPr>
        <p:txBody>
          <a:bodyPr wrap="square" lIns="0" tIns="0" rIns="0" bIns="0" rtlCol="0" anchor="ctr"/>
          <a:lstStyle/>
          <a:p>
            <a:pPr indent="0" marL="0">
              <a:buNone/>
            </a:pPr>
            <a:r>
              <a:rPr lang="en-US" sz="1500" dirty="0">
                <a:solidFill>
                  <a:srgbClr val="6F675C"/>
                </a:solidFill>
                <a:latin typeface="Calibri" pitchFamily="34" charset="0"/>
                <a:ea typeface="Calibri" pitchFamily="34" charset="-122"/>
                <a:cs typeface="Calibri" pitchFamily="34" charset="-120"/>
              </a:rPr>
              <a:t>HUNI diposisikan sebagai website milik pengelola, bukan aplikasi nasional yang merebut merek kos Anda.</a:t>
            </a:r>
            <a:endParaRPr lang="en-US" sz="1500" dirty="0"/>
          </a:p>
        </p:txBody>
      </p:sp>
      <p:sp>
        <p:nvSpPr>
          <p:cNvPr id="9" name="Shape 7"/>
          <p:cNvSpPr/>
          <p:nvPr/>
        </p:nvSpPr>
        <p:spPr>
          <a:xfrm>
            <a:off x="384048" y="1371600"/>
            <a:ext cx="2761488" cy="2880360"/>
          </a:xfrm>
          <a:prstGeom prst="roundRect">
            <a:avLst>
              <a:gd name="adj" fmla="val 2649"/>
            </a:avLst>
          </a:prstGeom>
          <a:solidFill>
            <a:srgbClr val="FBF8F3"/>
          </a:solidFill>
          <a:ln w="12700">
            <a:solidFill>
              <a:srgbClr val="D9CFBF"/>
            </a:solidFill>
            <a:prstDash val="solid"/>
          </a:ln>
        </p:spPr>
      </p:sp>
      <p:sp>
        <p:nvSpPr>
          <p:cNvPr id="10" name="Text 8"/>
          <p:cNvSpPr/>
          <p:nvPr/>
        </p:nvSpPr>
        <p:spPr>
          <a:xfrm>
            <a:off x="566928" y="1554480"/>
            <a:ext cx="2377440" cy="365760"/>
          </a:xfrm>
          <a:prstGeom prst="rect">
            <a:avLst/>
          </a:prstGeom>
          <a:noFill/>
          <a:ln/>
        </p:spPr>
        <p:txBody>
          <a:bodyPr wrap="square" lIns="0" tIns="0" rIns="0" bIns="0" rtlCol="0" anchor="ctr"/>
          <a:lstStyle/>
          <a:p>
            <a:pPr indent="0" marL="0">
              <a:buNone/>
            </a:pPr>
            <a:r>
              <a:rPr lang="en-US" sz="2200" dirty="0">
                <a:solidFill>
                  <a:srgbClr val="C4622D"/>
                </a:solidFill>
                <a:latin typeface="Georgia" pitchFamily="34" charset="0"/>
                <a:ea typeface="Georgia" pitchFamily="34" charset="-122"/>
                <a:cs typeface="Georgia" pitchFamily="34" charset="-120"/>
              </a:rPr>
              <a:t>01</a:t>
            </a:r>
            <a:endParaRPr lang="en-US" sz="2200" dirty="0"/>
          </a:p>
        </p:txBody>
      </p:sp>
      <p:sp>
        <p:nvSpPr>
          <p:cNvPr id="11" name="Text 9"/>
          <p:cNvSpPr/>
          <p:nvPr/>
        </p:nvSpPr>
        <p:spPr>
          <a:xfrm>
            <a:off x="566928" y="2011680"/>
            <a:ext cx="2377440" cy="384048"/>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Pasang</a:t>
            </a:r>
            <a:endParaRPr lang="en-US" sz="2200" dirty="0"/>
          </a:p>
        </p:txBody>
      </p:sp>
      <p:sp>
        <p:nvSpPr>
          <p:cNvPr id="12" name="Text 10"/>
          <p:cNvSpPr/>
          <p:nvPr/>
        </p:nvSpPr>
        <p:spPr>
          <a:xfrm>
            <a:off x="566928" y="2514600"/>
            <a:ext cx="2377440" cy="1463040"/>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Foto, harga, fasilitas, dan aturan ditulis sekali. Tidak hilang di riwayat chat.</a:t>
            </a:r>
            <a:endParaRPr lang="en-US" sz="1400" dirty="0"/>
          </a:p>
        </p:txBody>
      </p:sp>
      <p:sp>
        <p:nvSpPr>
          <p:cNvPr id="13" name="Shape 11"/>
          <p:cNvSpPr/>
          <p:nvPr/>
        </p:nvSpPr>
        <p:spPr>
          <a:xfrm>
            <a:off x="3310128" y="1371600"/>
            <a:ext cx="2761488" cy="2880360"/>
          </a:xfrm>
          <a:prstGeom prst="roundRect">
            <a:avLst>
              <a:gd name="adj" fmla="val 2649"/>
            </a:avLst>
          </a:prstGeom>
          <a:solidFill>
            <a:srgbClr val="FBF8F3"/>
          </a:solidFill>
          <a:ln w="12700">
            <a:solidFill>
              <a:srgbClr val="D9CFBF"/>
            </a:solidFill>
            <a:prstDash val="solid"/>
          </a:ln>
        </p:spPr>
      </p:sp>
      <p:sp>
        <p:nvSpPr>
          <p:cNvPr id="14" name="Text 12"/>
          <p:cNvSpPr/>
          <p:nvPr/>
        </p:nvSpPr>
        <p:spPr>
          <a:xfrm>
            <a:off x="3493008" y="1554480"/>
            <a:ext cx="2377440" cy="365760"/>
          </a:xfrm>
          <a:prstGeom prst="rect">
            <a:avLst/>
          </a:prstGeom>
          <a:noFill/>
          <a:ln/>
        </p:spPr>
        <p:txBody>
          <a:bodyPr wrap="square" lIns="0" tIns="0" rIns="0" bIns="0" rtlCol="0" anchor="ctr"/>
          <a:lstStyle/>
          <a:p>
            <a:pPr indent="0" marL="0">
              <a:buNone/>
            </a:pPr>
            <a:r>
              <a:rPr lang="en-US" sz="2200" dirty="0">
                <a:solidFill>
                  <a:srgbClr val="C4622D"/>
                </a:solidFill>
                <a:latin typeface="Georgia" pitchFamily="34" charset="0"/>
                <a:ea typeface="Georgia" pitchFamily="34" charset="-122"/>
                <a:cs typeface="Georgia" pitchFamily="34" charset="-120"/>
              </a:rPr>
              <a:t>02</a:t>
            </a:r>
            <a:endParaRPr lang="en-US" sz="2200" dirty="0"/>
          </a:p>
        </p:txBody>
      </p:sp>
      <p:sp>
        <p:nvSpPr>
          <p:cNvPr id="15" name="Text 13"/>
          <p:cNvSpPr/>
          <p:nvPr/>
        </p:nvSpPr>
        <p:spPr>
          <a:xfrm>
            <a:off x="3493008" y="2011680"/>
            <a:ext cx="2377440" cy="384048"/>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Saring</a:t>
            </a:r>
            <a:endParaRPr lang="en-US" sz="2200" dirty="0"/>
          </a:p>
        </p:txBody>
      </p:sp>
      <p:sp>
        <p:nvSpPr>
          <p:cNvPr id="16" name="Text 14"/>
          <p:cNvSpPr/>
          <p:nvPr/>
        </p:nvSpPr>
        <p:spPr>
          <a:xfrm>
            <a:off x="3493008" y="2514600"/>
            <a:ext cx="2377440" cy="1463040"/>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Calon penyewa pilih kota, jenis, dan batas harga sebelum bertanya.</a:t>
            </a:r>
            <a:endParaRPr lang="en-US" sz="1400" dirty="0"/>
          </a:p>
        </p:txBody>
      </p:sp>
      <p:sp>
        <p:nvSpPr>
          <p:cNvPr id="17" name="Shape 15"/>
          <p:cNvSpPr/>
          <p:nvPr/>
        </p:nvSpPr>
        <p:spPr>
          <a:xfrm>
            <a:off x="6236208" y="1371600"/>
            <a:ext cx="2761488" cy="2880360"/>
          </a:xfrm>
          <a:prstGeom prst="roundRect">
            <a:avLst>
              <a:gd name="adj" fmla="val 2649"/>
            </a:avLst>
          </a:prstGeom>
          <a:solidFill>
            <a:srgbClr val="FBF8F3"/>
          </a:solidFill>
          <a:ln w="12700">
            <a:solidFill>
              <a:srgbClr val="D9CFBF"/>
            </a:solidFill>
            <a:prstDash val="solid"/>
          </a:ln>
        </p:spPr>
      </p:sp>
      <p:sp>
        <p:nvSpPr>
          <p:cNvPr id="18" name="Text 16"/>
          <p:cNvSpPr/>
          <p:nvPr/>
        </p:nvSpPr>
        <p:spPr>
          <a:xfrm>
            <a:off x="6419088" y="1554480"/>
            <a:ext cx="2377440" cy="365760"/>
          </a:xfrm>
          <a:prstGeom prst="rect">
            <a:avLst/>
          </a:prstGeom>
          <a:noFill/>
          <a:ln/>
        </p:spPr>
        <p:txBody>
          <a:bodyPr wrap="square" lIns="0" tIns="0" rIns="0" bIns="0" rtlCol="0" anchor="ctr"/>
          <a:lstStyle/>
          <a:p>
            <a:pPr indent="0" marL="0">
              <a:buNone/>
            </a:pPr>
            <a:r>
              <a:rPr lang="en-US" sz="2200" dirty="0">
                <a:solidFill>
                  <a:srgbClr val="C4622D"/>
                </a:solidFill>
                <a:latin typeface="Georgia" pitchFamily="34" charset="0"/>
                <a:ea typeface="Georgia" pitchFamily="34" charset="-122"/>
                <a:cs typeface="Georgia" pitchFamily="34" charset="-120"/>
              </a:rPr>
              <a:t>03</a:t>
            </a:r>
            <a:endParaRPr lang="en-US" sz="2200" dirty="0"/>
          </a:p>
        </p:txBody>
      </p:sp>
      <p:sp>
        <p:nvSpPr>
          <p:cNvPr id="19" name="Text 17"/>
          <p:cNvSpPr/>
          <p:nvPr/>
        </p:nvSpPr>
        <p:spPr>
          <a:xfrm>
            <a:off x="6419088" y="2011680"/>
            <a:ext cx="2377440" cy="384048"/>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Ajukan</a:t>
            </a:r>
            <a:endParaRPr lang="en-US" sz="2200" dirty="0"/>
          </a:p>
        </p:txBody>
      </p:sp>
      <p:sp>
        <p:nvSpPr>
          <p:cNvPr id="20" name="Text 18"/>
          <p:cNvSpPr/>
          <p:nvPr/>
        </p:nvSpPr>
        <p:spPr>
          <a:xfrm>
            <a:off x="6419088" y="2514600"/>
            <a:ext cx="2377440" cy="1463040"/>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Nama, nomor, tanggal masuk, dan catatan masuk ke satu daftar.</a:t>
            </a:r>
            <a:endParaRPr lang="en-US" sz="1400" dirty="0"/>
          </a:p>
        </p:txBody>
      </p:sp>
      <p:sp>
        <p:nvSpPr>
          <p:cNvPr id="21" name="Shape 19"/>
          <p:cNvSpPr/>
          <p:nvPr/>
        </p:nvSpPr>
        <p:spPr>
          <a:xfrm>
            <a:off x="9162288" y="1371600"/>
            <a:ext cx="2761488" cy="2880360"/>
          </a:xfrm>
          <a:prstGeom prst="roundRect">
            <a:avLst>
              <a:gd name="adj" fmla="val 2649"/>
            </a:avLst>
          </a:prstGeom>
          <a:solidFill>
            <a:srgbClr val="FBF8F3"/>
          </a:solidFill>
          <a:ln w="12700">
            <a:solidFill>
              <a:srgbClr val="D9CFBF"/>
            </a:solidFill>
            <a:prstDash val="solid"/>
          </a:ln>
        </p:spPr>
      </p:sp>
      <p:sp>
        <p:nvSpPr>
          <p:cNvPr id="22" name="Text 20"/>
          <p:cNvSpPr/>
          <p:nvPr/>
        </p:nvSpPr>
        <p:spPr>
          <a:xfrm>
            <a:off x="9345168" y="1554480"/>
            <a:ext cx="2377440" cy="365760"/>
          </a:xfrm>
          <a:prstGeom prst="rect">
            <a:avLst/>
          </a:prstGeom>
          <a:noFill/>
          <a:ln/>
        </p:spPr>
        <p:txBody>
          <a:bodyPr wrap="square" lIns="0" tIns="0" rIns="0" bIns="0" rtlCol="0" anchor="ctr"/>
          <a:lstStyle/>
          <a:p>
            <a:pPr indent="0" marL="0">
              <a:buNone/>
            </a:pPr>
            <a:r>
              <a:rPr lang="en-US" sz="2200" dirty="0">
                <a:solidFill>
                  <a:srgbClr val="C4622D"/>
                </a:solidFill>
                <a:latin typeface="Georgia" pitchFamily="34" charset="0"/>
                <a:ea typeface="Georgia" pitchFamily="34" charset="-122"/>
                <a:cs typeface="Georgia" pitchFamily="34" charset="-120"/>
              </a:rPr>
              <a:t>04</a:t>
            </a:r>
            <a:endParaRPr lang="en-US" sz="2200" dirty="0"/>
          </a:p>
        </p:txBody>
      </p:sp>
      <p:sp>
        <p:nvSpPr>
          <p:cNvPr id="23" name="Text 21"/>
          <p:cNvSpPr/>
          <p:nvPr/>
        </p:nvSpPr>
        <p:spPr>
          <a:xfrm>
            <a:off x="9345168" y="2011680"/>
            <a:ext cx="2377440" cy="384048"/>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Catat</a:t>
            </a:r>
            <a:endParaRPr lang="en-US" sz="2200" dirty="0"/>
          </a:p>
        </p:txBody>
      </p:sp>
      <p:sp>
        <p:nvSpPr>
          <p:cNvPr id="24" name="Text 22"/>
          <p:cNvSpPr/>
          <p:nvPr/>
        </p:nvSpPr>
        <p:spPr>
          <a:xfrm>
            <a:off x="9345168" y="2514600"/>
            <a:ext cx="2377440" cy="1463040"/>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Kamar ditandai isi, kosong, atau booking. Pengganti bisa membacanya.</a:t>
            </a:r>
            <a:endParaRPr lang="en-US" sz="1400" dirty="0"/>
          </a:p>
        </p:txBody>
      </p:sp>
      <p:sp>
        <p:nvSpPr>
          <p:cNvPr id="25" name="Shape 23"/>
          <p:cNvSpPr/>
          <p:nvPr/>
        </p:nvSpPr>
        <p:spPr>
          <a:xfrm>
            <a:off x="384048" y="4434840"/>
            <a:ext cx="11411712" cy="1920240"/>
          </a:xfrm>
          <a:prstGeom prst="roundRect">
            <a:avLst>
              <a:gd name="adj" fmla="val 3810"/>
            </a:avLst>
          </a:prstGeom>
          <a:solidFill>
            <a:srgbClr val="2F5D50"/>
          </a:solidFill>
          <a:ln w="12700">
            <a:solidFill>
              <a:srgbClr val="2F5D50"/>
            </a:solidFill>
            <a:prstDash val="solid"/>
          </a:ln>
        </p:spPr>
      </p:sp>
      <p:sp>
        <p:nvSpPr>
          <p:cNvPr id="26" name="Text 24"/>
          <p:cNvSpPr/>
          <p:nvPr/>
        </p:nvSpPr>
        <p:spPr>
          <a:xfrm>
            <a:off x="640080" y="4645152"/>
            <a:ext cx="10789920" cy="365760"/>
          </a:xfrm>
          <a:prstGeom prst="rect">
            <a:avLst/>
          </a:prstGeom>
          <a:noFill/>
          <a:ln/>
        </p:spPr>
        <p:txBody>
          <a:bodyPr wrap="square" lIns="0" tIns="0" rIns="0" bIns="0" rtlCol="0" anchor="ctr"/>
          <a:lstStyle/>
          <a:p>
            <a:pPr indent="0" marL="0">
              <a:buNone/>
            </a:pPr>
            <a:r>
              <a:rPr lang="en-US" sz="2000" dirty="0">
                <a:solidFill>
                  <a:srgbClr val="F4EFE6"/>
                </a:solidFill>
                <a:latin typeface="Georgia" pitchFamily="34" charset="0"/>
                <a:ea typeface="Georgia" pitchFamily="34" charset="-122"/>
                <a:cs typeface="Georgia" pitchFamily="34" charset="-120"/>
              </a:rPr>
              <a:t>Kos dan kontrakan di halaman yang sama</a:t>
            </a:r>
            <a:endParaRPr lang="en-US" sz="2000" dirty="0"/>
          </a:p>
        </p:txBody>
      </p:sp>
      <p:sp>
        <p:nvSpPr>
          <p:cNvPr id="27" name="Text 25"/>
          <p:cNvSpPr/>
          <p:nvPr/>
        </p:nvSpPr>
        <p:spPr>
          <a:xfrm>
            <a:off x="640080" y="5074920"/>
            <a:ext cx="10789920" cy="1005840"/>
          </a:xfrm>
          <a:prstGeom prst="rect">
            <a:avLst/>
          </a:prstGeom>
          <a:noFill/>
          <a:ln/>
        </p:spPr>
        <p:txBody>
          <a:bodyPr wrap="square" lIns="0" tIns="0" rIns="0" bIns="0" rtlCol="0" anchor="ctr"/>
          <a:lstStyle/>
          <a:p>
            <a:pPr indent="0" marL="0">
              <a:buNone/>
            </a:pPr>
            <a:r>
              <a:rPr lang="en-US" sz="1500" dirty="0">
                <a:solidFill>
                  <a:srgbClr val="E7DCC8"/>
                </a:solidFill>
                <a:latin typeface="Calibri" pitchFamily="34" charset="0"/>
                <a:ea typeface="Calibri" pitchFamily="34" charset="-122"/>
                <a:cs typeface="Calibri" pitchFamily="34" charset="-120"/>
              </a:rPr>
              <a:t>Kos disewa per kamar, biasanya bulanan. Kontrakan disewa per rumah, biasanya minimal setahun. Keduanya butuh foto yang jujur, harga yang satu, dan status kosong yang tidak bohong. Demo memakai contoh di Cianjur, Bandung, dan Depok.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04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Apa yang dilihat penyewa, apa yang dipegang pemilik.</a:t>
            </a:r>
            <a:endParaRPr lang="en-US" sz="2800" dirty="0"/>
          </a:p>
        </p:txBody>
      </p:sp>
      <p:sp>
        <p:nvSpPr>
          <p:cNvPr id="8" name="Shape 6"/>
          <p:cNvSpPr/>
          <p:nvPr/>
        </p:nvSpPr>
        <p:spPr>
          <a:xfrm>
            <a:off x="384048" y="1051560"/>
            <a:ext cx="5623560" cy="5257800"/>
          </a:xfrm>
          <a:prstGeom prst="roundRect">
            <a:avLst>
              <a:gd name="adj" fmla="val 1391"/>
            </a:avLst>
          </a:prstGeom>
          <a:solidFill>
            <a:srgbClr val="FBF8F3"/>
          </a:solidFill>
          <a:ln w="12700">
            <a:solidFill>
              <a:srgbClr val="D9CFBF"/>
            </a:solidFill>
            <a:prstDash val="solid"/>
          </a:ln>
        </p:spPr>
      </p:sp>
      <p:sp>
        <p:nvSpPr>
          <p:cNvPr id="9" name="Shape 7"/>
          <p:cNvSpPr/>
          <p:nvPr/>
        </p:nvSpPr>
        <p:spPr>
          <a:xfrm>
            <a:off x="6190488" y="1051560"/>
            <a:ext cx="5623560" cy="5257800"/>
          </a:xfrm>
          <a:prstGeom prst="roundRect">
            <a:avLst>
              <a:gd name="adj" fmla="val 1391"/>
            </a:avLst>
          </a:prstGeom>
          <a:solidFill>
            <a:srgbClr val="1A1814"/>
          </a:solidFill>
          <a:ln w="12700">
            <a:solidFill>
              <a:srgbClr val="1A1814"/>
            </a:solidFill>
            <a:prstDash val="solid"/>
          </a:ln>
        </p:spPr>
      </p:sp>
      <p:sp>
        <p:nvSpPr>
          <p:cNvPr id="10" name="Text 8"/>
          <p:cNvSpPr/>
          <p:nvPr/>
        </p:nvSpPr>
        <p:spPr>
          <a:xfrm>
            <a:off x="640080" y="1280160"/>
            <a:ext cx="5120640" cy="365760"/>
          </a:xfrm>
          <a:prstGeom prst="rect">
            <a:avLst/>
          </a:prstGeom>
          <a:noFill/>
          <a:ln/>
        </p:spPr>
        <p:txBody>
          <a:bodyPr wrap="square" lIns="0" tIns="0" rIns="0" bIns="0" rtlCol="0" anchor="ctr"/>
          <a:lstStyle/>
          <a:p>
            <a:pPr indent="0" marL="0">
              <a:buNone/>
            </a:pPr>
            <a:r>
              <a:rPr lang="en-US" sz="2400" dirty="0">
                <a:solidFill>
                  <a:srgbClr val="1A1814"/>
                </a:solidFill>
                <a:latin typeface="Georgia" pitchFamily="34" charset="0"/>
                <a:ea typeface="Georgia" pitchFamily="34" charset="-122"/>
                <a:cs typeface="Georgia" pitchFamily="34" charset="-120"/>
              </a:rPr>
              <a:t>Calon penghuni</a:t>
            </a:r>
            <a:endParaRPr lang="en-US" sz="2400" dirty="0"/>
          </a:p>
        </p:txBody>
      </p:sp>
      <p:sp>
        <p:nvSpPr>
          <p:cNvPr id="11" name="Text 9"/>
          <p:cNvSpPr/>
          <p:nvPr/>
        </p:nvSpPr>
        <p:spPr>
          <a:xfrm>
            <a:off x="640080" y="1920240"/>
            <a:ext cx="5029200" cy="59436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Beranda dengan cari nama dan kota</a:t>
            </a:r>
            <a:endParaRPr lang="en-US" sz="1600" dirty="0"/>
          </a:p>
        </p:txBody>
      </p:sp>
      <p:sp>
        <p:nvSpPr>
          <p:cNvPr id="12" name="Text 10"/>
          <p:cNvSpPr/>
          <p:nvPr/>
        </p:nvSpPr>
        <p:spPr>
          <a:xfrm>
            <a:off x="640080" y="2651760"/>
            <a:ext cx="5029200" cy="59436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Katalog: kos atau kontrakan, batas harga</a:t>
            </a:r>
            <a:endParaRPr lang="en-US" sz="1600" dirty="0"/>
          </a:p>
        </p:txBody>
      </p:sp>
      <p:sp>
        <p:nvSpPr>
          <p:cNvPr id="13" name="Text 11"/>
          <p:cNvSpPr/>
          <p:nvPr/>
        </p:nvSpPr>
        <p:spPr>
          <a:xfrm>
            <a:off x="640080" y="3383280"/>
            <a:ext cx="5029200" cy="59436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Halaman unit: galeri, ukuran, aturan, sekitar</a:t>
            </a:r>
            <a:endParaRPr lang="en-US" sz="1600" dirty="0"/>
          </a:p>
        </p:txBody>
      </p:sp>
      <p:sp>
        <p:nvSpPr>
          <p:cNvPr id="14" name="Text 12"/>
          <p:cNvSpPr/>
          <p:nvPr/>
        </p:nvSpPr>
        <p:spPr>
          <a:xfrm>
            <a:off x="640080" y="4114800"/>
            <a:ext cx="5029200" cy="59436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Simpan unit untuk dibandingkan</a:t>
            </a:r>
            <a:endParaRPr lang="en-US" sz="1600" dirty="0"/>
          </a:p>
        </p:txBody>
      </p:sp>
      <p:sp>
        <p:nvSpPr>
          <p:cNvPr id="15" name="Text 13"/>
          <p:cNvSpPr/>
          <p:nvPr/>
        </p:nvSpPr>
        <p:spPr>
          <a:xfrm>
            <a:off x="640080" y="4846320"/>
            <a:ext cx="5029200" cy="59436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Form ajukan sewa, dengan cek nomor HP</a:t>
            </a:r>
            <a:endParaRPr lang="en-US" sz="1600" dirty="0"/>
          </a:p>
        </p:txBody>
      </p:sp>
      <p:sp>
        <p:nvSpPr>
          <p:cNvPr id="16" name="Text 14"/>
          <p:cNvSpPr/>
          <p:nvPr/>
        </p:nvSpPr>
        <p:spPr>
          <a:xfrm>
            <a:off x="6446520" y="1280160"/>
            <a:ext cx="5120640" cy="365760"/>
          </a:xfrm>
          <a:prstGeom prst="rect">
            <a:avLst/>
          </a:prstGeom>
          <a:noFill/>
          <a:ln/>
        </p:spPr>
        <p:txBody>
          <a:bodyPr wrap="square" lIns="0" tIns="0" rIns="0" bIns="0" rtlCol="0" anchor="ctr"/>
          <a:lstStyle/>
          <a:p>
            <a:pPr indent="0" marL="0">
              <a:buNone/>
            </a:pPr>
            <a:r>
              <a:rPr lang="en-US" sz="2400" dirty="0">
                <a:solidFill>
                  <a:srgbClr val="F4EFE6"/>
                </a:solidFill>
                <a:latin typeface="Georgia" pitchFamily="34" charset="0"/>
                <a:ea typeface="Georgia" pitchFamily="34" charset="-122"/>
                <a:cs typeface="Georgia" pitchFamily="34" charset="-120"/>
              </a:rPr>
              <a:t>Pemilik &amp; pengelola</a:t>
            </a:r>
            <a:endParaRPr lang="en-US" sz="2400" dirty="0"/>
          </a:p>
        </p:txBody>
      </p:sp>
      <p:sp>
        <p:nvSpPr>
          <p:cNvPr id="17" name="Text 15"/>
          <p:cNvSpPr/>
          <p:nvPr/>
        </p:nvSpPr>
        <p:spPr>
          <a:xfrm>
            <a:off x="6446520" y="1920240"/>
            <a:ext cx="5029200" cy="594360"/>
          </a:xfrm>
          <a:prstGeom prst="rect">
            <a:avLst/>
          </a:prstGeom>
          <a:noFill/>
          <a:ln/>
        </p:spPr>
        <p:txBody>
          <a:bodyPr wrap="square" lIns="0" tIns="0" rIns="0" bIns="0" rtlCol="0" anchor="ctr"/>
          <a:lstStyle/>
          <a:p>
            <a:pPr indent="0" marL="0">
              <a:buNone/>
            </a:pPr>
            <a:r>
              <a:rPr lang="en-US" sz="1600" dirty="0">
                <a:solidFill>
                  <a:srgbClr val="E7DCC8"/>
                </a:solidFill>
                <a:latin typeface="Calibri" pitchFamily="34" charset="0"/>
                <a:ea typeface="Calibri" pitchFamily="34" charset="-122"/>
                <a:cs typeface="Calibri" pitchFamily="34" charset="-120"/>
              </a:rPr>
              <a:t>Papan kamar: ketuk untuk ganti status</a:t>
            </a:r>
            <a:endParaRPr lang="en-US" sz="1600" dirty="0"/>
          </a:p>
        </p:txBody>
      </p:sp>
      <p:sp>
        <p:nvSpPr>
          <p:cNvPr id="18" name="Text 16"/>
          <p:cNvSpPr/>
          <p:nvPr/>
        </p:nvSpPr>
        <p:spPr>
          <a:xfrm>
            <a:off x="6446520" y="2651760"/>
            <a:ext cx="5029200" cy="594360"/>
          </a:xfrm>
          <a:prstGeom prst="rect">
            <a:avLst/>
          </a:prstGeom>
          <a:noFill/>
          <a:ln/>
        </p:spPr>
        <p:txBody>
          <a:bodyPr wrap="square" lIns="0" tIns="0" rIns="0" bIns="0" rtlCol="0" anchor="ctr"/>
          <a:lstStyle/>
          <a:p>
            <a:pPr indent="0" marL="0">
              <a:buNone/>
            </a:pPr>
            <a:r>
              <a:rPr lang="en-US" sz="1600" dirty="0">
                <a:solidFill>
                  <a:srgbClr val="E7DCC8"/>
                </a:solidFill>
                <a:latin typeface="Calibri" pitchFamily="34" charset="0"/>
                <a:ea typeface="Calibri" pitchFamily="34" charset="-122"/>
                <a:cs typeface="Calibri" pitchFamily="34" charset="-120"/>
              </a:rPr>
              <a:t>Hitungan isi, booking, dan kosong</a:t>
            </a:r>
            <a:endParaRPr lang="en-US" sz="1600" dirty="0"/>
          </a:p>
        </p:txBody>
      </p:sp>
      <p:sp>
        <p:nvSpPr>
          <p:cNvPr id="19" name="Text 17"/>
          <p:cNvSpPr/>
          <p:nvPr/>
        </p:nvSpPr>
        <p:spPr>
          <a:xfrm>
            <a:off x="6446520" y="3383280"/>
            <a:ext cx="5029200" cy="594360"/>
          </a:xfrm>
          <a:prstGeom prst="rect">
            <a:avLst/>
          </a:prstGeom>
          <a:noFill/>
          <a:ln/>
        </p:spPr>
        <p:txBody>
          <a:bodyPr wrap="square" lIns="0" tIns="0" rIns="0" bIns="0" rtlCol="0" anchor="ctr"/>
          <a:lstStyle/>
          <a:p>
            <a:pPr indent="0" marL="0">
              <a:buNone/>
            </a:pPr>
            <a:r>
              <a:rPr lang="en-US" sz="1600" dirty="0">
                <a:solidFill>
                  <a:srgbClr val="E7DCC8"/>
                </a:solidFill>
                <a:latin typeface="Calibri" pitchFamily="34" charset="0"/>
                <a:ea typeface="Calibri" pitchFamily="34" charset="-122"/>
                <a:cs typeface="Calibri" pitchFamily="34" charset="-120"/>
              </a:rPr>
              <a:t>Daftar pengajuan beserta tanggal masuk</a:t>
            </a:r>
            <a:endParaRPr lang="en-US" sz="1600" dirty="0"/>
          </a:p>
        </p:txBody>
      </p:sp>
      <p:sp>
        <p:nvSpPr>
          <p:cNvPr id="20" name="Text 18"/>
          <p:cNvSpPr/>
          <p:nvPr/>
        </p:nvSpPr>
        <p:spPr>
          <a:xfrm>
            <a:off x="6446520" y="4114800"/>
            <a:ext cx="5029200" cy="594360"/>
          </a:xfrm>
          <a:prstGeom prst="rect">
            <a:avLst/>
          </a:prstGeom>
          <a:noFill/>
          <a:ln/>
        </p:spPr>
        <p:txBody>
          <a:bodyPr wrap="square" lIns="0" tIns="0" rIns="0" bIns="0" rtlCol="0" anchor="ctr"/>
          <a:lstStyle/>
          <a:p>
            <a:pPr indent="0" marL="0">
              <a:buNone/>
            </a:pPr>
            <a:r>
              <a:rPr lang="en-US" sz="1600" dirty="0">
                <a:solidFill>
                  <a:srgbClr val="E7DCC8"/>
                </a:solidFill>
                <a:latin typeface="Calibri" pitchFamily="34" charset="0"/>
                <a:ea typeface="Calibri" pitchFamily="34" charset="-122"/>
                <a:cs typeface="Calibri" pitchFamily="34" charset="-120"/>
              </a:rPr>
              <a:t>Grafik hunian beberapa bulan</a:t>
            </a:r>
            <a:endParaRPr lang="en-US" sz="1600" dirty="0"/>
          </a:p>
        </p:txBody>
      </p:sp>
      <p:sp>
        <p:nvSpPr>
          <p:cNvPr id="21" name="Text 19"/>
          <p:cNvSpPr/>
          <p:nvPr/>
        </p:nvSpPr>
        <p:spPr>
          <a:xfrm>
            <a:off x="6446520" y="4846320"/>
            <a:ext cx="5029200" cy="594360"/>
          </a:xfrm>
          <a:prstGeom prst="rect">
            <a:avLst/>
          </a:prstGeom>
          <a:noFill/>
          <a:ln/>
        </p:spPr>
        <p:txBody>
          <a:bodyPr wrap="square" lIns="0" tIns="0" rIns="0" bIns="0" rtlCol="0" anchor="ctr"/>
          <a:lstStyle/>
          <a:p>
            <a:pPr indent="0" marL="0">
              <a:buNone/>
            </a:pPr>
            <a:r>
              <a:rPr lang="en-US" sz="1600" dirty="0">
                <a:solidFill>
                  <a:srgbClr val="E7DCC8"/>
                </a:solidFill>
                <a:latin typeface="Calibri" pitchFamily="34" charset="0"/>
                <a:ea typeface="Calibri" pitchFamily="34" charset="-122"/>
                <a:cs typeface="Calibri" pitchFamily="34" charset="-120"/>
              </a:rPr>
              <a:t>Paket Penuh: DP, invoice, laporan uang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05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Beranda</a:t>
            </a:r>
            <a:endParaRPr lang="en-US" sz="2800" dirty="0"/>
          </a:p>
        </p:txBody>
      </p:sp>
      <p:pic>
        <p:nvPicPr>
          <p:cNvPr id="8" name="Image 0" descr="/workspace/artifacts/deck/home.png">    </p:cNvPr>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Langsung cari</a:t>
            </a:r>
            <a:endParaRPr lang="en-US" sz="1600" dirty="0"/>
          </a:p>
        </p:txBody>
      </p:sp>
      <p:sp>
        <p:nvSpPr>
          <p:cNvPr id="10" name="Text 7"/>
          <p:cNvSpPr/>
          <p:nvPr/>
        </p:nvSpPr>
        <p:spPr>
          <a:xfrm>
            <a:off x="8001000" y="135331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Nama kos atau kota, tanpa harus daftar dulu.</a:t>
            </a:r>
            <a:endParaRPr lang="en-US" sz="1300" dirty="0"/>
          </a:p>
        </p:txBody>
      </p:sp>
      <p:sp>
        <p:nvSpPr>
          <p:cNvPr id="11" name="Text 8"/>
          <p:cNvSpPr/>
          <p:nvPr/>
        </p:nvSpPr>
        <p:spPr>
          <a:xfrm>
            <a:off x="8001000" y="210312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Foto sungguhan</a:t>
            </a:r>
            <a:endParaRPr lang="en-US" sz="1600" dirty="0"/>
          </a:p>
        </p:txBody>
      </p:sp>
      <p:sp>
        <p:nvSpPr>
          <p:cNvPr id="12" name="Text 9"/>
          <p:cNvSpPr/>
          <p:nvPr/>
        </p:nvSpPr>
        <p:spPr>
          <a:xfrm>
            <a:off x="8001000" y="240487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Bukan kotak abu-abu. Penyewa menilai dari gambar.</a:t>
            </a:r>
            <a:endParaRPr lang="en-US" sz="1300" dirty="0"/>
          </a:p>
        </p:txBody>
      </p:sp>
      <p:sp>
        <p:nvSpPr>
          <p:cNvPr id="13" name="Text 10"/>
          <p:cNvSpPr/>
          <p:nvPr/>
        </p:nvSpPr>
        <p:spPr>
          <a:xfrm>
            <a:off x="8001000" y="315468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Dua produk</a:t>
            </a:r>
            <a:endParaRPr lang="en-US" sz="1600" dirty="0"/>
          </a:p>
        </p:txBody>
      </p:sp>
      <p:sp>
        <p:nvSpPr>
          <p:cNvPr id="14" name="Text 11"/>
          <p:cNvSpPr/>
          <p:nvPr/>
        </p:nvSpPr>
        <p:spPr>
          <a:xfrm>
            <a:off x="8001000" y="345643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Kos per kamar dan kontrakan per rumah, satu merek.</a:t>
            </a:r>
            <a:endParaRPr lang="en-US" sz="1300" dirty="0"/>
          </a:p>
        </p:txBody>
      </p:sp>
      <p:sp>
        <p:nvSpPr>
          <p:cNvPr id="15" name="Text 12"/>
          <p:cNvSpPr/>
          <p:nvPr/>
        </p:nvSpPr>
        <p:spPr>
          <a:xfrm>
            <a:off x="8001000" y="420624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Jujur ini demo</a:t>
            </a:r>
            <a:endParaRPr lang="en-US" sz="1600" dirty="0"/>
          </a:p>
        </p:txBody>
      </p:sp>
      <p:sp>
        <p:nvSpPr>
          <p:cNvPr id="16" name="Text 13"/>
          <p:cNvSpPr/>
          <p:nvPr/>
        </p:nvSpPr>
        <p:spPr>
          <a:xfrm>
            <a:off x="8001000" y="450799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Pita di atas menulis bahwa datanya contoh.</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06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Katalog</a:t>
            </a:r>
            <a:endParaRPr lang="en-US" sz="2800" dirty="0"/>
          </a:p>
        </p:txBody>
      </p:sp>
      <p:pic>
        <p:nvPicPr>
          <p:cNvPr id="8" name="Image 0" descr="/workspace/artifacts/deck/cari.png">    </p:cNvPr>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Filter yang dipakai</a:t>
            </a:r>
            <a:endParaRPr lang="en-US" sz="1600" dirty="0"/>
          </a:p>
        </p:txBody>
      </p:sp>
      <p:sp>
        <p:nvSpPr>
          <p:cNvPr id="10" name="Text 7"/>
          <p:cNvSpPr/>
          <p:nvPr/>
        </p:nvSpPr>
        <p:spPr>
          <a:xfrm>
            <a:off x="8001000" y="135331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Kata, jenis, kota, dan batas harga.</a:t>
            </a:r>
            <a:endParaRPr lang="en-US" sz="1300" dirty="0"/>
          </a:p>
        </p:txBody>
      </p:sp>
      <p:sp>
        <p:nvSpPr>
          <p:cNvPr id="11" name="Text 8"/>
          <p:cNvSpPr/>
          <p:nvPr/>
        </p:nvSpPr>
        <p:spPr>
          <a:xfrm>
            <a:off x="8001000" y="210312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Status kosong</a:t>
            </a:r>
            <a:endParaRPr lang="en-US" sz="1600" dirty="0"/>
          </a:p>
        </p:txBody>
      </p:sp>
      <p:sp>
        <p:nvSpPr>
          <p:cNvPr id="12" name="Text 9"/>
          <p:cNvSpPr/>
          <p:nvPr/>
        </p:nvSpPr>
        <p:spPr>
          <a:xfrm>
            <a:off x="8001000" y="240487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Berapa unit yang masih ada, ditulis di kartu.</a:t>
            </a:r>
            <a:endParaRPr lang="en-US" sz="1300" dirty="0"/>
          </a:p>
        </p:txBody>
      </p:sp>
      <p:sp>
        <p:nvSpPr>
          <p:cNvPr id="13" name="Text 10"/>
          <p:cNvSpPr/>
          <p:nvPr/>
        </p:nvSpPr>
        <p:spPr>
          <a:xfrm>
            <a:off x="8001000" y="315468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Harga sebulan</a:t>
            </a:r>
            <a:endParaRPr lang="en-US" sz="1600" dirty="0"/>
          </a:p>
        </p:txBody>
      </p:sp>
      <p:sp>
        <p:nvSpPr>
          <p:cNvPr id="14" name="Text 11"/>
          <p:cNvSpPr/>
          <p:nvPr/>
        </p:nvSpPr>
        <p:spPr>
          <a:xfrm>
            <a:off x="8001000" y="345643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Kontrakan pun ditampilkan per bulan agar bisa dibanding.</a:t>
            </a:r>
            <a:endParaRPr lang="en-US" sz="1300" dirty="0"/>
          </a:p>
        </p:txBody>
      </p:sp>
      <p:sp>
        <p:nvSpPr>
          <p:cNvPr id="15" name="Text 12"/>
          <p:cNvSpPr/>
          <p:nvPr/>
        </p:nvSpPr>
        <p:spPr>
          <a:xfrm>
            <a:off x="8001000" y="420624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Tersimpan</a:t>
            </a:r>
            <a:endParaRPr lang="en-US" sz="1600" dirty="0"/>
          </a:p>
        </p:txBody>
      </p:sp>
      <p:sp>
        <p:nvSpPr>
          <p:cNvPr id="16" name="Text 13"/>
          <p:cNvSpPr/>
          <p:nvPr/>
        </p:nvSpPr>
        <p:spPr>
          <a:xfrm>
            <a:off x="8001000" y="450799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Tombol untuk melihat hanya unit yang disimpan.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07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Halaman unit</a:t>
            </a:r>
            <a:endParaRPr lang="en-US" sz="2800" dirty="0"/>
          </a:p>
        </p:txBody>
      </p:sp>
      <p:pic>
        <p:nvPicPr>
          <p:cNvPr id="8" name="Image 0" descr="/workspace/artifacts/deck/unit.png">    </p:cNvPr>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Galeri</a:t>
            </a:r>
            <a:endParaRPr lang="en-US" sz="1600" dirty="0"/>
          </a:p>
        </p:txBody>
      </p:sp>
      <p:sp>
        <p:nvSpPr>
          <p:cNvPr id="10" name="Text 7"/>
          <p:cNvSpPr/>
          <p:nvPr/>
        </p:nvSpPr>
        <p:spPr>
          <a:xfrm>
            <a:off x="8001000" y="135331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Beberapa foto, bukan satu gambar dipaksakan.</a:t>
            </a:r>
            <a:endParaRPr lang="en-US" sz="1300" dirty="0"/>
          </a:p>
        </p:txBody>
      </p:sp>
      <p:sp>
        <p:nvSpPr>
          <p:cNvPr id="11" name="Text 8"/>
          <p:cNvSpPr/>
          <p:nvPr/>
        </p:nvSpPr>
        <p:spPr>
          <a:xfrm>
            <a:off x="8001000" y="210312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Aturan di depan</a:t>
            </a:r>
            <a:endParaRPr lang="en-US" sz="1600" dirty="0"/>
          </a:p>
        </p:txBody>
      </p:sp>
      <p:sp>
        <p:nvSpPr>
          <p:cNvPr id="12" name="Text 9"/>
          <p:cNvSpPr/>
          <p:nvPr/>
        </p:nvSpPr>
        <p:spPr>
          <a:xfrm>
            <a:off x="8001000" y="240487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Jam tamu dan larangan masak tidak disembunyikan.</a:t>
            </a:r>
            <a:endParaRPr lang="en-US" sz="1300" dirty="0"/>
          </a:p>
        </p:txBody>
      </p:sp>
      <p:sp>
        <p:nvSpPr>
          <p:cNvPr id="13" name="Text 10"/>
          <p:cNvSpPr/>
          <p:nvPr/>
        </p:nvSpPr>
        <p:spPr>
          <a:xfrm>
            <a:off x="8001000" y="315468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Ajukan sewa</a:t>
            </a:r>
            <a:endParaRPr lang="en-US" sz="1600" dirty="0"/>
          </a:p>
        </p:txBody>
      </p:sp>
      <p:sp>
        <p:nvSpPr>
          <p:cNvPr id="14" name="Text 11"/>
          <p:cNvSpPr/>
          <p:nvPr/>
        </p:nvSpPr>
        <p:spPr>
          <a:xfrm>
            <a:off x="8001000" y="345643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Nama, HP, tanggal masuk. Nomor dicek formatnya.</a:t>
            </a:r>
            <a:endParaRPr lang="en-US" sz="1300" dirty="0"/>
          </a:p>
        </p:txBody>
      </p:sp>
      <p:sp>
        <p:nvSpPr>
          <p:cNvPr id="15" name="Text 12"/>
          <p:cNvSpPr/>
          <p:nvPr/>
        </p:nvSpPr>
        <p:spPr>
          <a:xfrm>
            <a:off x="8001000" y="420624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Tersimpan di perangkat</a:t>
            </a:r>
            <a:endParaRPr lang="en-US" sz="1600" dirty="0"/>
          </a:p>
        </p:txBody>
      </p:sp>
      <p:sp>
        <p:nvSpPr>
          <p:cNvPr id="16" name="Text 13"/>
          <p:cNvSpPr/>
          <p:nvPr/>
        </p:nvSpPr>
        <p:spPr>
          <a:xfrm>
            <a:off x="8001000" y="450799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Di demo, data belum dikirim ke server.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08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Papan pemilik</a:t>
            </a:r>
            <a:endParaRPr lang="en-US" sz="2800" dirty="0"/>
          </a:p>
        </p:txBody>
      </p:sp>
      <p:pic>
        <p:nvPicPr>
          <p:cNvPr id="8" name="Image 0" descr="/workspace/artifacts/deck/pemilik-inquiry.png">    </p:cNvPr>
          <p:cNvPicPr>
            <a:picLocks noChangeAspect="1"/>
          </p:cNvPicPr>
          <p:nvPr/>
        </p:nvPicPr>
        <p:blipFill>
          <a:blip r:embed="rId1"/>
          <a:stretch>
            <a:fillRect/>
          </a:stretch>
        </p:blipFill>
        <p:spPr>
          <a:xfrm>
            <a:off x="347472" y="960120"/>
            <a:ext cx="7452360" cy="4654296"/>
          </a:xfrm>
          <a:prstGeom prst="rect">
            <a:avLst/>
          </a:prstGeom>
        </p:spPr>
      </p:pic>
      <p:sp>
        <p:nvSpPr>
          <p:cNvPr id="9" name="Text 6"/>
          <p:cNvSpPr/>
          <p:nvPr/>
        </p:nvSpPr>
        <p:spPr>
          <a:xfrm>
            <a:off x="8001000" y="105156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12 kamar contoh</a:t>
            </a:r>
            <a:endParaRPr lang="en-US" sz="1600" dirty="0"/>
          </a:p>
        </p:txBody>
      </p:sp>
      <p:sp>
        <p:nvSpPr>
          <p:cNvPr id="10" name="Text 7"/>
          <p:cNvSpPr/>
          <p:nvPr/>
        </p:nvSpPr>
        <p:spPr>
          <a:xfrm>
            <a:off x="8001000" y="135331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Ketuk kartu: isi, kosong, lalu booking.</a:t>
            </a:r>
            <a:endParaRPr lang="en-US" sz="1300" dirty="0"/>
          </a:p>
        </p:txBody>
      </p:sp>
      <p:sp>
        <p:nvSpPr>
          <p:cNvPr id="11" name="Text 8"/>
          <p:cNvSpPr/>
          <p:nvPr/>
        </p:nvSpPr>
        <p:spPr>
          <a:xfrm>
            <a:off x="8001000" y="210312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Pengajuan masuk</a:t>
            </a:r>
            <a:endParaRPr lang="en-US" sz="1600" dirty="0"/>
          </a:p>
        </p:txBody>
      </p:sp>
      <p:sp>
        <p:nvSpPr>
          <p:cNvPr id="12" name="Text 9"/>
          <p:cNvSpPr/>
          <p:nvPr/>
        </p:nvSpPr>
        <p:spPr>
          <a:xfrm>
            <a:off x="8001000" y="240487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Termasuk yang baru dikirim dari halaman unit.</a:t>
            </a:r>
            <a:endParaRPr lang="en-US" sz="1300" dirty="0"/>
          </a:p>
        </p:txBody>
      </p:sp>
      <p:sp>
        <p:nvSpPr>
          <p:cNvPr id="13" name="Text 10"/>
          <p:cNvSpPr/>
          <p:nvPr/>
        </p:nvSpPr>
        <p:spPr>
          <a:xfrm>
            <a:off x="8001000" y="315468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Grafik hunian</a:t>
            </a:r>
            <a:endParaRPr lang="en-US" sz="1600" dirty="0"/>
          </a:p>
        </p:txBody>
      </p:sp>
      <p:sp>
        <p:nvSpPr>
          <p:cNvPr id="14" name="Text 11"/>
          <p:cNvSpPr/>
          <p:nvPr/>
        </p:nvSpPr>
        <p:spPr>
          <a:xfrm>
            <a:off x="8001000" y="345643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Mei–Oktober. Angka contoh, bukan hitungan live.</a:t>
            </a:r>
            <a:endParaRPr lang="en-US" sz="1300" dirty="0"/>
          </a:p>
        </p:txBody>
      </p:sp>
      <p:sp>
        <p:nvSpPr>
          <p:cNvPr id="15" name="Text 12"/>
          <p:cNvSpPr/>
          <p:nvPr/>
        </p:nvSpPr>
        <p:spPr>
          <a:xfrm>
            <a:off x="8001000" y="4206240"/>
            <a:ext cx="3840480" cy="292608"/>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Kos Melati</a:t>
            </a:r>
            <a:endParaRPr lang="en-US" sz="1600" dirty="0"/>
          </a:p>
        </p:txBody>
      </p:sp>
      <p:sp>
        <p:nvSpPr>
          <p:cNvPr id="16" name="Text 13"/>
          <p:cNvSpPr/>
          <p:nvPr/>
        </p:nvSpPr>
        <p:spPr>
          <a:xfrm>
            <a:off x="8001000" y="4507992"/>
            <a:ext cx="3840480" cy="64008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Satu properti dulu. Multi-properti ada di paket penuh.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09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Dipakai dari HP, karena yang cari kos jarang buka laptop.</a:t>
            </a:r>
            <a:endParaRPr lang="en-US" sz="2800" dirty="0"/>
          </a:p>
        </p:txBody>
      </p:sp>
      <p:pic>
        <p:nvPicPr>
          <p:cNvPr id="8" name="Image 0" descr="/workspace/artifacts/deck/home-mobile.png">    </p:cNvPr>
          <p:cNvPicPr>
            <a:picLocks noChangeAspect="1"/>
          </p:cNvPicPr>
          <p:nvPr/>
        </p:nvPicPr>
        <p:blipFill>
          <a:blip r:embed="rId1"/>
          <a:stretch>
            <a:fillRect/>
          </a:stretch>
        </p:blipFill>
        <p:spPr>
          <a:xfrm>
            <a:off x="3714074" y="1051560"/>
            <a:ext cx="2176034" cy="4709160"/>
          </a:xfrm>
          <a:prstGeom prst="rect">
            <a:avLst/>
          </a:prstGeom>
        </p:spPr>
      </p:pic>
      <p:pic>
        <p:nvPicPr>
          <p:cNvPr id="9" name="Image 1" descr="/workspace/artifacts/deck/unit-mobile.png">    </p:cNvPr>
          <p:cNvPicPr>
            <a:picLocks noChangeAspect="1"/>
          </p:cNvPicPr>
          <p:nvPr/>
        </p:nvPicPr>
        <p:blipFill>
          <a:blip r:embed="rId2"/>
          <a:stretch>
            <a:fillRect/>
          </a:stretch>
        </p:blipFill>
        <p:spPr>
          <a:xfrm>
            <a:off x="6301588" y="1051560"/>
            <a:ext cx="2176034" cy="4709160"/>
          </a:xfrm>
          <a:prstGeom prst="rect">
            <a:avLst/>
          </a:prstGeom>
        </p:spPr>
      </p:pic>
      <p:sp>
        <p:nvSpPr>
          <p:cNvPr id="10" name="Text 6"/>
          <p:cNvSpPr/>
          <p:nvPr/>
        </p:nvSpPr>
        <p:spPr>
          <a:xfrm>
            <a:off x="3714074" y="5852160"/>
            <a:ext cx="2176034" cy="274320"/>
          </a:xfrm>
          <a:prstGeom prst="rect">
            <a:avLst/>
          </a:prstGeom>
          <a:noFill/>
          <a:ln/>
        </p:spPr>
        <p:txBody>
          <a:bodyPr wrap="square" lIns="0" tIns="0" rIns="0" bIns="0" rtlCol="0" anchor="ctr"/>
          <a:lstStyle/>
          <a:p>
            <a:pPr algn="ctr" indent="0" marL="0">
              <a:buNone/>
            </a:pPr>
            <a:r>
              <a:rPr lang="en-US" sz="1300" dirty="0">
                <a:solidFill>
                  <a:srgbClr val="6F675C"/>
                </a:solidFill>
                <a:latin typeface="Calibri" pitchFamily="34" charset="0"/>
                <a:ea typeface="Calibri" pitchFamily="34" charset="-122"/>
                <a:cs typeface="Calibri" pitchFamily="34" charset="-120"/>
              </a:rPr>
              <a:t>Beranda</a:t>
            </a:r>
            <a:endParaRPr lang="en-US" sz="1300" dirty="0"/>
          </a:p>
        </p:txBody>
      </p:sp>
      <p:sp>
        <p:nvSpPr>
          <p:cNvPr id="11" name="Text 7"/>
          <p:cNvSpPr/>
          <p:nvPr/>
        </p:nvSpPr>
        <p:spPr>
          <a:xfrm>
            <a:off x="6301588" y="5852160"/>
            <a:ext cx="2176034" cy="274320"/>
          </a:xfrm>
          <a:prstGeom prst="rect">
            <a:avLst/>
          </a:prstGeom>
          <a:noFill/>
          <a:ln/>
        </p:spPr>
        <p:txBody>
          <a:bodyPr wrap="square" lIns="0" tIns="0" rIns="0" bIns="0" rtlCol="0" anchor="ctr"/>
          <a:lstStyle/>
          <a:p>
            <a:pPr algn="ctr" indent="0" marL="0">
              <a:buNone/>
            </a:pPr>
            <a:r>
              <a:rPr lang="en-US" sz="1300" dirty="0">
                <a:solidFill>
                  <a:srgbClr val="6F675C"/>
                </a:solidFill>
                <a:latin typeface="Calibri" pitchFamily="34" charset="0"/>
                <a:ea typeface="Calibri" pitchFamily="34" charset="-122"/>
                <a:cs typeface="Calibri" pitchFamily="34" charset="-120"/>
              </a:rPr>
              <a:t>Detail kontrakan</a:t>
            </a:r>
            <a:endParaRPr lang="en-US" sz="1300" dirty="0"/>
          </a:p>
        </p:txBody>
      </p:sp>
      <p:sp>
        <p:nvSpPr>
          <p:cNvPr id="12" name="Shape 8"/>
          <p:cNvSpPr/>
          <p:nvPr/>
        </p:nvSpPr>
        <p:spPr>
          <a:xfrm>
            <a:off x="384048" y="6199632"/>
            <a:ext cx="11430000" cy="292608"/>
          </a:xfrm>
          <a:prstGeom prst="rect">
            <a:avLst/>
          </a:prstGeom>
          <a:solidFill>
            <a:srgbClr val="F4EFE6"/>
          </a:solidFill>
          <a:ln/>
        </p:spPr>
      </p:sp>
      <p:sp>
        <p:nvSpPr>
          <p:cNvPr id="13" name="Text 9"/>
          <p:cNvSpPr/>
          <p:nvPr/>
        </p:nvSpPr>
        <p:spPr>
          <a:xfrm>
            <a:off x="384048" y="6172200"/>
            <a:ext cx="11430000" cy="292608"/>
          </a:xfrm>
          <a:prstGeom prst="rect">
            <a:avLst/>
          </a:prstGeom>
          <a:noFill/>
          <a:ln/>
        </p:spPr>
        <p:txBody>
          <a:bodyPr wrap="square" lIns="0" tIns="0" rIns="0" bIns="0" rtlCol="0" anchor="ctr"/>
          <a:lstStyle/>
          <a:p>
            <a:pPr indent="0" marL="0">
              <a:buNone/>
            </a:pPr>
            <a:r>
              <a:rPr lang="en-US" sz="1300" dirty="0">
                <a:solidFill>
                  <a:srgbClr val="6F675C"/>
                </a:solidFill>
                <a:latin typeface="Calibri" pitchFamily="34" charset="0"/>
                <a:ea typeface="Calibri" pitchFamily="34" charset="-122"/>
                <a:cs typeface="Calibri" pitchFamily="34" charset="-120"/>
              </a:rPr>
              <a:t>Tombol dan bidang isian cukup besar untuk ibu jari. Tidak ada geser kiri-kanan.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10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Proof of concept: yang sudah bisa diklik.</a:t>
            </a:r>
            <a:endParaRPr lang="en-US" sz="2800" dirty="0"/>
          </a:p>
        </p:txBody>
      </p:sp>
      <p:sp>
        <p:nvSpPr>
          <p:cNvPr id="8" name="Text 6"/>
          <p:cNvSpPr/>
          <p:nvPr/>
        </p:nvSpPr>
        <p:spPr>
          <a:xfrm>
            <a:off x="384048" y="804672"/>
            <a:ext cx="10972800" cy="292608"/>
          </a:xfrm>
          <a:prstGeom prst="rect">
            <a:avLst/>
          </a:prstGeom>
          <a:noFill/>
          <a:ln/>
        </p:spPr>
        <p:txBody>
          <a:bodyPr wrap="square" lIns="0" tIns="0" rIns="0" bIns="0" rtlCol="0" anchor="ctr"/>
          <a:lstStyle/>
          <a:p>
            <a:pPr indent="0" marL="0">
              <a:buNone/>
            </a:pPr>
            <a:r>
              <a:rPr lang="en-US" sz="1500" dirty="0">
                <a:solidFill>
                  <a:srgbClr val="6F675C"/>
                </a:solidFill>
                <a:latin typeface="Calibri" pitchFamily="34" charset="0"/>
                <a:ea typeface="Calibri" pitchFamily="34" charset="-122"/>
                <a:cs typeface="Calibri" pitchFamily="34" charset="-120"/>
              </a:rPr>
              <a:t>Ini bukti arah produk, bukan sistem produksi. Data contoh, tanpa akun.</a:t>
            </a:r>
            <a:endParaRPr lang="en-US" sz="1500" dirty="0"/>
          </a:p>
        </p:txBody>
      </p:sp>
      <p:sp>
        <p:nvSpPr>
          <p:cNvPr id="9" name="Shape 7"/>
          <p:cNvSpPr/>
          <p:nvPr/>
        </p:nvSpPr>
        <p:spPr>
          <a:xfrm>
            <a:off x="384048" y="1280160"/>
            <a:ext cx="5623560" cy="5029200"/>
          </a:xfrm>
          <a:prstGeom prst="roundRect">
            <a:avLst>
              <a:gd name="adj" fmla="val 1455"/>
            </a:avLst>
          </a:prstGeom>
          <a:solidFill>
            <a:srgbClr val="2F5D50"/>
          </a:solidFill>
          <a:ln w="12700">
            <a:solidFill>
              <a:srgbClr val="2F5D50"/>
            </a:solidFill>
            <a:prstDash val="solid"/>
          </a:ln>
        </p:spPr>
      </p:sp>
      <p:sp>
        <p:nvSpPr>
          <p:cNvPr id="10" name="Shape 8"/>
          <p:cNvSpPr/>
          <p:nvPr/>
        </p:nvSpPr>
        <p:spPr>
          <a:xfrm>
            <a:off x="6190488" y="1280160"/>
            <a:ext cx="5623560" cy="5029200"/>
          </a:xfrm>
          <a:prstGeom prst="roundRect">
            <a:avLst>
              <a:gd name="adj" fmla="val 1455"/>
            </a:avLst>
          </a:prstGeom>
          <a:solidFill>
            <a:srgbClr val="FBF8F3"/>
          </a:solidFill>
          <a:ln w="12700">
            <a:solidFill>
              <a:srgbClr val="D9CFBF"/>
            </a:solidFill>
            <a:prstDash val="solid"/>
          </a:ln>
        </p:spPr>
      </p:sp>
      <p:sp>
        <p:nvSpPr>
          <p:cNvPr id="11" name="Text 9"/>
          <p:cNvSpPr/>
          <p:nvPr/>
        </p:nvSpPr>
        <p:spPr>
          <a:xfrm>
            <a:off x="640080" y="1481328"/>
            <a:ext cx="5120640" cy="365760"/>
          </a:xfrm>
          <a:prstGeom prst="rect">
            <a:avLst/>
          </a:prstGeom>
          <a:noFill/>
          <a:ln/>
        </p:spPr>
        <p:txBody>
          <a:bodyPr wrap="square" lIns="0" tIns="0" rIns="0" bIns="0" rtlCol="0" anchor="ctr"/>
          <a:lstStyle/>
          <a:p>
            <a:pPr indent="0" marL="0">
              <a:buNone/>
            </a:pPr>
            <a:r>
              <a:rPr lang="en-US" sz="2200" dirty="0">
                <a:solidFill>
                  <a:srgbClr val="F4EFE6"/>
                </a:solidFill>
                <a:latin typeface="Georgia" pitchFamily="34" charset="0"/>
                <a:ea typeface="Georgia" pitchFamily="34" charset="-122"/>
                <a:cs typeface="Georgia" pitchFamily="34" charset="-120"/>
              </a:rPr>
              <a:t>Sudah jalan</a:t>
            </a:r>
            <a:endParaRPr lang="en-US" sz="2200" dirty="0"/>
          </a:p>
        </p:txBody>
      </p:sp>
      <p:sp>
        <p:nvSpPr>
          <p:cNvPr id="12" name="Text 10"/>
          <p:cNvSpPr/>
          <p:nvPr/>
        </p:nvSpPr>
        <p:spPr>
          <a:xfrm>
            <a:off x="640080" y="1965960"/>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Enam unit contoh: kos dan kontrakan</a:t>
            </a:r>
            <a:endParaRPr lang="en-US" sz="1400" dirty="0"/>
          </a:p>
        </p:txBody>
      </p:sp>
      <p:sp>
        <p:nvSpPr>
          <p:cNvPr id="13" name="Text 11"/>
          <p:cNvSpPr/>
          <p:nvPr/>
        </p:nvSpPr>
        <p:spPr>
          <a:xfrm>
            <a:off x="640080" y="2404872"/>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Filter kota, jenis, harga, dan kata</a:t>
            </a:r>
            <a:endParaRPr lang="en-US" sz="1400" dirty="0"/>
          </a:p>
        </p:txBody>
      </p:sp>
      <p:sp>
        <p:nvSpPr>
          <p:cNvPr id="14" name="Text 12"/>
          <p:cNvSpPr/>
          <p:nvPr/>
        </p:nvSpPr>
        <p:spPr>
          <a:xfrm>
            <a:off x="640080" y="2843784"/>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Galeri, fasilitas, aturan, kawasan sekitar</a:t>
            </a:r>
            <a:endParaRPr lang="en-US" sz="1400" dirty="0"/>
          </a:p>
        </p:txBody>
      </p:sp>
      <p:sp>
        <p:nvSpPr>
          <p:cNvPr id="15" name="Text 13"/>
          <p:cNvSpPr/>
          <p:nvPr/>
        </p:nvSpPr>
        <p:spPr>
          <a:xfrm>
            <a:off x="640080" y="3282696"/>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Simpan unit di peramban</a:t>
            </a:r>
            <a:endParaRPr lang="en-US" sz="1400" dirty="0"/>
          </a:p>
        </p:txBody>
      </p:sp>
      <p:sp>
        <p:nvSpPr>
          <p:cNvPr id="16" name="Text 14"/>
          <p:cNvSpPr/>
          <p:nvPr/>
        </p:nvSpPr>
        <p:spPr>
          <a:xfrm>
            <a:off x="640080" y="3721608"/>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Form sewa dengan validasi nomor</a:t>
            </a:r>
            <a:endParaRPr lang="en-US" sz="1400" dirty="0"/>
          </a:p>
        </p:txBody>
      </p:sp>
      <p:sp>
        <p:nvSpPr>
          <p:cNvPr id="17" name="Text 15"/>
          <p:cNvSpPr/>
          <p:nvPr/>
        </p:nvSpPr>
        <p:spPr>
          <a:xfrm>
            <a:off x="640080" y="4160520"/>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Papan 12 kamar bisa diubah statusnya</a:t>
            </a:r>
            <a:endParaRPr lang="en-US" sz="1400" dirty="0"/>
          </a:p>
        </p:txBody>
      </p:sp>
      <p:sp>
        <p:nvSpPr>
          <p:cNvPr id="18" name="Text 16"/>
          <p:cNvSpPr/>
          <p:nvPr/>
        </p:nvSpPr>
        <p:spPr>
          <a:xfrm>
            <a:off x="640080" y="4599432"/>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Pengajuan form muncul di papan</a:t>
            </a:r>
            <a:endParaRPr lang="en-US" sz="1400" dirty="0"/>
          </a:p>
        </p:txBody>
      </p:sp>
      <p:sp>
        <p:nvSpPr>
          <p:cNvPr id="19" name="Text 17"/>
          <p:cNvSpPr/>
          <p:nvPr/>
        </p:nvSpPr>
        <p:spPr>
          <a:xfrm>
            <a:off x="640080" y="5038344"/>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Grafik hunian contoh</a:t>
            </a:r>
            <a:endParaRPr lang="en-US" sz="1400" dirty="0"/>
          </a:p>
        </p:txBody>
      </p:sp>
      <p:sp>
        <p:nvSpPr>
          <p:cNvPr id="20" name="Text 18"/>
          <p:cNvSpPr/>
          <p:nvPr/>
        </p:nvSpPr>
        <p:spPr>
          <a:xfrm>
            <a:off x="640080" y="5477256"/>
            <a:ext cx="5074920" cy="384048"/>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Halaman harga yang sama dengan deck ini</a:t>
            </a:r>
            <a:endParaRPr lang="en-US" sz="1400" dirty="0"/>
          </a:p>
        </p:txBody>
      </p:sp>
      <p:sp>
        <p:nvSpPr>
          <p:cNvPr id="21" name="Text 19"/>
          <p:cNvSpPr/>
          <p:nvPr/>
        </p:nvSpPr>
        <p:spPr>
          <a:xfrm>
            <a:off x="6446520" y="1481328"/>
            <a:ext cx="5120640" cy="365760"/>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Menyusul di produksi</a:t>
            </a:r>
            <a:endParaRPr lang="en-US" sz="2200" dirty="0"/>
          </a:p>
        </p:txBody>
      </p:sp>
      <p:sp>
        <p:nvSpPr>
          <p:cNvPr id="22" name="Text 20"/>
          <p:cNvSpPr/>
          <p:nvPr/>
        </p:nvSpPr>
        <p:spPr>
          <a:xfrm>
            <a:off x="6446520" y="201168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Data di server pemilik, bukan di HP pengunjung</a:t>
            </a:r>
            <a:endParaRPr lang="en-US" sz="1500" dirty="0"/>
          </a:p>
        </p:txBody>
      </p:sp>
      <p:sp>
        <p:nvSpPr>
          <p:cNvPr id="23" name="Text 21"/>
          <p:cNvSpPr/>
          <p:nvPr/>
        </p:nvSpPr>
        <p:spPr>
          <a:xfrm>
            <a:off x="6446520" y="251460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Akun pemilik dan pengelola</a:t>
            </a:r>
            <a:endParaRPr lang="en-US" sz="1500" dirty="0"/>
          </a:p>
        </p:txBody>
      </p:sp>
      <p:sp>
        <p:nvSpPr>
          <p:cNvPr id="24" name="Text 22"/>
          <p:cNvSpPr/>
          <p:nvPr/>
        </p:nvSpPr>
        <p:spPr>
          <a:xfrm>
            <a:off x="6446520" y="301752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WhatsApp atau email sungguhan saat ada pengajuan</a:t>
            </a:r>
            <a:endParaRPr lang="en-US" sz="1500" dirty="0"/>
          </a:p>
        </p:txBody>
      </p:sp>
      <p:sp>
        <p:nvSpPr>
          <p:cNvPr id="25" name="Text 23"/>
          <p:cNvSpPr/>
          <p:nvPr/>
        </p:nvSpPr>
        <p:spPr>
          <a:xfrm>
            <a:off x="6446520" y="352044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Pembayaran DP dan invoice (paket Penuh)</a:t>
            </a:r>
            <a:endParaRPr lang="en-US" sz="1500" dirty="0"/>
          </a:p>
        </p:txBody>
      </p:sp>
      <p:sp>
        <p:nvSpPr>
          <p:cNvPr id="26" name="Text 24"/>
          <p:cNvSpPr/>
          <p:nvPr/>
        </p:nvSpPr>
        <p:spPr>
          <a:xfrm>
            <a:off x="6446520" y="402336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Kontrak yang bisa diunduh</a:t>
            </a:r>
            <a:endParaRPr lang="en-US" sz="1500" dirty="0"/>
          </a:p>
        </p:txBody>
      </p:sp>
      <p:sp>
        <p:nvSpPr>
          <p:cNvPr id="27" name="Text 25"/>
          <p:cNvSpPr/>
          <p:nvPr/>
        </p:nvSpPr>
        <p:spPr>
          <a:xfrm>
            <a:off x="6446520" y="452628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Foto dan harga dari properti klien</a:t>
            </a:r>
            <a:endParaRPr lang="en-US" sz="1500" dirty="0"/>
          </a:p>
        </p:txBody>
      </p:sp>
      <p:sp>
        <p:nvSpPr>
          <p:cNvPr id="28" name="Text 26"/>
          <p:cNvSpPr/>
          <p:nvPr/>
        </p:nvSpPr>
        <p:spPr>
          <a:xfrm>
            <a:off x="6446520" y="5029200"/>
            <a:ext cx="5074920" cy="438912"/>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Domain atas nama klien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11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Tiga paket bangun. Sekali bayar.</a:t>
            </a:r>
            <a:endParaRPr lang="en-US" sz="2800" dirty="0"/>
          </a:p>
        </p:txBody>
      </p:sp>
      <p:sp>
        <p:nvSpPr>
          <p:cNvPr id="8" name="Text 6"/>
          <p:cNvSpPr/>
          <p:nvPr/>
        </p:nvSpPr>
        <p:spPr>
          <a:xfrm>
            <a:off x="384048" y="768096"/>
            <a:ext cx="11247120" cy="274320"/>
          </a:xfrm>
          <a:prstGeom prst="rect">
            <a:avLst/>
          </a:prstGeom>
          <a:noFill/>
          <a:ln/>
        </p:spPr>
        <p:txBody>
          <a:bodyPr wrap="square" lIns="0" tIns="0" rIns="0" bIns="0" rtlCol="0" anchor="ctr"/>
          <a:lstStyle/>
          <a:p>
            <a:pPr indent="0" marL="0">
              <a:buNone/>
            </a:pPr>
            <a:r>
              <a:rPr lang="en-US" sz="1400" dirty="0">
                <a:solidFill>
                  <a:srgbClr val="6F675C"/>
                </a:solidFill>
                <a:latin typeface="Calibri" pitchFamily="34" charset="0"/>
                <a:ea typeface="Calibri" pitchFamily="34" charset="-122"/>
                <a:cs typeface="Calibri" pitchFamily="34" charset="-120"/>
              </a:rPr>
              <a:t>Termasuk domain, hosting, dan SSL untuk tahun pertama. Revisi desain dua putaran di semua paket.</a:t>
            </a:r>
            <a:endParaRPr lang="en-US" sz="1400" dirty="0"/>
          </a:p>
        </p:txBody>
      </p:sp>
      <p:sp>
        <p:nvSpPr>
          <p:cNvPr id="9" name="Shape 7"/>
          <p:cNvSpPr/>
          <p:nvPr/>
        </p:nvSpPr>
        <p:spPr>
          <a:xfrm>
            <a:off x="384048" y="1188720"/>
            <a:ext cx="3703320" cy="4709160"/>
          </a:xfrm>
          <a:prstGeom prst="roundRect">
            <a:avLst>
              <a:gd name="adj" fmla="val 1975"/>
            </a:avLst>
          </a:prstGeom>
          <a:solidFill>
            <a:srgbClr val="FBF8F3"/>
          </a:solidFill>
          <a:ln w="12700">
            <a:solidFill>
              <a:srgbClr val="D9CFBF"/>
            </a:solidFill>
            <a:prstDash val="solid"/>
          </a:ln>
        </p:spPr>
      </p:sp>
      <p:sp>
        <p:nvSpPr>
          <p:cNvPr id="10" name="Text 8"/>
          <p:cNvSpPr/>
          <p:nvPr/>
        </p:nvSpPr>
        <p:spPr>
          <a:xfrm>
            <a:off x="603504" y="1353312"/>
            <a:ext cx="3246120" cy="237744"/>
          </a:xfrm>
          <a:prstGeom prst="rect">
            <a:avLst/>
          </a:prstGeom>
          <a:noFill/>
          <a:ln/>
        </p:spPr>
        <p:txBody>
          <a:bodyPr wrap="square" lIns="0" tIns="0" rIns="0" bIns="0" rtlCol="0" anchor="ctr"/>
          <a:lstStyle/>
          <a:p>
            <a:pPr indent="0" marL="0">
              <a:buNone/>
            </a:pPr>
            <a:r>
              <a:rPr lang="en-US" sz="1200" b="1" dirty="0">
                <a:solidFill>
                  <a:srgbClr val="6F675C"/>
                </a:solidFill>
                <a:latin typeface="Calibri" pitchFamily="34" charset="0"/>
                <a:ea typeface="Calibri" pitchFamily="34" charset="-122"/>
                <a:cs typeface="Calibri" pitchFamily="34" charset="-120"/>
              </a:rPr>
              <a:t>Paket</a:t>
            </a:r>
            <a:endParaRPr lang="en-US" sz="1200" dirty="0"/>
          </a:p>
        </p:txBody>
      </p:sp>
      <p:sp>
        <p:nvSpPr>
          <p:cNvPr id="11" name="Text 9"/>
          <p:cNvSpPr/>
          <p:nvPr/>
        </p:nvSpPr>
        <p:spPr>
          <a:xfrm>
            <a:off x="603504" y="1627632"/>
            <a:ext cx="3246120" cy="384048"/>
          </a:xfrm>
          <a:prstGeom prst="rect">
            <a:avLst/>
          </a:prstGeom>
          <a:noFill/>
          <a:ln/>
        </p:spPr>
        <p:txBody>
          <a:bodyPr wrap="square" lIns="0" tIns="0" rIns="0" bIns="0" rtlCol="0" anchor="ctr"/>
          <a:lstStyle/>
          <a:p>
            <a:pPr indent="0" marL="0">
              <a:buNone/>
            </a:pPr>
            <a:r>
              <a:rPr lang="en-US" sz="2600" dirty="0">
                <a:solidFill>
                  <a:srgbClr val="1A1814"/>
                </a:solidFill>
                <a:latin typeface="Georgia" pitchFamily="34" charset="0"/>
                <a:ea typeface="Georgia" pitchFamily="34" charset="-122"/>
                <a:cs typeface="Georgia" pitchFamily="34" charset="-120"/>
              </a:rPr>
              <a:t>Dasar</a:t>
            </a:r>
            <a:endParaRPr lang="en-US" sz="2600" dirty="0"/>
          </a:p>
        </p:txBody>
      </p:sp>
      <p:sp>
        <p:nvSpPr>
          <p:cNvPr id="12" name="Text 10"/>
          <p:cNvSpPr/>
          <p:nvPr/>
        </p:nvSpPr>
        <p:spPr>
          <a:xfrm>
            <a:off x="603504" y="2084832"/>
            <a:ext cx="3246120" cy="365760"/>
          </a:xfrm>
          <a:prstGeom prst="rect">
            <a:avLst/>
          </a:prstGeom>
          <a:noFill/>
          <a:ln/>
        </p:spPr>
        <p:txBody>
          <a:bodyPr wrap="square" lIns="0" tIns="0" rIns="0" bIns="0" rtlCol="0" anchor="ctr"/>
          <a:lstStyle/>
          <a:p>
            <a:pPr indent="0" marL="0">
              <a:buNone/>
            </a:pPr>
            <a:r>
              <a:rPr lang="en-US" sz="2200" dirty="0">
                <a:solidFill>
                  <a:srgbClr val="9A4518"/>
                </a:solidFill>
                <a:latin typeface="Georgia" pitchFamily="34" charset="0"/>
                <a:ea typeface="Georgia" pitchFamily="34" charset="-122"/>
                <a:cs typeface="Georgia" pitchFamily="34" charset="-120"/>
              </a:rPr>
              <a:t>Rp12,5 juta</a:t>
            </a:r>
            <a:endParaRPr lang="en-US" sz="2200" dirty="0"/>
          </a:p>
        </p:txBody>
      </p:sp>
      <p:sp>
        <p:nvSpPr>
          <p:cNvPr id="13" name="Text 11"/>
          <p:cNvSpPr/>
          <p:nvPr/>
        </p:nvSpPr>
        <p:spPr>
          <a:xfrm>
            <a:off x="603504" y="2505456"/>
            <a:ext cx="3246120" cy="45720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3 minggu  ·  1 properti, ≤15 unit</a:t>
            </a:r>
            <a:endParaRPr lang="en-US" sz="1300" dirty="0"/>
          </a:p>
        </p:txBody>
      </p:sp>
      <p:sp>
        <p:nvSpPr>
          <p:cNvPr id="14" name="Text 12"/>
          <p:cNvSpPr/>
          <p:nvPr/>
        </p:nvSpPr>
        <p:spPr>
          <a:xfrm>
            <a:off x="603504" y="3108960"/>
            <a:ext cx="3246120" cy="438912"/>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Beranda, katalog, halaman unit</a:t>
            </a:r>
            <a:endParaRPr lang="en-US" sz="1400" dirty="0"/>
          </a:p>
        </p:txBody>
      </p:sp>
      <p:sp>
        <p:nvSpPr>
          <p:cNvPr id="15" name="Text 13"/>
          <p:cNvSpPr/>
          <p:nvPr/>
        </p:nvSpPr>
        <p:spPr>
          <a:xfrm>
            <a:off x="603504" y="3584448"/>
            <a:ext cx="3246120" cy="438912"/>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Form ajukan sewa</a:t>
            </a:r>
            <a:endParaRPr lang="en-US" sz="1400" dirty="0"/>
          </a:p>
        </p:txBody>
      </p:sp>
      <p:sp>
        <p:nvSpPr>
          <p:cNvPr id="16" name="Text 14"/>
          <p:cNvSpPr/>
          <p:nvPr/>
        </p:nvSpPr>
        <p:spPr>
          <a:xfrm>
            <a:off x="603504" y="4059936"/>
            <a:ext cx="3246120" cy="438912"/>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SEO dasar dan isi sampai 8 unit</a:t>
            </a:r>
            <a:endParaRPr lang="en-US" sz="1400" dirty="0"/>
          </a:p>
        </p:txBody>
      </p:sp>
      <p:sp>
        <p:nvSpPr>
          <p:cNvPr id="17" name="Text 15"/>
          <p:cNvSpPr/>
          <p:nvPr/>
        </p:nvSpPr>
        <p:spPr>
          <a:xfrm>
            <a:off x="603504" y="4535424"/>
            <a:ext cx="3246120" cy="438912"/>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Training satu sesi</a:t>
            </a:r>
            <a:endParaRPr lang="en-US" sz="1400" dirty="0"/>
          </a:p>
        </p:txBody>
      </p:sp>
      <p:sp>
        <p:nvSpPr>
          <p:cNvPr id="18" name="Text 16"/>
          <p:cNvSpPr/>
          <p:nvPr/>
        </p:nvSpPr>
        <p:spPr>
          <a:xfrm>
            <a:off x="603504" y="5010912"/>
            <a:ext cx="3246120" cy="438912"/>
          </a:xfrm>
          <a:prstGeom prst="rect">
            <a:avLst/>
          </a:prstGeom>
          <a:noFill/>
          <a:ln/>
        </p:spPr>
        <p:txBody>
          <a:bodyPr wrap="square" lIns="0" tIns="0" rIns="0" bIns="0" rtlCol="0" anchor="ctr"/>
          <a:lstStyle/>
          <a:p>
            <a:pPr indent="0" marL="0">
              <a:buNone/>
            </a:pPr>
            <a:r>
              <a:rPr lang="en-US" sz="1400" dirty="0">
                <a:solidFill>
                  <a:srgbClr val="3F382F"/>
                </a:solidFill>
                <a:latin typeface="Calibri" pitchFamily="34" charset="0"/>
                <a:ea typeface="Calibri" pitchFamily="34" charset="-122"/>
                <a:cs typeface="Calibri" pitchFamily="34" charset="-120"/>
              </a:rPr>
              <a:t>Garansi bug 90 hari</a:t>
            </a:r>
            <a:endParaRPr lang="en-US" sz="1400" dirty="0"/>
          </a:p>
        </p:txBody>
      </p:sp>
      <p:sp>
        <p:nvSpPr>
          <p:cNvPr id="19" name="Shape 17"/>
          <p:cNvSpPr/>
          <p:nvPr/>
        </p:nvSpPr>
        <p:spPr>
          <a:xfrm>
            <a:off x="4270248" y="1188720"/>
            <a:ext cx="3703320" cy="4709160"/>
          </a:xfrm>
          <a:prstGeom prst="roundRect">
            <a:avLst>
              <a:gd name="adj" fmla="val 1975"/>
            </a:avLst>
          </a:prstGeom>
          <a:solidFill>
            <a:srgbClr val="2F5D50"/>
          </a:solidFill>
          <a:ln w="12700">
            <a:solidFill>
              <a:srgbClr val="2F5D50"/>
            </a:solidFill>
            <a:prstDash val="solid"/>
          </a:ln>
        </p:spPr>
      </p:sp>
      <p:sp>
        <p:nvSpPr>
          <p:cNvPr id="20" name="Text 18"/>
          <p:cNvSpPr/>
          <p:nvPr/>
        </p:nvSpPr>
        <p:spPr>
          <a:xfrm>
            <a:off x="4489704" y="1353312"/>
            <a:ext cx="3246120" cy="237744"/>
          </a:xfrm>
          <a:prstGeom prst="rect">
            <a:avLst/>
          </a:prstGeom>
          <a:noFill/>
          <a:ln/>
        </p:spPr>
        <p:txBody>
          <a:bodyPr wrap="square" lIns="0" tIns="0" rIns="0" bIns="0" rtlCol="0" anchor="ctr"/>
          <a:lstStyle/>
          <a:p>
            <a:pPr indent="0" marL="0">
              <a:buNone/>
            </a:pPr>
            <a:r>
              <a:rPr lang="en-US" sz="1200" b="1" dirty="0">
                <a:solidFill>
                  <a:srgbClr val="E7DCC8"/>
                </a:solidFill>
                <a:latin typeface="Calibri" pitchFamily="34" charset="0"/>
                <a:ea typeface="Calibri" pitchFamily="34" charset="-122"/>
                <a:cs typeface="Calibri" pitchFamily="34" charset="-120"/>
              </a:rPr>
              <a:t>Disarankan</a:t>
            </a:r>
            <a:endParaRPr lang="en-US" sz="1200" dirty="0"/>
          </a:p>
        </p:txBody>
      </p:sp>
      <p:sp>
        <p:nvSpPr>
          <p:cNvPr id="21" name="Text 19"/>
          <p:cNvSpPr/>
          <p:nvPr/>
        </p:nvSpPr>
        <p:spPr>
          <a:xfrm>
            <a:off x="4489704" y="1627632"/>
            <a:ext cx="3246120" cy="384048"/>
          </a:xfrm>
          <a:prstGeom prst="rect">
            <a:avLst/>
          </a:prstGeom>
          <a:noFill/>
          <a:ln/>
        </p:spPr>
        <p:txBody>
          <a:bodyPr wrap="square" lIns="0" tIns="0" rIns="0" bIns="0" rtlCol="0" anchor="ctr"/>
          <a:lstStyle/>
          <a:p>
            <a:pPr indent="0" marL="0">
              <a:buNone/>
            </a:pPr>
            <a:r>
              <a:rPr lang="en-US" sz="2600" dirty="0">
                <a:solidFill>
                  <a:srgbClr val="F4EFE6"/>
                </a:solidFill>
                <a:latin typeface="Georgia" pitchFamily="34" charset="0"/>
                <a:ea typeface="Georgia" pitchFamily="34" charset="-122"/>
                <a:cs typeface="Georgia" pitchFamily="34" charset="-120"/>
              </a:rPr>
              <a:t>Kelola</a:t>
            </a:r>
            <a:endParaRPr lang="en-US" sz="2600" dirty="0"/>
          </a:p>
        </p:txBody>
      </p:sp>
      <p:sp>
        <p:nvSpPr>
          <p:cNvPr id="22" name="Text 20"/>
          <p:cNvSpPr/>
          <p:nvPr/>
        </p:nvSpPr>
        <p:spPr>
          <a:xfrm>
            <a:off x="4489704" y="2084832"/>
            <a:ext cx="3246120" cy="365760"/>
          </a:xfrm>
          <a:prstGeom prst="rect">
            <a:avLst/>
          </a:prstGeom>
          <a:noFill/>
          <a:ln/>
        </p:spPr>
        <p:txBody>
          <a:bodyPr wrap="square" lIns="0" tIns="0" rIns="0" bIns="0" rtlCol="0" anchor="ctr"/>
          <a:lstStyle/>
          <a:p>
            <a:pPr indent="0" marL="0">
              <a:buNone/>
            </a:pPr>
            <a:r>
              <a:rPr lang="en-US" sz="2200" dirty="0">
                <a:solidFill>
                  <a:srgbClr val="F4EFE6"/>
                </a:solidFill>
                <a:latin typeface="Georgia" pitchFamily="34" charset="0"/>
                <a:ea typeface="Georgia" pitchFamily="34" charset="-122"/>
                <a:cs typeface="Georgia" pitchFamily="34" charset="-120"/>
              </a:rPr>
              <a:t>Rp24,5 juta</a:t>
            </a:r>
            <a:endParaRPr lang="en-US" sz="2200" dirty="0"/>
          </a:p>
        </p:txBody>
      </p:sp>
      <p:sp>
        <p:nvSpPr>
          <p:cNvPr id="23" name="Text 21"/>
          <p:cNvSpPr/>
          <p:nvPr/>
        </p:nvSpPr>
        <p:spPr>
          <a:xfrm>
            <a:off x="4489704" y="2505456"/>
            <a:ext cx="3246120" cy="457200"/>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6 minggu  ·  ≤3 properti, 40 unit</a:t>
            </a:r>
            <a:endParaRPr lang="en-US" sz="1300" dirty="0"/>
          </a:p>
        </p:txBody>
      </p:sp>
      <p:sp>
        <p:nvSpPr>
          <p:cNvPr id="24" name="Text 22"/>
          <p:cNvSpPr/>
          <p:nvPr/>
        </p:nvSpPr>
        <p:spPr>
          <a:xfrm>
            <a:off x="4489704" y="3108960"/>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Semua isi Dasar</a:t>
            </a:r>
            <a:endParaRPr lang="en-US" sz="1400" dirty="0"/>
          </a:p>
        </p:txBody>
      </p:sp>
      <p:sp>
        <p:nvSpPr>
          <p:cNvPr id="25" name="Text 23"/>
          <p:cNvSpPr/>
          <p:nvPr/>
        </p:nvSpPr>
        <p:spPr>
          <a:xfrm>
            <a:off x="4489704" y="3584448"/>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Papan kamar dan daftar pengajuan</a:t>
            </a:r>
            <a:endParaRPr lang="en-US" sz="1400" dirty="0"/>
          </a:p>
        </p:txBody>
      </p:sp>
      <p:sp>
        <p:nvSpPr>
          <p:cNvPr id="26" name="Text 24"/>
          <p:cNvSpPr/>
          <p:nvPr/>
        </p:nvSpPr>
        <p:spPr>
          <a:xfrm>
            <a:off x="4489704" y="4059936"/>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Grafik hunian</a:t>
            </a:r>
            <a:endParaRPr lang="en-US" sz="1400" dirty="0"/>
          </a:p>
        </p:txBody>
      </p:sp>
      <p:sp>
        <p:nvSpPr>
          <p:cNvPr id="27" name="Text 25"/>
          <p:cNvSpPr/>
          <p:nvPr/>
        </p:nvSpPr>
        <p:spPr>
          <a:xfrm>
            <a:off x="4489704" y="4535424"/>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Pemilik dan pengelola</a:t>
            </a:r>
            <a:endParaRPr lang="en-US" sz="1400" dirty="0"/>
          </a:p>
        </p:txBody>
      </p:sp>
      <p:sp>
        <p:nvSpPr>
          <p:cNvPr id="28" name="Text 26"/>
          <p:cNvSpPr/>
          <p:nvPr/>
        </p:nvSpPr>
        <p:spPr>
          <a:xfrm>
            <a:off x="4489704" y="5010912"/>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Training dua sesi</a:t>
            </a:r>
            <a:endParaRPr lang="en-US" sz="1400" dirty="0"/>
          </a:p>
        </p:txBody>
      </p:sp>
      <p:sp>
        <p:nvSpPr>
          <p:cNvPr id="29" name="Shape 27"/>
          <p:cNvSpPr/>
          <p:nvPr/>
        </p:nvSpPr>
        <p:spPr>
          <a:xfrm>
            <a:off x="8156448" y="1188720"/>
            <a:ext cx="3703320" cy="4709160"/>
          </a:xfrm>
          <a:prstGeom prst="roundRect">
            <a:avLst>
              <a:gd name="adj" fmla="val 1975"/>
            </a:avLst>
          </a:prstGeom>
          <a:solidFill>
            <a:srgbClr val="1A1814"/>
          </a:solidFill>
          <a:ln w="12700">
            <a:solidFill>
              <a:srgbClr val="1A1814"/>
            </a:solidFill>
            <a:prstDash val="solid"/>
          </a:ln>
        </p:spPr>
      </p:sp>
      <p:sp>
        <p:nvSpPr>
          <p:cNvPr id="30" name="Text 28"/>
          <p:cNvSpPr/>
          <p:nvPr/>
        </p:nvSpPr>
        <p:spPr>
          <a:xfrm>
            <a:off x="8375904" y="1353312"/>
            <a:ext cx="3246120" cy="237744"/>
          </a:xfrm>
          <a:prstGeom prst="rect">
            <a:avLst/>
          </a:prstGeom>
          <a:noFill/>
          <a:ln/>
        </p:spPr>
        <p:txBody>
          <a:bodyPr wrap="square" lIns="0" tIns="0" rIns="0" bIns="0" rtlCol="0" anchor="ctr"/>
          <a:lstStyle/>
          <a:p>
            <a:pPr indent="0" marL="0">
              <a:buNone/>
            </a:pPr>
            <a:r>
              <a:rPr lang="en-US" sz="1200" b="1" dirty="0">
                <a:solidFill>
                  <a:srgbClr val="6F675C"/>
                </a:solidFill>
                <a:latin typeface="Calibri" pitchFamily="34" charset="0"/>
                <a:ea typeface="Calibri" pitchFamily="34" charset="-122"/>
                <a:cs typeface="Calibri" pitchFamily="34" charset="-120"/>
              </a:rPr>
              <a:t>Paket</a:t>
            </a:r>
            <a:endParaRPr lang="en-US" sz="1200" dirty="0"/>
          </a:p>
        </p:txBody>
      </p:sp>
      <p:sp>
        <p:nvSpPr>
          <p:cNvPr id="31" name="Text 29"/>
          <p:cNvSpPr/>
          <p:nvPr/>
        </p:nvSpPr>
        <p:spPr>
          <a:xfrm>
            <a:off x="8375904" y="1627632"/>
            <a:ext cx="3246120" cy="384048"/>
          </a:xfrm>
          <a:prstGeom prst="rect">
            <a:avLst/>
          </a:prstGeom>
          <a:noFill/>
          <a:ln/>
        </p:spPr>
        <p:txBody>
          <a:bodyPr wrap="square" lIns="0" tIns="0" rIns="0" bIns="0" rtlCol="0" anchor="ctr"/>
          <a:lstStyle/>
          <a:p>
            <a:pPr indent="0" marL="0">
              <a:buNone/>
            </a:pPr>
            <a:r>
              <a:rPr lang="en-US" sz="2600" dirty="0">
                <a:solidFill>
                  <a:srgbClr val="F4EFE6"/>
                </a:solidFill>
                <a:latin typeface="Georgia" pitchFamily="34" charset="0"/>
                <a:ea typeface="Georgia" pitchFamily="34" charset="-122"/>
                <a:cs typeface="Georgia" pitchFamily="34" charset="-120"/>
              </a:rPr>
              <a:t>Penuh</a:t>
            </a:r>
            <a:endParaRPr lang="en-US" sz="2600" dirty="0"/>
          </a:p>
        </p:txBody>
      </p:sp>
      <p:sp>
        <p:nvSpPr>
          <p:cNvPr id="32" name="Text 30"/>
          <p:cNvSpPr/>
          <p:nvPr/>
        </p:nvSpPr>
        <p:spPr>
          <a:xfrm>
            <a:off x="8375904" y="2084832"/>
            <a:ext cx="3246120" cy="365760"/>
          </a:xfrm>
          <a:prstGeom prst="rect">
            <a:avLst/>
          </a:prstGeom>
          <a:noFill/>
          <a:ln/>
        </p:spPr>
        <p:txBody>
          <a:bodyPr wrap="square" lIns="0" tIns="0" rIns="0" bIns="0" rtlCol="0" anchor="ctr"/>
          <a:lstStyle/>
          <a:p>
            <a:pPr indent="0" marL="0">
              <a:buNone/>
            </a:pPr>
            <a:r>
              <a:rPr lang="en-US" sz="2200" dirty="0">
                <a:solidFill>
                  <a:srgbClr val="E7DCC8"/>
                </a:solidFill>
                <a:latin typeface="Georgia" pitchFamily="34" charset="0"/>
                <a:ea typeface="Georgia" pitchFamily="34" charset="-122"/>
                <a:cs typeface="Georgia" pitchFamily="34" charset="-120"/>
              </a:rPr>
              <a:t>Rp42 juta</a:t>
            </a:r>
            <a:endParaRPr lang="en-US" sz="2200" dirty="0"/>
          </a:p>
        </p:txBody>
      </p:sp>
      <p:sp>
        <p:nvSpPr>
          <p:cNvPr id="33" name="Text 31"/>
          <p:cNvSpPr/>
          <p:nvPr/>
        </p:nvSpPr>
        <p:spPr>
          <a:xfrm>
            <a:off x="8375904" y="2505456"/>
            <a:ext cx="3246120" cy="457200"/>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8–10 minggu  ·  sampai 150 unit</a:t>
            </a:r>
            <a:endParaRPr lang="en-US" sz="1300" dirty="0"/>
          </a:p>
        </p:txBody>
      </p:sp>
      <p:sp>
        <p:nvSpPr>
          <p:cNvPr id="34" name="Text 32"/>
          <p:cNvSpPr/>
          <p:nvPr/>
        </p:nvSpPr>
        <p:spPr>
          <a:xfrm>
            <a:off x="8375904" y="3108960"/>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Semua isi Kelola</a:t>
            </a:r>
            <a:endParaRPr lang="en-US" sz="1400" dirty="0"/>
          </a:p>
        </p:txBody>
      </p:sp>
      <p:sp>
        <p:nvSpPr>
          <p:cNvPr id="35" name="Text 33"/>
          <p:cNvSpPr/>
          <p:nvPr/>
        </p:nvSpPr>
        <p:spPr>
          <a:xfrm>
            <a:off x="8375904" y="3584448"/>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DP lewat payment gateway</a:t>
            </a:r>
            <a:endParaRPr lang="en-US" sz="1400" dirty="0"/>
          </a:p>
        </p:txBody>
      </p:sp>
      <p:sp>
        <p:nvSpPr>
          <p:cNvPr id="36" name="Text 34"/>
          <p:cNvSpPr/>
          <p:nvPr/>
        </p:nvSpPr>
        <p:spPr>
          <a:xfrm>
            <a:off x="8375904" y="4059936"/>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Invoice dan pengingat tempo</a:t>
            </a:r>
            <a:endParaRPr lang="en-US" sz="1400" dirty="0"/>
          </a:p>
        </p:txBody>
      </p:sp>
      <p:sp>
        <p:nvSpPr>
          <p:cNvPr id="37" name="Text 35"/>
          <p:cNvSpPr/>
          <p:nvPr/>
        </p:nvSpPr>
        <p:spPr>
          <a:xfrm>
            <a:off x="8375904" y="4535424"/>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Laporan uang masuk</a:t>
            </a:r>
            <a:endParaRPr lang="en-US" sz="1400" dirty="0"/>
          </a:p>
        </p:txBody>
      </p:sp>
      <p:sp>
        <p:nvSpPr>
          <p:cNvPr id="38" name="Text 36"/>
          <p:cNvSpPr/>
          <p:nvPr/>
        </p:nvSpPr>
        <p:spPr>
          <a:xfrm>
            <a:off x="8375904" y="5010912"/>
            <a:ext cx="324612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Ikon layar utama HP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12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Rincian paket Kelola — Rp24,5 juta</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84048" y="1005840"/>
          <a:ext cx="11430000" cy="914400"/>
        </p:xfrm>
        <a:graphic>
          <a:graphicData uri="http://schemas.openxmlformats.org/drawingml/2006/table">
            <a:tbl>
              <a:tblPr/>
              <a:tblGrid>
                <a:gridCol w="7955280"/>
                <a:gridCol w="3474720"/>
              </a:tblGrid>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Riset alur dan peta halaman</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Rp1.500.000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Desain empat layar, termasuk ponsel</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Rp5.500.000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Katalog, pencarian, halaman unit</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Rp6.000.000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Form sewa dan simpan unit</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Rp2.000.000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Papan kamar dan grafik hunian</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Rp5.500.000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Isi data awal, paling banyak 15 unit, SEO dasar</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Rp2.000.000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Training dua sesi dan catatan cara pakai</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Rp1.000.000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438912">
                <a:tc>
                  <a:txBody>
                    <a:bodyPr/>
                    <a:lstStyle/>
                    <a:p>
                      <a:pPr algn="l" indent="0" marL="0">
                        <a:buNone/>
                      </a:pPr>
                      <a:r>
                        <a:rPr lang="en-US" sz="1400" dirty="0">
                          <a:solidFill>
                            <a:srgbClr val="1A1814"/>
                          </a:solidFill>
                          <a:latin typeface="Calibri" pitchFamily="34" charset="0"/>
                          <a:ea typeface="Calibri" pitchFamily="34" charset="-122"/>
                          <a:cs typeface="Calibri" pitchFamily="34" charset="-120"/>
                        </a:rPr>
                        <a:t>Domain, hosting, dan SSL tahun pertama</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400" b="1" dirty="0">
                          <a:solidFill>
                            <a:srgbClr val="1A1814"/>
                          </a:solidFill>
                          <a:latin typeface="Calibri" pitchFamily="34" charset="0"/>
                          <a:ea typeface="Calibri" pitchFamily="34" charset="-122"/>
                          <a:cs typeface="Calibri" pitchFamily="34" charset="-120"/>
                        </a:rPr>
                        <a:t>Rp1.000.000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438912">
                <a:tc>
                  <a:txBody>
                    <a:bodyPr/>
                    <a:lstStyle/>
                    <a:p>
                      <a:pPr algn="l" indent="0" marL="0">
                        <a:buNone/>
                      </a:pPr>
                      <a:r>
                        <a:rPr lang="en-US" sz="1400" b="1" dirty="0">
                          <a:solidFill>
                            <a:srgbClr val="F4EFE6"/>
                          </a:solidFill>
                          <a:latin typeface="Calibri" pitchFamily="34" charset="0"/>
                          <a:ea typeface="Calibri" pitchFamily="34" charset="-122"/>
                          <a:cs typeface="Calibri" pitchFamily="34" charset="-120"/>
                        </a:rPr>
                        <a:t>Jumlah</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c>
                  <a:txBody>
                    <a:bodyPr/>
                    <a:lstStyle/>
                    <a:p>
                      <a:pPr algn="r" indent="0" marL="0">
                        <a:buNone/>
                      </a:pPr>
                      <a:r>
                        <a:rPr lang="en-US" sz="1400" b="1" dirty="0">
                          <a:solidFill>
                            <a:srgbClr val="F4EFE6"/>
                          </a:solidFill>
                          <a:latin typeface="Calibri" pitchFamily="34" charset="0"/>
                          <a:ea typeface="Calibri" pitchFamily="34" charset="-122"/>
                          <a:cs typeface="Calibri" pitchFamily="34" charset="-120"/>
                        </a:rPr>
                        <a:t>Rp24.500.000</a:t>
                      </a:r>
                      <a:endParaRPr lang="en-US" sz="1400" dirty="0">
                        <a:latin typeface="Calibri" charset="0"/>
                        <a:ea typeface="Calibri" charset="0"/>
                        <a:cs typeface="Calibri" charset="0"/>
                      </a:endParaRPr>
                    </a:p>
                  </a:txBody>
                  <a:tcPr marL="127000" marR="127000" marT="76200" marB="762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r>
            </a:tbl>
          </a:graphicData>
        </a:graphic>
      </p:graphicFrame>
      <p:sp>
        <p:nvSpPr>
          <p:cNvPr id="9" name="Text 6"/>
          <p:cNvSpPr/>
          <p:nvPr/>
        </p:nvSpPr>
        <p:spPr>
          <a:xfrm>
            <a:off x="384048" y="5989320"/>
            <a:ext cx="11338560" cy="457200"/>
          </a:xfrm>
          <a:prstGeom prst="rect">
            <a:avLst/>
          </a:prstGeom>
          <a:noFill/>
          <a:ln/>
        </p:spPr>
        <p:txBody>
          <a:bodyPr wrap="square" lIns="0" tIns="0" rIns="0" bIns="0" rtlCol="0" anchor="ctr"/>
          <a:lstStyle/>
          <a:p>
            <a:pPr indent="0" marL="0">
              <a:buNone/>
            </a:pPr>
            <a:r>
              <a:rPr lang="en-US" sz="1300" dirty="0">
                <a:solidFill>
                  <a:srgbClr val="6F675C"/>
                </a:solidFill>
                <a:latin typeface="Calibri" pitchFamily="34" charset="0"/>
                <a:ea typeface="Calibri" pitchFamily="34" charset="-122"/>
                <a:cs typeface="Calibri" pitchFamily="34" charset="-120"/>
              </a:rPr>
              <a:t>Dasar (Rp12,5 jt) memotong papan kamar. Penuh (Rp42 jt) menambah gateway, invoice, laporan, dan pemasangan di HP di atas angka Kelola.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13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Biaya rawat, per bulan, sudah dipecah.</a:t>
            </a:r>
            <a:endParaRPr lang="en-US" sz="2800" dirty="0"/>
          </a:p>
        </p:txBody>
      </p:sp>
      <p:sp>
        <p:nvSpPr>
          <p:cNvPr id="8" name="Text 6"/>
          <p:cNvSpPr/>
          <p:nvPr/>
        </p:nvSpPr>
        <p:spPr>
          <a:xfrm>
            <a:off x="384048" y="768096"/>
            <a:ext cx="11338560" cy="438912"/>
          </a:xfrm>
          <a:prstGeom prst="rect">
            <a:avLst/>
          </a:prstGeom>
          <a:noFill/>
          <a:ln/>
        </p:spPr>
        <p:txBody>
          <a:bodyPr wrap="square" lIns="0" tIns="0" rIns="0" bIns="0" rtlCol="0" anchor="ctr"/>
          <a:lstStyle/>
          <a:p>
            <a:pPr indent="0" marL="0">
              <a:buNone/>
            </a:pPr>
            <a:r>
              <a:rPr lang="en-US" sz="1400" dirty="0">
                <a:solidFill>
                  <a:srgbClr val="6F675C"/>
                </a:solidFill>
                <a:latin typeface="Calibri" pitchFamily="34" charset="0"/>
                <a:ea typeface="Calibri" pitchFamily="34" charset="-122"/>
                <a:cs typeface="Calibri" pitchFamily="34" charset="-120"/>
              </a:rPr>
              <a:t>Mulai bulan keempat. Tiga bulan pertama setelah tayang: perbaikan bug pembangunan tidak ditagih. Jam kerja Senin–Jumat, 09.00–17.00 WIB.</a:t>
            </a:r>
            <a:endParaRPr lang="en-US" sz="1400" dirty="0"/>
          </a:p>
        </p:txBody>
      </p:sp>
      <p:sp>
        <p:nvSpPr>
          <p:cNvPr id="9" name="Shape 7"/>
          <p:cNvSpPr/>
          <p:nvPr/>
        </p:nvSpPr>
        <p:spPr>
          <a:xfrm>
            <a:off x="384048" y="1353312"/>
            <a:ext cx="3703320" cy="4572000"/>
          </a:xfrm>
          <a:prstGeom prst="roundRect">
            <a:avLst>
              <a:gd name="adj" fmla="val 1975"/>
            </a:avLst>
          </a:prstGeom>
          <a:solidFill>
            <a:srgbClr val="FBF8F3"/>
          </a:solidFill>
          <a:ln w="12700">
            <a:solidFill>
              <a:srgbClr val="D9CFBF"/>
            </a:solidFill>
            <a:prstDash val="solid"/>
          </a:ln>
        </p:spPr>
      </p:sp>
      <p:sp>
        <p:nvSpPr>
          <p:cNvPr id="10" name="Text 8"/>
          <p:cNvSpPr/>
          <p:nvPr/>
        </p:nvSpPr>
        <p:spPr>
          <a:xfrm>
            <a:off x="585216" y="1499616"/>
            <a:ext cx="3291840" cy="256032"/>
          </a:xfrm>
          <a:prstGeom prst="rect">
            <a:avLst/>
          </a:prstGeom>
          <a:noFill/>
          <a:ln/>
        </p:spPr>
        <p:txBody>
          <a:bodyPr wrap="square" lIns="0" tIns="0" rIns="0" bIns="0" rtlCol="0" anchor="ctr"/>
          <a:lstStyle/>
          <a:p>
            <a:pPr indent="0" marL="0">
              <a:buNone/>
            </a:pPr>
            <a:r>
              <a:rPr lang="en-US" sz="1200" dirty="0">
                <a:solidFill>
                  <a:srgbClr val="6F675C"/>
                </a:solidFill>
                <a:latin typeface="Calibri" pitchFamily="34" charset="0"/>
                <a:ea typeface="Calibri" pitchFamily="34" charset="-122"/>
                <a:cs typeface="Calibri" pitchFamily="34" charset="-120"/>
              </a:rPr>
              <a:t>Per bulan</a:t>
            </a:r>
            <a:endParaRPr lang="en-US" sz="1200" dirty="0"/>
          </a:p>
        </p:txBody>
      </p:sp>
      <p:sp>
        <p:nvSpPr>
          <p:cNvPr id="11" name="Text 9"/>
          <p:cNvSpPr/>
          <p:nvPr/>
        </p:nvSpPr>
        <p:spPr>
          <a:xfrm>
            <a:off x="585216" y="1773936"/>
            <a:ext cx="3291840" cy="329184"/>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Ringan</a:t>
            </a:r>
            <a:endParaRPr lang="en-US" sz="2200" dirty="0"/>
          </a:p>
        </p:txBody>
      </p:sp>
      <p:sp>
        <p:nvSpPr>
          <p:cNvPr id="12" name="Text 10"/>
          <p:cNvSpPr/>
          <p:nvPr/>
        </p:nvSpPr>
        <p:spPr>
          <a:xfrm>
            <a:off x="585216" y="2139696"/>
            <a:ext cx="3291840" cy="310896"/>
          </a:xfrm>
          <a:prstGeom prst="rect">
            <a:avLst/>
          </a:prstGeom>
          <a:noFill/>
          <a:ln/>
        </p:spPr>
        <p:txBody>
          <a:bodyPr wrap="square" lIns="0" tIns="0" rIns="0" bIns="0" rtlCol="0" anchor="ctr"/>
          <a:lstStyle/>
          <a:p>
            <a:pPr indent="0" marL="0">
              <a:buNone/>
            </a:pPr>
            <a:r>
              <a:rPr lang="en-US" sz="1600" b="1" dirty="0">
                <a:solidFill>
                  <a:srgbClr val="9A4518"/>
                </a:solidFill>
                <a:latin typeface="Calibri" pitchFamily="34" charset="0"/>
                <a:ea typeface="Calibri" pitchFamily="34" charset="-122"/>
                <a:cs typeface="Calibri" pitchFamily="34" charset="-120"/>
              </a:rPr>
              <a:t>Rp450.000</a:t>
            </a:r>
            <a:endParaRPr lang="en-US" sz="1600" dirty="0"/>
          </a:p>
        </p:txBody>
      </p:sp>
      <p:sp>
        <p:nvSpPr>
          <p:cNvPr id="13" name="Text 11"/>
          <p:cNvSpPr/>
          <p:nvPr/>
        </p:nvSpPr>
        <p:spPr>
          <a:xfrm>
            <a:off x="585216" y="260604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Hosting, backup mingguan</a:t>
            </a:r>
            <a:endParaRPr lang="en-US" sz="1300" dirty="0"/>
          </a:p>
        </p:txBody>
      </p:sp>
      <p:sp>
        <p:nvSpPr>
          <p:cNvPr id="14" name="Text 12"/>
          <p:cNvSpPr/>
          <p:nvPr/>
        </p:nvSpPr>
        <p:spPr>
          <a:xfrm>
            <a:off x="2578608" y="260604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180 rb</a:t>
            </a:r>
            <a:endParaRPr lang="en-US" sz="1300" dirty="0"/>
          </a:p>
        </p:txBody>
      </p:sp>
      <p:sp>
        <p:nvSpPr>
          <p:cNvPr id="15" name="Text 13"/>
          <p:cNvSpPr/>
          <p:nvPr/>
        </p:nvSpPr>
        <p:spPr>
          <a:xfrm>
            <a:off x="585216" y="310896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Update keamanan</a:t>
            </a:r>
            <a:endParaRPr lang="en-US" sz="1300" dirty="0"/>
          </a:p>
        </p:txBody>
      </p:sp>
      <p:sp>
        <p:nvSpPr>
          <p:cNvPr id="16" name="Text 14"/>
          <p:cNvSpPr/>
          <p:nvPr/>
        </p:nvSpPr>
        <p:spPr>
          <a:xfrm>
            <a:off x="2578608" y="310896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120 rb</a:t>
            </a:r>
            <a:endParaRPr lang="en-US" sz="1300" dirty="0"/>
          </a:p>
        </p:txBody>
      </p:sp>
      <p:sp>
        <p:nvSpPr>
          <p:cNvPr id="17" name="Text 15"/>
          <p:cNvSpPr/>
          <p:nvPr/>
        </p:nvSpPr>
        <p:spPr>
          <a:xfrm>
            <a:off x="585216" y="361188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Satu ubahan kecil</a:t>
            </a:r>
            <a:endParaRPr lang="en-US" sz="1300" dirty="0"/>
          </a:p>
        </p:txBody>
      </p:sp>
      <p:sp>
        <p:nvSpPr>
          <p:cNvPr id="18" name="Text 16"/>
          <p:cNvSpPr/>
          <p:nvPr/>
        </p:nvSpPr>
        <p:spPr>
          <a:xfrm>
            <a:off x="2578608" y="361188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100 rb</a:t>
            </a:r>
            <a:endParaRPr lang="en-US" sz="1300" dirty="0"/>
          </a:p>
        </p:txBody>
      </p:sp>
      <p:sp>
        <p:nvSpPr>
          <p:cNvPr id="19" name="Text 17"/>
          <p:cNvSpPr/>
          <p:nvPr/>
        </p:nvSpPr>
        <p:spPr>
          <a:xfrm>
            <a:off x="585216" y="411480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Support chat jam kerja</a:t>
            </a:r>
            <a:endParaRPr lang="en-US" sz="1300" dirty="0"/>
          </a:p>
        </p:txBody>
      </p:sp>
      <p:sp>
        <p:nvSpPr>
          <p:cNvPr id="20" name="Text 18"/>
          <p:cNvSpPr/>
          <p:nvPr/>
        </p:nvSpPr>
        <p:spPr>
          <a:xfrm>
            <a:off x="2578608" y="411480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50 rb</a:t>
            </a:r>
            <a:endParaRPr lang="en-US" sz="1300" dirty="0"/>
          </a:p>
        </p:txBody>
      </p:sp>
      <p:sp>
        <p:nvSpPr>
          <p:cNvPr id="21" name="Shape 19"/>
          <p:cNvSpPr/>
          <p:nvPr/>
        </p:nvSpPr>
        <p:spPr>
          <a:xfrm>
            <a:off x="4270248" y="1353312"/>
            <a:ext cx="3703320" cy="4983480"/>
          </a:xfrm>
          <a:prstGeom prst="roundRect">
            <a:avLst>
              <a:gd name="adj" fmla="val 1975"/>
            </a:avLst>
          </a:prstGeom>
          <a:solidFill>
            <a:srgbClr val="2F5D50"/>
          </a:solidFill>
          <a:ln w="12700">
            <a:solidFill>
              <a:srgbClr val="2F5D50"/>
            </a:solidFill>
            <a:prstDash val="solid"/>
          </a:ln>
        </p:spPr>
      </p:sp>
      <p:sp>
        <p:nvSpPr>
          <p:cNvPr id="22" name="Text 20"/>
          <p:cNvSpPr/>
          <p:nvPr/>
        </p:nvSpPr>
        <p:spPr>
          <a:xfrm>
            <a:off x="4471416" y="1499616"/>
            <a:ext cx="3291840" cy="256032"/>
          </a:xfrm>
          <a:prstGeom prst="rect">
            <a:avLst/>
          </a:prstGeom>
          <a:noFill/>
          <a:ln/>
        </p:spPr>
        <p:txBody>
          <a:bodyPr wrap="square" lIns="0" tIns="0" rIns="0" bIns="0" rtlCol="0" anchor="ctr"/>
          <a:lstStyle/>
          <a:p>
            <a:pPr indent="0" marL="0">
              <a:buNone/>
            </a:pPr>
            <a:r>
              <a:rPr lang="en-US" sz="1200" dirty="0">
                <a:solidFill>
                  <a:srgbClr val="E7DCC8"/>
                </a:solidFill>
                <a:latin typeface="Calibri" pitchFamily="34" charset="0"/>
                <a:ea typeface="Calibri" pitchFamily="34" charset="-122"/>
                <a:cs typeface="Calibri" pitchFamily="34" charset="-120"/>
              </a:rPr>
              <a:t>Disarankan berdampingan dengan paket Kelola</a:t>
            </a:r>
            <a:endParaRPr lang="en-US" sz="1200" dirty="0"/>
          </a:p>
        </p:txBody>
      </p:sp>
      <p:sp>
        <p:nvSpPr>
          <p:cNvPr id="23" name="Text 21"/>
          <p:cNvSpPr/>
          <p:nvPr/>
        </p:nvSpPr>
        <p:spPr>
          <a:xfrm>
            <a:off x="4471416" y="1773936"/>
            <a:ext cx="3291840" cy="329184"/>
          </a:xfrm>
          <a:prstGeom prst="rect">
            <a:avLst/>
          </a:prstGeom>
          <a:noFill/>
          <a:ln/>
        </p:spPr>
        <p:txBody>
          <a:bodyPr wrap="square" lIns="0" tIns="0" rIns="0" bIns="0" rtlCol="0" anchor="ctr"/>
          <a:lstStyle/>
          <a:p>
            <a:pPr indent="0" marL="0">
              <a:buNone/>
            </a:pPr>
            <a:r>
              <a:rPr lang="en-US" sz="2200" dirty="0">
                <a:solidFill>
                  <a:srgbClr val="F4EFE6"/>
                </a:solidFill>
                <a:latin typeface="Georgia" pitchFamily="34" charset="0"/>
                <a:ea typeface="Georgia" pitchFamily="34" charset="-122"/>
                <a:cs typeface="Georgia" pitchFamily="34" charset="-120"/>
              </a:rPr>
              <a:t>Kelola</a:t>
            </a:r>
            <a:endParaRPr lang="en-US" sz="2200" dirty="0"/>
          </a:p>
        </p:txBody>
      </p:sp>
      <p:sp>
        <p:nvSpPr>
          <p:cNvPr id="24" name="Text 22"/>
          <p:cNvSpPr/>
          <p:nvPr/>
        </p:nvSpPr>
        <p:spPr>
          <a:xfrm>
            <a:off x="4471416" y="2139696"/>
            <a:ext cx="3291840" cy="310896"/>
          </a:xfrm>
          <a:prstGeom prst="rect">
            <a:avLst/>
          </a:prstGeom>
          <a:noFill/>
          <a:ln/>
        </p:spPr>
        <p:txBody>
          <a:bodyPr wrap="square" lIns="0" tIns="0" rIns="0" bIns="0" rtlCol="0" anchor="ctr"/>
          <a:lstStyle/>
          <a:p>
            <a:pPr indent="0" marL="0">
              <a:buNone/>
            </a:pPr>
            <a:r>
              <a:rPr lang="en-US" sz="1600" b="1" dirty="0">
                <a:solidFill>
                  <a:srgbClr val="F4EFE6"/>
                </a:solidFill>
                <a:latin typeface="Calibri" pitchFamily="34" charset="0"/>
                <a:ea typeface="Calibri" pitchFamily="34" charset="-122"/>
                <a:cs typeface="Calibri" pitchFamily="34" charset="-120"/>
              </a:rPr>
              <a:t>Rp950.000</a:t>
            </a:r>
            <a:endParaRPr lang="en-US" sz="1600" dirty="0"/>
          </a:p>
        </p:txBody>
      </p:sp>
      <p:sp>
        <p:nvSpPr>
          <p:cNvPr id="25" name="Text 23"/>
          <p:cNvSpPr/>
          <p:nvPr/>
        </p:nvSpPr>
        <p:spPr>
          <a:xfrm>
            <a:off x="4471416" y="2606040"/>
            <a:ext cx="2103120" cy="43891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Hosting, backup harian</a:t>
            </a:r>
            <a:endParaRPr lang="en-US" sz="1300" dirty="0"/>
          </a:p>
        </p:txBody>
      </p:sp>
      <p:sp>
        <p:nvSpPr>
          <p:cNvPr id="26" name="Text 24"/>
          <p:cNvSpPr/>
          <p:nvPr/>
        </p:nvSpPr>
        <p:spPr>
          <a:xfrm>
            <a:off x="6464808" y="2606040"/>
            <a:ext cx="1280160" cy="438912"/>
          </a:xfrm>
          <a:prstGeom prst="rect">
            <a:avLst/>
          </a:prstGeom>
          <a:noFill/>
          <a:ln/>
        </p:spPr>
        <p:txBody>
          <a:bodyPr wrap="square" lIns="0" tIns="0" rIns="0" bIns="0" rtlCol="0" anchor="ctr"/>
          <a:lstStyle/>
          <a:p>
            <a:pPr algn="r" indent="0" marL="0">
              <a:buNone/>
            </a:pPr>
            <a:r>
              <a:rPr lang="en-US" sz="1300" b="1" dirty="0">
                <a:solidFill>
                  <a:srgbClr val="F4EFE6"/>
                </a:solidFill>
                <a:latin typeface="Calibri" pitchFamily="34" charset="0"/>
                <a:ea typeface="Calibri" pitchFamily="34" charset="-122"/>
                <a:cs typeface="Calibri" pitchFamily="34" charset="-120"/>
              </a:rPr>
              <a:t>250 rb</a:t>
            </a:r>
            <a:endParaRPr lang="en-US" sz="1300" dirty="0"/>
          </a:p>
        </p:txBody>
      </p:sp>
      <p:sp>
        <p:nvSpPr>
          <p:cNvPr id="27" name="Text 25"/>
          <p:cNvSpPr/>
          <p:nvPr/>
        </p:nvSpPr>
        <p:spPr>
          <a:xfrm>
            <a:off x="4471416" y="3108960"/>
            <a:ext cx="2103120" cy="43891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Monitoring dan keamanan</a:t>
            </a:r>
            <a:endParaRPr lang="en-US" sz="1300" dirty="0"/>
          </a:p>
        </p:txBody>
      </p:sp>
      <p:sp>
        <p:nvSpPr>
          <p:cNvPr id="28" name="Text 26"/>
          <p:cNvSpPr/>
          <p:nvPr/>
        </p:nvSpPr>
        <p:spPr>
          <a:xfrm>
            <a:off x="6464808" y="3108960"/>
            <a:ext cx="1280160" cy="438912"/>
          </a:xfrm>
          <a:prstGeom prst="rect">
            <a:avLst/>
          </a:prstGeom>
          <a:noFill/>
          <a:ln/>
        </p:spPr>
        <p:txBody>
          <a:bodyPr wrap="square" lIns="0" tIns="0" rIns="0" bIns="0" rtlCol="0" anchor="ctr"/>
          <a:lstStyle/>
          <a:p>
            <a:pPr algn="r" indent="0" marL="0">
              <a:buNone/>
            </a:pPr>
            <a:r>
              <a:rPr lang="en-US" sz="1300" b="1" dirty="0">
                <a:solidFill>
                  <a:srgbClr val="F4EFE6"/>
                </a:solidFill>
                <a:latin typeface="Calibri" pitchFamily="34" charset="0"/>
                <a:ea typeface="Calibri" pitchFamily="34" charset="-122"/>
                <a:cs typeface="Calibri" pitchFamily="34" charset="-120"/>
              </a:rPr>
              <a:t>200 rb</a:t>
            </a:r>
            <a:endParaRPr lang="en-US" sz="1300" dirty="0"/>
          </a:p>
        </p:txBody>
      </p:sp>
      <p:sp>
        <p:nvSpPr>
          <p:cNvPr id="29" name="Text 27"/>
          <p:cNvSpPr/>
          <p:nvPr/>
        </p:nvSpPr>
        <p:spPr>
          <a:xfrm>
            <a:off x="4471416" y="3611880"/>
            <a:ext cx="2103120" cy="43891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Empat ubahan konten</a:t>
            </a:r>
            <a:endParaRPr lang="en-US" sz="1300" dirty="0"/>
          </a:p>
        </p:txBody>
      </p:sp>
      <p:sp>
        <p:nvSpPr>
          <p:cNvPr id="30" name="Text 28"/>
          <p:cNvSpPr/>
          <p:nvPr/>
        </p:nvSpPr>
        <p:spPr>
          <a:xfrm>
            <a:off x="6464808" y="3611880"/>
            <a:ext cx="1280160" cy="438912"/>
          </a:xfrm>
          <a:prstGeom prst="rect">
            <a:avLst/>
          </a:prstGeom>
          <a:noFill/>
          <a:ln/>
        </p:spPr>
        <p:txBody>
          <a:bodyPr wrap="square" lIns="0" tIns="0" rIns="0" bIns="0" rtlCol="0" anchor="ctr"/>
          <a:lstStyle/>
          <a:p>
            <a:pPr algn="r" indent="0" marL="0">
              <a:buNone/>
            </a:pPr>
            <a:r>
              <a:rPr lang="en-US" sz="1300" b="1" dirty="0">
                <a:solidFill>
                  <a:srgbClr val="F4EFE6"/>
                </a:solidFill>
                <a:latin typeface="Calibri" pitchFamily="34" charset="0"/>
                <a:ea typeface="Calibri" pitchFamily="34" charset="-122"/>
                <a:cs typeface="Calibri" pitchFamily="34" charset="-120"/>
              </a:rPr>
              <a:t>300 rb</a:t>
            </a:r>
            <a:endParaRPr lang="en-US" sz="1300" dirty="0"/>
          </a:p>
        </p:txBody>
      </p:sp>
      <p:sp>
        <p:nvSpPr>
          <p:cNvPr id="31" name="Text 29"/>
          <p:cNvSpPr/>
          <p:nvPr/>
        </p:nvSpPr>
        <p:spPr>
          <a:xfrm>
            <a:off x="4471416" y="4114800"/>
            <a:ext cx="2103120" cy="43891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Bug kecil</a:t>
            </a:r>
            <a:endParaRPr lang="en-US" sz="1300" dirty="0"/>
          </a:p>
        </p:txBody>
      </p:sp>
      <p:sp>
        <p:nvSpPr>
          <p:cNvPr id="32" name="Text 30"/>
          <p:cNvSpPr/>
          <p:nvPr/>
        </p:nvSpPr>
        <p:spPr>
          <a:xfrm>
            <a:off x="6464808" y="4114800"/>
            <a:ext cx="1280160" cy="438912"/>
          </a:xfrm>
          <a:prstGeom prst="rect">
            <a:avLst/>
          </a:prstGeom>
          <a:noFill/>
          <a:ln/>
        </p:spPr>
        <p:txBody>
          <a:bodyPr wrap="square" lIns="0" tIns="0" rIns="0" bIns="0" rtlCol="0" anchor="ctr"/>
          <a:lstStyle/>
          <a:p>
            <a:pPr algn="r" indent="0" marL="0">
              <a:buNone/>
            </a:pPr>
            <a:r>
              <a:rPr lang="en-US" sz="1300" b="1" dirty="0">
                <a:solidFill>
                  <a:srgbClr val="F4EFE6"/>
                </a:solidFill>
                <a:latin typeface="Calibri" pitchFamily="34" charset="0"/>
                <a:ea typeface="Calibri" pitchFamily="34" charset="-122"/>
                <a:cs typeface="Calibri" pitchFamily="34" charset="-120"/>
              </a:rPr>
              <a:t>150 rb</a:t>
            </a:r>
            <a:endParaRPr lang="en-US" sz="1300" dirty="0"/>
          </a:p>
        </p:txBody>
      </p:sp>
      <p:sp>
        <p:nvSpPr>
          <p:cNvPr id="33" name="Text 31"/>
          <p:cNvSpPr/>
          <p:nvPr/>
        </p:nvSpPr>
        <p:spPr>
          <a:xfrm>
            <a:off x="4471416" y="4617720"/>
            <a:ext cx="2103120" cy="43891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Catatan hunian</a:t>
            </a:r>
            <a:endParaRPr lang="en-US" sz="1300" dirty="0"/>
          </a:p>
        </p:txBody>
      </p:sp>
      <p:sp>
        <p:nvSpPr>
          <p:cNvPr id="34" name="Text 32"/>
          <p:cNvSpPr/>
          <p:nvPr/>
        </p:nvSpPr>
        <p:spPr>
          <a:xfrm>
            <a:off x="6464808" y="4617720"/>
            <a:ext cx="1280160" cy="438912"/>
          </a:xfrm>
          <a:prstGeom prst="rect">
            <a:avLst/>
          </a:prstGeom>
          <a:noFill/>
          <a:ln/>
        </p:spPr>
        <p:txBody>
          <a:bodyPr wrap="square" lIns="0" tIns="0" rIns="0" bIns="0" rtlCol="0" anchor="ctr"/>
          <a:lstStyle/>
          <a:p>
            <a:pPr algn="r" indent="0" marL="0">
              <a:buNone/>
            </a:pPr>
            <a:r>
              <a:rPr lang="en-US" sz="1300" b="1" dirty="0">
                <a:solidFill>
                  <a:srgbClr val="F4EFE6"/>
                </a:solidFill>
                <a:latin typeface="Calibri" pitchFamily="34" charset="0"/>
                <a:ea typeface="Calibri" pitchFamily="34" charset="-122"/>
                <a:cs typeface="Calibri" pitchFamily="34" charset="-120"/>
              </a:rPr>
              <a:t>50 rb</a:t>
            </a:r>
            <a:endParaRPr lang="en-US" sz="1300" dirty="0"/>
          </a:p>
        </p:txBody>
      </p:sp>
      <p:sp>
        <p:nvSpPr>
          <p:cNvPr id="35" name="Shape 33"/>
          <p:cNvSpPr/>
          <p:nvPr/>
        </p:nvSpPr>
        <p:spPr>
          <a:xfrm>
            <a:off x="8156448" y="1353312"/>
            <a:ext cx="3703320" cy="4572000"/>
          </a:xfrm>
          <a:prstGeom prst="roundRect">
            <a:avLst>
              <a:gd name="adj" fmla="val 1975"/>
            </a:avLst>
          </a:prstGeom>
          <a:solidFill>
            <a:srgbClr val="FBF8F3"/>
          </a:solidFill>
          <a:ln w="12700">
            <a:solidFill>
              <a:srgbClr val="D9CFBF"/>
            </a:solidFill>
            <a:prstDash val="solid"/>
          </a:ln>
        </p:spPr>
      </p:sp>
      <p:sp>
        <p:nvSpPr>
          <p:cNvPr id="36" name="Text 34"/>
          <p:cNvSpPr/>
          <p:nvPr/>
        </p:nvSpPr>
        <p:spPr>
          <a:xfrm>
            <a:off x="8357616" y="1499616"/>
            <a:ext cx="3291840" cy="256032"/>
          </a:xfrm>
          <a:prstGeom prst="rect">
            <a:avLst/>
          </a:prstGeom>
          <a:noFill/>
          <a:ln/>
        </p:spPr>
        <p:txBody>
          <a:bodyPr wrap="square" lIns="0" tIns="0" rIns="0" bIns="0" rtlCol="0" anchor="ctr"/>
          <a:lstStyle/>
          <a:p>
            <a:pPr indent="0" marL="0">
              <a:buNone/>
            </a:pPr>
            <a:r>
              <a:rPr lang="en-US" sz="1200" dirty="0">
                <a:solidFill>
                  <a:srgbClr val="6F675C"/>
                </a:solidFill>
                <a:latin typeface="Calibri" pitchFamily="34" charset="0"/>
                <a:ea typeface="Calibri" pitchFamily="34" charset="-122"/>
                <a:cs typeface="Calibri" pitchFamily="34" charset="-120"/>
              </a:rPr>
              <a:t>Per bulan</a:t>
            </a:r>
            <a:endParaRPr lang="en-US" sz="1200" dirty="0"/>
          </a:p>
        </p:txBody>
      </p:sp>
      <p:sp>
        <p:nvSpPr>
          <p:cNvPr id="37" name="Text 35"/>
          <p:cNvSpPr/>
          <p:nvPr/>
        </p:nvSpPr>
        <p:spPr>
          <a:xfrm>
            <a:off x="8357616" y="1773936"/>
            <a:ext cx="3291840" cy="329184"/>
          </a:xfrm>
          <a:prstGeom prst="rect">
            <a:avLst/>
          </a:prstGeom>
          <a:noFill/>
          <a:ln/>
        </p:spPr>
        <p:txBody>
          <a:bodyPr wrap="square" lIns="0" tIns="0" rIns="0" bIns="0" rtlCol="0" anchor="ctr"/>
          <a:lstStyle/>
          <a:p>
            <a:pPr indent="0" marL="0">
              <a:buNone/>
            </a:pPr>
            <a:r>
              <a:rPr lang="en-US" sz="2200" dirty="0">
                <a:solidFill>
                  <a:srgbClr val="1A1814"/>
                </a:solidFill>
                <a:latin typeface="Georgia" pitchFamily="34" charset="0"/>
                <a:ea typeface="Georgia" pitchFamily="34" charset="-122"/>
                <a:cs typeface="Georgia" pitchFamily="34" charset="-120"/>
              </a:rPr>
              <a:t>Penuh</a:t>
            </a:r>
            <a:endParaRPr lang="en-US" sz="2200" dirty="0"/>
          </a:p>
        </p:txBody>
      </p:sp>
      <p:sp>
        <p:nvSpPr>
          <p:cNvPr id="38" name="Text 36"/>
          <p:cNvSpPr/>
          <p:nvPr/>
        </p:nvSpPr>
        <p:spPr>
          <a:xfrm>
            <a:off x="8357616" y="2139696"/>
            <a:ext cx="3291840" cy="310896"/>
          </a:xfrm>
          <a:prstGeom prst="rect">
            <a:avLst/>
          </a:prstGeom>
          <a:noFill/>
          <a:ln/>
        </p:spPr>
        <p:txBody>
          <a:bodyPr wrap="square" lIns="0" tIns="0" rIns="0" bIns="0" rtlCol="0" anchor="ctr"/>
          <a:lstStyle/>
          <a:p>
            <a:pPr indent="0" marL="0">
              <a:buNone/>
            </a:pPr>
            <a:r>
              <a:rPr lang="en-US" sz="1600" b="1" dirty="0">
                <a:solidFill>
                  <a:srgbClr val="9A4518"/>
                </a:solidFill>
                <a:latin typeface="Calibri" pitchFamily="34" charset="0"/>
                <a:ea typeface="Calibri" pitchFamily="34" charset="-122"/>
                <a:cs typeface="Calibri" pitchFamily="34" charset="-120"/>
              </a:rPr>
              <a:t>Rp1.850.000</a:t>
            </a:r>
            <a:endParaRPr lang="en-US" sz="1600" dirty="0"/>
          </a:p>
        </p:txBody>
      </p:sp>
      <p:sp>
        <p:nvSpPr>
          <p:cNvPr id="39" name="Text 37"/>
          <p:cNvSpPr/>
          <p:nvPr/>
        </p:nvSpPr>
        <p:spPr>
          <a:xfrm>
            <a:off x="8357616" y="260604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Semua isi Kelola</a:t>
            </a:r>
            <a:endParaRPr lang="en-US" sz="1300" dirty="0"/>
          </a:p>
        </p:txBody>
      </p:sp>
      <p:sp>
        <p:nvSpPr>
          <p:cNvPr id="40" name="Text 38"/>
          <p:cNvSpPr/>
          <p:nvPr/>
        </p:nvSpPr>
        <p:spPr>
          <a:xfrm>
            <a:off x="10351008" y="260604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950 rb</a:t>
            </a:r>
            <a:endParaRPr lang="en-US" sz="1300" dirty="0"/>
          </a:p>
        </p:txBody>
      </p:sp>
      <p:sp>
        <p:nvSpPr>
          <p:cNvPr id="41" name="Text 39"/>
          <p:cNvSpPr/>
          <p:nvPr/>
        </p:nvSpPr>
        <p:spPr>
          <a:xfrm>
            <a:off x="8357616" y="310896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Bantuan invoice ringan</a:t>
            </a:r>
            <a:endParaRPr lang="en-US" sz="1300" dirty="0"/>
          </a:p>
        </p:txBody>
      </p:sp>
      <p:sp>
        <p:nvSpPr>
          <p:cNvPr id="42" name="Text 40"/>
          <p:cNvSpPr/>
          <p:nvPr/>
        </p:nvSpPr>
        <p:spPr>
          <a:xfrm>
            <a:off x="10351008" y="310896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400 rb</a:t>
            </a:r>
            <a:endParaRPr lang="en-US" sz="1300" dirty="0"/>
          </a:p>
        </p:txBody>
      </p:sp>
      <p:sp>
        <p:nvSpPr>
          <p:cNvPr id="43" name="Text 41"/>
          <p:cNvSpPr/>
          <p:nvPr/>
        </p:nvSpPr>
        <p:spPr>
          <a:xfrm>
            <a:off x="8357616" y="361188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Dua naskah iklan</a:t>
            </a:r>
            <a:endParaRPr lang="en-US" sz="1300" dirty="0"/>
          </a:p>
        </p:txBody>
      </p:sp>
      <p:sp>
        <p:nvSpPr>
          <p:cNvPr id="44" name="Text 42"/>
          <p:cNvSpPr/>
          <p:nvPr/>
        </p:nvSpPr>
        <p:spPr>
          <a:xfrm>
            <a:off x="10351008" y="361188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300 rb</a:t>
            </a:r>
            <a:endParaRPr lang="en-US" sz="1300" dirty="0"/>
          </a:p>
        </p:txBody>
      </p:sp>
      <p:sp>
        <p:nvSpPr>
          <p:cNvPr id="45" name="Text 43"/>
          <p:cNvSpPr/>
          <p:nvPr/>
        </p:nvSpPr>
        <p:spPr>
          <a:xfrm>
            <a:off x="8357616" y="4114800"/>
            <a:ext cx="2103120" cy="438912"/>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Darurat luar jam kerja</a:t>
            </a:r>
            <a:endParaRPr lang="en-US" sz="1300" dirty="0"/>
          </a:p>
        </p:txBody>
      </p:sp>
      <p:sp>
        <p:nvSpPr>
          <p:cNvPr id="46" name="Text 44"/>
          <p:cNvSpPr/>
          <p:nvPr/>
        </p:nvSpPr>
        <p:spPr>
          <a:xfrm>
            <a:off x="10351008" y="4114800"/>
            <a:ext cx="1280160" cy="438912"/>
          </a:xfrm>
          <a:prstGeom prst="rect">
            <a:avLst/>
          </a:prstGeom>
          <a:noFill/>
          <a:ln/>
        </p:spPr>
        <p:txBody>
          <a:bodyPr wrap="square" lIns="0" tIns="0" rIns="0" bIns="0" rtlCol="0" anchor="ctr"/>
          <a:lstStyle/>
          <a:p>
            <a:pPr algn="r" indent="0" marL="0">
              <a:buNone/>
            </a:pPr>
            <a:r>
              <a:rPr lang="en-US" sz="1300" b="1" dirty="0">
                <a:solidFill>
                  <a:srgbClr val="1A1814"/>
                </a:solidFill>
                <a:latin typeface="Calibri" pitchFamily="34" charset="0"/>
                <a:ea typeface="Calibri" pitchFamily="34" charset="-122"/>
                <a:cs typeface="Calibri" pitchFamily="34" charset="-120"/>
              </a:rPr>
              <a:t>200 rb</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14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Biaya punya, tiga tahun. Juta rupiah.</a:t>
            </a:r>
            <a:endParaRPr lang="en-US" sz="2800" dirty="0"/>
          </a:p>
        </p:txBody>
      </p:sp>
      <p:sp>
        <p:nvSpPr>
          <p:cNvPr id="8" name="Text 6"/>
          <p:cNvSpPr/>
          <p:nvPr/>
        </p:nvSpPr>
        <p:spPr>
          <a:xfrm>
            <a:off x="384048" y="786384"/>
            <a:ext cx="11338560" cy="457200"/>
          </a:xfrm>
          <a:prstGeom prst="rect">
            <a:avLst/>
          </a:prstGeom>
          <a:noFill/>
          <a:ln/>
        </p:spPr>
        <p:txBody>
          <a:bodyPr wrap="square" lIns="0" tIns="0" rIns="0" bIns="0" rtlCol="0" anchor="ctr"/>
          <a:lstStyle/>
          <a:p>
            <a:pPr indent="0" marL="0">
              <a:buNone/>
            </a:pPr>
            <a:r>
              <a:rPr lang="en-US" sz="1400" dirty="0">
                <a:solidFill>
                  <a:srgbClr val="6F675C"/>
                </a:solidFill>
                <a:latin typeface="Calibri" pitchFamily="34" charset="0"/>
                <a:ea typeface="Calibri" pitchFamily="34" charset="-122"/>
                <a:cs typeface="Calibri" pitchFamily="34" charset="-120"/>
              </a:rPr>
              <a:t>Tahun pertama = bangun + 9 bulan rawat. Tahun kedua dan ketiga = rawat saja. Domain dan hosting sudah termasuk, tidak muncul sebagai tagihan lain.</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84048" y="1417320"/>
          <a:ext cx="11430000" cy="914400"/>
        </p:xfrm>
        <a:graphic>
          <a:graphicData uri="http://schemas.openxmlformats.org/drawingml/2006/table">
            <a:tbl>
              <a:tblPr/>
              <a:tblGrid>
                <a:gridCol w="3017520"/>
                <a:gridCol w="2798064"/>
                <a:gridCol w="2798064"/>
                <a:gridCol w="2816352"/>
              </a:tblGrid>
              <a:tr h="530352">
                <a:tc>
                  <a:txBody>
                    <a:bodyPr/>
                    <a:lstStyle/>
                    <a:p>
                      <a:pPr algn="l" indent="0" marL="0">
                        <a:buNone/>
                      </a:pP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c>
                  <a:txBody>
                    <a:bodyPr/>
                    <a:lstStyle/>
                    <a:p>
                      <a:pPr algn="r" indent="0" marL="0">
                        <a:buNone/>
                      </a:pPr>
                      <a:r>
                        <a:rPr lang="en-US" sz="1500" b="1" dirty="0">
                          <a:solidFill>
                            <a:srgbClr val="F4EFE6"/>
                          </a:solidFill>
                          <a:latin typeface="Calibri" pitchFamily="34" charset="0"/>
                          <a:ea typeface="Calibri" pitchFamily="34" charset="-122"/>
                          <a:cs typeface="Calibri" pitchFamily="34" charset="-120"/>
                        </a:rPr>
                        <a:t>Dasar + Ringan</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c>
                  <a:txBody>
                    <a:bodyPr/>
                    <a:lstStyle/>
                    <a:p>
                      <a:pPr algn="r" indent="0" marL="0">
                        <a:buNone/>
                      </a:pPr>
                      <a:r>
                        <a:rPr lang="en-US" sz="1500" b="1" dirty="0">
                          <a:solidFill>
                            <a:srgbClr val="F4EFE6"/>
                          </a:solidFill>
                          <a:latin typeface="Calibri" pitchFamily="34" charset="0"/>
                          <a:ea typeface="Calibri" pitchFamily="34" charset="-122"/>
                          <a:cs typeface="Calibri" pitchFamily="34" charset="-120"/>
                        </a:rPr>
                        <a:t>Kelola + Kelola</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c>
                  <a:txBody>
                    <a:bodyPr/>
                    <a:lstStyle/>
                    <a:p>
                      <a:pPr algn="r" indent="0" marL="0">
                        <a:buNone/>
                      </a:pPr>
                      <a:r>
                        <a:rPr lang="en-US" sz="1500" b="1" dirty="0">
                          <a:solidFill>
                            <a:srgbClr val="F4EFE6"/>
                          </a:solidFill>
                          <a:latin typeface="Calibri" pitchFamily="34" charset="0"/>
                          <a:ea typeface="Calibri" pitchFamily="34" charset="-122"/>
                          <a:cs typeface="Calibri" pitchFamily="34" charset="-120"/>
                        </a:rPr>
                        <a:t>Penuh + Penuh</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1A1814"/>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Bangun</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12,50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24,50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42,00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Rawat 9 bulan</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4,05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8,55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16,65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Tahun 1</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16,55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33,05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58,65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Tahun 2</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5,40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11,40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22,20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BF8F3"/>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Tahun 3</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5,40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11,40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c>
                  <a:txBody>
                    <a:bodyPr/>
                    <a:lstStyle/>
                    <a:p>
                      <a:pPr algn="r" indent="0" marL="0">
                        <a:buNone/>
                      </a:pPr>
                      <a:r>
                        <a:rPr lang="en-US" sz="1500" dirty="0">
                          <a:solidFill>
                            <a:srgbClr val="1A1814"/>
                          </a:solidFill>
                          <a:latin typeface="Calibri" pitchFamily="34" charset="0"/>
                          <a:ea typeface="Calibri" pitchFamily="34" charset="-122"/>
                          <a:cs typeface="Calibri" pitchFamily="34" charset="-120"/>
                        </a:rPr>
                        <a:t>22,20</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F4EFE6"/>
                    </a:solidFill>
                  </a:tcPr>
                </a:tc>
              </a:tr>
              <a:tr h="530352">
                <a:tc>
                  <a:txBody>
                    <a:bodyPr/>
                    <a:lstStyle/>
                    <a:p>
                      <a:pPr algn="l" indent="0" marL="0">
                        <a:buNone/>
                      </a:pPr>
                      <a:r>
                        <a:rPr lang="en-US" sz="1500" b="1" dirty="0">
                          <a:solidFill>
                            <a:srgbClr val="1A1814"/>
                          </a:solidFill>
                          <a:latin typeface="Calibri" pitchFamily="34" charset="0"/>
                          <a:ea typeface="Calibri" pitchFamily="34" charset="-122"/>
                          <a:cs typeface="Calibri" pitchFamily="34" charset="-120"/>
                        </a:rPr>
                        <a:t>Total 3 tahun</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E7DCC8"/>
                    </a:solidFill>
                  </a:tcPr>
                </a:tc>
                <a:tc>
                  <a:txBody>
                    <a:bodyPr/>
                    <a:lstStyle/>
                    <a:p>
                      <a:pPr algn="r" indent="0" marL="0">
                        <a:buNone/>
                      </a:pPr>
                      <a:r>
                        <a:rPr lang="en-US" sz="1500" b="1" dirty="0">
                          <a:solidFill>
                            <a:srgbClr val="1A1814"/>
                          </a:solidFill>
                          <a:latin typeface="Calibri" pitchFamily="34" charset="0"/>
                          <a:ea typeface="Calibri" pitchFamily="34" charset="-122"/>
                          <a:cs typeface="Calibri" pitchFamily="34" charset="-120"/>
                        </a:rPr>
                        <a:t>27,35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E7DCC8"/>
                    </a:solidFill>
                  </a:tcPr>
                </a:tc>
                <a:tc>
                  <a:txBody>
                    <a:bodyPr/>
                    <a:lstStyle/>
                    <a:p>
                      <a:pPr algn="r" indent="0" marL="0">
                        <a:buNone/>
                      </a:pPr>
                      <a:r>
                        <a:rPr lang="en-US" sz="1500" b="1" dirty="0">
                          <a:solidFill>
                            <a:srgbClr val="1A1814"/>
                          </a:solidFill>
                          <a:latin typeface="Calibri" pitchFamily="34" charset="0"/>
                          <a:ea typeface="Calibri" pitchFamily="34" charset="-122"/>
                          <a:cs typeface="Calibri" pitchFamily="34" charset="-120"/>
                        </a:rPr>
                        <a:t>55,85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E7DCC8"/>
                    </a:solidFill>
                  </a:tcPr>
                </a:tc>
                <a:tc>
                  <a:txBody>
                    <a:bodyPr/>
                    <a:lstStyle/>
                    <a:p>
                      <a:pPr algn="r" indent="0" marL="0">
                        <a:buNone/>
                      </a:pPr>
                      <a:r>
                        <a:rPr lang="en-US" sz="1500" b="1" dirty="0">
                          <a:solidFill>
                            <a:srgbClr val="1A1814"/>
                          </a:solidFill>
                          <a:latin typeface="Calibri" pitchFamily="34" charset="0"/>
                          <a:ea typeface="Calibri" pitchFamily="34" charset="-122"/>
                          <a:cs typeface="Calibri" pitchFamily="34" charset="-120"/>
                        </a:rPr>
                        <a:t>103,05</a:t>
                      </a:r>
                      <a:endParaRPr lang="en-US" sz="1500" dirty="0">
                        <a:latin typeface="Calibri" charset="0"/>
                        <a:ea typeface="Calibri" charset="0"/>
                        <a:cs typeface="Calibri" charset="0"/>
                      </a:endParaRPr>
                    </a:p>
                  </a:txBody>
                  <a:tcPr marL="152400" marR="152400" marT="101600" marB="101600" anchor="ctr">
                    <a:lnL w="12700" cap="flat" cmpd="sng" algn="ctr">
                      <a:solidFill>
                        <a:srgbClr val="F4EFE6"/>
                      </a:solidFill>
                      <a:prstDash val="solid"/>
                      <a:round/>
                      <a:headEnd type="none" w="med" len="med"/>
                      <a:tailEnd type="none" w="med" len="med"/>
                    </a:lnL>
                    <a:lnR w="12700" cap="flat" cmpd="sng" algn="ctr">
                      <a:solidFill>
                        <a:srgbClr val="F4EFE6"/>
                      </a:solidFill>
                      <a:prstDash val="solid"/>
                      <a:round/>
                      <a:headEnd type="none" w="med" len="med"/>
                      <a:tailEnd type="none" w="med" len="med"/>
                    </a:lnR>
                    <a:lnT w="12700" cap="flat" cmpd="sng" algn="ctr">
                      <a:solidFill>
                        <a:srgbClr val="F4EFE6"/>
                      </a:solidFill>
                      <a:prstDash val="solid"/>
                      <a:round/>
                      <a:headEnd type="none" w="med" len="med"/>
                      <a:tailEnd type="none" w="med" len="med"/>
                    </a:lnT>
                    <a:lnB w="12700" cap="flat" cmpd="sng" algn="ctr">
                      <a:solidFill>
                        <a:srgbClr val="F4EFE6"/>
                      </a:solidFill>
                      <a:prstDash val="solid"/>
                      <a:round/>
                      <a:headEnd type="none" w="med" len="med"/>
                      <a:tailEnd type="none" w="med" len="med"/>
                    </a:lnB>
                    <a:solidFill>
                      <a:srgbClr val="E7DCC8"/>
                    </a:solidFill>
                  </a:tcPr>
                </a:tc>
              </a:tr>
            </a:tbl>
          </a:graphicData>
        </a:graphic>
      </p:graphicFrame>
      <p:sp>
        <p:nvSpPr>
          <p:cNvPr id="10" name="Text 7"/>
          <p:cNvSpPr/>
          <p:nvPr/>
        </p:nvSpPr>
        <p:spPr>
          <a:xfrm>
            <a:off x="384048" y="5989320"/>
            <a:ext cx="11338560" cy="365760"/>
          </a:xfrm>
          <a:prstGeom prst="rect">
            <a:avLst/>
          </a:prstGeom>
          <a:noFill/>
          <a:ln/>
        </p:spPr>
        <p:txBody>
          <a:bodyPr wrap="square" lIns="0" tIns="0" rIns="0" bIns="0" rtlCol="0" anchor="ctr"/>
          <a:lstStyle/>
          <a:p>
            <a:pPr indent="0" marL="0">
              <a:buNone/>
            </a:pPr>
            <a:r>
              <a:rPr lang="en-US" sz="1400" dirty="0">
                <a:solidFill>
                  <a:srgbClr val="6F675C"/>
                </a:solidFill>
                <a:latin typeface="Calibri" pitchFamily="34" charset="0"/>
                <a:ea typeface="Calibri" pitchFamily="34" charset="-122"/>
                <a:cs typeface="Calibri" pitchFamily="34" charset="-120"/>
              </a:rPr>
              <a:t>Pasangkan Dasar dengan Ringan, Kelola dengan Kelola, Penuh dengan Penuh. Mencampur boleh, angkanya bergeser.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15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Enam minggu untuk paket Kelola. Dibayar tiga kali.</a:t>
            </a:r>
            <a:endParaRPr lang="en-US" sz="2800" dirty="0"/>
          </a:p>
        </p:txBody>
      </p:sp>
      <p:sp>
        <p:nvSpPr>
          <p:cNvPr id="8" name="Shape 6"/>
          <p:cNvSpPr/>
          <p:nvPr/>
        </p:nvSpPr>
        <p:spPr>
          <a:xfrm>
            <a:off x="384048" y="960120"/>
            <a:ext cx="1554480" cy="530352"/>
          </a:xfrm>
          <a:prstGeom prst="roundRect">
            <a:avLst>
              <a:gd name="adj" fmla="val 10345"/>
            </a:avLst>
          </a:prstGeom>
          <a:solidFill>
            <a:srgbClr val="1A1814"/>
          </a:solidFill>
          <a:ln/>
        </p:spPr>
      </p:sp>
      <p:sp>
        <p:nvSpPr>
          <p:cNvPr id="9" name="Text 7"/>
          <p:cNvSpPr/>
          <p:nvPr/>
        </p:nvSpPr>
        <p:spPr>
          <a:xfrm>
            <a:off x="384048" y="960120"/>
            <a:ext cx="1554480" cy="530352"/>
          </a:xfrm>
          <a:prstGeom prst="rect">
            <a:avLst/>
          </a:prstGeom>
          <a:noFill/>
          <a:ln/>
        </p:spPr>
        <p:txBody>
          <a:bodyPr wrap="square" lIns="0" tIns="0" rIns="0" bIns="0" rtlCol="0" anchor="ctr"/>
          <a:lstStyle/>
          <a:p>
            <a:pPr algn="ctr" indent="0" marL="0">
              <a:buNone/>
            </a:pPr>
            <a:r>
              <a:rPr lang="en-US" sz="1200" b="1" dirty="0">
                <a:solidFill>
                  <a:srgbClr val="F4EFE6"/>
                </a:solidFill>
                <a:latin typeface="Calibri" pitchFamily="34" charset="0"/>
                <a:ea typeface="Calibri" pitchFamily="34" charset="-122"/>
                <a:cs typeface="Calibri" pitchFamily="34" charset="-120"/>
              </a:rPr>
              <a:t>Minggu 1</a:t>
            </a:r>
            <a:endParaRPr lang="en-US" sz="1200" dirty="0"/>
          </a:p>
        </p:txBody>
      </p:sp>
      <p:sp>
        <p:nvSpPr>
          <p:cNvPr id="10" name="Text 8"/>
          <p:cNvSpPr/>
          <p:nvPr/>
        </p:nvSpPr>
        <p:spPr>
          <a:xfrm>
            <a:off x="2103120" y="960120"/>
            <a:ext cx="5577840" cy="530352"/>
          </a:xfrm>
          <a:prstGeom prst="rect">
            <a:avLst/>
          </a:prstGeom>
          <a:noFill/>
          <a:ln/>
        </p:spPr>
        <p:txBody>
          <a:bodyPr wrap="square" lIns="0" tIns="0" rIns="0" bIns="0" rtlCol="0" anchor="ctr"/>
          <a:lstStyle/>
          <a:p>
            <a:pPr indent="0" marL="0">
              <a:buNone/>
            </a:pPr>
            <a:r>
              <a:rPr lang="en-US" sz="1400" dirty="0">
                <a:solidFill>
                  <a:srgbClr val="1A1814"/>
                </a:solidFill>
                <a:latin typeface="Calibri" pitchFamily="34" charset="0"/>
                <a:ea typeface="Calibri" pitchFamily="34" charset="-122"/>
                <a:cs typeface="Calibri" pitchFamily="34" charset="-120"/>
              </a:rPr>
              <a:t>Kumpulkan jumlah kamar, harga, dan foto yang ada. Kunci peta halaman.</a:t>
            </a:r>
            <a:endParaRPr lang="en-US" sz="1400" dirty="0"/>
          </a:p>
        </p:txBody>
      </p:sp>
      <p:sp>
        <p:nvSpPr>
          <p:cNvPr id="11" name="Shape 9"/>
          <p:cNvSpPr/>
          <p:nvPr/>
        </p:nvSpPr>
        <p:spPr>
          <a:xfrm>
            <a:off x="384048" y="1618488"/>
            <a:ext cx="1554480" cy="530352"/>
          </a:xfrm>
          <a:prstGeom prst="roundRect">
            <a:avLst>
              <a:gd name="adj" fmla="val 10345"/>
            </a:avLst>
          </a:prstGeom>
          <a:solidFill>
            <a:srgbClr val="1A1814"/>
          </a:solidFill>
          <a:ln/>
        </p:spPr>
      </p:sp>
      <p:sp>
        <p:nvSpPr>
          <p:cNvPr id="12" name="Text 10"/>
          <p:cNvSpPr/>
          <p:nvPr/>
        </p:nvSpPr>
        <p:spPr>
          <a:xfrm>
            <a:off x="384048" y="1618488"/>
            <a:ext cx="1554480" cy="530352"/>
          </a:xfrm>
          <a:prstGeom prst="rect">
            <a:avLst/>
          </a:prstGeom>
          <a:noFill/>
          <a:ln/>
        </p:spPr>
        <p:txBody>
          <a:bodyPr wrap="square" lIns="0" tIns="0" rIns="0" bIns="0" rtlCol="0" anchor="ctr"/>
          <a:lstStyle/>
          <a:p>
            <a:pPr algn="ctr" indent="0" marL="0">
              <a:buNone/>
            </a:pPr>
            <a:r>
              <a:rPr lang="en-US" sz="1200" b="1" dirty="0">
                <a:solidFill>
                  <a:srgbClr val="F4EFE6"/>
                </a:solidFill>
                <a:latin typeface="Calibri" pitchFamily="34" charset="0"/>
                <a:ea typeface="Calibri" pitchFamily="34" charset="-122"/>
                <a:cs typeface="Calibri" pitchFamily="34" charset="-120"/>
              </a:rPr>
              <a:t>Minggu 2</a:t>
            </a:r>
            <a:endParaRPr lang="en-US" sz="1200" dirty="0"/>
          </a:p>
        </p:txBody>
      </p:sp>
      <p:sp>
        <p:nvSpPr>
          <p:cNvPr id="13" name="Text 11"/>
          <p:cNvSpPr/>
          <p:nvPr/>
        </p:nvSpPr>
        <p:spPr>
          <a:xfrm>
            <a:off x="2103120" y="1618488"/>
            <a:ext cx="5577840" cy="530352"/>
          </a:xfrm>
          <a:prstGeom prst="rect">
            <a:avLst/>
          </a:prstGeom>
          <a:noFill/>
          <a:ln/>
        </p:spPr>
        <p:txBody>
          <a:bodyPr wrap="square" lIns="0" tIns="0" rIns="0" bIns="0" rtlCol="0" anchor="ctr"/>
          <a:lstStyle/>
          <a:p>
            <a:pPr indent="0" marL="0">
              <a:buNone/>
            </a:pPr>
            <a:r>
              <a:rPr lang="en-US" sz="1400" dirty="0">
                <a:solidFill>
                  <a:srgbClr val="1A1814"/>
                </a:solidFill>
                <a:latin typeface="Calibri" pitchFamily="34" charset="0"/>
                <a:ea typeface="Calibri" pitchFamily="34" charset="-122"/>
                <a:cs typeface="Calibri" pitchFamily="34" charset="-120"/>
              </a:rPr>
              <a:t>Desain dikunci. Dua putaran revisi. Belum coding besar.</a:t>
            </a:r>
            <a:endParaRPr lang="en-US" sz="1400" dirty="0"/>
          </a:p>
        </p:txBody>
      </p:sp>
      <p:sp>
        <p:nvSpPr>
          <p:cNvPr id="14" name="Shape 12"/>
          <p:cNvSpPr/>
          <p:nvPr/>
        </p:nvSpPr>
        <p:spPr>
          <a:xfrm>
            <a:off x="384048" y="2276856"/>
            <a:ext cx="1554480" cy="530352"/>
          </a:xfrm>
          <a:prstGeom prst="roundRect">
            <a:avLst>
              <a:gd name="adj" fmla="val 10345"/>
            </a:avLst>
          </a:prstGeom>
          <a:solidFill>
            <a:srgbClr val="1A1814"/>
          </a:solidFill>
          <a:ln/>
        </p:spPr>
      </p:sp>
      <p:sp>
        <p:nvSpPr>
          <p:cNvPr id="15" name="Text 13"/>
          <p:cNvSpPr/>
          <p:nvPr/>
        </p:nvSpPr>
        <p:spPr>
          <a:xfrm>
            <a:off x="384048" y="2276856"/>
            <a:ext cx="1554480" cy="530352"/>
          </a:xfrm>
          <a:prstGeom prst="rect">
            <a:avLst/>
          </a:prstGeom>
          <a:noFill/>
          <a:ln/>
        </p:spPr>
        <p:txBody>
          <a:bodyPr wrap="square" lIns="0" tIns="0" rIns="0" bIns="0" rtlCol="0" anchor="ctr"/>
          <a:lstStyle/>
          <a:p>
            <a:pPr algn="ctr" indent="0" marL="0">
              <a:buNone/>
            </a:pPr>
            <a:r>
              <a:rPr lang="en-US" sz="1200" b="1" dirty="0">
                <a:solidFill>
                  <a:srgbClr val="F4EFE6"/>
                </a:solidFill>
                <a:latin typeface="Calibri" pitchFamily="34" charset="0"/>
                <a:ea typeface="Calibri" pitchFamily="34" charset="-122"/>
                <a:cs typeface="Calibri" pitchFamily="34" charset="-120"/>
              </a:rPr>
              <a:t>Minggu 3–4</a:t>
            </a:r>
            <a:endParaRPr lang="en-US" sz="1200" dirty="0"/>
          </a:p>
        </p:txBody>
      </p:sp>
      <p:sp>
        <p:nvSpPr>
          <p:cNvPr id="16" name="Text 14"/>
          <p:cNvSpPr/>
          <p:nvPr/>
        </p:nvSpPr>
        <p:spPr>
          <a:xfrm>
            <a:off x="2103120" y="2276856"/>
            <a:ext cx="5577840" cy="530352"/>
          </a:xfrm>
          <a:prstGeom prst="rect">
            <a:avLst/>
          </a:prstGeom>
          <a:noFill/>
          <a:ln/>
        </p:spPr>
        <p:txBody>
          <a:bodyPr wrap="square" lIns="0" tIns="0" rIns="0" bIns="0" rtlCol="0" anchor="ctr"/>
          <a:lstStyle/>
          <a:p>
            <a:pPr indent="0" marL="0">
              <a:buNone/>
            </a:pPr>
            <a:r>
              <a:rPr lang="en-US" sz="1400" dirty="0">
                <a:solidFill>
                  <a:srgbClr val="1A1814"/>
                </a:solidFill>
                <a:latin typeface="Calibri" pitchFamily="34" charset="0"/>
                <a:ea typeface="Calibri" pitchFamily="34" charset="-122"/>
                <a:cs typeface="Calibri" pitchFamily="34" charset="-120"/>
              </a:rPr>
              <a:t>Katalog, halaman unit, dan form sewa.</a:t>
            </a:r>
            <a:endParaRPr lang="en-US" sz="1400" dirty="0"/>
          </a:p>
        </p:txBody>
      </p:sp>
      <p:sp>
        <p:nvSpPr>
          <p:cNvPr id="17" name="Shape 15"/>
          <p:cNvSpPr/>
          <p:nvPr/>
        </p:nvSpPr>
        <p:spPr>
          <a:xfrm>
            <a:off x="384048" y="2935224"/>
            <a:ext cx="1554480" cy="530352"/>
          </a:xfrm>
          <a:prstGeom prst="roundRect">
            <a:avLst>
              <a:gd name="adj" fmla="val 10345"/>
            </a:avLst>
          </a:prstGeom>
          <a:solidFill>
            <a:srgbClr val="1A1814"/>
          </a:solidFill>
          <a:ln/>
        </p:spPr>
      </p:sp>
      <p:sp>
        <p:nvSpPr>
          <p:cNvPr id="18" name="Text 16"/>
          <p:cNvSpPr/>
          <p:nvPr/>
        </p:nvSpPr>
        <p:spPr>
          <a:xfrm>
            <a:off x="384048" y="2935224"/>
            <a:ext cx="1554480" cy="530352"/>
          </a:xfrm>
          <a:prstGeom prst="rect">
            <a:avLst/>
          </a:prstGeom>
          <a:noFill/>
          <a:ln/>
        </p:spPr>
        <p:txBody>
          <a:bodyPr wrap="square" lIns="0" tIns="0" rIns="0" bIns="0" rtlCol="0" anchor="ctr"/>
          <a:lstStyle/>
          <a:p>
            <a:pPr algn="ctr" indent="0" marL="0">
              <a:buNone/>
            </a:pPr>
            <a:r>
              <a:rPr lang="en-US" sz="1200" b="1" dirty="0">
                <a:solidFill>
                  <a:srgbClr val="F4EFE6"/>
                </a:solidFill>
                <a:latin typeface="Calibri" pitchFamily="34" charset="0"/>
                <a:ea typeface="Calibri" pitchFamily="34" charset="-122"/>
                <a:cs typeface="Calibri" pitchFamily="34" charset="-120"/>
              </a:rPr>
              <a:t>Minggu 5</a:t>
            </a:r>
            <a:endParaRPr lang="en-US" sz="1200" dirty="0"/>
          </a:p>
        </p:txBody>
      </p:sp>
      <p:sp>
        <p:nvSpPr>
          <p:cNvPr id="19" name="Text 17"/>
          <p:cNvSpPr/>
          <p:nvPr/>
        </p:nvSpPr>
        <p:spPr>
          <a:xfrm>
            <a:off x="2103120" y="2935224"/>
            <a:ext cx="5577840" cy="530352"/>
          </a:xfrm>
          <a:prstGeom prst="rect">
            <a:avLst/>
          </a:prstGeom>
          <a:noFill/>
          <a:ln/>
        </p:spPr>
        <p:txBody>
          <a:bodyPr wrap="square" lIns="0" tIns="0" rIns="0" bIns="0" rtlCol="0" anchor="ctr"/>
          <a:lstStyle/>
          <a:p>
            <a:pPr indent="0" marL="0">
              <a:buNone/>
            </a:pPr>
            <a:r>
              <a:rPr lang="en-US" sz="1400" dirty="0">
                <a:solidFill>
                  <a:srgbClr val="1A1814"/>
                </a:solidFill>
                <a:latin typeface="Calibri" pitchFamily="34" charset="0"/>
                <a:ea typeface="Calibri" pitchFamily="34" charset="-122"/>
                <a:cs typeface="Calibri" pitchFamily="34" charset="-120"/>
              </a:rPr>
              <a:t>Papan pemilik, isi data, cek di ponsel.</a:t>
            </a:r>
            <a:endParaRPr lang="en-US" sz="1400" dirty="0"/>
          </a:p>
        </p:txBody>
      </p:sp>
      <p:sp>
        <p:nvSpPr>
          <p:cNvPr id="20" name="Shape 18"/>
          <p:cNvSpPr/>
          <p:nvPr/>
        </p:nvSpPr>
        <p:spPr>
          <a:xfrm>
            <a:off x="384048" y="3593592"/>
            <a:ext cx="1554480" cy="530352"/>
          </a:xfrm>
          <a:prstGeom prst="roundRect">
            <a:avLst>
              <a:gd name="adj" fmla="val 10345"/>
            </a:avLst>
          </a:prstGeom>
          <a:solidFill>
            <a:srgbClr val="C4622D"/>
          </a:solidFill>
          <a:ln/>
        </p:spPr>
      </p:sp>
      <p:sp>
        <p:nvSpPr>
          <p:cNvPr id="21" name="Text 19"/>
          <p:cNvSpPr/>
          <p:nvPr/>
        </p:nvSpPr>
        <p:spPr>
          <a:xfrm>
            <a:off x="384048" y="3593592"/>
            <a:ext cx="1554480" cy="530352"/>
          </a:xfrm>
          <a:prstGeom prst="rect">
            <a:avLst/>
          </a:prstGeom>
          <a:noFill/>
          <a:ln/>
        </p:spPr>
        <p:txBody>
          <a:bodyPr wrap="square" lIns="0" tIns="0" rIns="0" bIns="0" rtlCol="0" anchor="ctr"/>
          <a:lstStyle/>
          <a:p>
            <a:pPr algn="ctr" indent="0" marL="0">
              <a:buNone/>
            </a:pPr>
            <a:r>
              <a:rPr lang="en-US" sz="1200" b="1" dirty="0">
                <a:solidFill>
                  <a:srgbClr val="F4EFE6"/>
                </a:solidFill>
                <a:latin typeface="Calibri" pitchFamily="34" charset="0"/>
                <a:ea typeface="Calibri" pitchFamily="34" charset="-122"/>
                <a:cs typeface="Calibri" pitchFamily="34" charset="-120"/>
              </a:rPr>
              <a:t>Minggu 6</a:t>
            </a:r>
            <a:endParaRPr lang="en-US" sz="1200" dirty="0"/>
          </a:p>
        </p:txBody>
      </p:sp>
      <p:sp>
        <p:nvSpPr>
          <p:cNvPr id="22" name="Text 20"/>
          <p:cNvSpPr/>
          <p:nvPr/>
        </p:nvSpPr>
        <p:spPr>
          <a:xfrm>
            <a:off x="2103120" y="3593592"/>
            <a:ext cx="5577840" cy="530352"/>
          </a:xfrm>
          <a:prstGeom prst="rect">
            <a:avLst/>
          </a:prstGeom>
          <a:noFill/>
          <a:ln/>
        </p:spPr>
        <p:txBody>
          <a:bodyPr wrap="square" lIns="0" tIns="0" rIns="0" bIns="0" rtlCol="0" anchor="ctr"/>
          <a:lstStyle/>
          <a:p>
            <a:pPr indent="0" marL="0">
              <a:buNone/>
            </a:pPr>
            <a:r>
              <a:rPr lang="en-US" sz="1400" dirty="0">
                <a:solidFill>
                  <a:srgbClr val="1A1814"/>
                </a:solidFill>
                <a:latin typeface="Calibri" pitchFamily="34" charset="0"/>
                <a:ea typeface="Calibri" pitchFamily="34" charset="-122"/>
                <a:cs typeface="Calibri" pitchFamily="34" charset="-120"/>
              </a:rPr>
              <a:t>Uji, training, tayang di domain klien.</a:t>
            </a:r>
            <a:endParaRPr lang="en-US" sz="1400" dirty="0"/>
          </a:p>
        </p:txBody>
      </p:sp>
      <p:sp>
        <p:nvSpPr>
          <p:cNvPr id="23" name="Shape 21"/>
          <p:cNvSpPr/>
          <p:nvPr/>
        </p:nvSpPr>
        <p:spPr>
          <a:xfrm>
            <a:off x="7863840" y="960120"/>
            <a:ext cx="3931920" cy="3246120"/>
          </a:xfrm>
          <a:prstGeom prst="roundRect">
            <a:avLst>
              <a:gd name="adj" fmla="val 2254"/>
            </a:avLst>
          </a:prstGeom>
          <a:solidFill>
            <a:srgbClr val="1A1814"/>
          </a:solidFill>
          <a:ln w="12700">
            <a:solidFill>
              <a:srgbClr val="1A1814"/>
            </a:solidFill>
            <a:prstDash val="solid"/>
          </a:ln>
        </p:spPr>
      </p:sp>
      <p:sp>
        <p:nvSpPr>
          <p:cNvPr id="24" name="Text 22"/>
          <p:cNvSpPr/>
          <p:nvPr/>
        </p:nvSpPr>
        <p:spPr>
          <a:xfrm>
            <a:off x="8083296" y="1143000"/>
            <a:ext cx="3566160" cy="292608"/>
          </a:xfrm>
          <a:prstGeom prst="rect">
            <a:avLst/>
          </a:prstGeom>
          <a:noFill/>
          <a:ln/>
        </p:spPr>
        <p:txBody>
          <a:bodyPr wrap="square" lIns="0" tIns="0" rIns="0" bIns="0" rtlCol="0" anchor="ctr"/>
          <a:lstStyle/>
          <a:p>
            <a:pPr indent="0" marL="0">
              <a:buNone/>
            </a:pPr>
            <a:r>
              <a:rPr lang="en-US" sz="1800" dirty="0">
                <a:solidFill>
                  <a:srgbClr val="F4EFE6"/>
                </a:solidFill>
                <a:latin typeface="Georgia" pitchFamily="34" charset="0"/>
                <a:ea typeface="Georgia" pitchFamily="34" charset="-122"/>
                <a:cs typeface="Georgia" pitchFamily="34" charset="-120"/>
              </a:rPr>
              <a:t>Cara bayar</a:t>
            </a:r>
            <a:endParaRPr lang="en-US" sz="1800" dirty="0"/>
          </a:p>
        </p:txBody>
      </p:sp>
      <p:sp>
        <p:nvSpPr>
          <p:cNvPr id="25" name="Text 23"/>
          <p:cNvSpPr/>
          <p:nvPr/>
        </p:nvSpPr>
        <p:spPr>
          <a:xfrm>
            <a:off x="8083296" y="1645920"/>
            <a:ext cx="3566160" cy="25603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40% mulai</a:t>
            </a:r>
            <a:endParaRPr lang="en-US" sz="1300" dirty="0"/>
          </a:p>
        </p:txBody>
      </p:sp>
      <p:sp>
        <p:nvSpPr>
          <p:cNvPr id="26" name="Text 24"/>
          <p:cNvSpPr/>
          <p:nvPr/>
        </p:nvSpPr>
        <p:spPr>
          <a:xfrm>
            <a:off x="8083296" y="1901952"/>
            <a:ext cx="3566160" cy="292608"/>
          </a:xfrm>
          <a:prstGeom prst="rect">
            <a:avLst/>
          </a:prstGeom>
          <a:noFill/>
          <a:ln/>
        </p:spPr>
        <p:txBody>
          <a:bodyPr wrap="square" lIns="0" tIns="0" rIns="0" bIns="0" rtlCol="0" anchor="ctr"/>
          <a:lstStyle/>
          <a:p>
            <a:pPr indent="0" marL="0">
              <a:buNone/>
            </a:pPr>
            <a:r>
              <a:rPr lang="en-US" sz="1800" dirty="0">
                <a:solidFill>
                  <a:srgbClr val="F4EFE6"/>
                </a:solidFill>
                <a:latin typeface="Georgia" pitchFamily="34" charset="0"/>
                <a:ea typeface="Georgia" pitchFamily="34" charset="-122"/>
                <a:cs typeface="Georgia" pitchFamily="34" charset="-120"/>
              </a:rPr>
              <a:t>Rp9,8 juta</a:t>
            </a:r>
            <a:endParaRPr lang="en-US" sz="1800" dirty="0"/>
          </a:p>
        </p:txBody>
      </p:sp>
      <p:sp>
        <p:nvSpPr>
          <p:cNvPr id="27" name="Text 25"/>
          <p:cNvSpPr/>
          <p:nvPr/>
        </p:nvSpPr>
        <p:spPr>
          <a:xfrm>
            <a:off x="8083296" y="2331720"/>
            <a:ext cx="3566160" cy="25603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30% desain jadi</a:t>
            </a:r>
            <a:endParaRPr lang="en-US" sz="1300" dirty="0"/>
          </a:p>
        </p:txBody>
      </p:sp>
      <p:sp>
        <p:nvSpPr>
          <p:cNvPr id="28" name="Text 26"/>
          <p:cNvSpPr/>
          <p:nvPr/>
        </p:nvSpPr>
        <p:spPr>
          <a:xfrm>
            <a:off x="8083296" y="2587752"/>
            <a:ext cx="3566160" cy="292608"/>
          </a:xfrm>
          <a:prstGeom prst="rect">
            <a:avLst/>
          </a:prstGeom>
          <a:noFill/>
          <a:ln/>
        </p:spPr>
        <p:txBody>
          <a:bodyPr wrap="square" lIns="0" tIns="0" rIns="0" bIns="0" rtlCol="0" anchor="ctr"/>
          <a:lstStyle/>
          <a:p>
            <a:pPr indent="0" marL="0">
              <a:buNone/>
            </a:pPr>
            <a:r>
              <a:rPr lang="en-US" sz="1800" dirty="0">
                <a:solidFill>
                  <a:srgbClr val="F4EFE6"/>
                </a:solidFill>
                <a:latin typeface="Georgia" pitchFamily="34" charset="0"/>
                <a:ea typeface="Georgia" pitchFamily="34" charset="-122"/>
                <a:cs typeface="Georgia" pitchFamily="34" charset="-120"/>
              </a:rPr>
              <a:t>Rp7,35 juta</a:t>
            </a:r>
            <a:endParaRPr lang="en-US" sz="1800" dirty="0"/>
          </a:p>
        </p:txBody>
      </p:sp>
      <p:sp>
        <p:nvSpPr>
          <p:cNvPr id="29" name="Text 27"/>
          <p:cNvSpPr/>
          <p:nvPr/>
        </p:nvSpPr>
        <p:spPr>
          <a:xfrm>
            <a:off x="8083296" y="3017520"/>
            <a:ext cx="3566160" cy="256032"/>
          </a:xfrm>
          <a:prstGeom prst="rect">
            <a:avLst/>
          </a:prstGeom>
          <a:noFill/>
          <a:ln/>
        </p:spPr>
        <p:txBody>
          <a:bodyPr wrap="square" lIns="0" tIns="0" rIns="0" bIns="0" rtlCol="0" anchor="ctr"/>
          <a:lstStyle/>
          <a:p>
            <a:pPr indent="0" marL="0">
              <a:buNone/>
            </a:pPr>
            <a:r>
              <a:rPr lang="en-US" sz="1300" dirty="0">
                <a:solidFill>
                  <a:srgbClr val="E7DCC8"/>
                </a:solidFill>
                <a:latin typeface="Calibri" pitchFamily="34" charset="0"/>
                <a:ea typeface="Calibri" pitchFamily="34" charset="-122"/>
                <a:cs typeface="Calibri" pitchFamily="34" charset="-120"/>
              </a:rPr>
              <a:t>30% saat tayang</a:t>
            </a:r>
            <a:endParaRPr lang="en-US" sz="1300" dirty="0"/>
          </a:p>
        </p:txBody>
      </p:sp>
      <p:sp>
        <p:nvSpPr>
          <p:cNvPr id="30" name="Text 28"/>
          <p:cNvSpPr/>
          <p:nvPr/>
        </p:nvSpPr>
        <p:spPr>
          <a:xfrm>
            <a:off x="8083296" y="3273552"/>
            <a:ext cx="3566160" cy="292608"/>
          </a:xfrm>
          <a:prstGeom prst="rect">
            <a:avLst/>
          </a:prstGeom>
          <a:noFill/>
          <a:ln/>
        </p:spPr>
        <p:txBody>
          <a:bodyPr wrap="square" lIns="0" tIns="0" rIns="0" bIns="0" rtlCol="0" anchor="ctr"/>
          <a:lstStyle/>
          <a:p>
            <a:pPr indent="0" marL="0">
              <a:buNone/>
            </a:pPr>
            <a:r>
              <a:rPr lang="en-US" sz="1800" dirty="0">
                <a:solidFill>
                  <a:srgbClr val="F4EFE6"/>
                </a:solidFill>
                <a:latin typeface="Georgia" pitchFamily="34" charset="0"/>
                <a:ea typeface="Georgia" pitchFamily="34" charset="-122"/>
                <a:cs typeface="Georgia" pitchFamily="34" charset="-120"/>
              </a:rPr>
              <a:t>Rp7,35 juta</a:t>
            </a:r>
            <a:endParaRPr lang="en-US" sz="1800" dirty="0"/>
          </a:p>
        </p:txBody>
      </p:sp>
      <p:sp>
        <p:nvSpPr>
          <p:cNvPr id="31" name="Shape 29"/>
          <p:cNvSpPr/>
          <p:nvPr/>
        </p:nvSpPr>
        <p:spPr>
          <a:xfrm>
            <a:off x="7863840" y="4343400"/>
            <a:ext cx="3931920" cy="1965960"/>
          </a:xfrm>
          <a:prstGeom prst="roundRect">
            <a:avLst>
              <a:gd name="adj" fmla="val 3721"/>
            </a:avLst>
          </a:prstGeom>
          <a:solidFill>
            <a:srgbClr val="FBF8F3"/>
          </a:solidFill>
          <a:ln w="12700">
            <a:solidFill>
              <a:srgbClr val="D9CFBF"/>
            </a:solidFill>
            <a:prstDash val="solid"/>
          </a:ln>
        </p:spPr>
      </p:sp>
      <p:sp>
        <p:nvSpPr>
          <p:cNvPr id="32" name="Text 30"/>
          <p:cNvSpPr/>
          <p:nvPr/>
        </p:nvSpPr>
        <p:spPr>
          <a:xfrm>
            <a:off x="8065008" y="4498848"/>
            <a:ext cx="3566160" cy="274320"/>
          </a:xfrm>
          <a:prstGeom prst="rect">
            <a:avLst/>
          </a:prstGeom>
          <a:noFill/>
          <a:ln/>
        </p:spPr>
        <p:txBody>
          <a:bodyPr wrap="square" lIns="0" tIns="0" rIns="0" bIns="0" rtlCol="0" anchor="ctr"/>
          <a:lstStyle/>
          <a:p>
            <a:pPr indent="0" marL="0">
              <a:buNone/>
            </a:pPr>
            <a:r>
              <a:rPr lang="en-US" sz="1600" dirty="0">
                <a:solidFill>
                  <a:srgbClr val="1A1814"/>
                </a:solidFill>
                <a:latin typeface="Georgia" pitchFamily="34" charset="0"/>
                <a:ea typeface="Georgia" pitchFamily="34" charset="-122"/>
                <a:cs typeface="Georgia" pitchFamily="34" charset="-120"/>
              </a:rPr>
              <a:t>Di luar harga</a:t>
            </a:r>
            <a:endParaRPr lang="en-US" sz="1600" dirty="0"/>
          </a:p>
        </p:txBody>
      </p:sp>
      <p:sp>
        <p:nvSpPr>
          <p:cNvPr id="33" name="Text 31"/>
          <p:cNvSpPr/>
          <p:nvPr/>
        </p:nvSpPr>
        <p:spPr>
          <a:xfrm>
            <a:off x="8065008" y="4828032"/>
            <a:ext cx="3566160" cy="1280160"/>
          </a:xfrm>
          <a:prstGeom prst="rect">
            <a:avLst/>
          </a:prstGeom>
          <a:noFill/>
          <a:ln/>
        </p:spPr>
        <p:txBody>
          <a:bodyPr wrap="square" lIns="0" tIns="0" rIns="0" bIns="0" rtlCol="0" anchor="ctr"/>
          <a:lstStyle/>
          <a:p>
            <a:pPr indent="0" marL="0">
              <a:buNone/>
            </a:pPr>
            <a:r>
              <a:rPr lang="en-US" sz="1300" dirty="0">
                <a:solidFill>
                  <a:srgbClr val="3F382F"/>
                </a:solidFill>
                <a:latin typeface="Calibri" pitchFamily="34" charset="0"/>
                <a:ea typeface="Calibri" pitchFamily="34" charset="-122"/>
                <a:cs typeface="Calibri" pitchFamily="34" charset="-120"/>
              </a:rPr>
              <a:t>Foto di lokasi Rp1,5–3 juta.</a:t>
            </a:r>
            <a:endParaRPr lang="en-US" sz="1300" dirty="0"/>
          </a:p>
          <a:p>
            <a:pPr indent="0" marL="0">
              <a:buNone/>
            </a:pPr>
            <a:r>
              <a:rPr lang="en-US" sz="1300" dirty="0">
                <a:solidFill>
                  <a:srgbClr val="3F382F"/>
                </a:solidFill>
                <a:latin typeface="Calibri" pitchFamily="34" charset="0"/>
                <a:ea typeface="Calibri" pitchFamily="34" charset="-122"/>
                <a:cs typeface="Calibri" pitchFamily="34" charset="-120"/>
              </a:rPr>
              <a:t>Iklan berbayar.</a:t>
            </a:r>
            <a:endParaRPr lang="en-US" sz="1300" dirty="0"/>
          </a:p>
          <a:p>
            <a:pPr indent="0" marL="0">
              <a:buNone/>
            </a:pPr>
            <a:r>
              <a:rPr lang="en-US" sz="1300" dirty="0">
                <a:solidFill>
                  <a:srgbClr val="3F382F"/>
                </a:solidFill>
                <a:latin typeface="Calibri" pitchFamily="34" charset="0"/>
                <a:ea typeface="Calibri" pitchFamily="34" charset="-122"/>
                <a:cs typeface="Calibri" pitchFamily="34" charset="-120"/>
              </a:rPr>
              <a:t>Potongan gateway per transaksi.</a:t>
            </a:r>
            <a:endParaRPr lang="en-US" sz="1300" dirty="0"/>
          </a:p>
          <a:p>
            <a:pPr indent="0" marL="0">
              <a:buNone/>
            </a:pPr>
            <a:r>
              <a:rPr lang="en-US" sz="1300" dirty="0">
                <a:solidFill>
                  <a:srgbClr val="3F382F"/>
                </a:solidFill>
                <a:latin typeface="Calibri" pitchFamily="34" charset="0"/>
                <a:ea typeface="Calibri" pitchFamily="34" charset="-122"/>
                <a:cs typeface="Calibri" pitchFamily="34" charset="-120"/>
              </a:rPr>
              <a:t>Perubahan besar setelah tayang.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EFE6"/>
          </a:solidFill>
          <a:ln/>
        </p:spPr>
      </p:sp>
      <p:sp>
        <p:nvSpPr>
          <p:cNvPr id="3" name="Shape 1"/>
          <p:cNvSpPr/>
          <p:nvPr/>
        </p:nvSpPr>
        <p:spPr>
          <a:xfrm>
            <a:off x="0" y="0"/>
            <a:ext cx="91440" cy="6858000"/>
          </a:xfrm>
          <a:prstGeom prst="rect">
            <a:avLst/>
          </a:prstGeom>
          <a:solidFill>
            <a:srgbClr val="C4622D"/>
          </a:solidFill>
          <a:ln/>
        </p:spPr>
      </p:sp>
      <p:sp>
        <p:nvSpPr>
          <p:cNvPr id="4" name="Shape 2"/>
          <p:cNvSpPr/>
          <p:nvPr/>
        </p:nvSpPr>
        <p:spPr>
          <a:xfrm>
            <a:off x="0" y="6601968"/>
            <a:ext cx="12191695" cy="256032"/>
          </a:xfrm>
          <a:prstGeom prst="rect">
            <a:avLst/>
          </a:prstGeom>
          <a:solidFill>
            <a:srgbClr val="1A1814"/>
          </a:solidFill>
          <a:ln/>
        </p:spPr>
      </p:sp>
      <p:sp>
        <p:nvSpPr>
          <p:cNvPr id="5" name="Text 3"/>
          <p:cNvSpPr/>
          <p:nvPr/>
        </p:nvSpPr>
        <p:spPr>
          <a:xfrm>
            <a:off x="347472" y="6601968"/>
            <a:ext cx="9144000" cy="256032"/>
          </a:xfrm>
          <a:prstGeom prst="rect">
            <a:avLst/>
          </a:prstGeom>
          <a:noFill/>
          <a:ln/>
        </p:spPr>
        <p:txBody>
          <a:bodyPr wrap="square" lIns="0" tIns="0" rIns="0" bIns="0" rtlCol="0" anchor="ctr"/>
          <a:lstStyle/>
          <a:p>
            <a:pPr indent="0" marL="0">
              <a:buNone/>
            </a:pPr>
            <a:r>
              <a:rPr lang="en-US" sz="1100" dirty="0">
                <a:solidFill>
                  <a:srgbClr val="E7DCC8"/>
                </a:solidFill>
                <a:latin typeface="Calibri" pitchFamily="34" charset="0"/>
                <a:ea typeface="Calibri" pitchFamily="34" charset="-122"/>
                <a:cs typeface="Calibri" pitchFamily="34" charset="-120"/>
              </a:rPr>
              <a:t>HUNI   ·   Proposal website kos &amp; kontrakan   ·   Oktober 2026</a:t>
            </a:r>
            <a:endParaRPr lang="en-US" sz="1100" dirty="0"/>
          </a:p>
        </p:txBody>
      </p:sp>
      <p:sp>
        <p:nvSpPr>
          <p:cNvPr id="6" name="Text 4"/>
          <p:cNvSpPr/>
          <p:nvPr/>
        </p:nvSpPr>
        <p:spPr>
          <a:xfrm>
            <a:off x="9509760" y="6601968"/>
            <a:ext cx="2331720" cy="256032"/>
          </a:xfrm>
          <a:prstGeom prst="rect">
            <a:avLst/>
          </a:prstGeom>
          <a:noFill/>
          <a:ln/>
        </p:spPr>
        <p:txBody>
          <a:bodyPr wrap="square" lIns="0" tIns="0" rIns="0" bIns="0" rtlCol="0" anchor="ctr"/>
          <a:lstStyle/>
          <a:p>
            <a:pPr algn="r" indent="0" marL="0">
              <a:buNone/>
            </a:pPr>
            <a:r>
              <a:rPr lang="en-US" sz="1100" dirty="0">
                <a:solidFill>
                  <a:srgbClr val="E7DCC8"/>
                </a:solidFill>
                <a:latin typeface="Calibri" pitchFamily="34" charset="0"/>
                <a:ea typeface="Calibri" pitchFamily="34" charset="-122"/>
                <a:cs typeface="Calibri" pitchFamily="34" charset="-120"/>
              </a:rPr>
              <a:t>16  /  16</a:t>
            </a:r>
            <a:endParaRPr lang="en-US" sz="1100" dirty="0"/>
          </a:p>
        </p:txBody>
      </p:sp>
      <p:sp>
        <p:nvSpPr>
          <p:cNvPr id="7" name="Text 5"/>
          <p:cNvSpPr/>
          <p:nvPr/>
        </p:nvSpPr>
        <p:spPr>
          <a:xfrm>
            <a:off x="384048" y="256032"/>
            <a:ext cx="11338560" cy="457200"/>
          </a:xfrm>
          <a:prstGeom prst="rect">
            <a:avLst/>
          </a:prstGeom>
          <a:noFill/>
          <a:ln/>
        </p:spPr>
        <p:txBody>
          <a:bodyPr wrap="square" lIns="0" tIns="0" rIns="0" bIns="0" rtlCol="0" anchor="ctr"/>
          <a:lstStyle/>
          <a:p>
            <a:pPr indent="0" marL="0">
              <a:buNone/>
            </a:pPr>
            <a:r>
              <a:rPr lang="en-US" sz="2800" dirty="0">
                <a:solidFill>
                  <a:srgbClr val="1A1814"/>
                </a:solidFill>
                <a:latin typeface="Georgia" pitchFamily="34" charset="0"/>
                <a:ea typeface="Georgia" pitchFamily="34" charset="-122"/>
                <a:cs typeface="Georgia" pitchFamily="34" charset="-120"/>
              </a:rPr>
              <a:t>Jangan janji kamar penuh. Hitung yang hilang.</a:t>
            </a:r>
            <a:endParaRPr lang="en-US" sz="2800" dirty="0"/>
          </a:p>
        </p:txBody>
      </p:sp>
      <p:sp>
        <p:nvSpPr>
          <p:cNvPr id="8" name="Shape 6"/>
          <p:cNvSpPr/>
          <p:nvPr/>
        </p:nvSpPr>
        <p:spPr>
          <a:xfrm>
            <a:off x="384048" y="1005840"/>
            <a:ext cx="7452360" cy="3063240"/>
          </a:xfrm>
          <a:prstGeom prst="roundRect">
            <a:avLst>
              <a:gd name="adj" fmla="val 2388"/>
            </a:avLst>
          </a:prstGeom>
          <a:solidFill>
            <a:srgbClr val="FBF8F3"/>
          </a:solidFill>
          <a:ln w="12700">
            <a:solidFill>
              <a:srgbClr val="D9CFBF"/>
            </a:solidFill>
            <a:prstDash val="solid"/>
          </a:ln>
        </p:spPr>
      </p:sp>
      <p:sp>
        <p:nvSpPr>
          <p:cNvPr id="9" name="Text 7"/>
          <p:cNvSpPr/>
          <p:nvPr/>
        </p:nvSpPr>
        <p:spPr>
          <a:xfrm>
            <a:off x="603504" y="1170432"/>
            <a:ext cx="7040880" cy="274320"/>
          </a:xfrm>
          <a:prstGeom prst="rect">
            <a:avLst/>
          </a:prstGeom>
          <a:noFill/>
          <a:ln/>
        </p:spPr>
        <p:txBody>
          <a:bodyPr wrap="square" lIns="0" tIns="0" rIns="0" bIns="0" rtlCol="0" anchor="ctr"/>
          <a:lstStyle/>
          <a:p>
            <a:pPr indent="0" marL="0">
              <a:buNone/>
            </a:pPr>
            <a:r>
              <a:rPr lang="en-US" sz="1300" b="1" dirty="0">
                <a:solidFill>
                  <a:srgbClr val="9A4518"/>
                </a:solidFill>
                <a:latin typeface="Calibri" pitchFamily="34" charset="0"/>
                <a:ea typeface="Calibri" pitchFamily="34" charset="-122"/>
                <a:cs typeface="Calibri" pitchFamily="34" charset="-120"/>
              </a:rPr>
              <a:t>Ilustrasi, bukan proyeksi.</a:t>
            </a:r>
            <a:endParaRPr lang="en-US" sz="1300" dirty="0"/>
          </a:p>
        </p:txBody>
      </p:sp>
      <p:sp>
        <p:nvSpPr>
          <p:cNvPr id="10" name="Text 8"/>
          <p:cNvSpPr/>
          <p:nvPr/>
        </p:nvSpPr>
        <p:spPr>
          <a:xfrm>
            <a:off x="603504" y="1536192"/>
            <a:ext cx="6949440" cy="2286000"/>
          </a:xfrm>
          <a:prstGeom prst="rect">
            <a:avLst/>
          </a:prstGeom>
          <a:noFill/>
          <a:ln/>
        </p:spPr>
        <p:txBody>
          <a:bodyPr wrap="square" lIns="0" tIns="0" rIns="0" bIns="0" rtlCol="0" anchor="ctr"/>
          <a:lstStyle/>
          <a:p>
            <a:pPr indent="0" marL="0">
              <a:buNone/>
            </a:pPr>
            <a:r>
              <a:rPr lang="en-US" sz="1500" dirty="0">
                <a:solidFill>
                  <a:srgbClr val="3F382F"/>
                </a:solidFill>
                <a:latin typeface="Calibri" pitchFamily="34" charset="0"/>
                <a:ea typeface="Calibri" pitchFamily="34" charset="-122"/>
                <a:cs typeface="Calibri" pitchFamily="34" charset="-120"/>
              </a:rPr>
              <a:t>Rawat Kelola setahun Rp11,4 juta. Itu kira-kira satu kamar sewa Rp1,2 juta yang terisi sepuluh bulan.</a:t>
            </a:r>
            <a:endParaRPr lang="en-US" sz="1500" dirty="0"/>
          </a:p>
          <a:p>
            <a:pPr indent="0" marL="0">
              <a:buNone/>
            </a:pPr>
            <a:endParaRPr lang="en-US" sz="1500" dirty="0"/>
          </a:p>
          <a:p>
            <a:pPr indent="0" marL="0">
              <a:buNone/>
            </a:pPr>
            <a:r>
              <a:rPr lang="en-US" sz="1500" dirty="0">
                <a:solidFill>
                  <a:srgbClr val="3F382F"/>
                </a:solidFill>
                <a:latin typeface="Calibri" pitchFamily="34" charset="0"/>
                <a:ea typeface="Calibri" pitchFamily="34" charset="-122"/>
                <a:cs typeface="Calibri" pitchFamily="34" charset="-120"/>
              </a:rPr>
              <a:t>Calo yang mengambil satu bulan sewa, enam kali setahun, sudah Rp7,2 juta. Situs tidak menghapus calo. Ia memberi jalan bagi yang mau sewa langsung, dan membuat harga tidak berubah-ubah di chat.</a:t>
            </a:r>
            <a:endParaRPr lang="en-US" sz="1500" dirty="0"/>
          </a:p>
        </p:txBody>
      </p:sp>
      <p:sp>
        <p:nvSpPr>
          <p:cNvPr id="11" name="Shape 9"/>
          <p:cNvSpPr/>
          <p:nvPr/>
        </p:nvSpPr>
        <p:spPr>
          <a:xfrm>
            <a:off x="8001000" y="1005840"/>
            <a:ext cx="3794760" cy="3063240"/>
          </a:xfrm>
          <a:prstGeom prst="roundRect">
            <a:avLst>
              <a:gd name="adj" fmla="val 2388"/>
            </a:avLst>
          </a:prstGeom>
          <a:solidFill>
            <a:srgbClr val="2F5D50"/>
          </a:solidFill>
          <a:ln w="12700">
            <a:solidFill>
              <a:srgbClr val="2F5D50"/>
            </a:solidFill>
            <a:prstDash val="solid"/>
          </a:ln>
        </p:spPr>
      </p:sp>
      <p:sp>
        <p:nvSpPr>
          <p:cNvPr id="12" name="Text 10"/>
          <p:cNvSpPr/>
          <p:nvPr/>
        </p:nvSpPr>
        <p:spPr>
          <a:xfrm>
            <a:off x="8211312" y="1188720"/>
            <a:ext cx="3429000" cy="329184"/>
          </a:xfrm>
          <a:prstGeom prst="rect">
            <a:avLst/>
          </a:prstGeom>
          <a:noFill/>
          <a:ln/>
        </p:spPr>
        <p:txBody>
          <a:bodyPr wrap="square" lIns="0" tIns="0" rIns="0" bIns="0" rtlCol="0" anchor="ctr"/>
          <a:lstStyle/>
          <a:p>
            <a:pPr indent="0" marL="0">
              <a:buNone/>
            </a:pPr>
            <a:r>
              <a:rPr lang="en-US" sz="1800" dirty="0">
                <a:solidFill>
                  <a:srgbClr val="F4EFE6"/>
                </a:solidFill>
                <a:latin typeface="Georgia" pitchFamily="34" charset="0"/>
                <a:ea typeface="Georgia" pitchFamily="34" charset="-122"/>
                <a:cs typeface="Georgia" pitchFamily="34" charset="-120"/>
              </a:rPr>
              <a:t>Langkah berikut</a:t>
            </a:r>
            <a:endParaRPr lang="en-US" sz="1800" dirty="0"/>
          </a:p>
        </p:txBody>
      </p:sp>
      <p:sp>
        <p:nvSpPr>
          <p:cNvPr id="13" name="Text 11"/>
          <p:cNvSpPr/>
          <p:nvPr/>
        </p:nvSpPr>
        <p:spPr>
          <a:xfrm>
            <a:off x="8211312" y="1691640"/>
            <a:ext cx="338328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1   Kirim jumlah kamar dan kota</a:t>
            </a:r>
            <a:endParaRPr lang="en-US" sz="1400" dirty="0"/>
          </a:p>
        </p:txBody>
      </p:sp>
      <p:sp>
        <p:nvSpPr>
          <p:cNvPr id="14" name="Text 12"/>
          <p:cNvSpPr/>
          <p:nvPr/>
        </p:nvSpPr>
        <p:spPr>
          <a:xfrm>
            <a:off x="8211312" y="2194560"/>
            <a:ext cx="338328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2   Lampirkan foto yang sudah ada</a:t>
            </a:r>
            <a:endParaRPr lang="en-US" sz="1400" dirty="0"/>
          </a:p>
        </p:txBody>
      </p:sp>
      <p:sp>
        <p:nvSpPr>
          <p:cNvPr id="15" name="Text 13"/>
          <p:cNvSpPr/>
          <p:nvPr/>
        </p:nvSpPr>
        <p:spPr>
          <a:xfrm>
            <a:off x="8211312" y="2697480"/>
            <a:ext cx="338328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3   Pilih paket</a:t>
            </a:r>
            <a:endParaRPr lang="en-US" sz="1400" dirty="0"/>
          </a:p>
        </p:txBody>
      </p:sp>
      <p:sp>
        <p:nvSpPr>
          <p:cNvPr id="16" name="Text 14"/>
          <p:cNvSpPr/>
          <p:nvPr/>
        </p:nvSpPr>
        <p:spPr>
          <a:xfrm>
            <a:off x="8211312" y="3200400"/>
            <a:ext cx="3383280" cy="438912"/>
          </a:xfrm>
          <a:prstGeom prst="rect">
            <a:avLst/>
          </a:prstGeom>
          <a:noFill/>
          <a:ln/>
        </p:spPr>
        <p:txBody>
          <a:bodyPr wrap="square" lIns="0" tIns="0" rIns="0" bIns="0" rtlCol="0" anchor="ctr"/>
          <a:lstStyle/>
          <a:p>
            <a:pPr indent="0" marL="0">
              <a:buNone/>
            </a:pPr>
            <a:r>
              <a:rPr lang="en-US" sz="1400" dirty="0">
                <a:solidFill>
                  <a:srgbClr val="E7DCC8"/>
                </a:solidFill>
                <a:latin typeface="Calibri" pitchFamily="34" charset="0"/>
                <a:ea typeface="Calibri" pitchFamily="34" charset="-122"/>
                <a:cs typeface="Calibri" pitchFamily="34" charset="-120"/>
              </a:rPr>
              <a:t>4   DP 40%, minggu desain dimulai</a:t>
            </a:r>
            <a:endParaRPr lang="en-US" sz="1400" dirty="0"/>
          </a:p>
        </p:txBody>
      </p:sp>
      <p:sp>
        <p:nvSpPr>
          <p:cNvPr id="17" name="Text 15"/>
          <p:cNvSpPr/>
          <p:nvPr/>
        </p:nvSpPr>
        <p:spPr>
          <a:xfrm>
            <a:off x="384048" y="4297680"/>
            <a:ext cx="11338560" cy="640080"/>
          </a:xfrm>
          <a:prstGeom prst="rect">
            <a:avLst/>
          </a:prstGeom>
          <a:noFill/>
          <a:ln/>
        </p:spPr>
        <p:txBody>
          <a:bodyPr wrap="square" lIns="0" tIns="0" rIns="0" bIns="0" rtlCol="0" anchor="ctr"/>
          <a:lstStyle/>
          <a:p>
            <a:pPr indent="0" marL="0">
              <a:buNone/>
            </a:pPr>
            <a:r>
              <a:rPr lang="en-US" sz="4200" dirty="0">
                <a:solidFill>
                  <a:srgbClr val="1A1814"/>
                </a:solidFill>
                <a:latin typeface="Georgia" pitchFamily="34" charset="0"/>
                <a:ea typeface="Georgia" pitchFamily="34" charset="-122"/>
                <a:cs typeface="Georgia" pitchFamily="34" charset="-120"/>
              </a:rPr>
              <a:t>HUNI</a:t>
            </a:r>
            <a:endParaRPr lang="en-US" sz="4200" dirty="0"/>
          </a:p>
        </p:txBody>
      </p:sp>
      <p:sp>
        <p:nvSpPr>
          <p:cNvPr id="18" name="Text 16"/>
          <p:cNvSpPr/>
          <p:nvPr/>
        </p:nvSpPr>
        <p:spPr>
          <a:xfrm>
            <a:off x="384048" y="5029200"/>
            <a:ext cx="11338560" cy="640080"/>
          </a:xfrm>
          <a:prstGeom prst="rect">
            <a:avLst/>
          </a:prstGeom>
          <a:noFill/>
          <a:ln/>
        </p:spPr>
        <p:txBody>
          <a:bodyPr wrap="square" lIns="0" tIns="0" rIns="0" bIns="0" rtlCol="0" anchor="ctr"/>
          <a:lstStyle/>
          <a:p>
            <a:pPr indent="0" marL="0">
              <a:buNone/>
            </a:pPr>
            <a:r>
              <a:rPr lang="en-US" sz="1600" dirty="0">
                <a:solidFill>
                  <a:srgbClr val="3F382F"/>
                </a:solidFill>
                <a:latin typeface="Calibri" pitchFamily="34" charset="0"/>
                <a:ea typeface="Calibri" pitchFamily="34" charset="-122"/>
                <a:cs typeface="Calibri" pitchFamily="34" charset="-120"/>
              </a:rPr>
              <a:t>Demo bisa diklik sekarang: cari unit, ajukan sewa, ubah status kamar.</a:t>
            </a:r>
            <a:endParaRPr lang="en-US" sz="1600" dirty="0"/>
          </a:p>
          <a:p>
            <a:pPr indent="0" marL="0">
              <a:buNone/>
            </a:pPr>
            <a:r>
              <a:rPr lang="en-US" sz="1600" dirty="0">
                <a:solidFill>
                  <a:srgbClr val="3F382F"/>
                </a:solidFill>
                <a:latin typeface="Calibri" pitchFamily="34" charset="0"/>
                <a:ea typeface="Calibri" pitchFamily="34" charset="-122"/>
                <a:cs typeface="Calibri" pitchFamily="34" charset="-120"/>
              </a:rPr>
              <a:t>Berkas ini adalah lembar yang ditinggal setelah meeting.</a:t>
            </a:r>
            <a:endParaRPr lang="en-US" sz="1600" dirty="0"/>
          </a:p>
        </p:txBody>
      </p:sp>
      <p:sp>
        <p:nvSpPr>
          <p:cNvPr id="19" name="Text 17"/>
          <p:cNvSpPr/>
          <p:nvPr/>
        </p:nvSpPr>
        <p:spPr>
          <a:xfrm>
            <a:off x="384048" y="5852160"/>
            <a:ext cx="11338560" cy="502920"/>
          </a:xfrm>
          <a:prstGeom prst="rect">
            <a:avLst/>
          </a:prstGeom>
          <a:noFill/>
          <a:ln/>
        </p:spPr>
        <p:txBody>
          <a:bodyPr wrap="square" lIns="0" tIns="0" rIns="0" bIns="0" rtlCol="0" anchor="ctr"/>
          <a:lstStyle/>
          <a:p>
            <a:pPr indent="0" marL="0">
              <a:buNone/>
            </a:pPr>
            <a:r>
              <a:rPr lang="en-US" sz="1200" dirty="0">
                <a:solidFill>
                  <a:srgbClr val="6F675C"/>
                </a:solidFill>
                <a:latin typeface="Calibri" pitchFamily="34" charset="0"/>
                <a:ea typeface="Calibri" pitchFamily="34" charset="-122"/>
                <a:cs typeface="Calibri" pitchFamily="34" charset="-120"/>
              </a:rPr>
              <a:t>Angka pasar jasa website 2026 dipakai sebagai acuan kisaran, lalu disusun ulang untuk ruang lingkup kos dan kontrakan. Bukan kutipan harga vendor tertentu.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HUNI — Proposal website kos dan kontrakan</dc:title>
  <dc:subject>Desain, proof of concept, harga bangun, dan biaya rawat</dc:subject>
  <dc:creator>HUNI</dc:creator>
  <cp:lastModifiedBy>HUNI</cp:lastModifiedBy>
  <cp:revision>1</cp:revision>
  <dcterms:created xsi:type="dcterms:W3CDTF">2026-10-24T03:00:24Z</dcterms:created>
  <dcterms:modified xsi:type="dcterms:W3CDTF">2026-10-24T03:00:24Z</dcterms:modified>
</cp:coreProperties>
</file>